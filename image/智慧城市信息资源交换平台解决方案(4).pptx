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5460" r:id="rId1"/>
  </p:sldMasterIdLst>
  <p:notesMasterIdLst>
    <p:notesMasterId r:id="rId41"/>
  </p:notesMasterIdLst>
  <p:handoutMasterIdLst>
    <p:handoutMasterId r:id="rId42"/>
  </p:handoutMasterIdLst>
  <p:sldIdLst>
    <p:sldId id="498" r:id="rId2"/>
    <p:sldId id="510" r:id="rId3"/>
    <p:sldId id="512" r:id="rId4"/>
    <p:sldId id="538" r:id="rId5"/>
    <p:sldId id="583" r:id="rId6"/>
    <p:sldId id="539" r:id="rId7"/>
    <p:sldId id="548" r:id="rId8"/>
    <p:sldId id="513" r:id="rId9"/>
    <p:sldId id="511" r:id="rId10"/>
    <p:sldId id="584" r:id="rId11"/>
    <p:sldId id="502" r:id="rId12"/>
    <p:sldId id="501" r:id="rId13"/>
    <p:sldId id="563" r:id="rId14"/>
    <p:sldId id="564" r:id="rId15"/>
    <p:sldId id="565" r:id="rId16"/>
    <p:sldId id="572" r:id="rId17"/>
    <p:sldId id="567" r:id="rId18"/>
    <p:sldId id="574" r:id="rId19"/>
    <p:sldId id="568" r:id="rId20"/>
    <p:sldId id="570" r:id="rId21"/>
    <p:sldId id="540" r:id="rId22"/>
    <p:sldId id="541" r:id="rId23"/>
    <p:sldId id="542" r:id="rId24"/>
    <p:sldId id="543" r:id="rId25"/>
    <p:sldId id="520" r:id="rId26"/>
    <p:sldId id="533" r:id="rId27"/>
    <p:sldId id="555" r:id="rId28"/>
    <p:sldId id="556" r:id="rId29"/>
    <p:sldId id="557" r:id="rId30"/>
    <p:sldId id="558" r:id="rId31"/>
    <p:sldId id="559" r:id="rId32"/>
    <p:sldId id="561" r:id="rId33"/>
    <p:sldId id="525" r:id="rId34"/>
    <p:sldId id="575" r:id="rId35"/>
    <p:sldId id="553" r:id="rId36"/>
    <p:sldId id="554" r:id="rId37"/>
    <p:sldId id="530" r:id="rId38"/>
    <p:sldId id="571" r:id="rId39"/>
    <p:sldId id="581" r:id="rId4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FF"/>
    <a:srgbClr val="99FF66"/>
    <a:srgbClr val="CCECFF"/>
    <a:srgbClr val="99CCFF"/>
    <a:srgbClr val="99FF99"/>
    <a:srgbClr val="CCFFCC"/>
    <a:srgbClr val="FFFFFF"/>
    <a:srgbClr val="FFCC99"/>
    <a:srgbClr val="FFFF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84" autoAdjust="0"/>
    <p:restoredTop sz="95764" autoAdjust="0"/>
  </p:normalViewPr>
  <p:slideViewPr>
    <p:cSldViewPr>
      <p:cViewPr varScale="1">
        <p:scale>
          <a:sx n="76" d="100"/>
          <a:sy n="76" d="100"/>
        </p:scale>
        <p:origin x="75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008"/>
    </p:cViewPr>
  </p:sorterViewPr>
  <p:notesViewPr>
    <p:cSldViewPr>
      <p:cViewPr varScale="1">
        <p:scale>
          <a:sx n="65" d="100"/>
          <a:sy n="65" d="100"/>
        </p:scale>
        <p:origin x="-2928"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5BC011-0362-496A-860F-AF7AE20DA5D0}" type="doc">
      <dgm:prSet loTypeId="urn:microsoft.com/office/officeart/2005/8/layout/hChevron3" loCatId="process" qsTypeId="urn:microsoft.com/office/officeart/2005/8/quickstyle/simple1" qsCatId="simple" csTypeId="urn:microsoft.com/office/officeart/2005/8/colors/accent6_2" csCatId="accent6" phldr="1"/>
      <dgm:spPr/>
    </dgm:pt>
    <dgm:pt modelId="{CF287475-BBBF-43A7-B19B-22AFBD417787}">
      <dgm:prSet phldrT="[文本]"/>
      <dgm:spPr>
        <a:solidFill>
          <a:schemeClr val="bg1">
            <a:lumMod val="65000"/>
          </a:schemeClr>
        </a:solidFill>
      </dgm:spPr>
      <dgm:t>
        <a:bodyPr/>
        <a:lstStyle/>
        <a:p>
          <a:r>
            <a:rPr lang="zh-CN" altLang="en-US" b="0" dirty="0"/>
            <a:t>目录采集</a:t>
          </a:r>
        </a:p>
      </dgm:t>
    </dgm:pt>
    <dgm:pt modelId="{B9B9CD5B-5E51-495E-B783-57941A06771A}" type="parTrans" cxnId="{AF693155-7AC2-4106-9AAF-D9E2016C7B98}">
      <dgm:prSet/>
      <dgm:spPr/>
      <dgm:t>
        <a:bodyPr/>
        <a:lstStyle/>
        <a:p>
          <a:endParaRPr lang="zh-CN" altLang="en-US"/>
        </a:p>
      </dgm:t>
    </dgm:pt>
    <dgm:pt modelId="{19C79AE4-486B-402D-9ED2-497C0EB57D72}" type="sibTrans" cxnId="{AF693155-7AC2-4106-9AAF-D9E2016C7B98}">
      <dgm:prSet/>
      <dgm:spPr/>
      <dgm:t>
        <a:bodyPr/>
        <a:lstStyle/>
        <a:p>
          <a:endParaRPr lang="zh-CN" altLang="en-US"/>
        </a:p>
      </dgm:t>
    </dgm:pt>
    <dgm:pt modelId="{CE4B8B13-C6AD-4C68-9371-63D4B508DB87}">
      <dgm:prSet phldrT="[文本]"/>
      <dgm:spPr>
        <a:solidFill>
          <a:schemeClr val="bg1">
            <a:lumMod val="65000"/>
          </a:schemeClr>
        </a:solidFill>
      </dgm:spPr>
      <dgm:t>
        <a:bodyPr/>
        <a:lstStyle/>
        <a:p>
          <a:r>
            <a:rPr lang="zh-CN" altLang="en-US" b="0" dirty="0"/>
            <a:t>数据编目</a:t>
          </a:r>
        </a:p>
      </dgm:t>
    </dgm:pt>
    <dgm:pt modelId="{5B662635-B366-4BBB-845A-0DDA601328D8}" type="parTrans" cxnId="{2DB0502A-7462-4645-B21F-2DF2970B691C}">
      <dgm:prSet/>
      <dgm:spPr/>
      <dgm:t>
        <a:bodyPr/>
        <a:lstStyle/>
        <a:p>
          <a:endParaRPr lang="zh-CN" altLang="en-US"/>
        </a:p>
      </dgm:t>
    </dgm:pt>
    <dgm:pt modelId="{61171935-BC42-4965-ADA6-773599FC09B8}" type="sibTrans" cxnId="{2DB0502A-7462-4645-B21F-2DF2970B691C}">
      <dgm:prSet/>
      <dgm:spPr/>
      <dgm:t>
        <a:bodyPr/>
        <a:lstStyle/>
        <a:p>
          <a:endParaRPr lang="zh-CN" altLang="en-US"/>
        </a:p>
      </dgm:t>
    </dgm:pt>
    <dgm:pt modelId="{549D7D22-E191-46AF-9663-6CFCC37A91D4}">
      <dgm:prSet phldrT="[文本]"/>
      <dgm:spPr>
        <a:solidFill>
          <a:schemeClr val="bg1">
            <a:lumMod val="65000"/>
          </a:schemeClr>
        </a:solidFill>
      </dgm:spPr>
      <dgm:t>
        <a:bodyPr/>
        <a:lstStyle/>
        <a:p>
          <a:r>
            <a:rPr lang="zh-CN" altLang="en-US" b="0" dirty="0"/>
            <a:t>目录审核</a:t>
          </a:r>
        </a:p>
      </dgm:t>
    </dgm:pt>
    <dgm:pt modelId="{C0CCCDEF-B233-43B3-92FA-715C602B3294}" type="parTrans" cxnId="{AA49CBC3-3FEA-414C-AAF0-88730DBB7B04}">
      <dgm:prSet/>
      <dgm:spPr/>
      <dgm:t>
        <a:bodyPr/>
        <a:lstStyle/>
        <a:p>
          <a:endParaRPr lang="zh-CN" altLang="en-US"/>
        </a:p>
      </dgm:t>
    </dgm:pt>
    <dgm:pt modelId="{90CF3350-3AA5-44B9-8C0B-E5DBBD39CD39}" type="sibTrans" cxnId="{AA49CBC3-3FEA-414C-AAF0-88730DBB7B04}">
      <dgm:prSet/>
      <dgm:spPr/>
      <dgm:t>
        <a:bodyPr/>
        <a:lstStyle/>
        <a:p>
          <a:endParaRPr lang="zh-CN" altLang="en-US"/>
        </a:p>
      </dgm:t>
    </dgm:pt>
    <dgm:pt modelId="{BF59C183-F560-4637-88BE-71435EB2B545}">
      <dgm:prSet phldrT="[文本]"/>
      <dgm:spPr>
        <a:solidFill>
          <a:schemeClr val="bg1">
            <a:lumMod val="65000"/>
          </a:schemeClr>
        </a:solidFill>
      </dgm:spPr>
      <dgm:t>
        <a:bodyPr/>
        <a:lstStyle/>
        <a:p>
          <a:r>
            <a:rPr lang="zh-CN" altLang="en-US" b="0" dirty="0"/>
            <a:t>目录发布</a:t>
          </a:r>
        </a:p>
      </dgm:t>
    </dgm:pt>
    <dgm:pt modelId="{D86A875C-AA84-48D4-962E-36A3FAFC1DE2}" type="parTrans" cxnId="{035937D5-ACAD-4C83-B105-DA86682349BB}">
      <dgm:prSet/>
      <dgm:spPr/>
      <dgm:t>
        <a:bodyPr/>
        <a:lstStyle/>
        <a:p>
          <a:endParaRPr lang="zh-CN" altLang="en-US"/>
        </a:p>
      </dgm:t>
    </dgm:pt>
    <dgm:pt modelId="{037799B4-3E48-4406-B76A-23081C325B27}" type="sibTrans" cxnId="{035937D5-ACAD-4C83-B105-DA86682349BB}">
      <dgm:prSet/>
      <dgm:spPr/>
      <dgm:t>
        <a:bodyPr/>
        <a:lstStyle/>
        <a:p>
          <a:endParaRPr lang="zh-CN" altLang="en-US"/>
        </a:p>
      </dgm:t>
    </dgm:pt>
    <dgm:pt modelId="{8CC9FC49-383F-4566-984B-71B9DABBED03}">
      <dgm:prSet phldrT="[文本]"/>
      <dgm:spPr>
        <a:solidFill>
          <a:schemeClr val="bg1">
            <a:lumMod val="65000"/>
          </a:schemeClr>
        </a:solidFill>
      </dgm:spPr>
      <dgm:t>
        <a:bodyPr/>
        <a:lstStyle/>
        <a:p>
          <a:r>
            <a:rPr lang="zh-CN" altLang="en-US" b="0" dirty="0"/>
            <a:t>目录使用</a:t>
          </a:r>
        </a:p>
      </dgm:t>
    </dgm:pt>
    <dgm:pt modelId="{77DA3EAA-D19C-496B-AB42-DB9C60584F9F}" type="parTrans" cxnId="{0E5F92B1-5990-45EB-9EAE-A56548079DD7}">
      <dgm:prSet/>
      <dgm:spPr/>
      <dgm:t>
        <a:bodyPr/>
        <a:lstStyle/>
        <a:p>
          <a:endParaRPr lang="zh-CN" altLang="en-US"/>
        </a:p>
      </dgm:t>
    </dgm:pt>
    <dgm:pt modelId="{15AAFC7B-0B58-40B3-8764-0FE5572254AF}" type="sibTrans" cxnId="{0E5F92B1-5990-45EB-9EAE-A56548079DD7}">
      <dgm:prSet/>
      <dgm:spPr/>
      <dgm:t>
        <a:bodyPr/>
        <a:lstStyle/>
        <a:p>
          <a:endParaRPr lang="zh-CN" altLang="en-US"/>
        </a:p>
      </dgm:t>
    </dgm:pt>
    <dgm:pt modelId="{69AE559D-BCE6-4143-BA6C-1C8FDE60B2EC}" type="pres">
      <dgm:prSet presAssocID="{095BC011-0362-496A-860F-AF7AE20DA5D0}" presName="Name0" presStyleCnt="0">
        <dgm:presLayoutVars>
          <dgm:dir/>
          <dgm:resizeHandles val="exact"/>
        </dgm:presLayoutVars>
      </dgm:prSet>
      <dgm:spPr/>
    </dgm:pt>
    <dgm:pt modelId="{004658D2-F880-4576-9DF3-89CFD15C9375}" type="pres">
      <dgm:prSet presAssocID="{CF287475-BBBF-43A7-B19B-22AFBD417787}" presName="parTxOnly" presStyleLbl="node1" presStyleIdx="0" presStyleCnt="5">
        <dgm:presLayoutVars>
          <dgm:bulletEnabled val="1"/>
        </dgm:presLayoutVars>
      </dgm:prSet>
      <dgm:spPr/>
    </dgm:pt>
    <dgm:pt modelId="{E1DA11A8-8DB3-42D8-B01B-151F35388F4A}" type="pres">
      <dgm:prSet presAssocID="{19C79AE4-486B-402D-9ED2-497C0EB57D72}" presName="parSpace" presStyleCnt="0"/>
      <dgm:spPr/>
    </dgm:pt>
    <dgm:pt modelId="{7F2415CD-6CEA-499F-8ABE-52B830573263}" type="pres">
      <dgm:prSet presAssocID="{CE4B8B13-C6AD-4C68-9371-63D4B508DB87}" presName="parTxOnly" presStyleLbl="node1" presStyleIdx="1" presStyleCnt="5">
        <dgm:presLayoutVars>
          <dgm:bulletEnabled val="1"/>
        </dgm:presLayoutVars>
      </dgm:prSet>
      <dgm:spPr/>
    </dgm:pt>
    <dgm:pt modelId="{4202A49E-4C90-43E4-AD6B-CFB6ED2A59E9}" type="pres">
      <dgm:prSet presAssocID="{61171935-BC42-4965-ADA6-773599FC09B8}" presName="parSpace" presStyleCnt="0"/>
      <dgm:spPr/>
    </dgm:pt>
    <dgm:pt modelId="{A5D3031A-A2CB-4103-8695-CAF9EF2B9F3E}" type="pres">
      <dgm:prSet presAssocID="{549D7D22-E191-46AF-9663-6CFCC37A91D4}" presName="parTxOnly" presStyleLbl="node1" presStyleIdx="2" presStyleCnt="5">
        <dgm:presLayoutVars>
          <dgm:bulletEnabled val="1"/>
        </dgm:presLayoutVars>
      </dgm:prSet>
      <dgm:spPr/>
    </dgm:pt>
    <dgm:pt modelId="{7FB71A2A-3667-44B3-AD05-015DCD3DDA8B}" type="pres">
      <dgm:prSet presAssocID="{90CF3350-3AA5-44B9-8C0B-E5DBBD39CD39}" presName="parSpace" presStyleCnt="0"/>
      <dgm:spPr/>
    </dgm:pt>
    <dgm:pt modelId="{C051DCFC-C2CD-4F67-8F66-0A83C498F8AF}" type="pres">
      <dgm:prSet presAssocID="{BF59C183-F560-4637-88BE-71435EB2B545}" presName="parTxOnly" presStyleLbl="node1" presStyleIdx="3" presStyleCnt="5" custLinFactNeighborX="-3828">
        <dgm:presLayoutVars>
          <dgm:bulletEnabled val="1"/>
        </dgm:presLayoutVars>
      </dgm:prSet>
      <dgm:spPr/>
    </dgm:pt>
    <dgm:pt modelId="{D2026F37-4328-46F8-B41C-F89A0C2F3216}" type="pres">
      <dgm:prSet presAssocID="{037799B4-3E48-4406-B76A-23081C325B27}" presName="parSpace" presStyleCnt="0"/>
      <dgm:spPr/>
    </dgm:pt>
    <dgm:pt modelId="{B9A0BA30-816F-488E-AF6C-2AE1CEE670F8}" type="pres">
      <dgm:prSet presAssocID="{8CC9FC49-383F-4566-984B-71B9DABBED03}" presName="parTxOnly" presStyleLbl="node1" presStyleIdx="4" presStyleCnt="5">
        <dgm:presLayoutVars>
          <dgm:bulletEnabled val="1"/>
        </dgm:presLayoutVars>
      </dgm:prSet>
      <dgm:spPr/>
    </dgm:pt>
  </dgm:ptLst>
  <dgm:cxnLst>
    <dgm:cxn modelId="{70795F1C-439D-40C1-BBE3-B063A2EBA9C9}" type="presOf" srcId="{BF59C183-F560-4637-88BE-71435EB2B545}" destId="{C051DCFC-C2CD-4F67-8F66-0A83C498F8AF}" srcOrd="0" destOrd="0" presId="urn:microsoft.com/office/officeart/2005/8/layout/hChevron3"/>
    <dgm:cxn modelId="{2DB0502A-7462-4645-B21F-2DF2970B691C}" srcId="{095BC011-0362-496A-860F-AF7AE20DA5D0}" destId="{CE4B8B13-C6AD-4C68-9371-63D4B508DB87}" srcOrd="1" destOrd="0" parTransId="{5B662635-B366-4BBB-845A-0DDA601328D8}" sibTransId="{61171935-BC42-4965-ADA6-773599FC09B8}"/>
    <dgm:cxn modelId="{537F2C31-1B8C-46C1-9E5A-CDC1253A9F03}" type="presOf" srcId="{8CC9FC49-383F-4566-984B-71B9DABBED03}" destId="{B9A0BA30-816F-488E-AF6C-2AE1CEE670F8}" srcOrd="0" destOrd="0" presId="urn:microsoft.com/office/officeart/2005/8/layout/hChevron3"/>
    <dgm:cxn modelId="{AF693155-7AC2-4106-9AAF-D9E2016C7B98}" srcId="{095BC011-0362-496A-860F-AF7AE20DA5D0}" destId="{CF287475-BBBF-43A7-B19B-22AFBD417787}" srcOrd="0" destOrd="0" parTransId="{B9B9CD5B-5E51-495E-B783-57941A06771A}" sibTransId="{19C79AE4-486B-402D-9ED2-497C0EB57D72}"/>
    <dgm:cxn modelId="{262F5D80-8984-4152-B2D8-3C3E0FC3BFA0}" type="presOf" srcId="{CE4B8B13-C6AD-4C68-9371-63D4B508DB87}" destId="{7F2415CD-6CEA-499F-8ABE-52B830573263}" srcOrd="0" destOrd="0" presId="urn:microsoft.com/office/officeart/2005/8/layout/hChevron3"/>
    <dgm:cxn modelId="{0E5F92B1-5990-45EB-9EAE-A56548079DD7}" srcId="{095BC011-0362-496A-860F-AF7AE20DA5D0}" destId="{8CC9FC49-383F-4566-984B-71B9DABBED03}" srcOrd="4" destOrd="0" parTransId="{77DA3EAA-D19C-496B-AB42-DB9C60584F9F}" sibTransId="{15AAFC7B-0B58-40B3-8764-0FE5572254AF}"/>
    <dgm:cxn modelId="{B70322B4-8351-4742-ADE9-C8365C85DEBB}" type="presOf" srcId="{549D7D22-E191-46AF-9663-6CFCC37A91D4}" destId="{A5D3031A-A2CB-4103-8695-CAF9EF2B9F3E}" srcOrd="0" destOrd="0" presId="urn:microsoft.com/office/officeart/2005/8/layout/hChevron3"/>
    <dgm:cxn modelId="{0F4D4BB9-E2BE-4607-AF08-25AF7F9D5C86}" type="presOf" srcId="{095BC011-0362-496A-860F-AF7AE20DA5D0}" destId="{69AE559D-BCE6-4143-BA6C-1C8FDE60B2EC}" srcOrd="0" destOrd="0" presId="urn:microsoft.com/office/officeart/2005/8/layout/hChevron3"/>
    <dgm:cxn modelId="{AA49CBC3-3FEA-414C-AAF0-88730DBB7B04}" srcId="{095BC011-0362-496A-860F-AF7AE20DA5D0}" destId="{549D7D22-E191-46AF-9663-6CFCC37A91D4}" srcOrd="2" destOrd="0" parTransId="{C0CCCDEF-B233-43B3-92FA-715C602B3294}" sibTransId="{90CF3350-3AA5-44B9-8C0B-E5DBBD39CD39}"/>
    <dgm:cxn modelId="{035937D5-ACAD-4C83-B105-DA86682349BB}" srcId="{095BC011-0362-496A-860F-AF7AE20DA5D0}" destId="{BF59C183-F560-4637-88BE-71435EB2B545}" srcOrd="3" destOrd="0" parTransId="{D86A875C-AA84-48D4-962E-36A3FAFC1DE2}" sibTransId="{037799B4-3E48-4406-B76A-23081C325B27}"/>
    <dgm:cxn modelId="{05E661EA-E349-439C-B54E-9CEEC085F4DC}" type="presOf" srcId="{CF287475-BBBF-43A7-B19B-22AFBD417787}" destId="{004658D2-F880-4576-9DF3-89CFD15C9375}" srcOrd="0" destOrd="0" presId="urn:microsoft.com/office/officeart/2005/8/layout/hChevron3"/>
    <dgm:cxn modelId="{028B92D0-4C56-461B-B455-BDBA136F15B6}" type="presParOf" srcId="{69AE559D-BCE6-4143-BA6C-1C8FDE60B2EC}" destId="{004658D2-F880-4576-9DF3-89CFD15C9375}" srcOrd="0" destOrd="0" presId="urn:microsoft.com/office/officeart/2005/8/layout/hChevron3"/>
    <dgm:cxn modelId="{08E5FFF9-3087-4CFC-86DB-01FFFC5399A2}" type="presParOf" srcId="{69AE559D-BCE6-4143-BA6C-1C8FDE60B2EC}" destId="{E1DA11A8-8DB3-42D8-B01B-151F35388F4A}" srcOrd="1" destOrd="0" presId="urn:microsoft.com/office/officeart/2005/8/layout/hChevron3"/>
    <dgm:cxn modelId="{F44123A5-BDC8-40E3-AAA4-7DB185537E9F}" type="presParOf" srcId="{69AE559D-BCE6-4143-BA6C-1C8FDE60B2EC}" destId="{7F2415CD-6CEA-499F-8ABE-52B830573263}" srcOrd="2" destOrd="0" presId="urn:microsoft.com/office/officeart/2005/8/layout/hChevron3"/>
    <dgm:cxn modelId="{9E7A682B-0650-4661-8970-41B8D2F58D6D}" type="presParOf" srcId="{69AE559D-BCE6-4143-BA6C-1C8FDE60B2EC}" destId="{4202A49E-4C90-43E4-AD6B-CFB6ED2A59E9}" srcOrd="3" destOrd="0" presId="urn:microsoft.com/office/officeart/2005/8/layout/hChevron3"/>
    <dgm:cxn modelId="{229B1780-459E-40C4-B806-A3D39624F21A}" type="presParOf" srcId="{69AE559D-BCE6-4143-BA6C-1C8FDE60B2EC}" destId="{A5D3031A-A2CB-4103-8695-CAF9EF2B9F3E}" srcOrd="4" destOrd="0" presId="urn:microsoft.com/office/officeart/2005/8/layout/hChevron3"/>
    <dgm:cxn modelId="{1378473B-4307-4DFA-8A23-40D904D9C92F}" type="presParOf" srcId="{69AE559D-BCE6-4143-BA6C-1C8FDE60B2EC}" destId="{7FB71A2A-3667-44B3-AD05-015DCD3DDA8B}" srcOrd="5" destOrd="0" presId="urn:microsoft.com/office/officeart/2005/8/layout/hChevron3"/>
    <dgm:cxn modelId="{30E7ADDC-0996-440D-8010-09E10246E5A3}" type="presParOf" srcId="{69AE559D-BCE6-4143-BA6C-1C8FDE60B2EC}" destId="{C051DCFC-C2CD-4F67-8F66-0A83C498F8AF}" srcOrd="6" destOrd="0" presId="urn:microsoft.com/office/officeart/2005/8/layout/hChevron3"/>
    <dgm:cxn modelId="{6FC47577-33EB-4632-9164-48ACDFE50144}" type="presParOf" srcId="{69AE559D-BCE6-4143-BA6C-1C8FDE60B2EC}" destId="{D2026F37-4328-46F8-B41C-F89A0C2F3216}" srcOrd="7" destOrd="0" presId="urn:microsoft.com/office/officeart/2005/8/layout/hChevron3"/>
    <dgm:cxn modelId="{6A356092-2ABC-429F-A46D-E3893976EC23}" type="presParOf" srcId="{69AE559D-BCE6-4143-BA6C-1C8FDE60B2EC}" destId="{B9A0BA30-816F-488E-AF6C-2AE1CEE670F8}"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6249EEA-B490-41B4-921D-6F6FBE1803ED}" type="doc">
      <dgm:prSet loTypeId="urn:microsoft.com/office/officeart/2005/8/layout/gear1" loCatId="cycle" qsTypeId="urn:microsoft.com/office/officeart/2005/8/quickstyle/simple1" qsCatId="simple" csTypeId="urn:microsoft.com/office/officeart/2005/8/colors/accent1_2" csCatId="accent1" phldr="1"/>
      <dgm:spPr/>
    </dgm:pt>
    <dgm:pt modelId="{84F73FC4-BE59-428D-835B-5A1A4538997F}">
      <dgm:prSet phldrT="[文本]"/>
      <dgm:spPr>
        <a:solidFill>
          <a:srgbClr val="6296FF"/>
        </a:solidFill>
      </dgm:spPr>
      <dgm:t>
        <a:bodyPr/>
        <a:lstStyle/>
        <a:p>
          <a:r>
            <a:rPr lang="en-US" altLang="zh-CN" dirty="0"/>
            <a:t> </a:t>
          </a:r>
          <a:endParaRPr lang="zh-CN" altLang="en-US" dirty="0"/>
        </a:p>
      </dgm:t>
    </dgm:pt>
    <dgm:pt modelId="{A46EC539-DB2B-42E7-A72E-9E37171B3F7E}" type="parTrans" cxnId="{A797D6F1-EE50-49F9-BCD4-62CE025E8C79}">
      <dgm:prSet/>
      <dgm:spPr/>
      <dgm:t>
        <a:bodyPr/>
        <a:lstStyle/>
        <a:p>
          <a:endParaRPr lang="zh-CN" altLang="en-US"/>
        </a:p>
      </dgm:t>
    </dgm:pt>
    <dgm:pt modelId="{319A4AC6-8FC6-494D-A053-0BD10EFD6699}" type="sibTrans" cxnId="{A797D6F1-EE50-49F9-BCD4-62CE025E8C79}">
      <dgm:prSet/>
      <dgm:spPr/>
      <dgm:t>
        <a:bodyPr/>
        <a:lstStyle/>
        <a:p>
          <a:endParaRPr lang="zh-CN" altLang="en-US"/>
        </a:p>
      </dgm:t>
    </dgm:pt>
    <dgm:pt modelId="{CD7BEC41-9AE2-474A-AF15-1D593E9EF87D}">
      <dgm:prSet phldrT="[文本]"/>
      <dgm:spPr>
        <a:solidFill>
          <a:srgbClr val="92D400"/>
        </a:solidFill>
      </dgm:spPr>
      <dgm:t>
        <a:bodyPr/>
        <a:lstStyle/>
        <a:p>
          <a:r>
            <a:rPr lang="en-US" altLang="zh-CN" dirty="0"/>
            <a:t> </a:t>
          </a:r>
          <a:endParaRPr lang="zh-CN" altLang="en-US" dirty="0"/>
        </a:p>
      </dgm:t>
    </dgm:pt>
    <dgm:pt modelId="{9A887015-C1AF-4353-8990-CD65274DA33F}" type="parTrans" cxnId="{AD78138E-0E67-4350-BE22-C767D0389DA7}">
      <dgm:prSet/>
      <dgm:spPr/>
      <dgm:t>
        <a:bodyPr/>
        <a:lstStyle/>
        <a:p>
          <a:endParaRPr lang="zh-CN" altLang="en-US"/>
        </a:p>
      </dgm:t>
    </dgm:pt>
    <dgm:pt modelId="{BE456260-5806-481B-A582-6909D8D5DF82}" type="sibTrans" cxnId="{AD78138E-0E67-4350-BE22-C767D0389DA7}">
      <dgm:prSet/>
      <dgm:spPr/>
      <dgm:t>
        <a:bodyPr/>
        <a:lstStyle/>
        <a:p>
          <a:endParaRPr lang="zh-CN" altLang="en-US"/>
        </a:p>
      </dgm:t>
    </dgm:pt>
    <dgm:pt modelId="{7D17C6B9-65E7-488E-9ED3-C2418066BFDE}">
      <dgm:prSet phldrT="[文本]"/>
      <dgm:spPr>
        <a:solidFill>
          <a:srgbClr val="B1CBFF"/>
        </a:solidFill>
      </dgm:spPr>
      <dgm:t>
        <a:bodyPr/>
        <a:lstStyle/>
        <a:p>
          <a:r>
            <a:rPr lang="en-US" altLang="zh-CN" dirty="0"/>
            <a:t> </a:t>
          </a:r>
          <a:endParaRPr lang="zh-CN" altLang="en-US" dirty="0"/>
        </a:p>
      </dgm:t>
    </dgm:pt>
    <dgm:pt modelId="{AFF16816-F36C-4864-9667-E3575EDFBC95}" type="sibTrans" cxnId="{5A08A4F6-F46E-495D-8BD1-16664C91B67A}">
      <dgm:prSet/>
      <dgm:spPr/>
      <dgm:t>
        <a:bodyPr/>
        <a:lstStyle/>
        <a:p>
          <a:endParaRPr lang="zh-CN" altLang="en-US"/>
        </a:p>
      </dgm:t>
    </dgm:pt>
    <dgm:pt modelId="{29967AEF-ACFB-4E3B-8926-6DEA3CAD96D9}" type="parTrans" cxnId="{5A08A4F6-F46E-495D-8BD1-16664C91B67A}">
      <dgm:prSet/>
      <dgm:spPr/>
      <dgm:t>
        <a:bodyPr/>
        <a:lstStyle/>
        <a:p>
          <a:endParaRPr lang="zh-CN" altLang="en-US"/>
        </a:p>
      </dgm:t>
    </dgm:pt>
    <dgm:pt modelId="{9D48F955-294E-4A38-A5D7-A254AE9A7868}" type="pres">
      <dgm:prSet presAssocID="{56249EEA-B490-41B4-921D-6F6FBE1803ED}" presName="composite" presStyleCnt="0">
        <dgm:presLayoutVars>
          <dgm:chMax val="3"/>
          <dgm:animLvl val="lvl"/>
          <dgm:resizeHandles val="exact"/>
        </dgm:presLayoutVars>
      </dgm:prSet>
      <dgm:spPr/>
    </dgm:pt>
    <dgm:pt modelId="{86ADE221-B352-40BA-A1FA-5685A07C518F}" type="pres">
      <dgm:prSet presAssocID="{84F73FC4-BE59-428D-835B-5A1A4538997F}" presName="gear1" presStyleLbl="node1" presStyleIdx="0" presStyleCnt="3" custLinFactNeighborX="-3938" custLinFactNeighborY="-3015">
        <dgm:presLayoutVars>
          <dgm:chMax val="1"/>
          <dgm:bulletEnabled val="1"/>
        </dgm:presLayoutVars>
      </dgm:prSet>
      <dgm:spPr/>
    </dgm:pt>
    <dgm:pt modelId="{633DC4FE-F690-4B3F-ACD0-84BC04B461D1}" type="pres">
      <dgm:prSet presAssocID="{84F73FC4-BE59-428D-835B-5A1A4538997F}" presName="gear1srcNode" presStyleLbl="node1" presStyleIdx="0" presStyleCnt="3"/>
      <dgm:spPr/>
    </dgm:pt>
    <dgm:pt modelId="{69F7CE05-237C-4173-B928-3EC23342B553}" type="pres">
      <dgm:prSet presAssocID="{84F73FC4-BE59-428D-835B-5A1A4538997F}" presName="gear1dstNode" presStyleLbl="node1" presStyleIdx="0" presStyleCnt="3"/>
      <dgm:spPr/>
    </dgm:pt>
    <dgm:pt modelId="{D39A1EE2-338C-4E8A-AB63-70F9F47C37AD}" type="pres">
      <dgm:prSet presAssocID="{CD7BEC41-9AE2-474A-AF15-1D593E9EF87D}" presName="gear2" presStyleLbl="node1" presStyleIdx="1" presStyleCnt="3">
        <dgm:presLayoutVars>
          <dgm:chMax val="1"/>
          <dgm:bulletEnabled val="1"/>
        </dgm:presLayoutVars>
      </dgm:prSet>
      <dgm:spPr/>
    </dgm:pt>
    <dgm:pt modelId="{94DC1C10-A2E8-486E-A7F0-552D4F2F1F34}" type="pres">
      <dgm:prSet presAssocID="{CD7BEC41-9AE2-474A-AF15-1D593E9EF87D}" presName="gear2srcNode" presStyleLbl="node1" presStyleIdx="1" presStyleCnt="3"/>
      <dgm:spPr/>
    </dgm:pt>
    <dgm:pt modelId="{C6323B7A-E735-410C-A65F-C80890B1B2EC}" type="pres">
      <dgm:prSet presAssocID="{CD7BEC41-9AE2-474A-AF15-1D593E9EF87D}" presName="gear2dstNode" presStyleLbl="node1" presStyleIdx="1" presStyleCnt="3"/>
      <dgm:spPr/>
    </dgm:pt>
    <dgm:pt modelId="{6D33C6E1-6B8C-4965-85CB-E24769FC216F}" type="pres">
      <dgm:prSet presAssocID="{7D17C6B9-65E7-488E-9ED3-C2418066BFDE}" presName="gear3" presStyleLbl="node1" presStyleIdx="2" presStyleCnt="3"/>
      <dgm:spPr/>
    </dgm:pt>
    <dgm:pt modelId="{CBC51A2A-ECF6-40B2-880B-119EF7BEC814}" type="pres">
      <dgm:prSet presAssocID="{7D17C6B9-65E7-488E-9ED3-C2418066BFDE}" presName="gear3tx" presStyleLbl="node1" presStyleIdx="2" presStyleCnt="3">
        <dgm:presLayoutVars>
          <dgm:chMax val="1"/>
          <dgm:bulletEnabled val="1"/>
        </dgm:presLayoutVars>
      </dgm:prSet>
      <dgm:spPr/>
    </dgm:pt>
    <dgm:pt modelId="{9BE349EC-C57C-4718-8A2C-DD74A0C04A72}" type="pres">
      <dgm:prSet presAssocID="{7D17C6B9-65E7-488E-9ED3-C2418066BFDE}" presName="gear3srcNode" presStyleLbl="node1" presStyleIdx="2" presStyleCnt="3"/>
      <dgm:spPr/>
    </dgm:pt>
    <dgm:pt modelId="{16B954CD-6AF9-4ADC-98E1-6E526DB36DF8}" type="pres">
      <dgm:prSet presAssocID="{7D17C6B9-65E7-488E-9ED3-C2418066BFDE}" presName="gear3dstNode" presStyleLbl="node1" presStyleIdx="2" presStyleCnt="3"/>
      <dgm:spPr/>
    </dgm:pt>
    <dgm:pt modelId="{3DAC21BA-D962-41E2-A739-92080BA95EC9}" type="pres">
      <dgm:prSet presAssocID="{319A4AC6-8FC6-494D-A053-0BD10EFD6699}" presName="connector1" presStyleLbl="sibTrans2D1" presStyleIdx="0" presStyleCnt="3"/>
      <dgm:spPr/>
    </dgm:pt>
    <dgm:pt modelId="{8F600FFA-99D1-4FE2-A650-415FE979F221}" type="pres">
      <dgm:prSet presAssocID="{BE456260-5806-481B-A582-6909D8D5DF82}" presName="connector2" presStyleLbl="sibTrans2D1" presStyleIdx="1" presStyleCnt="3"/>
      <dgm:spPr/>
    </dgm:pt>
    <dgm:pt modelId="{459146A0-ECF3-4710-BFAD-F5EE5DB8EE2E}" type="pres">
      <dgm:prSet presAssocID="{AFF16816-F36C-4864-9667-E3575EDFBC95}" presName="connector3" presStyleLbl="sibTrans2D1" presStyleIdx="2" presStyleCnt="3"/>
      <dgm:spPr/>
    </dgm:pt>
  </dgm:ptLst>
  <dgm:cxnLst>
    <dgm:cxn modelId="{6BC4D702-24F2-4594-B8C4-493E9FFE494B}" type="presOf" srcId="{84F73FC4-BE59-428D-835B-5A1A4538997F}" destId="{633DC4FE-F690-4B3F-ACD0-84BC04B461D1}" srcOrd="1" destOrd="0" presId="urn:microsoft.com/office/officeart/2005/8/layout/gear1"/>
    <dgm:cxn modelId="{D2A86503-58AB-4874-BDA8-0ED8683CBFA1}" type="presOf" srcId="{56249EEA-B490-41B4-921D-6F6FBE1803ED}" destId="{9D48F955-294E-4A38-A5D7-A254AE9A7868}" srcOrd="0" destOrd="0" presId="urn:microsoft.com/office/officeart/2005/8/layout/gear1"/>
    <dgm:cxn modelId="{81FED820-3270-4022-9ADF-E65305521D33}" type="presOf" srcId="{CD7BEC41-9AE2-474A-AF15-1D593E9EF87D}" destId="{D39A1EE2-338C-4E8A-AB63-70F9F47C37AD}" srcOrd="0" destOrd="0" presId="urn:microsoft.com/office/officeart/2005/8/layout/gear1"/>
    <dgm:cxn modelId="{05288434-EF1F-47BD-8B98-FCE587699ED5}" type="presOf" srcId="{84F73FC4-BE59-428D-835B-5A1A4538997F}" destId="{86ADE221-B352-40BA-A1FA-5685A07C518F}" srcOrd="0" destOrd="0" presId="urn:microsoft.com/office/officeart/2005/8/layout/gear1"/>
    <dgm:cxn modelId="{9054F642-CBB7-46DA-A485-025535A5F158}" type="presOf" srcId="{BE456260-5806-481B-A582-6909D8D5DF82}" destId="{8F600FFA-99D1-4FE2-A650-415FE979F221}" srcOrd="0" destOrd="0" presId="urn:microsoft.com/office/officeart/2005/8/layout/gear1"/>
    <dgm:cxn modelId="{F488C984-3151-4C8D-9846-625D3442E58C}" type="presOf" srcId="{AFF16816-F36C-4864-9667-E3575EDFBC95}" destId="{459146A0-ECF3-4710-BFAD-F5EE5DB8EE2E}" srcOrd="0" destOrd="0" presId="urn:microsoft.com/office/officeart/2005/8/layout/gear1"/>
    <dgm:cxn modelId="{E8887F88-2F1F-4807-B86F-DDA7EF5C90FF}" type="presOf" srcId="{7D17C6B9-65E7-488E-9ED3-C2418066BFDE}" destId="{6D33C6E1-6B8C-4965-85CB-E24769FC216F}" srcOrd="0" destOrd="0" presId="urn:microsoft.com/office/officeart/2005/8/layout/gear1"/>
    <dgm:cxn modelId="{AD78138E-0E67-4350-BE22-C767D0389DA7}" srcId="{56249EEA-B490-41B4-921D-6F6FBE1803ED}" destId="{CD7BEC41-9AE2-474A-AF15-1D593E9EF87D}" srcOrd="1" destOrd="0" parTransId="{9A887015-C1AF-4353-8990-CD65274DA33F}" sibTransId="{BE456260-5806-481B-A582-6909D8D5DF82}"/>
    <dgm:cxn modelId="{240BEA93-97E1-4AC4-B65E-EC51919D296E}" type="presOf" srcId="{84F73FC4-BE59-428D-835B-5A1A4538997F}" destId="{69F7CE05-237C-4173-B928-3EC23342B553}" srcOrd="2" destOrd="0" presId="urn:microsoft.com/office/officeart/2005/8/layout/gear1"/>
    <dgm:cxn modelId="{72E67598-2E6F-403C-9A03-1977F847857B}" type="presOf" srcId="{CD7BEC41-9AE2-474A-AF15-1D593E9EF87D}" destId="{94DC1C10-A2E8-486E-A7F0-552D4F2F1F34}" srcOrd="1" destOrd="0" presId="urn:microsoft.com/office/officeart/2005/8/layout/gear1"/>
    <dgm:cxn modelId="{CB30E3B8-53FD-40A7-89B2-EAA6F87DCA94}" type="presOf" srcId="{319A4AC6-8FC6-494D-A053-0BD10EFD6699}" destId="{3DAC21BA-D962-41E2-A739-92080BA95EC9}" srcOrd="0" destOrd="0" presId="urn:microsoft.com/office/officeart/2005/8/layout/gear1"/>
    <dgm:cxn modelId="{C664A1C1-991C-4B44-87B1-9AC2152E1CA2}" type="presOf" srcId="{7D17C6B9-65E7-488E-9ED3-C2418066BFDE}" destId="{9BE349EC-C57C-4718-8A2C-DD74A0C04A72}" srcOrd="2" destOrd="0" presId="urn:microsoft.com/office/officeart/2005/8/layout/gear1"/>
    <dgm:cxn modelId="{F161B1DC-7973-4694-9A39-2D37A9217FA9}" type="presOf" srcId="{CD7BEC41-9AE2-474A-AF15-1D593E9EF87D}" destId="{C6323B7A-E735-410C-A65F-C80890B1B2EC}" srcOrd="2" destOrd="0" presId="urn:microsoft.com/office/officeart/2005/8/layout/gear1"/>
    <dgm:cxn modelId="{8F3E33EF-6A90-4848-A89C-7810BD86F63B}" type="presOf" srcId="{7D17C6B9-65E7-488E-9ED3-C2418066BFDE}" destId="{CBC51A2A-ECF6-40B2-880B-119EF7BEC814}" srcOrd="1" destOrd="0" presId="urn:microsoft.com/office/officeart/2005/8/layout/gear1"/>
    <dgm:cxn modelId="{A797D6F1-EE50-49F9-BCD4-62CE025E8C79}" srcId="{56249EEA-B490-41B4-921D-6F6FBE1803ED}" destId="{84F73FC4-BE59-428D-835B-5A1A4538997F}" srcOrd="0" destOrd="0" parTransId="{A46EC539-DB2B-42E7-A72E-9E37171B3F7E}" sibTransId="{319A4AC6-8FC6-494D-A053-0BD10EFD6699}"/>
    <dgm:cxn modelId="{5A08A4F6-F46E-495D-8BD1-16664C91B67A}" srcId="{56249EEA-B490-41B4-921D-6F6FBE1803ED}" destId="{7D17C6B9-65E7-488E-9ED3-C2418066BFDE}" srcOrd="2" destOrd="0" parTransId="{29967AEF-ACFB-4E3B-8926-6DEA3CAD96D9}" sibTransId="{AFF16816-F36C-4864-9667-E3575EDFBC95}"/>
    <dgm:cxn modelId="{307EABFC-862C-462F-802E-6BC5CAD369EB}" type="presOf" srcId="{7D17C6B9-65E7-488E-9ED3-C2418066BFDE}" destId="{16B954CD-6AF9-4ADC-98E1-6E526DB36DF8}" srcOrd="3" destOrd="0" presId="urn:microsoft.com/office/officeart/2005/8/layout/gear1"/>
    <dgm:cxn modelId="{1DE8112E-AB73-4472-86E4-3D4A14A6A21E}" type="presParOf" srcId="{9D48F955-294E-4A38-A5D7-A254AE9A7868}" destId="{86ADE221-B352-40BA-A1FA-5685A07C518F}" srcOrd="0" destOrd="0" presId="urn:microsoft.com/office/officeart/2005/8/layout/gear1"/>
    <dgm:cxn modelId="{A9F44ECA-0D47-4A75-B233-0E3CF3F0D5CB}" type="presParOf" srcId="{9D48F955-294E-4A38-A5D7-A254AE9A7868}" destId="{633DC4FE-F690-4B3F-ACD0-84BC04B461D1}" srcOrd="1" destOrd="0" presId="urn:microsoft.com/office/officeart/2005/8/layout/gear1"/>
    <dgm:cxn modelId="{834D9BB8-3759-4472-91BC-BAE33D2236D5}" type="presParOf" srcId="{9D48F955-294E-4A38-A5D7-A254AE9A7868}" destId="{69F7CE05-237C-4173-B928-3EC23342B553}" srcOrd="2" destOrd="0" presId="urn:microsoft.com/office/officeart/2005/8/layout/gear1"/>
    <dgm:cxn modelId="{BD5A4155-D545-4D54-9EA2-53FF741B18A8}" type="presParOf" srcId="{9D48F955-294E-4A38-A5D7-A254AE9A7868}" destId="{D39A1EE2-338C-4E8A-AB63-70F9F47C37AD}" srcOrd="3" destOrd="0" presId="urn:microsoft.com/office/officeart/2005/8/layout/gear1"/>
    <dgm:cxn modelId="{EACD1C00-9B20-4EDB-A7A2-3F0BA5B69383}" type="presParOf" srcId="{9D48F955-294E-4A38-A5D7-A254AE9A7868}" destId="{94DC1C10-A2E8-486E-A7F0-552D4F2F1F34}" srcOrd="4" destOrd="0" presId="urn:microsoft.com/office/officeart/2005/8/layout/gear1"/>
    <dgm:cxn modelId="{D81DE902-A4FC-4CB2-89E0-ECFFA59B48FE}" type="presParOf" srcId="{9D48F955-294E-4A38-A5D7-A254AE9A7868}" destId="{C6323B7A-E735-410C-A65F-C80890B1B2EC}" srcOrd="5" destOrd="0" presId="urn:microsoft.com/office/officeart/2005/8/layout/gear1"/>
    <dgm:cxn modelId="{355CF459-8F59-4AE1-8691-1F0AFB07F08E}" type="presParOf" srcId="{9D48F955-294E-4A38-A5D7-A254AE9A7868}" destId="{6D33C6E1-6B8C-4965-85CB-E24769FC216F}" srcOrd="6" destOrd="0" presId="urn:microsoft.com/office/officeart/2005/8/layout/gear1"/>
    <dgm:cxn modelId="{A3CAA6DE-23C6-4882-AD6B-7466597C150E}" type="presParOf" srcId="{9D48F955-294E-4A38-A5D7-A254AE9A7868}" destId="{CBC51A2A-ECF6-40B2-880B-119EF7BEC814}" srcOrd="7" destOrd="0" presId="urn:microsoft.com/office/officeart/2005/8/layout/gear1"/>
    <dgm:cxn modelId="{28124860-7A79-4E71-BE9F-CC3EDDCE6701}" type="presParOf" srcId="{9D48F955-294E-4A38-A5D7-A254AE9A7868}" destId="{9BE349EC-C57C-4718-8A2C-DD74A0C04A72}" srcOrd="8" destOrd="0" presId="urn:microsoft.com/office/officeart/2005/8/layout/gear1"/>
    <dgm:cxn modelId="{82D29F12-CFAC-4C60-8D14-E2EF1D3132BF}" type="presParOf" srcId="{9D48F955-294E-4A38-A5D7-A254AE9A7868}" destId="{16B954CD-6AF9-4ADC-98E1-6E526DB36DF8}" srcOrd="9" destOrd="0" presId="urn:microsoft.com/office/officeart/2005/8/layout/gear1"/>
    <dgm:cxn modelId="{21E89712-37AD-425C-A1A7-BD4AF2CDE7F5}" type="presParOf" srcId="{9D48F955-294E-4A38-A5D7-A254AE9A7868}" destId="{3DAC21BA-D962-41E2-A739-92080BA95EC9}" srcOrd="10" destOrd="0" presId="urn:microsoft.com/office/officeart/2005/8/layout/gear1"/>
    <dgm:cxn modelId="{7D4F22BB-27F7-4C8F-8CD0-F5B6987C31AC}" type="presParOf" srcId="{9D48F955-294E-4A38-A5D7-A254AE9A7868}" destId="{8F600FFA-99D1-4FE2-A650-415FE979F221}" srcOrd="11" destOrd="0" presId="urn:microsoft.com/office/officeart/2005/8/layout/gear1"/>
    <dgm:cxn modelId="{D07CAD0E-94B8-40CB-A23C-8DC9DEEE3FF3}" type="presParOf" srcId="{9D48F955-294E-4A38-A5D7-A254AE9A7868}" destId="{459146A0-ECF3-4710-BFAD-F5EE5DB8EE2E}"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4658D2-F880-4576-9DF3-89CFD15C9375}">
      <dsp:nvSpPr>
        <dsp:cNvPr id="0" name=""/>
        <dsp:cNvSpPr/>
      </dsp:nvSpPr>
      <dsp:spPr>
        <a:xfrm>
          <a:off x="738" y="0"/>
          <a:ext cx="1440805" cy="332101"/>
        </a:xfrm>
        <a:prstGeom prst="homePlate">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342" tIns="34671" rIns="17336" bIns="34671" numCol="1" spcCol="1270" anchor="ctr" anchorCtr="0">
          <a:noAutofit/>
        </a:bodyPr>
        <a:lstStyle/>
        <a:p>
          <a:pPr marL="0" lvl="0" indent="0" algn="ctr" defTabSz="577850">
            <a:lnSpc>
              <a:spcPct val="90000"/>
            </a:lnSpc>
            <a:spcBef>
              <a:spcPct val="0"/>
            </a:spcBef>
            <a:spcAft>
              <a:spcPct val="35000"/>
            </a:spcAft>
            <a:buNone/>
          </a:pPr>
          <a:r>
            <a:rPr lang="zh-CN" altLang="en-US" sz="1300" b="0" kern="1200" dirty="0"/>
            <a:t>目录采集</a:t>
          </a:r>
        </a:p>
      </dsp:txBody>
      <dsp:txXfrm>
        <a:off x="738" y="0"/>
        <a:ext cx="1357780" cy="332101"/>
      </dsp:txXfrm>
    </dsp:sp>
    <dsp:sp modelId="{7F2415CD-6CEA-499F-8ABE-52B830573263}">
      <dsp:nvSpPr>
        <dsp:cNvPr id="0" name=""/>
        <dsp:cNvSpPr/>
      </dsp:nvSpPr>
      <dsp:spPr>
        <a:xfrm>
          <a:off x="1153382" y="0"/>
          <a:ext cx="1440805" cy="332101"/>
        </a:xfrm>
        <a:prstGeom prst="chevron">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zh-CN" altLang="en-US" sz="1300" b="0" kern="1200" dirty="0"/>
            <a:t>数据编目</a:t>
          </a:r>
        </a:p>
      </dsp:txBody>
      <dsp:txXfrm>
        <a:off x="1319433" y="0"/>
        <a:ext cx="1108704" cy="332101"/>
      </dsp:txXfrm>
    </dsp:sp>
    <dsp:sp modelId="{A5D3031A-A2CB-4103-8695-CAF9EF2B9F3E}">
      <dsp:nvSpPr>
        <dsp:cNvPr id="0" name=""/>
        <dsp:cNvSpPr/>
      </dsp:nvSpPr>
      <dsp:spPr>
        <a:xfrm>
          <a:off x="2306026" y="0"/>
          <a:ext cx="1440805" cy="332101"/>
        </a:xfrm>
        <a:prstGeom prst="chevron">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zh-CN" altLang="en-US" sz="1300" b="0" kern="1200" dirty="0"/>
            <a:t>目录审核</a:t>
          </a:r>
        </a:p>
      </dsp:txBody>
      <dsp:txXfrm>
        <a:off x="2472077" y="0"/>
        <a:ext cx="1108704" cy="332101"/>
      </dsp:txXfrm>
    </dsp:sp>
    <dsp:sp modelId="{C051DCFC-C2CD-4F67-8F66-0A83C498F8AF}">
      <dsp:nvSpPr>
        <dsp:cNvPr id="0" name=""/>
        <dsp:cNvSpPr/>
      </dsp:nvSpPr>
      <dsp:spPr>
        <a:xfrm>
          <a:off x="3447640" y="0"/>
          <a:ext cx="1440805" cy="332101"/>
        </a:xfrm>
        <a:prstGeom prst="chevron">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zh-CN" altLang="en-US" sz="1300" b="0" kern="1200" dirty="0"/>
            <a:t>目录发布</a:t>
          </a:r>
        </a:p>
      </dsp:txBody>
      <dsp:txXfrm>
        <a:off x="3613691" y="0"/>
        <a:ext cx="1108704" cy="332101"/>
      </dsp:txXfrm>
    </dsp:sp>
    <dsp:sp modelId="{B9A0BA30-816F-488E-AF6C-2AE1CEE670F8}">
      <dsp:nvSpPr>
        <dsp:cNvPr id="0" name=""/>
        <dsp:cNvSpPr/>
      </dsp:nvSpPr>
      <dsp:spPr>
        <a:xfrm>
          <a:off x="4611315" y="0"/>
          <a:ext cx="1440805" cy="332101"/>
        </a:xfrm>
        <a:prstGeom prst="chevron">
          <a:avLst/>
        </a:prstGeom>
        <a:solidFill>
          <a:schemeClr val="bg1">
            <a:lumMod val="6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zh-CN" altLang="en-US" sz="1300" b="0" kern="1200" dirty="0"/>
            <a:t>目录使用</a:t>
          </a:r>
        </a:p>
      </dsp:txBody>
      <dsp:txXfrm>
        <a:off x="4777366" y="0"/>
        <a:ext cx="1108704" cy="3321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ADE221-B352-40BA-A1FA-5685A07C518F}">
      <dsp:nvSpPr>
        <dsp:cNvPr id="0" name=""/>
        <dsp:cNvSpPr/>
      </dsp:nvSpPr>
      <dsp:spPr>
        <a:xfrm>
          <a:off x="510784" y="405169"/>
          <a:ext cx="514153" cy="514153"/>
        </a:xfrm>
        <a:prstGeom prst="gear9">
          <a:avLst/>
        </a:prstGeom>
        <a:solidFill>
          <a:srgbClr val="6296F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altLang="zh-CN" sz="1100" kern="1200" dirty="0"/>
            <a:t> </a:t>
          </a:r>
          <a:endParaRPr lang="zh-CN" altLang="en-US" sz="1100" kern="1200" dirty="0"/>
        </a:p>
      </dsp:txBody>
      <dsp:txXfrm>
        <a:off x="614152" y="525607"/>
        <a:ext cx="307417" cy="264285"/>
      </dsp:txXfrm>
    </dsp:sp>
    <dsp:sp modelId="{D39A1EE2-338C-4E8A-AB63-70F9F47C37AD}">
      <dsp:nvSpPr>
        <dsp:cNvPr id="0" name=""/>
        <dsp:cNvSpPr/>
      </dsp:nvSpPr>
      <dsp:spPr>
        <a:xfrm>
          <a:off x="231888" y="299144"/>
          <a:ext cx="373930" cy="373930"/>
        </a:xfrm>
        <a:prstGeom prst="gear6">
          <a:avLst/>
        </a:prstGeom>
        <a:solidFill>
          <a:srgbClr val="92D4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altLang="zh-CN" sz="1100" kern="1200" dirty="0"/>
            <a:t> </a:t>
          </a:r>
          <a:endParaRPr lang="zh-CN" altLang="en-US" sz="1100" kern="1200" dirty="0"/>
        </a:p>
      </dsp:txBody>
      <dsp:txXfrm>
        <a:off x="326026" y="393851"/>
        <a:ext cx="185654" cy="184516"/>
      </dsp:txXfrm>
    </dsp:sp>
    <dsp:sp modelId="{6D33C6E1-6B8C-4965-85CB-E24769FC216F}">
      <dsp:nvSpPr>
        <dsp:cNvPr id="0" name=""/>
        <dsp:cNvSpPr/>
      </dsp:nvSpPr>
      <dsp:spPr>
        <a:xfrm rot="20700000">
          <a:off x="441327" y="41170"/>
          <a:ext cx="366375" cy="366375"/>
        </a:xfrm>
        <a:prstGeom prst="gear6">
          <a:avLst/>
        </a:prstGeom>
        <a:solidFill>
          <a:srgbClr val="B1CBF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altLang="zh-CN" sz="1100" kern="1200" dirty="0"/>
            <a:t> </a:t>
          </a:r>
          <a:endParaRPr lang="zh-CN" altLang="en-US" sz="1100" kern="1200" dirty="0"/>
        </a:p>
      </dsp:txBody>
      <dsp:txXfrm rot="-20700000">
        <a:off x="521684" y="121527"/>
        <a:ext cx="205661" cy="205661"/>
      </dsp:txXfrm>
    </dsp:sp>
    <dsp:sp modelId="{3DAC21BA-D962-41E2-A739-92080BA95EC9}">
      <dsp:nvSpPr>
        <dsp:cNvPr id="0" name=""/>
        <dsp:cNvSpPr/>
      </dsp:nvSpPr>
      <dsp:spPr>
        <a:xfrm>
          <a:off x="463335" y="357270"/>
          <a:ext cx="658116" cy="658116"/>
        </a:xfrm>
        <a:prstGeom prst="circularArrow">
          <a:avLst>
            <a:gd name="adj1" fmla="val 4687"/>
            <a:gd name="adj2" fmla="val 299029"/>
            <a:gd name="adj3" fmla="val 2283034"/>
            <a:gd name="adj4" fmla="val 16514876"/>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F600FFA-99D1-4FE2-A650-415FE979F221}">
      <dsp:nvSpPr>
        <dsp:cNvPr id="0" name=""/>
        <dsp:cNvSpPr/>
      </dsp:nvSpPr>
      <dsp:spPr>
        <a:xfrm>
          <a:off x="165665" y="230395"/>
          <a:ext cx="478162" cy="478162"/>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59146A0-ECF3-4710-BFAD-F5EE5DB8EE2E}">
      <dsp:nvSpPr>
        <dsp:cNvPr id="0" name=""/>
        <dsp:cNvSpPr/>
      </dsp:nvSpPr>
      <dsp:spPr>
        <a:xfrm>
          <a:off x="356580" y="-25091"/>
          <a:ext cx="515555" cy="515555"/>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latin typeface="Arial" charset="0"/>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0" hangingPunct="0">
              <a:defRPr sz="1200">
                <a:latin typeface="Arial" charset="0"/>
                <a:ea typeface="+mn-ea"/>
              </a:defRPr>
            </a:lvl1pPr>
          </a:lstStyle>
          <a:p>
            <a:pPr>
              <a:defRPr/>
            </a:pPr>
            <a:fld id="{927C2328-94C7-4F09-AE0F-94A013818BF8}" type="datetimeFigureOut">
              <a:rPr lang="zh-CN" altLang="en-US"/>
              <a:pPr>
                <a:defRPr/>
              </a:pPr>
              <a:t>2020/6/12</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0" hangingPunct="0">
              <a:defRPr sz="1200">
                <a:latin typeface="Arial" charset="0"/>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eaLnBrk="0" hangingPunct="0">
              <a:defRPr sz="1200">
                <a:latin typeface="Arial" charset="0"/>
                <a:ea typeface="+mn-ea"/>
              </a:defRPr>
            </a:lvl1pPr>
          </a:lstStyle>
          <a:p>
            <a:pPr>
              <a:defRPr/>
            </a:pPr>
            <a:fld id="{A64191CE-7B88-4BEE-B5DC-082341113D45}" type="slidenum">
              <a:rPr lang="zh-CN" altLang="en-US"/>
              <a:pPr>
                <a:defRPr/>
              </a:pPr>
              <a:t>‹#›</a:t>
            </a:fld>
            <a:endParaRPr lang="zh-CN" altLang="en-US"/>
          </a:p>
        </p:txBody>
      </p:sp>
    </p:spTree>
    <p:extLst>
      <p:ext uri="{BB962C8B-B14F-4D97-AF65-F5344CB8AC3E}">
        <p14:creationId xmlns:p14="http://schemas.microsoft.com/office/powerpoint/2010/main" val="4100845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latin typeface="Arial" charset="0"/>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latin typeface="Arial" charset="0"/>
                <a:ea typeface="+mn-ea"/>
              </a:defRPr>
            </a:lvl1pPr>
          </a:lstStyle>
          <a:p>
            <a:pPr>
              <a:defRPr/>
            </a:pPr>
            <a:fld id="{69557E7B-47E5-482B-A550-268912E130DA}" type="datetimeFigureOut">
              <a:rPr lang="zh-CN" altLang="en-US"/>
              <a:pPr>
                <a:defRPr/>
              </a:pPr>
              <a:t>2020/6/12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latin typeface="Arial" charset="0"/>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0" hangingPunct="0">
              <a:defRPr sz="1200">
                <a:latin typeface="Arial" charset="0"/>
                <a:ea typeface="+mn-ea"/>
              </a:defRPr>
            </a:lvl1pPr>
          </a:lstStyle>
          <a:p>
            <a:pPr>
              <a:defRPr/>
            </a:pPr>
            <a:fld id="{83858C2A-C5CE-4673-BE6D-642D01612E5E}" type="slidenum">
              <a:rPr lang="zh-CN" altLang="en-US"/>
              <a:pPr>
                <a:defRPr/>
              </a:pPr>
              <a:t>‹#›</a:t>
            </a:fld>
            <a:endParaRPr lang="zh-CN" altLang="en-US"/>
          </a:p>
        </p:txBody>
      </p:sp>
    </p:spTree>
    <p:extLst>
      <p:ext uri="{BB962C8B-B14F-4D97-AF65-F5344CB8AC3E}">
        <p14:creationId xmlns:p14="http://schemas.microsoft.com/office/powerpoint/2010/main" val="24890252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686C1B8-8CBD-4BBB-BD4D-ACE2269FB443}"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Rot="1" noChangeAspect="1" noChangeArrowheads="1" noTextEdit="1"/>
          </p:cNvSpPr>
          <p:nvPr>
            <p:ph type="sldImg"/>
          </p:nvPr>
        </p:nvSpPr>
        <p:spPr>
          <a:ln/>
        </p:spPr>
      </p:sp>
      <p:sp>
        <p:nvSpPr>
          <p:cNvPr id="409603" name="Rectangle 3"/>
          <p:cNvSpPr>
            <a:spLocks noGrp="1" noChangeArrowheads="1"/>
          </p:cNvSpPr>
          <p:nvPr>
            <p:ph type="body" idx="1"/>
          </p:nvPr>
        </p:nvSpPr>
        <p:spPr>
          <a:xfrm>
            <a:off x="685800" y="4343400"/>
            <a:ext cx="5486400" cy="4114800"/>
          </a:xfrm>
          <a:prstGeom prst="rect">
            <a:avLst/>
          </a:prstGeom>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Rot="1" noChangeAspect="1" noChangeArrowheads="1" noTextEdit="1"/>
          </p:cNvSpPr>
          <p:nvPr>
            <p:ph type="sldImg"/>
          </p:nvPr>
        </p:nvSpPr>
        <p:spPr>
          <a:ln/>
        </p:spPr>
      </p:sp>
      <p:sp>
        <p:nvSpPr>
          <p:cNvPr id="409603" name="Rectangle 3"/>
          <p:cNvSpPr>
            <a:spLocks noGrp="1" noChangeArrowheads="1"/>
          </p:cNvSpPr>
          <p:nvPr>
            <p:ph type="body" idx="1"/>
          </p:nvPr>
        </p:nvSpPr>
        <p:spPr>
          <a:xfrm>
            <a:off x="685800" y="4343400"/>
            <a:ext cx="5486400" cy="4114800"/>
          </a:xfrm>
          <a:prstGeom prst="rect">
            <a:avLst/>
          </a:prstGeom>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eaLnBrk="0" hangingPunct="0">
              <a:defRPr sz="2000">
                <a:solidFill>
                  <a:schemeClr val="tx1"/>
                </a:solidFill>
                <a:latin typeface="Times New Roman" pitchFamily="18" charset="0"/>
                <a:ea typeface="楷体_GB2312" pitchFamily="49" charset="-122"/>
              </a:defRPr>
            </a:lvl1pPr>
            <a:lvl2pPr marL="742950" indent="-285750" eaLnBrk="0" hangingPunct="0">
              <a:defRPr sz="2000">
                <a:solidFill>
                  <a:schemeClr val="tx1"/>
                </a:solidFill>
                <a:latin typeface="Times New Roman" pitchFamily="18" charset="0"/>
                <a:ea typeface="楷体_GB2312" pitchFamily="49" charset="-122"/>
              </a:defRPr>
            </a:lvl2pPr>
            <a:lvl3pPr marL="1143000" indent="-228600" eaLnBrk="0" hangingPunct="0">
              <a:defRPr sz="2000">
                <a:solidFill>
                  <a:schemeClr val="tx1"/>
                </a:solidFill>
                <a:latin typeface="Times New Roman" pitchFamily="18" charset="0"/>
                <a:ea typeface="楷体_GB2312" pitchFamily="49" charset="-122"/>
              </a:defRPr>
            </a:lvl3pPr>
            <a:lvl4pPr marL="1600200" indent="-228600" eaLnBrk="0" hangingPunct="0">
              <a:defRPr sz="2000">
                <a:solidFill>
                  <a:schemeClr val="tx1"/>
                </a:solidFill>
                <a:latin typeface="Times New Roman" pitchFamily="18" charset="0"/>
                <a:ea typeface="楷体_GB2312" pitchFamily="49" charset="-122"/>
              </a:defRPr>
            </a:lvl4pPr>
            <a:lvl5pPr marL="2057400" indent="-228600" eaLnBrk="0" hangingPunct="0">
              <a:defRPr sz="2000">
                <a:solidFill>
                  <a:schemeClr val="tx1"/>
                </a:solidFill>
                <a:latin typeface="Times New Roman" pitchFamily="18" charset="0"/>
                <a:ea typeface="楷体_GB2312" pitchFamily="49" charset="-122"/>
              </a:defRPr>
            </a:lvl5pPr>
            <a:lvl6pPr marL="2514600" indent="-228600" algn="ctr" eaLnBrk="0" fontAlgn="base" hangingPunct="0">
              <a:spcBef>
                <a:spcPct val="20000"/>
              </a:spcBef>
              <a:spcAft>
                <a:spcPct val="0"/>
              </a:spcAft>
              <a:buChar char="•"/>
              <a:defRPr sz="2000">
                <a:solidFill>
                  <a:schemeClr val="tx1"/>
                </a:solidFill>
                <a:latin typeface="Times New Roman" pitchFamily="18" charset="0"/>
                <a:ea typeface="楷体_GB2312" pitchFamily="49" charset="-122"/>
              </a:defRPr>
            </a:lvl6pPr>
            <a:lvl7pPr marL="2971800" indent="-228600" algn="ctr" eaLnBrk="0" fontAlgn="base" hangingPunct="0">
              <a:spcBef>
                <a:spcPct val="20000"/>
              </a:spcBef>
              <a:spcAft>
                <a:spcPct val="0"/>
              </a:spcAft>
              <a:buChar char="•"/>
              <a:defRPr sz="2000">
                <a:solidFill>
                  <a:schemeClr val="tx1"/>
                </a:solidFill>
                <a:latin typeface="Times New Roman" pitchFamily="18" charset="0"/>
                <a:ea typeface="楷体_GB2312" pitchFamily="49" charset="-122"/>
              </a:defRPr>
            </a:lvl7pPr>
            <a:lvl8pPr marL="3429000" indent="-228600" algn="ctr" eaLnBrk="0" fontAlgn="base" hangingPunct="0">
              <a:spcBef>
                <a:spcPct val="20000"/>
              </a:spcBef>
              <a:spcAft>
                <a:spcPct val="0"/>
              </a:spcAft>
              <a:buChar char="•"/>
              <a:defRPr sz="2000">
                <a:solidFill>
                  <a:schemeClr val="tx1"/>
                </a:solidFill>
                <a:latin typeface="Times New Roman" pitchFamily="18" charset="0"/>
                <a:ea typeface="楷体_GB2312" pitchFamily="49" charset="-122"/>
              </a:defRPr>
            </a:lvl8pPr>
            <a:lvl9pPr marL="3886200" indent="-228600" algn="ctr" eaLnBrk="0" fontAlgn="base" hangingPunct="0">
              <a:spcBef>
                <a:spcPct val="20000"/>
              </a:spcBef>
              <a:spcAft>
                <a:spcPct val="0"/>
              </a:spcAft>
              <a:buChar char="•"/>
              <a:defRPr sz="2000">
                <a:solidFill>
                  <a:schemeClr val="tx1"/>
                </a:solidFill>
                <a:latin typeface="Times New Roman" pitchFamily="18" charset="0"/>
                <a:ea typeface="楷体_GB2312" pitchFamily="49" charset="-122"/>
              </a:defRPr>
            </a:lvl9pPr>
          </a:lstStyle>
          <a:p>
            <a:pPr eaLnBrk="1" hangingPunct="1"/>
            <a:fld id="{4F781119-475D-4632-B925-D4FE52D5DFE7}" type="slidenum">
              <a:rPr lang="en-US" altLang="zh-CN" sz="1200" smtClean="0">
                <a:latin typeface="微软雅黑" pitchFamily="34" charset="-122"/>
                <a:ea typeface="微软雅黑" pitchFamily="34" charset="-122"/>
              </a:rPr>
              <a:pPr eaLnBrk="1" hangingPunct="1"/>
              <a:t>10</a:t>
            </a:fld>
            <a:endParaRPr lang="en-US" altLang="zh-CN" sz="1200">
              <a:latin typeface="微软雅黑" pitchFamily="34" charset="-122"/>
              <a:ea typeface="微软雅黑" pitchFamily="34" charset="-122"/>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基础信息库：</a:t>
            </a:r>
            <a:r>
              <a:rPr lang="zh-CN" altLang="en-US" sz="1200" b="0" i="0" u="none" strike="noStrike" kern="1200" baseline="0" dirty="0">
                <a:solidFill>
                  <a:schemeClr val="tx1"/>
                </a:solidFill>
                <a:latin typeface="+mn-lt"/>
                <a:ea typeface="+mn-ea"/>
                <a:cs typeface="+mn-cs"/>
              </a:rPr>
              <a:t>由人口数据库、法人数据库、宏观经济数据库、地理空间数据库及建筑物数据库等五大类数据库组成</a:t>
            </a:r>
            <a:endParaRPr lang="en-US" altLang="zh-CN" dirty="0"/>
          </a:p>
          <a:p>
            <a:r>
              <a:rPr lang="zh-CN" altLang="en-US" dirty="0"/>
              <a:t>业务信息库：</a:t>
            </a:r>
            <a:r>
              <a:rPr lang="zh-CN" altLang="en-US" sz="1200" b="0" i="0" u="none" strike="noStrike" kern="1200" baseline="0" dirty="0">
                <a:solidFill>
                  <a:schemeClr val="tx1"/>
                </a:solidFill>
                <a:latin typeface="+mn-lt"/>
                <a:ea typeface="+mn-ea"/>
                <a:cs typeface="+mn-cs"/>
              </a:rPr>
              <a:t>基于公共基础数据库的业务性扩展数据库 </a:t>
            </a:r>
            <a:r>
              <a:rPr lang="en-US" altLang="zh-CN" sz="1200" b="0" i="0" u="none" strike="noStrike" kern="1200" baseline="0" dirty="0">
                <a:solidFill>
                  <a:schemeClr val="tx1"/>
                </a:solidFill>
                <a:latin typeface="+mn-lt"/>
                <a:ea typeface="+mn-ea"/>
                <a:cs typeface="+mn-cs"/>
              </a:rPr>
              <a:t>,</a:t>
            </a:r>
            <a:r>
              <a:rPr lang="zh-CN" altLang="en-US" sz="1200" b="0" i="0" u="none" strike="noStrike" kern="1200" baseline="0" dirty="0">
                <a:solidFill>
                  <a:schemeClr val="tx1"/>
                </a:solidFill>
                <a:latin typeface="+mn-lt"/>
                <a:ea typeface="+mn-ea"/>
                <a:cs typeface="+mn-cs"/>
              </a:rPr>
              <a:t>由根据业务应用需要而扩展的各类指标项构成，是一种动态的、不断扩充的业务数据模式。</a:t>
            </a:r>
            <a:endParaRPr lang="en-US" altLang="zh-CN" dirty="0"/>
          </a:p>
          <a:p>
            <a:r>
              <a:rPr lang="zh-CN" altLang="en-US" dirty="0"/>
              <a:t>服务信息库：</a:t>
            </a:r>
            <a:r>
              <a:rPr lang="zh-CN" altLang="en-US" sz="1200" b="0" i="0" u="none" strike="noStrike" kern="1200" baseline="0" dirty="0">
                <a:solidFill>
                  <a:schemeClr val="tx1"/>
                </a:solidFill>
                <a:latin typeface="+mn-lt"/>
                <a:ea typeface="+mn-ea"/>
                <a:cs typeface="+mn-cs"/>
              </a:rPr>
              <a:t>由各类专题应用类数据库构成</a:t>
            </a:r>
            <a:r>
              <a:rPr lang="en-US" altLang="zh-CN" sz="1200" b="0" i="0" u="none" strike="noStrike" kern="1200" baseline="0" dirty="0">
                <a:solidFill>
                  <a:schemeClr val="tx1"/>
                </a:solidFill>
                <a:latin typeface="+mn-lt"/>
                <a:ea typeface="+mn-ea"/>
                <a:cs typeface="+mn-cs"/>
              </a:rPr>
              <a:t>,</a:t>
            </a:r>
            <a:r>
              <a:rPr lang="zh-CN" altLang="en-US" sz="1200" b="0" i="0" u="none" strike="noStrike" kern="1200" baseline="0" dirty="0">
                <a:solidFill>
                  <a:schemeClr val="tx1"/>
                </a:solidFill>
                <a:latin typeface="+mn-lt"/>
                <a:ea typeface="+mn-ea"/>
                <a:cs typeface="+mn-cs"/>
              </a:rPr>
              <a:t>通过对公共基础数据、公共业务数据进行清洗、挖掘、分析后形成的有特定应用场景的服务型数据集，为各应用单位提供融合后的专题应用资源服务。</a:t>
            </a:r>
            <a:endParaRPr lang="en-US" altLang="zh-CN" dirty="0"/>
          </a:p>
          <a:p>
            <a:r>
              <a:rPr lang="zh-CN" altLang="en-US" dirty="0"/>
              <a:t>交换信息库：</a:t>
            </a:r>
          </a:p>
        </p:txBody>
      </p:sp>
      <p:sp>
        <p:nvSpPr>
          <p:cNvPr id="4" name="灯片编号占位符 3"/>
          <p:cNvSpPr>
            <a:spLocks noGrp="1"/>
          </p:cNvSpPr>
          <p:nvPr>
            <p:ph type="sldNum" sz="quarter" idx="10"/>
          </p:nvPr>
        </p:nvSpPr>
        <p:spPr/>
        <p:txBody>
          <a:bodyPr/>
          <a:lstStyle/>
          <a:p>
            <a:pPr>
              <a:defRPr/>
            </a:pPr>
            <a:fld id="{83858C2A-C5CE-4673-BE6D-642D01612E5E}" type="slidenum">
              <a:rPr lang="zh-CN" altLang="en-US" smtClean="0"/>
              <a:pPr>
                <a:defRPr/>
              </a:pPr>
              <a:t>13</a:t>
            </a:fld>
            <a:endParaRPr lang="zh-CN" altLang="en-US"/>
          </a:p>
        </p:txBody>
      </p:sp>
    </p:spTree>
    <p:extLst>
      <p:ext uri="{BB962C8B-B14F-4D97-AF65-F5344CB8AC3E}">
        <p14:creationId xmlns:p14="http://schemas.microsoft.com/office/powerpoint/2010/main" val="8898408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3858C2A-C5CE-4673-BE6D-642D01612E5E}" type="slidenum">
              <a:rPr lang="zh-CN" altLang="en-US" smtClean="0"/>
              <a:pPr>
                <a:defRPr/>
              </a:pPr>
              <a:t>15</a:t>
            </a:fld>
            <a:endParaRPr lang="zh-CN" altLang="en-US"/>
          </a:p>
        </p:txBody>
      </p:sp>
    </p:spTree>
    <p:extLst>
      <p:ext uri="{BB962C8B-B14F-4D97-AF65-F5344CB8AC3E}">
        <p14:creationId xmlns:p14="http://schemas.microsoft.com/office/powerpoint/2010/main" val="3499818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sz="1200" kern="1200" dirty="0">
                <a:solidFill>
                  <a:schemeClr val="tx1"/>
                </a:solidFill>
                <a:latin typeface="+mn-lt"/>
                <a:ea typeface="+mn-ea"/>
                <a:cs typeface="+mn-cs"/>
              </a:rPr>
              <a:t>自动化资源编目</a:t>
            </a:r>
          </a:p>
          <a:p>
            <a:r>
              <a:rPr lang="zh-CN" altLang="en-US" sz="1200" kern="1200" dirty="0">
                <a:solidFill>
                  <a:schemeClr val="tx1"/>
                </a:solidFill>
                <a:latin typeface="+mn-lt"/>
                <a:ea typeface="+mn-ea"/>
                <a:cs typeface="+mn-cs"/>
              </a:rPr>
              <a:t>自动编目是根据目录资源的形态特征和内容特征，按照编目规则，编制资源的目录款目并组织目录的过程。其过程主要遵守国家标准元数据赋值规范，形成便于检索的统一格式数据体系。</a:t>
            </a:r>
          </a:p>
          <a:p>
            <a:r>
              <a:rPr lang="zh-CN" altLang="en-US" sz="1200" kern="1200" dirty="0">
                <a:solidFill>
                  <a:schemeClr val="tx1"/>
                </a:solidFill>
                <a:latin typeface="+mn-lt"/>
                <a:ea typeface="+mn-ea"/>
                <a:cs typeface="+mn-cs"/>
              </a:rPr>
              <a:t>自动编目的过程中，系统会通过元数据智能化共享信息资源中提取相关特征信息，将特征信息按制订的标准规范进行分类，并按照元数据标准形成信息资源核心元数据和交换服务元数据，完成统一编码赋值以及信息分类。</a:t>
            </a:r>
          </a:p>
          <a:p>
            <a:r>
              <a:rPr lang="en-US" sz="1200" kern="1200" dirty="0">
                <a:solidFill>
                  <a:schemeClr val="tx1"/>
                </a:solidFill>
                <a:latin typeface="+mn-lt"/>
                <a:ea typeface="+mn-ea"/>
                <a:cs typeface="+mn-cs"/>
              </a:rPr>
              <a:t> </a:t>
            </a:r>
            <a:endParaRPr lang="zh-CN" altLang="en-US"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手动资源编目</a:t>
            </a:r>
          </a:p>
          <a:p>
            <a:r>
              <a:rPr lang="zh-CN" altLang="en-US" sz="1200" kern="1200" dirty="0">
                <a:solidFill>
                  <a:schemeClr val="tx1"/>
                </a:solidFill>
                <a:latin typeface="+mn-lt"/>
                <a:ea typeface="+mn-ea"/>
                <a:cs typeface="+mn-cs"/>
              </a:rPr>
              <a:t>手动资源编目是指资源提供者向资源目录平台注册信息资源，核心元数据和业务元数据同时提交到目录平台，并通过表单向目录中心注册对应地址，包括目录中心的名称和统一资源定位符（</a:t>
            </a:r>
            <a:r>
              <a:rPr lang="en-US" sz="1200" kern="1200" dirty="0">
                <a:solidFill>
                  <a:schemeClr val="tx1"/>
                </a:solidFill>
                <a:latin typeface="+mn-lt"/>
                <a:ea typeface="+mn-ea"/>
                <a:cs typeface="+mn-cs"/>
              </a:rPr>
              <a:t>URL</a:t>
            </a:r>
            <a:r>
              <a:rPr lang="zh-CN" altLang="en-US" sz="1200" kern="1200" dirty="0">
                <a:solidFill>
                  <a:schemeClr val="tx1"/>
                </a:solidFill>
                <a:latin typeface="+mn-lt"/>
                <a:ea typeface="+mn-ea"/>
                <a:cs typeface="+mn-cs"/>
              </a:rPr>
              <a:t>）。</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dirty="0">
                <a:latin typeface="+mn-ea"/>
                <a:ea typeface="+mn-ea"/>
              </a:rPr>
              <a:t>资源提供者将来自于部门信息资源库的资源采集到目录信息资源库，并将资源进行编目注册到目录管理中心中，通过审核将目录内容发布出来，根据分类从而形成公共资源目录与交换服务目录。公共资源目录用于提供给各部门进行目录查询，交换服务目录用于快速创建交换作业。</a:t>
            </a:r>
          </a:p>
          <a:p>
            <a:endParaRPr lang="zh-CN" altLang="en-US" sz="120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83858C2A-C5CE-4673-BE6D-642D01612E5E}" type="slidenum">
              <a:rPr lang="zh-CN" altLang="en-US" smtClean="0"/>
              <a:pPr>
                <a:defRPr/>
              </a:pPr>
              <a:t>16</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a:bodyPr>
          <a:lstStyle/>
          <a:p>
            <a:pPr marL="171450" indent="-171450">
              <a:buFont typeface="Wingdings" pitchFamily="2" charset="2"/>
              <a:buChar char="Ø"/>
            </a:pPr>
            <a:r>
              <a:rPr lang="zh-CN" altLang="en-US" sz="1200" b="1" dirty="0">
                <a:solidFill>
                  <a:schemeClr val="tx1">
                    <a:lumMod val="85000"/>
                    <a:lumOff val="15000"/>
                  </a:schemeClr>
                </a:solidFill>
                <a:latin typeface="+mn-ea"/>
                <a:ea typeface="+mn-ea"/>
              </a:rPr>
              <a:t>数据地图</a:t>
            </a:r>
            <a:endParaRPr lang="en-US" altLang="zh-CN" sz="1200" b="1" dirty="0">
              <a:solidFill>
                <a:schemeClr val="tx1">
                  <a:lumMod val="85000"/>
                  <a:lumOff val="15000"/>
                </a:schemeClr>
              </a:solidFill>
              <a:latin typeface="+mn-ea"/>
              <a:ea typeface="+mn-ea"/>
            </a:endParaRPr>
          </a:p>
          <a:p>
            <a:pPr marL="0" lvl="1"/>
            <a:r>
              <a:rPr lang="zh-CN" altLang="en-US" sz="1200" dirty="0">
                <a:solidFill>
                  <a:schemeClr val="tx1">
                    <a:lumMod val="75000"/>
                    <a:lumOff val="25000"/>
                  </a:schemeClr>
                </a:solidFill>
                <a:latin typeface="+mn-ea"/>
                <a:ea typeface="+mn-ea"/>
              </a:rPr>
              <a:t>   了解整个信息资源平台数据的全貌，同时也可了解各个业务应用之间的数据关系。</a:t>
            </a:r>
            <a:endParaRPr lang="en-US" altLang="zh-CN" sz="1200" dirty="0">
              <a:solidFill>
                <a:schemeClr val="tx1">
                  <a:lumMod val="75000"/>
                  <a:lumOff val="25000"/>
                </a:schemeClr>
              </a:solidFill>
              <a:latin typeface="+mn-ea"/>
              <a:ea typeface="+mn-ea"/>
            </a:endParaRPr>
          </a:p>
          <a:p>
            <a:pPr marL="171450" indent="-171450">
              <a:buFont typeface="Wingdings" pitchFamily="2" charset="2"/>
              <a:buChar char="Ø"/>
            </a:pPr>
            <a:r>
              <a:rPr lang="zh-CN" altLang="en-US" sz="1200" b="1" dirty="0">
                <a:solidFill>
                  <a:schemeClr val="tx1">
                    <a:lumMod val="85000"/>
                    <a:lumOff val="15000"/>
                  </a:schemeClr>
                </a:solidFill>
                <a:latin typeface="+mn-ea"/>
                <a:ea typeface="+mn-ea"/>
              </a:rPr>
              <a:t>影响分析</a:t>
            </a:r>
          </a:p>
          <a:p>
            <a:r>
              <a:rPr lang="zh-CN" altLang="en-US" sz="1200" dirty="0">
                <a:solidFill>
                  <a:schemeClr val="tx1">
                    <a:lumMod val="75000"/>
                    <a:lumOff val="25000"/>
                  </a:schemeClr>
                </a:solidFill>
                <a:latin typeface="+mn-ea"/>
                <a:ea typeface="+mn-ea"/>
              </a:rPr>
              <a:t>    向下分析一个元数据对下游对象的影响。</a:t>
            </a:r>
          </a:p>
          <a:p>
            <a:pPr marL="171450" indent="-171450">
              <a:buFont typeface="Wingdings" pitchFamily="2" charset="2"/>
              <a:buChar char="Ø"/>
            </a:pPr>
            <a:r>
              <a:rPr lang="zh-CN" altLang="en-US" sz="1200" b="1" dirty="0">
                <a:solidFill>
                  <a:schemeClr val="tx1">
                    <a:lumMod val="85000"/>
                    <a:lumOff val="15000"/>
                  </a:schemeClr>
                </a:solidFill>
                <a:latin typeface="+mn-ea"/>
                <a:ea typeface="+mn-ea"/>
              </a:rPr>
              <a:t>血缘分析</a:t>
            </a:r>
          </a:p>
          <a:p>
            <a:r>
              <a:rPr lang="zh-CN" altLang="en-US" sz="1200" dirty="0">
                <a:solidFill>
                  <a:schemeClr val="tx1">
                    <a:lumMod val="75000"/>
                    <a:lumOff val="25000"/>
                  </a:schemeClr>
                </a:solidFill>
                <a:latin typeface="+mn-ea"/>
                <a:ea typeface="+mn-ea"/>
              </a:rPr>
              <a:t>   与影响分析的方向相反，向上追溯一个对象的数据来源。</a:t>
            </a:r>
          </a:p>
          <a:p>
            <a:pPr marL="171450" indent="-171450">
              <a:buFont typeface="Wingdings" pitchFamily="2" charset="2"/>
              <a:buChar char="Ø"/>
            </a:pPr>
            <a:r>
              <a:rPr lang="zh-CN" altLang="en-US" sz="1200" b="1" dirty="0">
                <a:solidFill>
                  <a:schemeClr val="tx1">
                    <a:lumMod val="85000"/>
                    <a:lumOff val="15000"/>
                  </a:schemeClr>
                </a:solidFill>
                <a:latin typeface="+mn-ea"/>
                <a:ea typeface="+mn-ea"/>
              </a:rPr>
              <a:t>全链分析</a:t>
            </a:r>
          </a:p>
          <a:p>
            <a:r>
              <a:rPr lang="zh-CN" altLang="en-US" sz="1200" dirty="0">
                <a:solidFill>
                  <a:schemeClr val="tx1">
                    <a:lumMod val="75000"/>
                    <a:lumOff val="25000"/>
                  </a:schemeClr>
                </a:solidFill>
                <a:latin typeface="+mn-ea"/>
                <a:ea typeface="+mn-ea"/>
              </a:rPr>
              <a:t>    从某对象出发，向上下游双方向进行分析。</a:t>
            </a:r>
          </a:p>
          <a:p>
            <a:pPr marL="171450" indent="-171450">
              <a:buFont typeface="Wingdings" pitchFamily="2" charset="2"/>
              <a:buChar char="Ø"/>
            </a:pPr>
            <a:r>
              <a:rPr lang="zh-CN" altLang="en-US" sz="1200" b="1" dirty="0">
                <a:solidFill>
                  <a:schemeClr val="tx1">
                    <a:lumMod val="85000"/>
                    <a:lumOff val="15000"/>
                  </a:schemeClr>
                </a:solidFill>
                <a:latin typeface="+mn-ea"/>
                <a:ea typeface="+mn-ea"/>
              </a:rPr>
              <a:t>活力分析</a:t>
            </a:r>
          </a:p>
          <a:p>
            <a:r>
              <a:rPr lang="zh-CN" altLang="en-US" sz="1200" dirty="0">
                <a:solidFill>
                  <a:schemeClr val="tx1">
                    <a:lumMod val="75000"/>
                    <a:lumOff val="25000"/>
                  </a:schemeClr>
                </a:solidFill>
                <a:latin typeface="+mn-ea"/>
                <a:ea typeface="+mn-ea"/>
              </a:rPr>
              <a:t>    分析一个数据库对象被访问的频度。</a:t>
            </a:r>
          </a:p>
          <a:p>
            <a:pPr marL="171450" indent="-171450">
              <a:buFont typeface="Wingdings" pitchFamily="2" charset="2"/>
              <a:buChar char="Ø"/>
            </a:pPr>
            <a:r>
              <a:rPr lang="zh-CN" altLang="en-US" sz="1200" b="1" dirty="0">
                <a:solidFill>
                  <a:schemeClr val="tx1">
                    <a:lumMod val="85000"/>
                    <a:lumOff val="15000"/>
                  </a:schemeClr>
                </a:solidFill>
                <a:latin typeface="+mn-ea"/>
                <a:ea typeface="+mn-ea"/>
              </a:rPr>
              <a:t>孤立对象分析</a:t>
            </a:r>
          </a:p>
          <a:p>
            <a:r>
              <a:rPr lang="zh-CN" altLang="en-US" sz="1200" dirty="0">
                <a:solidFill>
                  <a:schemeClr val="tx1">
                    <a:lumMod val="75000"/>
                    <a:lumOff val="25000"/>
                  </a:schemeClr>
                </a:solidFill>
                <a:latin typeface="+mn-ea"/>
                <a:ea typeface="+mn-ea"/>
              </a:rPr>
              <a:t>    分析数据交换区、物理模型区中的孤立元数据对象。</a:t>
            </a:r>
          </a:p>
          <a:p>
            <a:pPr marL="171450" indent="-171450">
              <a:buFont typeface="Wingdings" pitchFamily="2" charset="2"/>
              <a:buChar char="Ø"/>
            </a:pPr>
            <a:r>
              <a:rPr lang="zh-CN" altLang="en-US" sz="1200" b="1" dirty="0">
                <a:solidFill>
                  <a:schemeClr val="tx1">
                    <a:lumMod val="85000"/>
                    <a:lumOff val="15000"/>
                  </a:schemeClr>
                </a:solidFill>
                <a:latin typeface="+mn-ea"/>
                <a:ea typeface="+mn-ea"/>
              </a:rPr>
              <a:t>一致性分析</a:t>
            </a:r>
          </a:p>
          <a:p>
            <a:r>
              <a:rPr lang="zh-CN" altLang="en-US" sz="1200" dirty="0">
                <a:solidFill>
                  <a:schemeClr val="tx1">
                    <a:lumMod val="75000"/>
                    <a:lumOff val="25000"/>
                  </a:schemeClr>
                </a:solidFill>
                <a:latin typeface="+mn-ea"/>
                <a:ea typeface="+mn-ea"/>
              </a:rPr>
              <a:t>    定期分析元模型中的元数据是否与实际情况一致。</a:t>
            </a:r>
          </a:p>
          <a:p>
            <a:pPr marL="171450" indent="-171450">
              <a:buFont typeface="Wingdings" pitchFamily="2" charset="2"/>
              <a:buChar char="Ø"/>
            </a:pPr>
            <a:r>
              <a:rPr lang="zh-CN" altLang="en-US" sz="1200" b="1" dirty="0">
                <a:solidFill>
                  <a:schemeClr val="tx1">
                    <a:lumMod val="85000"/>
                    <a:lumOff val="15000"/>
                  </a:schemeClr>
                </a:solidFill>
                <a:latin typeface="+mn-ea"/>
                <a:ea typeface="+mn-ea"/>
              </a:rPr>
              <a:t>版本比对</a:t>
            </a:r>
          </a:p>
          <a:p>
            <a:r>
              <a:rPr lang="zh-CN" altLang="en-US" sz="1200" dirty="0">
                <a:solidFill>
                  <a:schemeClr val="tx1">
                    <a:lumMod val="75000"/>
                    <a:lumOff val="25000"/>
                  </a:schemeClr>
                </a:solidFill>
                <a:latin typeface="+mn-ea"/>
                <a:ea typeface="+mn-ea"/>
              </a:rPr>
              <a:t>选择任意两个时点的版本进行比对。</a:t>
            </a:r>
          </a:p>
          <a:p>
            <a:pPr marL="171450" indent="-171450">
              <a:buFont typeface="Wingdings" pitchFamily="2" charset="2"/>
              <a:buChar char="Ø"/>
            </a:pPr>
            <a:r>
              <a:rPr lang="zh-CN" altLang="en-US" sz="1200" b="1" dirty="0">
                <a:solidFill>
                  <a:schemeClr val="tx1">
                    <a:lumMod val="85000"/>
                    <a:lumOff val="15000"/>
                  </a:schemeClr>
                </a:solidFill>
                <a:latin typeface="+mn-ea"/>
                <a:ea typeface="+mn-ea"/>
              </a:rPr>
              <a:t>质量分析</a:t>
            </a:r>
          </a:p>
          <a:p>
            <a:r>
              <a:rPr lang="zh-CN" altLang="en-US" sz="1200" dirty="0">
                <a:solidFill>
                  <a:schemeClr val="tx1">
                    <a:lumMod val="75000"/>
                    <a:lumOff val="25000"/>
                  </a:schemeClr>
                </a:solidFill>
                <a:latin typeface="+mn-ea"/>
                <a:ea typeface="+mn-ea"/>
              </a:rPr>
              <a:t>   分析信息资源数据交换区中的元数据的质量。</a:t>
            </a:r>
          </a:p>
        </p:txBody>
      </p:sp>
      <p:sp>
        <p:nvSpPr>
          <p:cNvPr id="4" name="灯片编号占位符 3"/>
          <p:cNvSpPr>
            <a:spLocks noGrp="1"/>
          </p:cNvSpPr>
          <p:nvPr>
            <p:ph type="sldNum" sz="quarter" idx="10"/>
          </p:nvPr>
        </p:nvSpPr>
        <p:spPr/>
        <p:txBody>
          <a:bodyPr/>
          <a:lstStyle/>
          <a:p>
            <a:pPr>
              <a:defRPr/>
            </a:pPr>
            <a:fld id="{83858C2A-C5CE-4673-BE6D-642D01612E5E}" type="slidenum">
              <a:rPr lang="zh-CN" altLang="en-US" smtClean="0"/>
              <a:pPr>
                <a:defRPr/>
              </a:pPr>
              <a:t>17</a:t>
            </a:fld>
            <a:endParaRPr lang="zh-CN" altLang="en-US"/>
          </a:p>
        </p:txBody>
      </p:sp>
    </p:spTree>
    <p:extLst>
      <p:ext uri="{BB962C8B-B14F-4D97-AF65-F5344CB8AC3E}">
        <p14:creationId xmlns:p14="http://schemas.microsoft.com/office/powerpoint/2010/main" val="2793876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83858C2A-C5CE-4673-BE6D-642D01612E5E}" type="slidenum">
              <a:rPr lang="zh-CN" altLang="en-US" smtClean="0"/>
              <a:pPr>
                <a:defRPr/>
              </a:pPr>
              <a:t>18</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C00000"/>
                </a:solidFill>
                <a:latin typeface="+mn-ea"/>
                <a:ea typeface="+mn-ea"/>
              </a:rPr>
              <a:t>交换管理</a:t>
            </a:r>
            <a:r>
              <a:rPr lang="zh-CN" altLang="en-US" sz="1200" dirty="0">
                <a:latin typeface="+mn-ea"/>
                <a:ea typeface="+mn-ea"/>
              </a:rPr>
              <a:t>：交换管理中用户能够创建交换任务执行任务调度。</a:t>
            </a:r>
            <a:endParaRPr lang="en-US" altLang="zh-CN" sz="1200" dirty="0">
              <a:latin typeface="+mn-ea"/>
              <a:ea typeface="+mn-ea"/>
            </a:endParaRPr>
          </a:p>
          <a:p>
            <a:r>
              <a:rPr lang="zh-CN" altLang="en-US" sz="1200" dirty="0">
                <a:solidFill>
                  <a:srgbClr val="C00000"/>
                </a:solidFill>
                <a:latin typeface="+mn-ea"/>
                <a:ea typeface="+mn-ea"/>
              </a:rPr>
              <a:t>交换监控</a:t>
            </a:r>
            <a:r>
              <a:rPr lang="zh-CN" altLang="en-US" sz="1200" dirty="0">
                <a:latin typeface="+mn-ea"/>
                <a:ea typeface="+mn-ea"/>
              </a:rPr>
              <a:t>：交换的过程由交换监控模块进行管理。</a:t>
            </a:r>
            <a:endParaRPr lang="en-US" altLang="zh-CN" sz="1200" dirty="0">
              <a:latin typeface="+mn-ea"/>
              <a:ea typeface="+mn-ea"/>
            </a:endParaRPr>
          </a:p>
          <a:p>
            <a:r>
              <a:rPr lang="zh-CN" altLang="en-US" sz="1200" dirty="0">
                <a:solidFill>
                  <a:srgbClr val="C00000"/>
                </a:solidFill>
                <a:latin typeface="+mn-ea"/>
                <a:ea typeface="+mn-ea"/>
              </a:rPr>
              <a:t>数据传输任务</a:t>
            </a:r>
            <a:r>
              <a:rPr lang="zh-CN" altLang="en-US" sz="1200" dirty="0">
                <a:latin typeface="+mn-ea"/>
                <a:ea typeface="+mn-ea"/>
              </a:rPr>
              <a:t>：执行过程中的日志信息和执行的结果数据会存放到交换平台的数据库中。</a:t>
            </a:r>
            <a:endParaRPr lang="en-US" altLang="zh-CN" sz="1200" dirty="0">
              <a:latin typeface="+mn-ea"/>
              <a:ea typeface="+mn-ea"/>
            </a:endParaRPr>
          </a:p>
          <a:p>
            <a:r>
              <a:rPr lang="zh-CN" altLang="en-US" sz="1200" dirty="0">
                <a:solidFill>
                  <a:srgbClr val="C00000"/>
                </a:solidFill>
                <a:latin typeface="+mn-ea"/>
                <a:ea typeface="+mn-ea"/>
              </a:rPr>
              <a:t>日志维护</a:t>
            </a:r>
            <a:r>
              <a:rPr lang="zh-CN" altLang="en-US" sz="1200" dirty="0">
                <a:latin typeface="+mn-ea"/>
                <a:ea typeface="+mn-ea"/>
              </a:rPr>
              <a:t>：在日志维护中能够查看到交换过程的日志信息。</a:t>
            </a:r>
            <a:endParaRPr lang="en-US" altLang="zh-CN" sz="1200" dirty="0">
              <a:latin typeface="+mn-ea"/>
              <a:ea typeface="+mn-ea"/>
            </a:endParaRPr>
          </a:p>
          <a:p>
            <a:r>
              <a:rPr lang="zh-CN" altLang="en-US" sz="1200" dirty="0">
                <a:solidFill>
                  <a:srgbClr val="C00000"/>
                </a:solidFill>
                <a:latin typeface="+mn-ea"/>
                <a:ea typeface="+mn-ea"/>
              </a:rPr>
              <a:t>查询统计</a:t>
            </a:r>
            <a:r>
              <a:rPr lang="zh-CN" altLang="en-US" sz="1200" dirty="0">
                <a:latin typeface="+mn-ea"/>
                <a:ea typeface="+mn-ea"/>
              </a:rPr>
              <a:t>：能够根据交换的结果数据进行统计分析。</a:t>
            </a:r>
            <a:endParaRPr lang="en-US" altLang="zh-CN" sz="1200" dirty="0">
              <a:latin typeface="+mn-ea"/>
              <a:ea typeface="+mn-ea"/>
            </a:endParaRPr>
          </a:p>
          <a:p>
            <a:r>
              <a:rPr lang="zh-CN" altLang="en-US" sz="1200" dirty="0">
                <a:solidFill>
                  <a:srgbClr val="C00000"/>
                </a:solidFill>
                <a:latin typeface="+mn-ea"/>
                <a:ea typeface="+mn-ea"/>
              </a:rPr>
              <a:t>资源管理</a:t>
            </a:r>
            <a:r>
              <a:rPr lang="zh-CN" altLang="en-US" sz="1200" dirty="0">
                <a:latin typeface="+mn-ea"/>
                <a:ea typeface="+mn-ea"/>
              </a:rPr>
              <a:t>：能够监控作业服务器的运行状态。</a:t>
            </a:r>
            <a:endParaRPr lang="en-US" altLang="zh-CN" sz="1200" dirty="0">
              <a:latin typeface="+mn-ea"/>
              <a:ea typeface="+mn-ea"/>
            </a:endParaRPr>
          </a:p>
          <a:p>
            <a:r>
              <a:rPr lang="zh-CN" altLang="en-US" sz="1200" dirty="0">
                <a:solidFill>
                  <a:srgbClr val="C00000"/>
                </a:solidFill>
                <a:latin typeface="+mn-ea"/>
                <a:ea typeface="+mn-ea"/>
              </a:rPr>
              <a:t>资源监控</a:t>
            </a:r>
            <a:r>
              <a:rPr lang="zh-CN" altLang="en-US" sz="1200" dirty="0">
                <a:latin typeface="+mn-ea"/>
                <a:ea typeface="+mn-ea"/>
              </a:rPr>
              <a:t>：会根据作业的执行结果数据匹配相应的作业服务器资源以图形方式展现。</a:t>
            </a:r>
            <a:endParaRPr lang="en-US" altLang="zh-CN" sz="1200" dirty="0">
              <a:latin typeface="+mn-ea"/>
              <a:ea typeface="+mn-ea"/>
            </a:endParaRPr>
          </a:p>
          <a:p>
            <a:r>
              <a:rPr lang="zh-CN" altLang="en-US" sz="1200" dirty="0">
                <a:solidFill>
                  <a:srgbClr val="C00000"/>
                </a:solidFill>
                <a:latin typeface="+mn-ea"/>
                <a:ea typeface="+mn-ea"/>
              </a:rPr>
              <a:t>监控管理</a:t>
            </a:r>
            <a:r>
              <a:rPr lang="zh-CN" altLang="en-US" sz="1200" dirty="0">
                <a:latin typeface="+mn-ea"/>
                <a:ea typeface="+mn-ea"/>
              </a:rPr>
              <a:t>：能够监控接口服务的信息在接口信息管理中以图形化的方式展现出接口调用的情况。</a:t>
            </a:r>
            <a:endParaRPr lang="en-US" altLang="zh-CN" sz="1200" dirty="0">
              <a:latin typeface="+mn-ea"/>
              <a:ea typeface="+mn-ea"/>
            </a:endParaRPr>
          </a:p>
          <a:p>
            <a:r>
              <a:rPr lang="zh-CN" altLang="en-US" sz="1200" dirty="0">
                <a:solidFill>
                  <a:srgbClr val="C00000"/>
                </a:solidFill>
                <a:latin typeface="+mn-ea"/>
                <a:ea typeface="+mn-ea"/>
              </a:rPr>
              <a:t>订阅信息管理</a:t>
            </a:r>
            <a:r>
              <a:rPr lang="zh-CN" altLang="en-US" sz="1200" dirty="0">
                <a:latin typeface="+mn-ea"/>
                <a:ea typeface="+mn-ea"/>
              </a:rPr>
              <a:t>：模块根据用户订阅的主题将监控管理模块中的信息推送给用户使用。</a:t>
            </a:r>
            <a:endParaRPr lang="en-US" altLang="zh-CN" sz="1200" dirty="0">
              <a:latin typeface="+mn-ea"/>
              <a:ea typeface="+mn-ea"/>
            </a:endParaRPr>
          </a:p>
          <a:p>
            <a:r>
              <a:rPr lang="zh-CN" altLang="en-US" sz="1200" dirty="0">
                <a:solidFill>
                  <a:srgbClr val="C00000"/>
                </a:solidFill>
                <a:latin typeface="+mn-ea"/>
                <a:ea typeface="+mn-ea"/>
              </a:rPr>
              <a:t>系统管理</a:t>
            </a:r>
            <a:r>
              <a:rPr lang="zh-CN" altLang="en-US" sz="1200" dirty="0">
                <a:latin typeface="+mn-ea"/>
                <a:ea typeface="+mn-ea"/>
              </a:rPr>
              <a:t>：能够注册和管理数据交换平台的各中服务。</a:t>
            </a:r>
            <a:endParaRPr lang="en-US" altLang="zh-CN" sz="1200" dirty="0">
              <a:latin typeface="+mn-ea"/>
              <a:ea typeface="+mn-ea"/>
            </a:endParaRPr>
          </a:p>
          <a:p>
            <a:r>
              <a:rPr lang="zh-CN" altLang="en-US" sz="1200" dirty="0">
                <a:solidFill>
                  <a:srgbClr val="C00000"/>
                </a:solidFill>
                <a:latin typeface="+mn-ea"/>
                <a:ea typeface="+mn-ea"/>
              </a:rPr>
              <a:t>权限管理</a:t>
            </a:r>
            <a:r>
              <a:rPr lang="zh-CN" altLang="en-US" sz="1200" dirty="0">
                <a:latin typeface="+mn-ea"/>
                <a:ea typeface="+mn-ea"/>
              </a:rPr>
              <a:t>：通过权限管理控制角色的权限范围。</a:t>
            </a:r>
          </a:p>
          <a:p>
            <a:endParaRPr lang="zh-CN" altLang="en-US" dirty="0"/>
          </a:p>
        </p:txBody>
      </p:sp>
      <p:sp>
        <p:nvSpPr>
          <p:cNvPr id="4" name="灯片编号占位符 3"/>
          <p:cNvSpPr>
            <a:spLocks noGrp="1"/>
          </p:cNvSpPr>
          <p:nvPr>
            <p:ph type="sldNum" sz="quarter" idx="10"/>
          </p:nvPr>
        </p:nvSpPr>
        <p:spPr/>
        <p:txBody>
          <a:bodyPr/>
          <a:lstStyle/>
          <a:p>
            <a:pPr>
              <a:defRPr/>
            </a:pPr>
            <a:fld id="{83858C2A-C5CE-4673-BE6D-642D01612E5E}" type="slidenum">
              <a:rPr lang="zh-CN" altLang="en-US" smtClean="0"/>
              <a:pPr>
                <a:defRPr/>
              </a:pPr>
              <a:t>19</a:t>
            </a:fld>
            <a:endParaRPr lang="zh-CN" altLang="en-US"/>
          </a:p>
        </p:txBody>
      </p:sp>
    </p:spTree>
    <p:extLst>
      <p:ext uri="{BB962C8B-B14F-4D97-AF65-F5344CB8AC3E}">
        <p14:creationId xmlns:p14="http://schemas.microsoft.com/office/powerpoint/2010/main" val="1407276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bwMode="auto">
          <a:noFill/>
          <a:ln>
            <a:solidFill>
              <a:srgbClr val="000000"/>
            </a:solidFill>
            <a:miter lim="800000"/>
            <a:headEnd/>
            <a:tailEnd/>
          </a:ln>
        </p:spPr>
      </p:sp>
      <p:sp>
        <p:nvSpPr>
          <p:cNvPr id="7782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
        <p:nvSpPr>
          <p:cNvPr id="77828"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BF12FDD-D27D-4B66-94A4-A89BCA9E5383}" type="slidenum">
              <a:rPr lang="zh-CN" altLang="en-US" smtClean="0">
                <a:latin typeface="Arial" pitchFamily="34" charset="0"/>
              </a:rPr>
              <a:pPr/>
              <a:t>22</a:t>
            </a:fld>
            <a:endParaRPr lang="en-US" altLang="zh-CN">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Rot="1" noChangeAspect="1" noChangeArrowheads="1" noTextEdit="1"/>
          </p:cNvSpPr>
          <p:nvPr>
            <p:ph type="sldImg"/>
          </p:nvPr>
        </p:nvSpPr>
        <p:spPr>
          <a:ln/>
        </p:spPr>
      </p:sp>
      <p:sp>
        <p:nvSpPr>
          <p:cNvPr id="409603" name="Rectangle 3"/>
          <p:cNvSpPr>
            <a:spLocks noGrp="1" noChangeArrowheads="1"/>
          </p:cNvSpPr>
          <p:nvPr>
            <p:ph type="body" idx="1"/>
          </p:nvPr>
        </p:nvSpPr>
        <p:spPr>
          <a:xfrm>
            <a:off x="685800" y="4343400"/>
            <a:ext cx="5486400" cy="4114800"/>
          </a:xfrm>
          <a:prstGeom prst="rect">
            <a:avLst/>
          </a:prstGeom>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3858C2A-C5CE-4673-BE6D-642D01612E5E}" type="slidenum">
              <a:rPr lang="zh-CN" altLang="en-US" smtClean="0"/>
              <a:pPr>
                <a:defRPr/>
              </a:pPr>
              <a:t>28</a:t>
            </a:fld>
            <a:endParaRPr lang="zh-CN" altLang="en-US"/>
          </a:p>
        </p:txBody>
      </p:sp>
    </p:spTree>
    <p:extLst>
      <p:ext uri="{BB962C8B-B14F-4D97-AF65-F5344CB8AC3E}">
        <p14:creationId xmlns:p14="http://schemas.microsoft.com/office/powerpoint/2010/main" val="1877457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3858C2A-C5CE-4673-BE6D-642D01612E5E}" type="slidenum">
              <a:rPr lang="zh-CN" altLang="en-US" smtClean="0"/>
              <a:pPr>
                <a:defRPr/>
              </a:pPr>
              <a:t>29</a:t>
            </a:fld>
            <a:endParaRPr lang="zh-CN" altLang="en-US"/>
          </a:p>
        </p:txBody>
      </p:sp>
    </p:spTree>
    <p:extLst>
      <p:ext uri="{BB962C8B-B14F-4D97-AF65-F5344CB8AC3E}">
        <p14:creationId xmlns:p14="http://schemas.microsoft.com/office/powerpoint/2010/main" val="9485208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83858C2A-C5CE-4673-BE6D-642D01612E5E}" type="slidenum">
              <a:rPr lang="zh-CN" altLang="en-US" smtClean="0"/>
              <a:pPr>
                <a:defRPr/>
              </a:pPr>
              <a:t>31</a:t>
            </a:fld>
            <a:endParaRPr lang="zh-CN" altLang="en-US"/>
          </a:p>
        </p:txBody>
      </p:sp>
    </p:spTree>
    <p:extLst>
      <p:ext uri="{BB962C8B-B14F-4D97-AF65-F5344CB8AC3E}">
        <p14:creationId xmlns:p14="http://schemas.microsoft.com/office/powerpoint/2010/main" val="39136143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Rot="1" noChangeAspect="1" noChangeArrowheads="1" noTextEdit="1"/>
          </p:cNvSpPr>
          <p:nvPr>
            <p:ph type="sldImg"/>
          </p:nvPr>
        </p:nvSpPr>
        <p:spPr>
          <a:ln/>
        </p:spPr>
      </p:sp>
      <p:sp>
        <p:nvSpPr>
          <p:cNvPr id="409603" name="Rectangle 3"/>
          <p:cNvSpPr>
            <a:spLocks noGrp="1" noChangeArrowheads="1"/>
          </p:cNvSpPr>
          <p:nvPr>
            <p:ph type="body" idx="1"/>
          </p:nvPr>
        </p:nvSpPr>
        <p:spPr>
          <a:xfrm>
            <a:off x="685800" y="4343400"/>
            <a:ext cx="5486400" cy="4114800"/>
          </a:xfrm>
          <a:prstGeom prst="rect">
            <a:avLst/>
          </a:prstGeom>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83858C2A-C5CE-4673-BE6D-642D01612E5E}" type="slidenum">
              <a:rPr lang="zh-CN" altLang="en-US" smtClean="0"/>
              <a:pPr>
                <a:defRPr/>
              </a:pPr>
              <a:t>34</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686C1B8-8CBD-4BBB-BD4D-ACE2269FB443}" type="slidenum">
              <a:rPr lang="zh-CN" altLang="en-US" smtClean="0"/>
              <a:pPr/>
              <a:t>39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Picture 22" descr="封面"/>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pic>
        <p:nvPicPr>
          <p:cNvPr id="8" name="Picture 19" descr="logo"/>
          <p:cNvPicPr>
            <a:picLocks noChangeAspect="1" noChangeArrowheads="1"/>
          </p:cNvPicPr>
          <p:nvPr/>
        </p:nvPicPr>
        <p:blipFill>
          <a:blip r:embed="rId3" cstate="print"/>
          <a:srcRect/>
          <a:stretch>
            <a:fillRect/>
          </a:stretch>
        </p:blipFill>
        <p:spPr bwMode="auto">
          <a:xfrm>
            <a:off x="7092950" y="6453188"/>
            <a:ext cx="1800225" cy="215900"/>
          </a:xfrm>
          <a:prstGeom prst="rect">
            <a:avLst/>
          </a:prstGeom>
          <a:noFill/>
        </p:spPr>
      </p:pic>
      <p:sp>
        <p:nvSpPr>
          <p:cNvPr id="9" name="Rectangle 20"/>
          <p:cNvSpPr>
            <a:spLocks noChangeArrowheads="1"/>
          </p:cNvSpPr>
          <p:nvPr/>
        </p:nvSpPr>
        <p:spPr bwMode="auto">
          <a:xfrm>
            <a:off x="4427538" y="242888"/>
            <a:ext cx="4456112" cy="377825"/>
          </a:xfrm>
          <a:prstGeom prst="rect">
            <a:avLst/>
          </a:prstGeom>
          <a:noFill/>
          <a:ln w="9525">
            <a:noFill/>
            <a:miter lim="800000"/>
            <a:headEnd/>
            <a:tailEnd/>
          </a:ln>
          <a:effectLst/>
        </p:spPr>
        <p:txBody>
          <a:bodyPr/>
          <a:lstStyle/>
          <a:p>
            <a:pPr algn="r">
              <a:spcBef>
                <a:spcPct val="20000"/>
              </a:spcBef>
            </a:pPr>
            <a:r>
              <a:rPr lang="en-US" altLang="zh-CN" sz="1400" baseline="0">
                <a:solidFill>
                  <a:srgbClr val="B2B2B2"/>
                </a:solidFill>
                <a:ea typeface="微软雅黑" pitchFamily="34" charset="-122"/>
                <a:cs typeface="宋体" charset="-122"/>
              </a:rPr>
              <a:t>www.primeton.com</a:t>
            </a:r>
          </a:p>
        </p:txBody>
      </p:sp>
      <p:sp>
        <p:nvSpPr>
          <p:cNvPr id="2" name="标题 1"/>
          <p:cNvSpPr>
            <a:spLocks noGrp="1"/>
          </p:cNvSpPr>
          <p:nvPr>
            <p:ph type="ctrTitle"/>
          </p:nvPr>
        </p:nvSpPr>
        <p:spPr>
          <a:xfrm>
            <a:off x="4143372" y="2130425"/>
            <a:ext cx="4314828" cy="1470025"/>
          </a:xfrm>
        </p:spPr>
        <p:txBody>
          <a:bodyPr/>
          <a:lstStyle>
            <a:lvl1pPr>
              <a:defRPr sz="3600">
                <a:solidFill>
                  <a:schemeClr val="tx1"/>
                </a:solidFill>
              </a:defRPr>
            </a:lvl1pPr>
          </a:lstStyle>
          <a:p>
            <a:r>
              <a:rPr lang="zh-CN" altLang="en-US"/>
              <a:t>单击此处编辑母版标题样式</a:t>
            </a:r>
          </a:p>
        </p:txBody>
      </p:sp>
      <p:sp>
        <p:nvSpPr>
          <p:cNvPr id="3" name="副标题 2"/>
          <p:cNvSpPr>
            <a:spLocks noGrp="1"/>
          </p:cNvSpPr>
          <p:nvPr>
            <p:ph type="subTitle" idx="1"/>
          </p:nvPr>
        </p:nvSpPr>
        <p:spPr>
          <a:xfrm>
            <a:off x="4148134" y="3886200"/>
            <a:ext cx="3700466" cy="17526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6" name="灯片编号占位符 5"/>
          <p:cNvSpPr>
            <a:spLocks noGrp="1"/>
          </p:cNvSpPr>
          <p:nvPr>
            <p:ph type="sldNum" sz="quarter" idx="12"/>
          </p:nvPr>
        </p:nvSpPr>
        <p:spPr>
          <a:xfrm>
            <a:off x="3733800" y="6248400"/>
            <a:ext cx="2133600" cy="476250"/>
          </a:xfrm>
        </p:spPr>
        <p:txBody>
          <a:bodyPr/>
          <a:lstStyle>
            <a:lvl1pPr algn="ctr">
              <a:defRPr/>
            </a:lvl1pPr>
          </a:lstStyle>
          <a:p>
            <a:fld id="{9A5AAD7A-F13C-4131-844C-224DED481B2D}" type="slidenum">
              <a:rPr lang="en-US" altLang="zh-CN" smtClean="0"/>
              <a:pPr/>
              <a:t>‹#›</a:t>
            </a:fld>
            <a:endParaRPr lang="en-US" altLang="zh-CN"/>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04800" y="352425"/>
            <a:ext cx="8610600" cy="561975"/>
          </a:xfrm>
        </p:spPr>
        <p:txBody>
          <a:bodyPr/>
          <a:lstStyle>
            <a:lvl1pPr>
              <a:defRPr sz="2800"/>
            </a:lvl1pPr>
          </a:lstStyle>
          <a:p>
            <a:r>
              <a:rPr lang="zh-CN" altLang="en-US"/>
              <a:t>单击此处编辑母版标题样式</a:t>
            </a:r>
          </a:p>
        </p:txBody>
      </p:sp>
      <p:sp>
        <p:nvSpPr>
          <p:cNvPr id="3" name="内容占位符 2"/>
          <p:cNvSpPr>
            <a:spLocks noGrp="1"/>
          </p:cNvSpPr>
          <p:nvPr>
            <p:ph idx="1"/>
          </p:nvPr>
        </p:nvSpPr>
        <p:spPr>
          <a:xfrm>
            <a:off x="304800" y="1125538"/>
            <a:ext cx="8382000" cy="5029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6" name="灯片编号占位符 5"/>
          <p:cNvSpPr>
            <a:spLocks noGrp="1"/>
          </p:cNvSpPr>
          <p:nvPr>
            <p:ph type="sldNum" sz="quarter" idx="12"/>
          </p:nvPr>
        </p:nvSpPr>
        <p:spPr>
          <a:xfrm>
            <a:off x="3429000" y="6245225"/>
            <a:ext cx="2133600" cy="476250"/>
          </a:xfrm>
        </p:spPr>
        <p:txBody>
          <a:bodyPr/>
          <a:lstStyle>
            <a:lvl1pPr algn="ctr">
              <a:defRPr/>
            </a:lvl1pPr>
          </a:lstStyle>
          <a:p>
            <a:fld id="{BD61978C-FD3D-4268-8D6C-034E9AD544A3}" type="slidenum">
              <a:rPr lang="en-US" altLang="zh-CN" smtClean="0"/>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7768C1B5-FC6C-4EB7-B853-39AA1CFA40B9}" type="slidenum">
              <a:rPr lang="zh-CN" altLang="en-US"/>
              <a:pPr/>
              <a:t>‹#›</a:t>
            </a:fld>
            <a:endParaRPr lang="en-US" sz="1800" b="0"/>
          </a:p>
        </p:txBody>
      </p:sp>
    </p:spTree>
    <p:extLst>
      <p:ext uri="{BB962C8B-B14F-4D97-AF65-F5344CB8AC3E}">
        <p14:creationId xmlns:p14="http://schemas.microsoft.com/office/powerpoint/2010/main" val="3337442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4800" y="274638"/>
            <a:ext cx="6858000" cy="411162"/>
          </a:xfrm>
        </p:spPr>
        <p:txBody>
          <a:bodyPr/>
          <a:lstStyle/>
          <a:p>
            <a:r>
              <a:rPr lang="zh-CN" altLang="en-US"/>
              <a:t>单击此处编辑母版标题样式</a:t>
            </a:r>
          </a:p>
        </p:txBody>
      </p:sp>
      <p:sp>
        <p:nvSpPr>
          <p:cNvPr id="3" name="文本占位符 2"/>
          <p:cNvSpPr>
            <a:spLocks noGrp="1"/>
          </p:cNvSpPr>
          <p:nvPr>
            <p:ph type="body" sz="half" idx="1"/>
          </p:nvPr>
        </p:nvSpPr>
        <p:spPr>
          <a:xfrm>
            <a:off x="304800" y="914400"/>
            <a:ext cx="4267200" cy="556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24400" y="914400"/>
            <a:ext cx="4267200" cy="5562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53656207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bwMode="auto">
          <a:xfrm>
            <a:off x="303213" y="276225"/>
            <a:ext cx="8229600" cy="561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8" name="Rectangle 6"/>
          <p:cNvSpPr>
            <a:spLocks noGrp="1" noChangeArrowheads="1"/>
          </p:cNvSpPr>
          <p:nvPr>
            <p:ph type="sldNum" sz="quarter" idx="4"/>
          </p:nvPr>
        </p:nvSpPr>
        <p:spPr bwMode="auto">
          <a:xfrm>
            <a:off x="7010400" y="6553200"/>
            <a:ext cx="2133600" cy="2603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baseline="0"/>
            </a:lvl1pPr>
          </a:lstStyle>
          <a:p>
            <a:fld id="{6ADA428C-E881-4D3D-8851-5C8254E5F61C}" type="slidenum">
              <a:rPr lang="en-US" altLang="zh-CN" smtClean="0"/>
              <a:pPr/>
              <a:t>‹#›</a:t>
            </a:fld>
            <a:endParaRPr lang="en-US" altLang="zh-CN" dirty="0"/>
          </a:p>
        </p:txBody>
      </p:sp>
    </p:spTree>
    <p:extLst>
      <p:ext uri="{BB962C8B-B14F-4D97-AF65-F5344CB8AC3E}">
        <p14:creationId xmlns:p14="http://schemas.microsoft.com/office/powerpoint/2010/main" val="695247384"/>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3213" y="188913"/>
            <a:ext cx="8229600" cy="561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457200" y="1125538"/>
            <a:ext cx="8229600" cy="5029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400" b="0" baseline="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baseline="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baseline="0"/>
            </a:lvl1pPr>
          </a:lstStyle>
          <a:p>
            <a:fld id="{6ADA428C-E881-4D3D-8851-5C8254E5F61C}" type="slidenum">
              <a:rPr lang="en-US" altLang="zh-CN"/>
              <a:pPr/>
              <a:t>‹#›</a:t>
            </a:fld>
            <a:endParaRPr lang="en-US" altLang="zh-CN"/>
          </a:p>
        </p:txBody>
      </p:sp>
      <p:pic>
        <p:nvPicPr>
          <p:cNvPr id="1034" name="Picture 10" descr="logo"/>
          <p:cNvPicPr>
            <a:picLocks noChangeAspect="1" noChangeArrowheads="1"/>
          </p:cNvPicPr>
          <p:nvPr/>
        </p:nvPicPr>
        <p:blipFill>
          <a:blip r:embed="rId8" cstate="print"/>
          <a:srcRect/>
          <a:stretch>
            <a:fillRect/>
          </a:stretch>
        </p:blipFill>
        <p:spPr bwMode="auto">
          <a:xfrm>
            <a:off x="7092950" y="6453188"/>
            <a:ext cx="1800225" cy="215900"/>
          </a:xfrm>
          <a:prstGeom prst="rect">
            <a:avLst/>
          </a:prstGeom>
          <a:noFill/>
        </p:spPr>
      </p:pic>
    </p:spTree>
  </p:cSld>
  <p:clrMap bg1="lt1" tx1="dk1" bg2="lt2" tx2="dk2" accent1="accent1" accent2="accent2" accent3="accent3" accent4="accent4" accent5="accent5" accent6="accent6" hlink="hlink" folHlink="folHlink"/>
  <p:sldLayoutIdLst>
    <p:sldLayoutId id="2147485461" r:id="rId1"/>
    <p:sldLayoutId id="2147485462" r:id="rId2"/>
    <p:sldLayoutId id="2147485463" r:id="rId3"/>
    <p:sldLayoutId id="2147485464" r:id="rId4"/>
    <p:sldLayoutId id="2147485465" r:id="rId5"/>
  </p:sldLayoutIdLst>
  <p:hf hdr="0" ftr="0" dt="0"/>
  <p:txStyles>
    <p:titleStyle>
      <a:lvl1pPr algn="l" rtl="0" eaLnBrk="1" fontAlgn="base" hangingPunct="1">
        <a:spcBef>
          <a:spcPct val="0"/>
        </a:spcBef>
        <a:spcAft>
          <a:spcPct val="0"/>
        </a:spcAft>
        <a:defRPr sz="2400" b="1">
          <a:solidFill>
            <a:srgbClr val="FF9933"/>
          </a:solidFill>
          <a:latin typeface="+mj-lt"/>
          <a:ea typeface="+mj-ea"/>
          <a:cs typeface="+mj-cs"/>
        </a:defRPr>
      </a:lvl1pPr>
      <a:lvl2pPr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2pPr>
      <a:lvl3pPr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3pPr>
      <a:lvl4pPr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4pPr>
      <a:lvl5pPr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5pPr>
      <a:lvl6pPr marL="457200"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6pPr>
      <a:lvl7pPr marL="914400"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7pPr>
      <a:lvl8pPr marL="1371600"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8pPr>
      <a:lvl9pPr marL="1828800"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9pPr>
    </p:titleStyle>
    <p:body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000">
          <a:solidFill>
            <a:schemeClr val="tx1"/>
          </a:solidFill>
          <a:latin typeface="+mn-lt"/>
          <a:ea typeface="+mn-ea"/>
          <a:cs typeface="+mn-cs"/>
        </a:defRPr>
      </a:lvl3pPr>
      <a:lvl4pPr marL="1600200" indent="-228600" algn="l" rtl="0" eaLnBrk="1" fontAlgn="base" hangingPunct="1">
        <a:spcBef>
          <a:spcPct val="20000"/>
        </a:spcBef>
        <a:spcAft>
          <a:spcPct val="0"/>
        </a:spcAft>
        <a:buChar char="–"/>
        <a:defRPr>
          <a:solidFill>
            <a:schemeClr val="tx1"/>
          </a:solidFill>
          <a:latin typeface="+mn-lt"/>
          <a:ea typeface="+mn-ea"/>
          <a:cs typeface="+mn-cs"/>
        </a:defRPr>
      </a:lvl4pPr>
      <a:lvl5pPr marL="2057400" indent="-228600" algn="l" rtl="0" eaLnBrk="1" fontAlgn="base" hangingPunct="1">
        <a:spcBef>
          <a:spcPct val="20000"/>
        </a:spcBef>
        <a:spcAft>
          <a:spcPct val="0"/>
        </a:spcAft>
        <a:buChar char="»"/>
        <a:defRPr sz="1600">
          <a:solidFill>
            <a:schemeClr val="tx1"/>
          </a:solidFill>
          <a:latin typeface="+mn-lt"/>
          <a:ea typeface="+mn-ea"/>
          <a:cs typeface="+mn-cs"/>
        </a:defRPr>
      </a:lvl5pPr>
      <a:lvl6pPr marL="2514600" indent="-228600" algn="l" rtl="0" eaLnBrk="1" fontAlgn="base" hangingPunct="1">
        <a:spcBef>
          <a:spcPct val="20000"/>
        </a:spcBef>
        <a:spcAft>
          <a:spcPct val="0"/>
        </a:spcAft>
        <a:buChar char="»"/>
        <a:defRPr sz="16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16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16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jpeg"/><Relationship Id="rId7" Type="http://schemas.openxmlformats.org/officeDocument/2006/relationships/image" Target="../media/image17.png"/><Relationship Id="rId12" Type="http://schemas.openxmlformats.org/officeDocument/2006/relationships/image" Target="../media/image22.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jpeg"/><Relationship Id="rId11" Type="http://schemas.openxmlformats.org/officeDocument/2006/relationships/image" Target="../media/image21.jpeg"/><Relationship Id="rId5" Type="http://schemas.openxmlformats.org/officeDocument/2006/relationships/image" Target="../media/image15.jpeg"/><Relationship Id="rId15" Type="http://schemas.openxmlformats.org/officeDocument/2006/relationships/image" Target="../media/image25.jpeg"/><Relationship Id="rId10" Type="http://schemas.openxmlformats.org/officeDocument/2006/relationships/image" Target="../media/image20.jpeg"/><Relationship Id="rId4" Type="http://schemas.openxmlformats.org/officeDocument/2006/relationships/image" Target="../media/image14.jpeg"/><Relationship Id="rId9" Type="http://schemas.openxmlformats.org/officeDocument/2006/relationships/image" Target="../media/image19.jpeg"/><Relationship Id="rId14" Type="http://schemas.openxmlformats.org/officeDocument/2006/relationships/image" Target="../media/image24.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4.jpeg"/><Relationship Id="rId7"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0.jpeg"/><Relationship Id="rId9" Type="http://schemas.openxmlformats.org/officeDocument/2006/relationships/image" Target="../media/image19.jpeg"/></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image" Target="../media/image28.png"/><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9.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5.png"/><Relationship Id="rId4" Type="http://schemas.openxmlformats.org/officeDocument/2006/relationships/image" Target="../media/image30.png"/><Relationship Id="rId9" Type="http://schemas.openxmlformats.org/officeDocument/2006/relationships/image" Target="../media/image3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jpeg"/></Relationships>
</file>

<file path=ppt/slides/_rels/slide20.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image" Target="../media/image43.jpeg"/><Relationship Id="rId7" Type="http://schemas.openxmlformats.org/officeDocument/2006/relationships/image" Target="../media/image47.jpeg"/><Relationship Id="rId2" Type="http://schemas.openxmlformats.org/officeDocument/2006/relationships/image" Target="../media/image42.jpeg"/><Relationship Id="rId1" Type="http://schemas.openxmlformats.org/officeDocument/2006/relationships/slideLayout" Target="../slideLayouts/slideLayout2.xml"/><Relationship Id="rId6" Type="http://schemas.openxmlformats.org/officeDocument/2006/relationships/image" Target="../media/image46.jpeg"/><Relationship Id="rId5" Type="http://schemas.openxmlformats.org/officeDocument/2006/relationships/image" Target="../media/image45.jpeg"/><Relationship Id="rId4" Type="http://schemas.openxmlformats.org/officeDocument/2006/relationships/image" Target="../media/image44.jpeg"/></Relationships>
</file>

<file path=ppt/slides/_rels/slide21.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58.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7.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3.png"/><Relationship Id="rId11" Type="http://schemas.openxmlformats.org/officeDocument/2006/relationships/image" Target="../media/image56.png"/><Relationship Id="rId5" Type="http://schemas.openxmlformats.org/officeDocument/2006/relationships/image" Target="../media/image52.png"/><Relationship Id="rId10" Type="http://schemas.openxmlformats.org/officeDocument/2006/relationships/image" Target="../media/image49.png"/><Relationship Id="rId4" Type="http://schemas.openxmlformats.org/officeDocument/2006/relationships/image" Target="../media/image51.png"/><Relationship Id="rId9" Type="http://schemas.openxmlformats.org/officeDocument/2006/relationships/oleObject" Target="../embeddings/oleObject1.bin"/><Relationship Id="rId14" Type="http://schemas.openxmlformats.org/officeDocument/2006/relationships/image" Target="../media/image59.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29.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image" Target="../media/image63.png"/><Relationship Id="rId4" Type="http://schemas.openxmlformats.org/officeDocument/2006/relationships/diagramLayout" Target="../diagrams/layout2.xml"/><Relationship Id="rId9" Type="http://schemas.openxmlformats.org/officeDocument/2006/relationships/image" Target="../media/image66.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7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jpeg"/></Relationships>
</file>

<file path=ppt/slides/_rels/slide3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24.jpe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3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p:cNvSpPr txBox="1">
            <a:spLocks noChangeArrowheads="1"/>
          </p:cNvSpPr>
          <p:nvPr/>
        </p:nvSpPr>
        <p:spPr bwMode="auto">
          <a:xfrm>
            <a:off x="3986202" y="1447800"/>
            <a:ext cx="4471998" cy="2062103"/>
          </a:xfrm>
          <a:prstGeom prst="rect">
            <a:avLst/>
          </a:prstGeom>
          <a:noFill/>
          <a:ln w="9525">
            <a:noFill/>
            <a:miter lim="800000"/>
            <a:headEnd/>
            <a:tailEnd/>
          </a:ln>
          <a:effectLst/>
        </p:spPr>
        <p:txBody>
          <a:bodyPr wrap="square">
            <a:spAutoFit/>
          </a:bodyPr>
          <a:lstStyle/>
          <a:p>
            <a:pPr algn="ctr" eaLnBrk="0" hangingPunct="0">
              <a:spcBef>
                <a:spcPts val="1200"/>
              </a:spcBef>
            </a:pPr>
            <a:r>
              <a:rPr lang="zh-CN" altLang="en-US" sz="3600" b="1" dirty="0">
                <a:solidFill>
                  <a:srgbClr val="E20000"/>
                </a:solidFill>
                <a:latin typeface="微软雅黑" pitchFamily="34" charset="-122"/>
                <a:ea typeface="微软雅黑" pitchFamily="34" charset="-122"/>
                <a:cs typeface="Arial" pitchFamily="34" charset="0"/>
              </a:rPr>
              <a:t>智慧城市</a:t>
            </a:r>
            <a:endParaRPr lang="en-US" altLang="zh-CN" sz="3600" b="1" dirty="0">
              <a:solidFill>
                <a:srgbClr val="E20000"/>
              </a:solidFill>
              <a:latin typeface="微软雅黑" pitchFamily="34" charset="-122"/>
              <a:ea typeface="微软雅黑" pitchFamily="34" charset="-122"/>
              <a:cs typeface="Arial" pitchFamily="34" charset="0"/>
            </a:endParaRPr>
          </a:p>
          <a:p>
            <a:pPr algn="ctr" eaLnBrk="0" hangingPunct="0">
              <a:spcBef>
                <a:spcPts val="1200"/>
              </a:spcBef>
            </a:pPr>
            <a:r>
              <a:rPr lang="zh-CN" altLang="en-US" sz="3600" b="1" dirty="0">
                <a:solidFill>
                  <a:srgbClr val="E20000"/>
                </a:solidFill>
                <a:latin typeface="微软雅黑" pitchFamily="34" charset="-122"/>
                <a:ea typeface="微软雅黑" pitchFamily="34" charset="-122"/>
                <a:cs typeface="Arial" pitchFamily="34" charset="0"/>
              </a:rPr>
              <a:t>信息资源交换平台</a:t>
            </a:r>
            <a:endParaRPr lang="en-US" altLang="zh-CN" sz="3600" b="1" dirty="0">
              <a:solidFill>
                <a:srgbClr val="E20000"/>
              </a:solidFill>
              <a:latin typeface="微软雅黑" pitchFamily="34" charset="-122"/>
              <a:ea typeface="微软雅黑" pitchFamily="34" charset="-122"/>
              <a:cs typeface="Arial" pitchFamily="34" charset="0"/>
            </a:endParaRPr>
          </a:p>
          <a:p>
            <a:pPr algn="ctr" eaLnBrk="0" hangingPunct="0">
              <a:spcBef>
                <a:spcPts val="1200"/>
              </a:spcBef>
            </a:pPr>
            <a:r>
              <a:rPr lang="zh-CN" altLang="en-US" sz="3600" b="1" dirty="0">
                <a:solidFill>
                  <a:srgbClr val="E20000"/>
                </a:solidFill>
                <a:latin typeface="微软雅黑" pitchFamily="34" charset="-122"/>
                <a:ea typeface="微软雅黑" pitchFamily="34" charset="-122"/>
                <a:cs typeface="Arial" pitchFamily="34" charset="0"/>
              </a:rPr>
              <a:t>解决方案</a:t>
            </a:r>
            <a:endParaRPr lang="en-US" altLang="zh-CN" sz="3600" b="1" dirty="0">
              <a:solidFill>
                <a:srgbClr val="E20000"/>
              </a:solidFill>
              <a:latin typeface="微软雅黑" pitchFamily="34" charset="-122"/>
              <a:ea typeface="微软雅黑" pitchFamily="34" charset="-122"/>
              <a:cs typeface="Arial" pitchFamily="34" charset="0"/>
            </a:endParaRPr>
          </a:p>
        </p:txBody>
      </p:sp>
      <p:sp>
        <p:nvSpPr>
          <p:cNvPr id="5" name="Rectangle 2"/>
          <p:cNvSpPr>
            <a:spLocks noGrp="1" noChangeArrowheads="1"/>
          </p:cNvSpPr>
          <p:nvPr>
            <p:ph type="ctrTitle"/>
          </p:nvPr>
        </p:nvSpPr>
        <p:spPr>
          <a:xfrm>
            <a:off x="5105400" y="4572000"/>
            <a:ext cx="2235992" cy="1500198"/>
          </a:xfrm>
          <a:noFill/>
        </p:spPr>
        <p:txBody>
          <a:bodyPr anchor="t"/>
          <a:lstStyle/>
          <a:p>
            <a:pPr lvl="0" algn="ctr" eaLnBrk="1" fontAlgn="auto" hangingPunct="1">
              <a:lnSpc>
                <a:spcPct val="150000"/>
              </a:lnSpc>
              <a:spcBef>
                <a:spcPts val="1200"/>
              </a:spcBef>
              <a:spcAft>
                <a:spcPts val="0"/>
              </a:spcAft>
              <a:defRPr/>
            </a:pPr>
            <a:r>
              <a:rPr lang="zh-CN" altLang="en-US" sz="2400" kern="1200" dirty="0">
                <a:solidFill>
                  <a:srgbClr val="E20000"/>
                </a:solidFill>
                <a:latin typeface="微软雅黑" pitchFamily="34" charset="-122"/>
                <a:ea typeface="微软雅黑" pitchFamily="34" charset="-122"/>
              </a:rPr>
              <a:t>普元信息</a:t>
            </a:r>
            <a:br>
              <a:rPr lang="en-US" altLang="zh-CN" sz="2400" kern="1200" dirty="0">
                <a:solidFill>
                  <a:srgbClr val="E20000"/>
                </a:solidFill>
                <a:latin typeface="微软雅黑" pitchFamily="34" charset="-122"/>
                <a:ea typeface="微软雅黑" pitchFamily="34" charset="-122"/>
              </a:rPr>
            </a:br>
            <a:r>
              <a:rPr lang="zh-CN" altLang="en-US" sz="2400" kern="1200" dirty="0">
                <a:solidFill>
                  <a:srgbClr val="E20000"/>
                </a:solidFill>
                <a:latin typeface="微软雅黑" pitchFamily="34" charset="-122"/>
                <a:ea typeface="微软雅黑" pitchFamily="34" charset="-122"/>
              </a:rPr>
              <a:t>大数据产品部</a:t>
            </a:r>
            <a:br>
              <a:rPr lang="en-US" altLang="zh-CN" sz="2000" kern="1200" dirty="0">
                <a:solidFill>
                  <a:srgbClr val="E20000"/>
                </a:solidFill>
                <a:latin typeface="微软雅黑" pitchFamily="34" charset="-122"/>
                <a:ea typeface="微软雅黑" pitchFamily="34" charset="-122"/>
              </a:rPr>
            </a:br>
            <a:endParaRPr lang="zh-CN" altLang="en-US" sz="2000" kern="1200" dirty="0">
              <a:solidFill>
                <a:srgbClr val="E20000"/>
              </a:solidFill>
              <a:latin typeface="微软雅黑" pitchFamily="34" charset="-122"/>
              <a:ea typeface="微软雅黑" pitchFamily="34" charset="-122"/>
            </a:endParaRPr>
          </a:p>
        </p:txBody>
      </p:sp>
    </p:spTree>
    <p:extLst>
      <p:ext uri="{BB962C8B-B14F-4D97-AF65-F5344CB8AC3E}">
        <p14:creationId xmlns:p14="http://schemas.microsoft.com/office/powerpoint/2010/main" val="231023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p:cNvSpPr>
            <a:spLocks noChangeArrowheads="1"/>
          </p:cNvSpPr>
          <p:nvPr/>
        </p:nvSpPr>
        <p:spPr bwMode="auto">
          <a:xfrm>
            <a:off x="379442" y="1457302"/>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a:solidFill>
                  <a:schemeClr val="bg1"/>
                </a:solidFill>
                <a:latin typeface="+mn-ea"/>
              </a:rPr>
              <a:t>1</a:t>
            </a:r>
          </a:p>
        </p:txBody>
      </p:sp>
      <p:sp>
        <p:nvSpPr>
          <p:cNvPr id="408579" name="Freeform 4"/>
          <p:cNvSpPr>
            <a:spLocks/>
          </p:cNvSpPr>
          <p:nvPr/>
        </p:nvSpPr>
        <p:spPr bwMode="auto">
          <a:xfrm>
            <a:off x="1171605" y="1457302"/>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00B0F0"/>
          </a:solidFill>
          <a:ln w="3175" algn="ctr">
            <a:solidFill>
              <a:srgbClr val="00B0F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408580" name="Rectangle 5"/>
          <p:cNvSpPr>
            <a:spLocks noChangeArrowheads="1"/>
          </p:cNvSpPr>
          <p:nvPr/>
        </p:nvSpPr>
        <p:spPr bwMode="auto">
          <a:xfrm>
            <a:off x="1488425" y="1511277"/>
            <a:ext cx="7100888" cy="546100"/>
          </a:xfrm>
          <a:prstGeom prst="rect">
            <a:avLst/>
          </a:prstGeom>
          <a:noFill/>
          <a:ln w="6350">
            <a:noFill/>
            <a:miter lim="800000"/>
            <a:headEnd/>
            <a:tailEnd/>
          </a:ln>
        </p:spPr>
        <p:txBody>
          <a:bodyPr lIns="0" tIns="0" rIns="0" bIns="0" anchor="ctr"/>
          <a:lstStyle/>
          <a:p>
            <a:pPr marL="190500" lvl="1" indent="266700">
              <a:spcBef>
                <a:spcPct val="20000"/>
              </a:spcBef>
              <a:tabLst>
                <a:tab pos="8521700" algn="r"/>
              </a:tabLst>
            </a:pPr>
            <a:r>
              <a:rPr kumimoji="1" lang="zh-CN" altLang="en-US" sz="2400" b="1" dirty="0">
                <a:solidFill>
                  <a:schemeClr val="bg1"/>
                </a:solidFill>
                <a:latin typeface="+mn-ea"/>
                <a:ea typeface="+mn-ea"/>
              </a:rPr>
              <a:t>智慧城市信息资源交换平台建设背景</a:t>
            </a:r>
            <a:endParaRPr kumimoji="1" lang="zh-CN" altLang="de-DE" sz="2400" b="1" dirty="0">
              <a:solidFill>
                <a:schemeClr val="bg1"/>
              </a:solidFill>
              <a:latin typeface="+mn-ea"/>
              <a:ea typeface="+mn-ea"/>
            </a:endParaRPr>
          </a:p>
        </p:txBody>
      </p:sp>
      <p:sp>
        <p:nvSpPr>
          <p:cNvPr id="408581" name="Rectangle 2"/>
          <p:cNvSpPr>
            <a:spLocks noGrp="1" noChangeArrowheads="1"/>
          </p:cNvSpPr>
          <p:nvPr>
            <p:ph type="title" idx="4294967295"/>
          </p:nvPr>
        </p:nvSpPr>
        <p:spPr>
          <a:xfrm>
            <a:off x="352455" y="152400"/>
            <a:ext cx="8280400" cy="596900"/>
          </a:xfrm>
        </p:spPr>
        <p:txBody>
          <a:bodyPr/>
          <a:lstStyle/>
          <a:p>
            <a:r>
              <a:rPr lang="zh-CN" altLang="en-US" sz="3200" dirty="0">
                <a:latin typeface="+mn-ea"/>
                <a:ea typeface="+mn-ea"/>
              </a:rPr>
              <a:t>提纲</a:t>
            </a:r>
          </a:p>
        </p:txBody>
      </p:sp>
      <p:sp>
        <p:nvSpPr>
          <p:cNvPr id="2" name="AutoShape 2"/>
          <p:cNvSpPr>
            <a:spLocks noChangeArrowheads="1"/>
          </p:cNvSpPr>
          <p:nvPr/>
        </p:nvSpPr>
        <p:spPr bwMode="auto">
          <a:xfrm>
            <a:off x="379442" y="2243120"/>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a:solidFill>
                  <a:srgbClr val="FFFFFF"/>
                </a:solidFill>
                <a:latin typeface="+mn-ea"/>
              </a:rPr>
              <a:t>2</a:t>
            </a:r>
          </a:p>
        </p:txBody>
      </p:sp>
      <p:sp>
        <p:nvSpPr>
          <p:cNvPr id="408583" name="Freeform 4"/>
          <p:cNvSpPr>
            <a:spLocks/>
          </p:cNvSpPr>
          <p:nvPr/>
        </p:nvSpPr>
        <p:spPr bwMode="auto">
          <a:xfrm>
            <a:off x="1171605" y="2243120"/>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chemeClr val="bg1"/>
          </a:solidFill>
          <a:ln w="3175" algn="ctr">
            <a:solidFill>
              <a:srgbClr val="C0C0C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408584" name="Rectangle 5"/>
          <p:cNvSpPr>
            <a:spLocks noChangeArrowheads="1"/>
          </p:cNvSpPr>
          <p:nvPr/>
        </p:nvSpPr>
        <p:spPr bwMode="auto">
          <a:xfrm>
            <a:off x="1488425" y="2297095"/>
            <a:ext cx="7100888" cy="546100"/>
          </a:xfrm>
          <a:prstGeom prst="rect">
            <a:avLst/>
          </a:prstGeom>
          <a:noFill/>
          <a:ln w="6350" algn="ctr">
            <a:noFill/>
            <a:miter lim="800000"/>
            <a:headEnd/>
            <a:tailEnd/>
          </a:ln>
          <a:effectLst/>
        </p:spPr>
        <p:txBody>
          <a:bodyPr lIns="0" tIns="0" rIns="0" bIns="0" anchor="ctr"/>
          <a:lstStyle/>
          <a:p>
            <a:pPr marL="190500" lvl="1" indent="266700">
              <a:spcBef>
                <a:spcPct val="20000"/>
              </a:spcBef>
              <a:tabLst>
                <a:tab pos="8521700" algn="r"/>
              </a:tabLst>
            </a:pPr>
            <a:r>
              <a:rPr kumimoji="1" lang="zh-CN" altLang="en-US" sz="2400" b="1" dirty="0">
                <a:latin typeface="+mn-ea"/>
                <a:ea typeface="+mn-ea"/>
              </a:rPr>
              <a:t>智慧城市信息资源交换平台总体方案</a:t>
            </a:r>
            <a:endParaRPr kumimoji="1" lang="zh-CN" altLang="de-DE" sz="2400" b="1" dirty="0">
              <a:latin typeface="+mn-ea"/>
              <a:ea typeface="+mn-ea"/>
            </a:endParaRPr>
          </a:p>
        </p:txBody>
      </p:sp>
      <p:sp>
        <p:nvSpPr>
          <p:cNvPr id="24" name="AutoShape 2"/>
          <p:cNvSpPr>
            <a:spLocks noChangeArrowheads="1"/>
          </p:cNvSpPr>
          <p:nvPr/>
        </p:nvSpPr>
        <p:spPr bwMode="auto">
          <a:xfrm>
            <a:off x="376296" y="2995614"/>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dirty="0">
                <a:solidFill>
                  <a:srgbClr val="FFFFFF"/>
                </a:solidFill>
                <a:latin typeface="+mn-ea"/>
              </a:rPr>
              <a:t>3</a:t>
            </a:r>
          </a:p>
        </p:txBody>
      </p:sp>
      <p:sp>
        <p:nvSpPr>
          <p:cNvPr id="25" name="Freeform 4"/>
          <p:cNvSpPr>
            <a:spLocks/>
          </p:cNvSpPr>
          <p:nvPr/>
        </p:nvSpPr>
        <p:spPr bwMode="auto">
          <a:xfrm>
            <a:off x="1177984" y="3009903"/>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chemeClr val="bg1"/>
          </a:solidFill>
          <a:ln w="3175" algn="ctr">
            <a:solidFill>
              <a:srgbClr val="C0C0C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26" name="Rectangle 5"/>
          <p:cNvSpPr>
            <a:spLocks noChangeArrowheads="1"/>
          </p:cNvSpPr>
          <p:nvPr/>
        </p:nvSpPr>
        <p:spPr bwMode="auto">
          <a:xfrm>
            <a:off x="1497012" y="3049589"/>
            <a:ext cx="7100888" cy="546100"/>
          </a:xfrm>
          <a:prstGeom prst="rect">
            <a:avLst/>
          </a:prstGeom>
          <a:noFill/>
          <a:ln w="6350" algn="ctr">
            <a:noFill/>
            <a:miter lim="800000"/>
            <a:headEnd/>
            <a:tailEnd/>
          </a:ln>
          <a:effectLst/>
        </p:spPr>
        <p:txBody>
          <a:bodyPr lIns="0" tIns="0" rIns="0" bIns="0" anchor="ctr"/>
          <a:lstStyle/>
          <a:p>
            <a:pPr marL="190500" lvl="1" indent="266700">
              <a:spcBef>
                <a:spcPct val="20000"/>
              </a:spcBef>
              <a:tabLst>
                <a:tab pos="8521700" algn="r"/>
              </a:tabLst>
            </a:pPr>
            <a:r>
              <a:rPr kumimoji="1" lang="zh-CN" altLang="en-US" sz="2400" b="1" dirty="0">
                <a:latin typeface="+mn-ea"/>
                <a:ea typeface="+mn-ea"/>
              </a:rPr>
              <a:t>智慧城市信息资源交换平台应用场景</a:t>
            </a:r>
            <a:endParaRPr kumimoji="1" lang="zh-CN" altLang="de-DE" sz="2400" b="1" dirty="0">
              <a:latin typeface="+mn-ea"/>
              <a:ea typeface="+mn-ea"/>
            </a:endParaRPr>
          </a:p>
        </p:txBody>
      </p:sp>
      <p:sp>
        <p:nvSpPr>
          <p:cNvPr id="12" name="AutoShape 2"/>
          <p:cNvSpPr>
            <a:spLocks noChangeArrowheads="1"/>
          </p:cNvSpPr>
          <p:nvPr/>
        </p:nvSpPr>
        <p:spPr bwMode="auto">
          <a:xfrm>
            <a:off x="376296" y="3781432"/>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dirty="0">
                <a:solidFill>
                  <a:srgbClr val="FFFFFF"/>
                </a:solidFill>
                <a:latin typeface="+mn-ea"/>
              </a:rPr>
              <a:t>4</a:t>
            </a:r>
          </a:p>
        </p:txBody>
      </p:sp>
      <p:sp>
        <p:nvSpPr>
          <p:cNvPr id="13" name="Freeform 4"/>
          <p:cNvSpPr>
            <a:spLocks/>
          </p:cNvSpPr>
          <p:nvPr/>
        </p:nvSpPr>
        <p:spPr bwMode="auto">
          <a:xfrm>
            <a:off x="1168459" y="3781432"/>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chemeClr val="bg1"/>
          </a:solidFill>
          <a:ln w="3175" algn="ctr">
            <a:solidFill>
              <a:srgbClr val="C0C0C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14" name="Rectangle 5"/>
          <p:cNvSpPr>
            <a:spLocks noChangeArrowheads="1"/>
          </p:cNvSpPr>
          <p:nvPr/>
        </p:nvSpPr>
        <p:spPr bwMode="auto">
          <a:xfrm>
            <a:off x="1528821" y="3835407"/>
            <a:ext cx="7100888" cy="546100"/>
          </a:xfrm>
          <a:prstGeom prst="rect">
            <a:avLst/>
          </a:prstGeom>
          <a:noFill/>
          <a:ln w="6350" algn="ctr">
            <a:noFill/>
            <a:miter lim="800000"/>
            <a:headEnd/>
            <a:tailEnd/>
          </a:ln>
          <a:effectLst/>
        </p:spPr>
        <p:txBody>
          <a:bodyPr lIns="0" tIns="0" rIns="0" bIns="0" anchor="ctr"/>
          <a:lstStyle/>
          <a:p>
            <a:pPr marL="190500" lvl="1" indent="266700">
              <a:spcBef>
                <a:spcPct val="20000"/>
              </a:spcBef>
              <a:tabLst>
                <a:tab pos="8521700" algn="r"/>
              </a:tabLst>
            </a:pPr>
            <a:r>
              <a:rPr kumimoji="1" lang="zh-CN" altLang="en-US" sz="2400" b="1" dirty="0">
                <a:latin typeface="+mn-ea"/>
                <a:ea typeface="+mn-ea"/>
              </a:rPr>
              <a:t>智慧城市信息资源交换平台关键特性</a:t>
            </a:r>
            <a:endParaRPr kumimoji="1" lang="zh-CN" altLang="de-DE" sz="2400" b="1" dirty="0">
              <a:latin typeface="+mn-ea"/>
              <a:ea typeface="+mn-ea"/>
            </a:endParaRPr>
          </a:p>
        </p:txBody>
      </p:sp>
      <p:sp>
        <p:nvSpPr>
          <p:cNvPr id="18" name="灯片编号占位符 3"/>
          <p:cNvSpPr txBox="1">
            <a:spLocks/>
          </p:cNvSpPr>
          <p:nvPr/>
        </p:nvSpPr>
        <p:spPr>
          <a:xfrm>
            <a:off x="3429000" y="6245225"/>
            <a:ext cx="2133600" cy="476250"/>
          </a:xfrm>
          <a:prstGeom prst="rect">
            <a:avLst/>
          </a:prstGeom>
        </p:spPr>
        <p:txBody>
          <a:bodyPr/>
          <a:lstStyle>
            <a:defPPr>
              <a:defRPr lang="en-US"/>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fld id="{BD61978C-FD3D-4268-8D6C-034E9AD544A3}" type="slidenum">
              <a:rPr lang="en-US" altLang="zh-CN" smtClean="0">
                <a:latin typeface="+mn-ea"/>
                <a:ea typeface="+mn-ea"/>
              </a:rPr>
              <a:pPr algn="ctr"/>
              <a:t>2</a:t>
            </a:fld>
            <a:endParaRPr lang="en-US" altLang="zh-CN">
              <a:latin typeface="+mn-ea"/>
              <a:ea typeface="+mn-ea"/>
            </a:endParaRPr>
          </a:p>
        </p:txBody>
      </p:sp>
    </p:spTree>
    <p:extLst>
      <p:ext uri="{BB962C8B-B14F-4D97-AF65-F5344CB8AC3E}">
        <p14:creationId xmlns:p14="http://schemas.microsoft.com/office/powerpoint/2010/main" val="1577250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28600" y="352425"/>
            <a:ext cx="8839200" cy="714375"/>
          </a:xfrm>
        </p:spPr>
        <p:txBody>
          <a:bodyPr/>
          <a:lstStyle/>
          <a:p>
            <a:r>
              <a:rPr lang="zh-CN" altLang="en-US" sz="2400" dirty="0"/>
              <a:t>智慧城市将是未来城市发展的趋势，构建服务型政府的有力支撑</a:t>
            </a:r>
          </a:p>
        </p:txBody>
      </p:sp>
      <p:sp>
        <p:nvSpPr>
          <p:cNvPr id="4" name="灯片编号占位符 3"/>
          <p:cNvSpPr>
            <a:spLocks noGrp="1"/>
          </p:cNvSpPr>
          <p:nvPr>
            <p:ph type="sldNum" sz="quarter" idx="12"/>
          </p:nvPr>
        </p:nvSpPr>
        <p:spPr/>
        <p:txBody>
          <a:bodyPr/>
          <a:lstStyle/>
          <a:p>
            <a:fld id="{BD61978C-FD3D-4268-8D6C-034E9AD544A3}" type="slidenum">
              <a:rPr lang="en-US" altLang="zh-CN" smtClean="0"/>
              <a:pPr/>
              <a:t>3</a:t>
            </a:fld>
            <a:endParaRPr lang="en-US" altLang="zh-CN"/>
          </a:p>
        </p:txBody>
      </p:sp>
      <p:pic>
        <p:nvPicPr>
          <p:cNvPr id="5124" name="Picture 4" descr="C:\Users\ZYC\Desktop\数据交换\图片\b743d12df841562c45a78fc4725f3e6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 y="1180774"/>
            <a:ext cx="9105900" cy="5220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228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智慧城市的建设目标</a:t>
            </a:r>
          </a:p>
        </p:txBody>
      </p:sp>
      <p:sp>
        <p:nvSpPr>
          <p:cNvPr id="4" name="灯片编号占位符 3"/>
          <p:cNvSpPr>
            <a:spLocks noGrp="1"/>
          </p:cNvSpPr>
          <p:nvPr>
            <p:ph type="sldNum" sz="quarter" idx="12"/>
          </p:nvPr>
        </p:nvSpPr>
        <p:spPr/>
        <p:txBody>
          <a:bodyPr/>
          <a:lstStyle/>
          <a:p>
            <a:fld id="{BD61978C-FD3D-4268-8D6C-034E9AD544A3}" type="slidenum">
              <a:rPr lang="en-US" altLang="zh-CN" smtClean="0"/>
              <a:pPr/>
              <a:t>4</a:t>
            </a:fld>
            <a:endParaRPr lang="en-US" altLang="zh-C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19200"/>
            <a:ext cx="7748587" cy="4972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0472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defTabSz="914363">
              <a:defRPr/>
            </a:pPr>
            <a:r>
              <a:rPr lang="zh-CN" altLang="en-US" sz="2800" dirty="0"/>
              <a:t>智慧城市整体架构</a:t>
            </a:r>
            <a:endParaRPr sz="2800" dirty="0"/>
          </a:p>
        </p:txBody>
      </p:sp>
      <p:sp>
        <p:nvSpPr>
          <p:cNvPr id="62" name="矩形 45"/>
          <p:cNvSpPr>
            <a:spLocks noChangeArrowheads="1"/>
          </p:cNvSpPr>
          <p:nvPr/>
        </p:nvSpPr>
        <p:spPr bwMode="auto">
          <a:xfrm>
            <a:off x="571500" y="982663"/>
            <a:ext cx="8131175" cy="646112"/>
          </a:xfrm>
          <a:prstGeom prst="rect">
            <a:avLst/>
          </a:prstGeom>
          <a:noFill/>
          <a:ln w="9525">
            <a:noFill/>
            <a:miter lim="800000"/>
            <a:headEnd/>
            <a:tailEnd/>
          </a:ln>
        </p:spPr>
        <p:txBody>
          <a:bodyPr>
            <a:spAutoFit/>
          </a:bodyPr>
          <a:lstStyle/>
          <a:p>
            <a:pPr>
              <a:lnSpc>
                <a:spcPct val="150000"/>
              </a:lnSpc>
            </a:pPr>
            <a:r>
              <a:rPr lang="zh-CN" altLang="en-US" sz="2400" b="1" dirty="0">
                <a:solidFill>
                  <a:srgbClr val="C00000"/>
                </a:solidFill>
                <a:latin typeface="微软雅黑" pitchFamily="34" charset="-122"/>
                <a:ea typeface="微软雅黑" pitchFamily="34" charset="-122"/>
              </a:rPr>
              <a:t>“</a:t>
            </a:r>
            <a:r>
              <a:rPr lang="zh-CN" altLang="zh-CN" sz="2400" b="1" dirty="0">
                <a:latin typeface="微软雅黑" pitchFamily="34" charset="-122"/>
                <a:ea typeface="微软雅黑" pitchFamily="34" charset="-122"/>
              </a:rPr>
              <a:t>一个中心、两个平台、三大基础库、十</a:t>
            </a:r>
            <a:r>
              <a:rPr lang="zh-CN" altLang="en-US" sz="2400" b="1" dirty="0">
                <a:latin typeface="微软雅黑" pitchFamily="34" charset="-122"/>
                <a:ea typeface="微软雅黑" pitchFamily="34" charset="-122"/>
              </a:rPr>
              <a:t>项应用</a:t>
            </a:r>
            <a:r>
              <a:rPr lang="zh-CN" altLang="zh-CN" sz="2400" b="1" dirty="0">
                <a:latin typeface="微软雅黑" pitchFamily="34" charset="-122"/>
                <a:ea typeface="微软雅黑" pitchFamily="34" charset="-122"/>
              </a:rPr>
              <a:t>工程</a:t>
            </a:r>
            <a:r>
              <a:rPr lang="zh-CN" altLang="en-US" sz="2400" b="1" dirty="0">
                <a:solidFill>
                  <a:srgbClr val="C00000"/>
                </a:solidFill>
                <a:latin typeface="微软雅黑" pitchFamily="34" charset="-122"/>
                <a:ea typeface="微软雅黑" pitchFamily="34" charset="-122"/>
              </a:rPr>
              <a:t>”</a:t>
            </a:r>
          </a:p>
        </p:txBody>
      </p:sp>
      <p:grpSp>
        <p:nvGrpSpPr>
          <p:cNvPr id="64" name="Group 3"/>
          <p:cNvGrpSpPr>
            <a:grpSpLocks/>
          </p:cNvGrpSpPr>
          <p:nvPr/>
        </p:nvGrpSpPr>
        <p:grpSpPr bwMode="auto">
          <a:xfrm>
            <a:off x="36513" y="1644650"/>
            <a:ext cx="8713787" cy="5095875"/>
            <a:chOff x="1009" y="951"/>
            <a:chExt cx="3966" cy="2355"/>
          </a:xfrm>
        </p:grpSpPr>
        <p:grpSp>
          <p:nvGrpSpPr>
            <p:cNvPr id="65" name="Group 4"/>
            <p:cNvGrpSpPr>
              <a:grpSpLocks/>
            </p:cNvGrpSpPr>
            <p:nvPr/>
          </p:nvGrpSpPr>
          <p:grpSpPr bwMode="auto">
            <a:xfrm>
              <a:off x="1009" y="951"/>
              <a:ext cx="2423" cy="2354"/>
              <a:chOff x="720" y="1343"/>
              <a:chExt cx="2705" cy="2447"/>
            </a:xfrm>
          </p:grpSpPr>
          <p:sp>
            <p:nvSpPr>
              <p:cNvPr id="78" name="Line 5"/>
              <p:cNvSpPr>
                <a:spLocks noChangeShapeType="1"/>
              </p:cNvSpPr>
              <p:nvPr/>
            </p:nvSpPr>
            <p:spPr bwMode="black">
              <a:xfrm flipH="1">
                <a:off x="720" y="3789"/>
                <a:ext cx="1168" cy="1"/>
              </a:xfrm>
              <a:prstGeom prst="line">
                <a:avLst/>
              </a:prstGeom>
              <a:noFill/>
              <a:ln w="19050" cap="rnd">
                <a:solidFill>
                  <a:schemeClr val="tx2"/>
                </a:solidFill>
                <a:prstDash val="sysDot"/>
                <a:round/>
                <a:headEnd/>
                <a:tailEnd/>
              </a:ln>
            </p:spPr>
            <p:txBody>
              <a:bodyPr wrap="none" anchor="ctr"/>
              <a:lstStyle/>
              <a:p>
                <a:endParaRPr lang="zh-CN" altLang="en-US"/>
              </a:p>
            </p:txBody>
          </p:sp>
          <p:sp>
            <p:nvSpPr>
              <p:cNvPr id="79" name="Line 6"/>
              <p:cNvSpPr>
                <a:spLocks noChangeShapeType="1"/>
              </p:cNvSpPr>
              <p:nvPr/>
            </p:nvSpPr>
            <p:spPr bwMode="black">
              <a:xfrm flipH="1">
                <a:off x="720" y="3278"/>
                <a:ext cx="1507" cy="1"/>
              </a:xfrm>
              <a:prstGeom prst="line">
                <a:avLst/>
              </a:prstGeom>
              <a:noFill/>
              <a:ln w="19050" cap="rnd">
                <a:solidFill>
                  <a:schemeClr val="tx2"/>
                </a:solidFill>
                <a:prstDash val="sysDot"/>
                <a:round/>
                <a:headEnd/>
                <a:tailEnd/>
              </a:ln>
            </p:spPr>
            <p:txBody>
              <a:bodyPr wrap="none" anchor="ctr"/>
              <a:lstStyle/>
              <a:p>
                <a:endParaRPr lang="zh-CN" altLang="en-US"/>
              </a:p>
            </p:txBody>
          </p:sp>
          <p:sp>
            <p:nvSpPr>
              <p:cNvPr id="80" name="Line 7"/>
              <p:cNvSpPr>
                <a:spLocks noChangeShapeType="1"/>
              </p:cNvSpPr>
              <p:nvPr/>
            </p:nvSpPr>
            <p:spPr bwMode="black">
              <a:xfrm flipH="1">
                <a:off x="720" y="2748"/>
                <a:ext cx="1770" cy="1"/>
              </a:xfrm>
              <a:prstGeom prst="line">
                <a:avLst/>
              </a:prstGeom>
              <a:noFill/>
              <a:ln w="19050" cap="rnd">
                <a:solidFill>
                  <a:schemeClr val="tx2"/>
                </a:solidFill>
                <a:prstDash val="sysDot"/>
                <a:round/>
                <a:headEnd/>
                <a:tailEnd/>
              </a:ln>
            </p:spPr>
            <p:txBody>
              <a:bodyPr wrap="none" anchor="ctr"/>
              <a:lstStyle/>
              <a:p>
                <a:endParaRPr lang="zh-CN" altLang="en-US"/>
              </a:p>
            </p:txBody>
          </p:sp>
          <p:sp>
            <p:nvSpPr>
              <p:cNvPr id="81" name="Line 8"/>
              <p:cNvSpPr>
                <a:spLocks noChangeShapeType="1"/>
              </p:cNvSpPr>
              <p:nvPr/>
            </p:nvSpPr>
            <p:spPr bwMode="black">
              <a:xfrm flipH="1">
                <a:off x="720" y="2226"/>
                <a:ext cx="2071" cy="1"/>
              </a:xfrm>
              <a:prstGeom prst="line">
                <a:avLst/>
              </a:prstGeom>
              <a:noFill/>
              <a:ln w="19050" cap="rnd">
                <a:solidFill>
                  <a:schemeClr val="tx2"/>
                </a:solidFill>
                <a:prstDash val="sysDot"/>
                <a:round/>
                <a:headEnd/>
                <a:tailEnd/>
              </a:ln>
            </p:spPr>
            <p:txBody>
              <a:bodyPr wrap="none" anchor="ctr"/>
              <a:lstStyle/>
              <a:p>
                <a:endParaRPr lang="zh-CN" altLang="en-US"/>
              </a:p>
            </p:txBody>
          </p:sp>
          <p:sp>
            <p:nvSpPr>
              <p:cNvPr id="82" name="Line 10"/>
              <p:cNvSpPr>
                <a:spLocks noChangeShapeType="1"/>
              </p:cNvSpPr>
              <p:nvPr/>
            </p:nvSpPr>
            <p:spPr bwMode="black">
              <a:xfrm flipH="1">
                <a:off x="789" y="1343"/>
                <a:ext cx="2636" cy="1"/>
              </a:xfrm>
              <a:prstGeom prst="line">
                <a:avLst/>
              </a:prstGeom>
              <a:noFill/>
              <a:ln w="19050" cap="rnd">
                <a:solidFill>
                  <a:schemeClr val="tx2"/>
                </a:solidFill>
                <a:prstDash val="sysDot"/>
                <a:round/>
                <a:headEnd/>
                <a:tailEnd/>
              </a:ln>
            </p:spPr>
            <p:txBody>
              <a:bodyPr wrap="none" anchor="ctr"/>
              <a:lstStyle/>
              <a:p>
                <a:endParaRPr lang="zh-CN" altLang="en-US"/>
              </a:p>
            </p:txBody>
          </p:sp>
          <p:sp>
            <p:nvSpPr>
              <p:cNvPr id="83" name="Line 13"/>
              <p:cNvSpPr>
                <a:spLocks noChangeShapeType="1"/>
              </p:cNvSpPr>
              <p:nvPr/>
            </p:nvSpPr>
            <p:spPr bwMode="black">
              <a:xfrm>
                <a:off x="870" y="2231"/>
                <a:ext cx="1" cy="530"/>
              </a:xfrm>
              <a:prstGeom prst="line">
                <a:avLst/>
              </a:prstGeom>
              <a:noFill/>
              <a:ln w="9525">
                <a:solidFill>
                  <a:schemeClr val="tx2"/>
                </a:solidFill>
                <a:round/>
                <a:headEnd type="triangle" w="med" len="med"/>
                <a:tailEnd type="triangle" w="med" len="med"/>
              </a:ln>
            </p:spPr>
            <p:txBody>
              <a:bodyPr wrap="none" anchor="ctr"/>
              <a:lstStyle/>
              <a:p>
                <a:endParaRPr lang="zh-CN" altLang="en-US"/>
              </a:p>
            </p:txBody>
          </p:sp>
          <p:sp>
            <p:nvSpPr>
              <p:cNvPr id="84" name="Line 14"/>
              <p:cNvSpPr>
                <a:spLocks noChangeShapeType="1"/>
              </p:cNvSpPr>
              <p:nvPr/>
            </p:nvSpPr>
            <p:spPr bwMode="black">
              <a:xfrm>
                <a:off x="870" y="2761"/>
                <a:ext cx="1" cy="530"/>
              </a:xfrm>
              <a:prstGeom prst="line">
                <a:avLst/>
              </a:prstGeom>
              <a:noFill/>
              <a:ln w="9525">
                <a:solidFill>
                  <a:schemeClr val="tx2"/>
                </a:solidFill>
                <a:round/>
                <a:headEnd type="triangle" w="med" len="med"/>
                <a:tailEnd type="triangle" w="med" len="med"/>
              </a:ln>
            </p:spPr>
            <p:txBody>
              <a:bodyPr wrap="none" anchor="ctr"/>
              <a:lstStyle/>
              <a:p>
                <a:endParaRPr lang="zh-CN" altLang="en-US"/>
              </a:p>
            </p:txBody>
          </p:sp>
          <p:sp>
            <p:nvSpPr>
              <p:cNvPr id="101" name="Line 15"/>
              <p:cNvSpPr>
                <a:spLocks noChangeShapeType="1"/>
              </p:cNvSpPr>
              <p:nvPr/>
            </p:nvSpPr>
            <p:spPr bwMode="black">
              <a:xfrm>
                <a:off x="870" y="3291"/>
                <a:ext cx="1" cy="489"/>
              </a:xfrm>
              <a:prstGeom prst="line">
                <a:avLst/>
              </a:prstGeom>
              <a:noFill/>
              <a:ln w="9525">
                <a:solidFill>
                  <a:schemeClr val="tx2"/>
                </a:solidFill>
                <a:round/>
                <a:headEnd type="triangle" w="med" len="med"/>
                <a:tailEnd type="triangle" w="med" len="med"/>
              </a:ln>
            </p:spPr>
            <p:txBody>
              <a:bodyPr wrap="none" anchor="ctr"/>
              <a:lstStyle/>
              <a:p>
                <a:endParaRPr lang="zh-CN" altLang="en-US"/>
              </a:p>
            </p:txBody>
          </p:sp>
          <p:sp>
            <p:nvSpPr>
              <p:cNvPr id="102" name="Text Box 19"/>
              <p:cNvSpPr txBox="1">
                <a:spLocks noChangeArrowheads="1"/>
              </p:cNvSpPr>
              <p:nvPr/>
            </p:nvSpPr>
            <p:spPr bwMode="black">
              <a:xfrm>
                <a:off x="2379" y="2969"/>
                <a:ext cx="921" cy="177"/>
              </a:xfrm>
              <a:prstGeom prst="rect">
                <a:avLst/>
              </a:prstGeom>
              <a:noFill/>
              <a:ln w="9525">
                <a:noFill/>
                <a:miter lim="800000"/>
                <a:headEnd/>
                <a:tailEnd/>
              </a:ln>
            </p:spPr>
            <p:txBody>
              <a:bodyPr wrap="none">
                <a:spAutoFit/>
              </a:bodyPr>
              <a:lstStyle/>
              <a:p>
                <a:pPr eaLnBrk="0" hangingPunct="0"/>
                <a:r>
                  <a:rPr lang="zh-CN" altLang="en-US" b="1">
                    <a:solidFill>
                      <a:srgbClr val="FF0000"/>
                    </a:solidFill>
                    <a:latin typeface="Verdana" pitchFamily="34" charset="0"/>
                  </a:rPr>
                  <a:t>三大基础数据库</a:t>
                </a:r>
                <a:endParaRPr lang="en-US" altLang="zh-CN" b="1">
                  <a:solidFill>
                    <a:srgbClr val="FF0000"/>
                  </a:solidFill>
                  <a:latin typeface="Verdana" pitchFamily="34" charset="0"/>
                </a:endParaRPr>
              </a:p>
            </p:txBody>
          </p:sp>
        </p:grpSp>
        <p:grpSp>
          <p:nvGrpSpPr>
            <p:cNvPr id="66" name="Group 21"/>
            <p:cNvGrpSpPr>
              <a:grpSpLocks/>
            </p:cNvGrpSpPr>
            <p:nvPr/>
          </p:nvGrpSpPr>
          <p:grpSpPr bwMode="auto">
            <a:xfrm>
              <a:off x="2109" y="951"/>
              <a:ext cx="2866" cy="2355"/>
              <a:chOff x="1702" y="1354"/>
              <a:chExt cx="3855" cy="2724"/>
            </a:xfrm>
          </p:grpSpPr>
          <p:sp>
            <p:nvSpPr>
              <p:cNvPr id="67" name="Freeform 22"/>
              <p:cNvSpPr>
                <a:spLocks/>
              </p:cNvSpPr>
              <p:nvPr/>
            </p:nvSpPr>
            <p:spPr bwMode="gray">
              <a:xfrm>
                <a:off x="4877" y="3211"/>
                <a:ext cx="680" cy="866"/>
              </a:xfrm>
              <a:custGeom>
                <a:avLst/>
                <a:gdLst>
                  <a:gd name="T0" fmla="*/ 4 w 847"/>
                  <a:gd name="T1" fmla="*/ 11 h 1079"/>
                  <a:gd name="T2" fmla="*/ 0 w 847"/>
                  <a:gd name="T3" fmla="*/ 5 h 1079"/>
                  <a:gd name="T4" fmla="*/ 4 w 847"/>
                  <a:gd name="T5" fmla="*/ 0 h 1079"/>
                  <a:gd name="T6" fmla="*/ 8 w 847"/>
                  <a:gd name="T7" fmla="*/ 5 h 1079"/>
                  <a:gd name="T8" fmla="*/ 4 w 847"/>
                  <a:gd name="T9" fmla="*/ 11 h 1079"/>
                  <a:gd name="T10" fmla="*/ 0 60000 65536"/>
                  <a:gd name="T11" fmla="*/ 0 60000 65536"/>
                  <a:gd name="T12" fmla="*/ 0 60000 65536"/>
                  <a:gd name="T13" fmla="*/ 0 60000 65536"/>
                  <a:gd name="T14" fmla="*/ 0 60000 65536"/>
                  <a:gd name="T15" fmla="*/ 0 w 847"/>
                  <a:gd name="T16" fmla="*/ 0 h 1079"/>
                  <a:gd name="T17" fmla="*/ 847 w 847"/>
                  <a:gd name="T18" fmla="*/ 1079 h 1079"/>
                </a:gdLst>
                <a:ahLst/>
                <a:cxnLst>
                  <a:cxn ang="T10">
                    <a:pos x="T0" y="T1"/>
                  </a:cxn>
                  <a:cxn ang="T11">
                    <a:pos x="T2" y="T3"/>
                  </a:cxn>
                  <a:cxn ang="T12">
                    <a:pos x="T4" y="T5"/>
                  </a:cxn>
                  <a:cxn ang="T13">
                    <a:pos x="T6" y="T7"/>
                  </a:cxn>
                  <a:cxn ang="T14">
                    <a:pos x="T8" y="T9"/>
                  </a:cxn>
                </a:cxnLst>
                <a:rect l="T15" t="T16" r="T17" b="T18"/>
                <a:pathLst>
                  <a:path w="847" h="1079">
                    <a:moveTo>
                      <a:pt x="399" y="1078"/>
                    </a:moveTo>
                    <a:lnTo>
                      <a:pt x="0" y="459"/>
                    </a:lnTo>
                    <a:lnTo>
                      <a:pt x="374" y="0"/>
                    </a:lnTo>
                    <a:lnTo>
                      <a:pt x="846" y="536"/>
                    </a:lnTo>
                    <a:lnTo>
                      <a:pt x="399" y="1078"/>
                    </a:lnTo>
                  </a:path>
                </a:pathLst>
              </a:custGeom>
              <a:gradFill rotWithShape="0">
                <a:gsLst>
                  <a:gs pos="0">
                    <a:srgbClr val="4747B2"/>
                  </a:gs>
                  <a:gs pos="100000">
                    <a:srgbClr val="6666FF"/>
                  </a:gs>
                </a:gsLst>
                <a:lin ang="2700000" scaled="1"/>
              </a:gradFill>
              <a:ln w="12700" cap="rnd">
                <a:noFill/>
                <a:round/>
                <a:headEnd/>
                <a:tailEnd/>
              </a:ln>
            </p:spPr>
            <p:txBody>
              <a:bodyPr/>
              <a:lstStyle/>
              <a:p>
                <a:endParaRPr lang="zh-CN" altLang="en-US"/>
              </a:p>
            </p:txBody>
          </p:sp>
          <p:sp>
            <p:nvSpPr>
              <p:cNvPr id="68" name="Freeform 23"/>
              <p:cNvSpPr>
                <a:spLocks/>
              </p:cNvSpPr>
              <p:nvPr/>
            </p:nvSpPr>
            <p:spPr bwMode="gray">
              <a:xfrm>
                <a:off x="2010" y="3211"/>
                <a:ext cx="3168" cy="369"/>
              </a:xfrm>
              <a:custGeom>
                <a:avLst/>
                <a:gdLst>
                  <a:gd name="T0" fmla="*/ 0 w 3947"/>
                  <a:gd name="T1" fmla="*/ 5 h 460"/>
                  <a:gd name="T2" fmla="*/ 35 w 3947"/>
                  <a:gd name="T3" fmla="*/ 5 h 460"/>
                  <a:gd name="T4" fmla="*/ 39 w 3947"/>
                  <a:gd name="T5" fmla="*/ 0 h 460"/>
                  <a:gd name="T6" fmla="*/ 5 w 3947"/>
                  <a:gd name="T7" fmla="*/ 0 h 460"/>
                  <a:gd name="T8" fmla="*/ 0 w 3947"/>
                  <a:gd name="T9" fmla="*/ 5 h 460"/>
                  <a:gd name="T10" fmla="*/ 0 60000 65536"/>
                  <a:gd name="T11" fmla="*/ 0 60000 65536"/>
                  <a:gd name="T12" fmla="*/ 0 60000 65536"/>
                  <a:gd name="T13" fmla="*/ 0 60000 65536"/>
                  <a:gd name="T14" fmla="*/ 0 60000 65536"/>
                  <a:gd name="T15" fmla="*/ 0 w 3947"/>
                  <a:gd name="T16" fmla="*/ 0 h 460"/>
                  <a:gd name="T17" fmla="*/ 3947 w 3947"/>
                  <a:gd name="T18" fmla="*/ 460 h 460"/>
                </a:gdLst>
                <a:ahLst/>
                <a:cxnLst>
                  <a:cxn ang="T10">
                    <a:pos x="T0" y="T1"/>
                  </a:cxn>
                  <a:cxn ang="T11">
                    <a:pos x="T2" y="T3"/>
                  </a:cxn>
                  <a:cxn ang="T12">
                    <a:pos x="T4" y="T5"/>
                  </a:cxn>
                  <a:cxn ang="T13">
                    <a:pos x="T6" y="T7"/>
                  </a:cxn>
                  <a:cxn ang="T14">
                    <a:pos x="T8" y="T9"/>
                  </a:cxn>
                </a:cxnLst>
                <a:rect l="T15" t="T16" r="T17" b="T18"/>
                <a:pathLst>
                  <a:path w="3947" h="460">
                    <a:moveTo>
                      <a:pt x="0" y="459"/>
                    </a:moveTo>
                    <a:lnTo>
                      <a:pt x="3573" y="459"/>
                    </a:lnTo>
                    <a:lnTo>
                      <a:pt x="3946" y="0"/>
                    </a:lnTo>
                    <a:lnTo>
                      <a:pt x="505" y="0"/>
                    </a:lnTo>
                    <a:lnTo>
                      <a:pt x="0" y="459"/>
                    </a:lnTo>
                  </a:path>
                </a:pathLst>
              </a:custGeom>
              <a:gradFill rotWithShape="0">
                <a:gsLst>
                  <a:gs pos="0">
                    <a:srgbClr val="6666FF"/>
                  </a:gs>
                  <a:gs pos="100000">
                    <a:srgbClr val="4141A2"/>
                  </a:gs>
                </a:gsLst>
                <a:lin ang="2700000" scaled="1"/>
              </a:gradFill>
              <a:ln w="12700" cap="rnd">
                <a:noFill/>
                <a:round/>
                <a:headEnd/>
                <a:tailEnd/>
              </a:ln>
            </p:spPr>
            <p:txBody>
              <a:bodyPr/>
              <a:lstStyle/>
              <a:p>
                <a:endParaRPr lang="zh-CN" altLang="en-US"/>
              </a:p>
            </p:txBody>
          </p:sp>
          <p:sp>
            <p:nvSpPr>
              <p:cNvPr id="69" name="Freeform 24"/>
              <p:cNvSpPr>
                <a:spLocks/>
              </p:cNvSpPr>
              <p:nvPr/>
            </p:nvSpPr>
            <p:spPr bwMode="gray">
              <a:xfrm>
                <a:off x="1702" y="3578"/>
                <a:ext cx="3497" cy="500"/>
              </a:xfrm>
              <a:custGeom>
                <a:avLst/>
                <a:gdLst>
                  <a:gd name="T0" fmla="*/ 4 w 4357"/>
                  <a:gd name="T1" fmla="*/ 0 h 623"/>
                  <a:gd name="T2" fmla="*/ 39 w 4357"/>
                  <a:gd name="T3" fmla="*/ 0 h 623"/>
                  <a:gd name="T4" fmla="*/ 43 w 4357"/>
                  <a:gd name="T5" fmla="*/ 6 h 623"/>
                  <a:gd name="T6" fmla="*/ 0 w 4357"/>
                  <a:gd name="T7" fmla="*/ 6 h 623"/>
                  <a:gd name="T8" fmla="*/ 4 w 4357"/>
                  <a:gd name="T9" fmla="*/ 0 h 623"/>
                  <a:gd name="T10" fmla="*/ 0 60000 65536"/>
                  <a:gd name="T11" fmla="*/ 0 60000 65536"/>
                  <a:gd name="T12" fmla="*/ 0 60000 65536"/>
                  <a:gd name="T13" fmla="*/ 0 60000 65536"/>
                  <a:gd name="T14" fmla="*/ 0 60000 65536"/>
                  <a:gd name="T15" fmla="*/ 0 w 4357"/>
                  <a:gd name="T16" fmla="*/ 0 h 623"/>
                  <a:gd name="T17" fmla="*/ 4357 w 4357"/>
                  <a:gd name="T18" fmla="*/ 623 h 623"/>
                </a:gdLst>
                <a:ahLst/>
                <a:cxnLst>
                  <a:cxn ang="T10">
                    <a:pos x="T0" y="T1"/>
                  </a:cxn>
                  <a:cxn ang="T11">
                    <a:pos x="T2" y="T3"/>
                  </a:cxn>
                  <a:cxn ang="T12">
                    <a:pos x="T4" y="T5"/>
                  </a:cxn>
                  <a:cxn ang="T13">
                    <a:pos x="T6" y="T7"/>
                  </a:cxn>
                  <a:cxn ang="T14">
                    <a:pos x="T8" y="T9"/>
                  </a:cxn>
                </a:cxnLst>
                <a:rect l="T15" t="T16" r="T17" b="T18"/>
                <a:pathLst>
                  <a:path w="4357" h="623">
                    <a:moveTo>
                      <a:pt x="383" y="0"/>
                    </a:moveTo>
                    <a:lnTo>
                      <a:pt x="3954" y="0"/>
                    </a:lnTo>
                    <a:lnTo>
                      <a:pt x="4356" y="622"/>
                    </a:lnTo>
                    <a:lnTo>
                      <a:pt x="0" y="622"/>
                    </a:lnTo>
                    <a:lnTo>
                      <a:pt x="383" y="0"/>
                    </a:lnTo>
                  </a:path>
                </a:pathLst>
              </a:custGeom>
              <a:gradFill rotWithShape="0">
                <a:gsLst>
                  <a:gs pos="0">
                    <a:srgbClr val="9999FF"/>
                  </a:gs>
                  <a:gs pos="100000">
                    <a:srgbClr val="6666FF"/>
                  </a:gs>
                </a:gsLst>
                <a:lin ang="2700000" scaled="1"/>
              </a:gradFill>
              <a:ln w="12700" cap="rnd">
                <a:noFill/>
                <a:round/>
                <a:headEnd/>
                <a:tailEnd/>
              </a:ln>
            </p:spPr>
            <p:txBody>
              <a:bodyPr/>
              <a:lstStyle/>
              <a:p>
                <a:endParaRPr lang="zh-CN" altLang="en-US"/>
              </a:p>
            </p:txBody>
          </p:sp>
          <p:sp>
            <p:nvSpPr>
              <p:cNvPr id="70" name="Freeform 25"/>
              <p:cNvSpPr>
                <a:spLocks/>
              </p:cNvSpPr>
              <p:nvPr/>
            </p:nvSpPr>
            <p:spPr bwMode="gray">
              <a:xfrm>
                <a:off x="4522" y="2721"/>
                <a:ext cx="601" cy="784"/>
              </a:xfrm>
              <a:custGeom>
                <a:avLst/>
                <a:gdLst>
                  <a:gd name="T0" fmla="*/ 4 w 749"/>
                  <a:gd name="T1" fmla="*/ 9 h 977"/>
                  <a:gd name="T2" fmla="*/ 0 w 749"/>
                  <a:gd name="T3" fmla="*/ 3 h 977"/>
                  <a:gd name="T4" fmla="*/ 2 w 749"/>
                  <a:gd name="T5" fmla="*/ 0 h 977"/>
                  <a:gd name="T6" fmla="*/ 7 w 749"/>
                  <a:gd name="T7" fmla="*/ 5 h 977"/>
                  <a:gd name="T8" fmla="*/ 4 w 749"/>
                  <a:gd name="T9" fmla="*/ 9 h 977"/>
                  <a:gd name="T10" fmla="*/ 0 60000 65536"/>
                  <a:gd name="T11" fmla="*/ 0 60000 65536"/>
                  <a:gd name="T12" fmla="*/ 0 60000 65536"/>
                  <a:gd name="T13" fmla="*/ 0 60000 65536"/>
                  <a:gd name="T14" fmla="*/ 0 60000 65536"/>
                  <a:gd name="T15" fmla="*/ 0 w 749"/>
                  <a:gd name="T16" fmla="*/ 0 h 977"/>
                  <a:gd name="T17" fmla="*/ 749 w 749"/>
                  <a:gd name="T18" fmla="*/ 977 h 977"/>
                </a:gdLst>
                <a:ahLst/>
                <a:cxnLst>
                  <a:cxn ang="T10">
                    <a:pos x="T0" y="T1"/>
                  </a:cxn>
                  <a:cxn ang="T11">
                    <a:pos x="T2" y="T3"/>
                  </a:cxn>
                  <a:cxn ang="T12">
                    <a:pos x="T4" y="T5"/>
                  </a:cxn>
                  <a:cxn ang="T13">
                    <a:pos x="T6" y="T7"/>
                  </a:cxn>
                  <a:cxn ang="T14">
                    <a:pos x="T8" y="T9"/>
                  </a:cxn>
                </a:cxnLst>
                <a:rect l="T15" t="T16" r="T17" b="T18"/>
                <a:pathLst>
                  <a:path w="749" h="977">
                    <a:moveTo>
                      <a:pt x="382" y="976"/>
                    </a:moveTo>
                    <a:lnTo>
                      <a:pt x="0" y="342"/>
                    </a:lnTo>
                    <a:lnTo>
                      <a:pt x="280" y="0"/>
                    </a:lnTo>
                    <a:lnTo>
                      <a:pt x="748" y="538"/>
                    </a:lnTo>
                    <a:lnTo>
                      <a:pt x="382" y="976"/>
                    </a:lnTo>
                  </a:path>
                </a:pathLst>
              </a:custGeom>
              <a:gradFill rotWithShape="0">
                <a:gsLst>
                  <a:gs pos="0">
                    <a:srgbClr val="009570"/>
                  </a:gs>
                  <a:gs pos="100000">
                    <a:srgbClr val="00CC99"/>
                  </a:gs>
                </a:gsLst>
                <a:lin ang="2700000" scaled="1"/>
              </a:gradFill>
              <a:ln w="12700" cap="rnd">
                <a:noFill/>
                <a:round/>
                <a:headEnd/>
                <a:tailEnd/>
              </a:ln>
            </p:spPr>
            <p:txBody>
              <a:bodyPr/>
              <a:lstStyle/>
              <a:p>
                <a:endParaRPr lang="zh-CN" altLang="en-US"/>
              </a:p>
            </p:txBody>
          </p:sp>
          <p:sp>
            <p:nvSpPr>
              <p:cNvPr id="71" name="Freeform 26"/>
              <p:cNvSpPr>
                <a:spLocks/>
              </p:cNvSpPr>
              <p:nvPr/>
            </p:nvSpPr>
            <p:spPr bwMode="gray">
              <a:xfrm>
                <a:off x="2370" y="2721"/>
                <a:ext cx="2380" cy="276"/>
              </a:xfrm>
              <a:custGeom>
                <a:avLst/>
                <a:gdLst>
                  <a:gd name="T0" fmla="*/ 0 w 2964"/>
                  <a:gd name="T1" fmla="*/ 3 h 344"/>
                  <a:gd name="T2" fmla="*/ 26 w 2964"/>
                  <a:gd name="T3" fmla="*/ 3 h 344"/>
                  <a:gd name="T4" fmla="*/ 30 w 2964"/>
                  <a:gd name="T5" fmla="*/ 0 h 344"/>
                  <a:gd name="T6" fmla="*/ 5 w 2964"/>
                  <a:gd name="T7" fmla="*/ 1 h 344"/>
                  <a:gd name="T8" fmla="*/ 0 w 2964"/>
                  <a:gd name="T9" fmla="*/ 3 h 344"/>
                  <a:gd name="T10" fmla="*/ 0 60000 65536"/>
                  <a:gd name="T11" fmla="*/ 0 60000 65536"/>
                  <a:gd name="T12" fmla="*/ 0 60000 65536"/>
                  <a:gd name="T13" fmla="*/ 0 60000 65536"/>
                  <a:gd name="T14" fmla="*/ 0 60000 65536"/>
                  <a:gd name="T15" fmla="*/ 0 w 2964"/>
                  <a:gd name="T16" fmla="*/ 0 h 344"/>
                  <a:gd name="T17" fmla="*/ 2964 w 2964"/>
                  <a:gd name="T18" fmla="*/ 344 h 344"/>
                </a:gdLst>
                <a:ahLst/>
                <a:cxnLst>
                  <a:cxn ang="T10">
                    <a:pos x="T0" y="T1"/>
                  </a:cxn>
                  <a:cxn ang="T11">
                    <a:pos x="T2" y="T3"/>
                  </a:cxn>
                  <a:cxn ang="T12">
                    <a:pos x="T4" y="T5"/>
                  </a:cxn>
                  <a:cxn ang="T13">
                    <a:pos x="T6" y="T7"/>
                  </a:cxn>
                  <a:cxn ang="T14">
                    <a:pos x="T8" y="T9"/>
                  </a:cxn>
                </a:cxnLst>
                <a:rect l="T15" t="T16" r="T17" b="T18"/>
                <a:pathLst>
                  <a:path w="2964" h="344">
                    <a:moveTo>
                      <a:pt x="0" y="343"/>
                    </a:moveTo>
                    <a:lnTo>
                      <a:pt x="2684" y="343"/>
                    </a:lnTo>
                    <a:lnTo>
                      <a:pt x="2963" y="0"/>
                    </a:lnTo>
                    <a:lnTo>
                      <a:pt x="531" y="1"/>
                    </a:lnTo>
                    <a:lnTo>
                      <a:pt x="0" y="343"/>
                    </a:lnTo>
                  </a:path>
                </a:pathLst>
              </a:custGeom>
              <a:gradFill rotWithShape="1">
                <a:gsLst>
                  <a:gs pos="0">
                    <a:srgbClr val="00CC99"/>
                  </a:gs>
                  <a:gs pos="100000">
                    <a:srgbClr val="005A44"/>
                  </a:gs>
                </a:gsLst>
                <a:lin ang="2700000" scaled="1"/>
              </a:gradFill>
              <a:ln w="12700" cap="rnd">
                <a:noFill/>
                <a:round/>
                <a:headEnd/>
                <a:tailEnd/>
              </a:ln>
            </p:spPr>
            <p:txBody>
              <a:bodyPr/>
              <a:lstStyle/>
              <a:p>
                <a:endParaRPr lang="zh-CN" altLang="en-US"/>
              </a:p>
            </p:txBody>
          </p:sp>
          <p:sp>
            <p:nvSpPr>
              <p:cNvPr id="72" name="Freeform 27"/>
              <p:cNvSpPr>
                <a:spLocks/>
              </p:cNvSpPr>
              <p:nvPr/>
            </p:nvSpPr>
            <p:spPr bwMode="gray">
              <a:xfrm>
                <a:off x="2069" y="2996"/>
                <a:ext cx="2763" cy="509"/>
              </a:xfrm>
              <a:custGeom>
                <a:avLst/>
                <a:gdLst>
                  <a:gd name="T0" fmla="*/ 0 w 3443"/>
                  <a:gd name="T1" fmla="*/ 6 h 634"/>
                  <a:gd name="T2" fmla="*/ 35 w 3443"/>
                  <a:gd name="T3" fmla="*/ 6 h 634"/>
                  <a:gd name="T4" fmla="*/ 30 w 3443"/>
                  <a:gd name="T5" fmla="*/ 0 h 634"/>
                  <a:gd name="T6" fmla="*/ 4 w 3443"/>
                  <a:gd name="T7" fmla="*/ 0 h 634"/>
                  <a:gd name="T8" fmla="*/ 0 w 3443"/>
                  <a:gd name="T9" fmla="*/ 6 h 634"/>
                  <a:gd name="T10" fmla="*/ 0 60000 65536"/>
                  <a:gd name="T11" fmla="*/ 0 60000 65536"/>
                  <a:gd name="T12" fmla="*/ 0 60000 65536"/>
                  <a:gd name="T13" fmla="*/ 0 60000 65536"/>
                  <a:gd name="T14" fmla="*/ 0 60000 65536"/>
                  <a:gd name="T15" fmla="*/ 0 w 3443"/>
                  <a:gd name="T16" fmla="*/ 0 h 634"/>
                  <a:gd name="T17" fmla="*/ 3443 w 3443"/>
                  <a:gd name="T18" fmla="*/ 634 h 634"/>
                </a:gdLst>
                <a:ahLst/>
                <a:cxnLst>
                  <a:cxn ang="T10">
                    <a:pos x="T0" y="T1"/>
                  </a:cxn>
                  <a:cxn ang="T11">
                    <a:pos x="T2" y="T3"/>
                  </a:cxn>
                  <a:cxn ang="T12">
                    <a:pos x="T4" y="T5"/>
                  </a:cxn>
                  <a:cxn ang="T13">
                    <a:pos x="T6" y="T7"/>
                  </a:cxn>
                  <a:cxn ang="T14">
                    <a:pos x="T8" y="T9"/>
                  </a:cxn>
                </a:cxnLst>
                <a:rect l="T15" t="T16" r="T17" b="T18"/>
                <a:pathLst>
                  <a:path w="3443" h="634">
                    <a:moveTo>
                      <a:pt x="0" y="633"/>
                    </a:moveTo>
                    <a:lnTo>
                      <a:pt x="3442" y="633"/>
                    </a:lnTo>
                    <a:lnTo>
                      <a:pt x="3060" y="0"/>
                    </a:lnTo>
                    <a:lnTo>
                      <a:pt x="377" y="0"/>
                    </a:lnTo>
                    <a:lnTo>
                      <a:pt x="0" y="633"/>
                    </a:lnTo>
                  </a:path>
                </a:pathLst>
              </a:custGeom>
              <a:gradFill rotWithShape="0">
                <a:gsLst>
                  <a:gs pos="0">
                    <a:srgbClr val="86E7CF"/>
                  </a:gs>
                  <a:gs pos="100000">
                    <a:srgbClr val="00CC99"/>
                  </a:gs>
                </a:gsLst>
                <a:lin ang="2700000" scaled="1"/>
              </a:gradFill>
              <a:ln w="12700" cap="rnd">
                <a:noFill/>
                <a:round/>
                <a:headEnd/>
                <a:tailEnd/>
              </a:ln>
            </p:spPr>
            <p:txBody>
              <a:bodyPr/>
              <a:lstStyle/>
              <a:p>
                <a:endParaRPr lang="zh-CN" altLang="en-US"/>
              </a:p>
            </p:txBody>
          </p:sp>
          <p:sp>
            <p:nvSpPr>
              <p:cNvPr id="73" name="Freeform 28"/>
              <p:cNvSpPr>
                <a:spLocks/>
              </p:cNvSpPr>
              <p:nvPr/>
            </p:nvSpPr>
            <p:spPr bwMode="gray">
              <a:xfrm>
                <a:off x="4167" y="2236"/>
                <a:ext cx="526" cy="681"/>
              </a:xfrm>
              <a:custGeom>
                <a:avLst/>
                <a:gdLst>
                  <a:gd name="T0" fmla="*/ 0 w 655"/>
                  <a:gd name="T1" fmla="*/ 2 h 849"/>
                  <a:gd name="T2" fmla="*/ 4 w 655"/>
                  <a:gd name="T3" fmla="*/ 8 h 849"/>
                  <a:gd name="T4" fmla="*/ 6 w 655"/>
                  <a:gd name="T5" fmla="*/ 5 h 849"/>
                  <a:gd name="T6" fmla="*/ 2 w 655"/>
                  <a:gd name="T7" fmla="*/ 0 h 849"/>
                  <a:gd name="T8" fmla="*/ 0 w 655"/>
                  <a:gd name="T9" fmla="*/ 2 h 849"/>
                  <a:gd name="T10" fmla="*/ 0 60000 65536"/>
                  <a:gd name="T11" fmla="*/ 0 60000 65536"/>
                  <a:gd name="T12" fmla="*/ 0 60000 65536"/>
                  <a:gd name="T13" fmla="*/ 0 60000 65536"/>
                  <a:gd name="T14" fmla="*/ 0 60000 65536"/>
                  <a:gd name="T15" fmla="*/ 0 w 655"/>
                  <a:gd name="T16" fmla="*/ 0 h 849"/>
                  <a:gd name="T17" fmla="*/ 655 w 655"/>
                  <a:gd name="T18" fmla="*/ 849 h 849"/>
                </a:gdLst>
                <a:ahLst/>
                <a:cxnLst>
                  <a:cxn ang="T10">
                    <a:pos x="T0" y="T1"/>
                  </a:cxn>
                  <a:cxn ang="T11">
                    <a:pos x="T2" y="T3"/>
                  </a:cxn>
                  <a:cxn ang="T12">
                    <a:pos x="T4" y="T5"/>
                  </a:cxn>
                  <a:cxn ang="T13">
                    <a:pos x="T6" y="T7"/>
                  </a:cxn>
                  <a:cxn ang="T14">
                    <a:pos x="T8" y="T9"/>
                  </a:cxn>
                </a:cxnLst>
                <a:rect l="T15" t="T16" r="T17" b="T18"/>
                <a:pathLst>
                  <a:path w="655" h="849">
                    <a:moveTo>
                      <a:pt x="0" y="230"/>
                    </a:moveTo>
                    <a:lnTo>
                      <a:pt x="387" y="848"/>
                    </a:lnTo>
                    <a:lnTo>
                      <a:pt x="654" y="531"/>
                    </a:lnTo>
                    <a:lnTo>
                      <a:pt x="188" y="0"/>
                    </a:lnTo>
                    <a:lnTo>
                      <a:pt x="0" y="230"/>
                    </a:lnTo>
                  </a:path>
                </a:pathLst>
              </a:custGeom>
              <a:gradFill rotWithShape="1">
                <a:gsLst>
                  <a:gs pos="0">
                    <a:srgbClr val="B27A09"/>
                  </a:gs>
                  <a:gs pos="100000">
                    <a:srgbClr val="F4A70C"/>
                  </a:gs>
                </a:gsLst>
                <a:lin ang="2700000" scaled="1"/>
              </a:gradFill>
              <a:ln w="12700" cap="rnd">
                <a:noFill/>
                <a:round/>
                <a:headEnd/>
                <a:tailEnd/>
              </a:ln>
            </p:spPr>
            <p:txBody>
              <a:bodyPr/>
              <a:lstStyle/>
              <a:p>
                <a:endParaRPr lang="zh-CN" altLang="en-US"/>
              </a:p>
            </p:txBody>
          </p:sp>
          <p:sp>
            <p:nvSpPr>
              <p:cNvPr id="74" name="Freeform 30"/>
              <p:cNvSpPr>
                <a:spLocks/>
              </p:cNvSpPr>
              <p:nvPr/>
            </p:nvSpPr>
            <p:spPr bwMode="gray">
              <a:xfrm>
                <a:off x="2422" y="2419"/>
                <a:ext cx="2056" cy="498"/>
              </a:xfrm>
              <a:custGeom>
                <a:avLst/>
                <a:gdLst>
                  <a:gd name="T0" fmla="*/ 0 w 2561"/>
                  <a:gd name="T1" fmla="*/ 6 h 621"/>
                  <a:gd name="T2" fmla="*/ 26 w 2561"/>
                  <a:gd name="T3" fmla="*/ 6 h 621"/>
                  <a:gd name="T4" fmla="*/ 21 w 2561"/>
                  <a:gd name="T5" fmla="*/ 0 h 621"/>
                  <a:gd name="T6" fmla="*/ 4 w 2561"/>
                  <a:gd name="T7" fmla="*/ 0 h 621"/>
                  <a:gd name="T8" fmla="*/ 0 w 2561"/>
                  <a:gd name="T9" fmla="*/ 6 h 621"/>
                  <a:gd name="T10" fmla="*/ 0 60000 65536"/>
                  <a:gd name="T11" fmla="*/ 0 60000 65536"/>
                  <a:gd name="T12" fmla="*/ 0 60000 65536"/>
                  <a:gd name="T13" fmla="*/ 0 60000 65536"/>
                  <a:gd name="T14" fmla="*/ 0 60000 65536"/>
                  <a:gd name="T15" fmla="*/ 0 w 2561"/>
                  <a:gd name="T16" fmla="*/ 0 h 621"/>
                  <a:gd name="T17" fmla="*/ 2561 w 2561"/>
                  <a:gd name="T18" fmla="*/ 621 h 621"/>
                </a:gdLst>
                <a:ahLst/>
                <a:cxnLst>
                  <a:cxn ang="T10">
                    <a:pos x="T0" y="T1"/>
                  </a:cxn>
                  <a:cxn ang="T11">
                    <a:pos x="T2" y="T3"/>
                  </a:cxn>
                  <a:cxn ang="T12">
                    <a:pos x="T4" y="T5"/>
                  </a:cxn>
                  <a:cxn ang="T13">
                    <a:pos x="T6" y="T7"/>
                  </a:cxn>
                  <a:cxn ang="T14">
                    <a:pos x="T8" y="T9"/>
                  </a:cxn>
                </a:cxnLst>
                <a:rect l="T15" t="T16" r="T17" b="T18"/>
                <a:pathLst>
                  <a:path w="2561" h="621">
                    <a:moveTo>
                      <a:pt x="0" y="620"/>
                    </a:moveTo>
                    <a:lnTo>
                      <a:pt x="2560" y="620"/>
                    </a:lnTo>
                    <a:lnTo>
                      <a:pt x="2172" y="0"/>
                    </a:lnTo>
                    <a:lnTo>
                      <a:pt x="382" y="0"/>
                    </a:lnTo>
                    <a:lnTo>
                      <a:pt x="0" y="620"/>
                    </a:lnTo>
                  </a:path>
                </a:pathLst>
              </a:custGeom>
              <a:gradFill rotWithShape="0">
                <a:gsLst>
                  <a:gs pos="0">
                    <a:srgbClr val="FAD58C"/>
                  </a:gs>
                  <a:gs pos="100000">
                    <a:srgbClr val="F4A70C"/>
                  </a:gs>
                </a:gsLst>
                <a:lin ang="2700000" scaled="1"/>
              </a:gradFill>
              <a:ln w="12700" cap="rnd">
                <a:noFill/>
                <a:round/>
                <a:headEnd/>
                <a:tailEnd/>
              </a:ln>
            </p:spPr>
            <p:txBody>
              <a:bodyPr/>
              <a:lstStyle/>
              <a:p>
                <a:endParaRPr lang="zh-CN" altLang="en-US"/>
              </a:p>
            </p:txBody>
          </p:sp>
          <p:sp>
            <p:nvSpPr>
              <p:cNvPr id="75" name="Freeform 29"/>
              <p:cNvSpPr>
                <a:spLocks/>
              </p:cNvSpPr>
              <p:nvPr/>
            </p:nvSpPr>
            <p:spPr bwMode="gray">
              <a:xfrm>
                <a:off x="2728" y="2236"/>
                <a:ext cx="1589" cy="184"/>
              </a:xfrm>
              <a:custGeom>
                <a:avLst/>
                <a:gdLst>
                  <a:gd name="T0" fmla="*/ 0 w 1980"/>
                  <a:gd name="T1" fmla="*/ 2 h 229"/>
                  <a:gd name="T2" fmla="*/ 18 w 1980"/>
                  <a:gd name="T3" fmla="*/ 2 h 229"/>
                  <a:gd name="T4" fmla="*/ 19 w 1980"/>
                  <a:gd name="T5" fmla="*/ 0 h 229"/>
                  <a:gd name="T6" fmla="*/ 5 w 1980"/>
                  <a:gd name="T7" fmla="*/ 0 h 229"/>
                  <a:gd name="T8" fmla="*/ 0 w 1980"/>
                  <a:gd name="T9" fmla="*/ 2 h 229"/>
                  <a:gd name="T10" fmla="*/ 0 60000 65536"/>
                  <a:gd name="T11" fmla="*/ 0 60000 65536"/>
                  <a:gd name="T12" fmla="*/ 0 60000 65536"/>
                  <a:gd name="T13" fmla="*/ 0 60000 65536"/>
                  <a:gd name="T14" fmla="*/ 0 60000 65536"/>
                  <a:gd name="T15" fmla="*/ 0 w 1980"/>
                  <a:gd name="T16" fmla="*/ 0 h 229"/>
                  <a:gd name="T17" fmla="*/ 1980 w 1980"/>
                  <a:gd name="T18" fmla="*/ 229 h 229"/>
                </a:gdLst>
                <a:ahLst/>
                <a:cxnLst>
                  <a:cxn ang="T10">
                    <a:pos x="T0" y="T1"/>
                  </a:cxn>
                  <a:cxn ang="T11">
                    <a:pos x="T2" y="T3"/>
                  </a:cxn>
                  <a:cxn ang="T12">
                    <a:pos x="T4" y="T5"/>
                  </a:cxn>
                  <a:cxn ang="T13">
                    <a:pos x="T6" y="T7"/>
                  </a:cxn>
                  <a:cxn ang="T14">
                    <a:pos x="T8" y="T9"/>
                  </a:cxn>
                </a:cxnLst>
                <a:rect l="T15" t="T16" r="T17" b="T18"/>
                <a:pathLst>
                  <a:path w="1980" h="229">
                    <a:moveTo>
                      <a:pt x="0" y="228"/>
                    </a:moveTo>
                    <a:lnTo>
                      <a:pt x="1791" y="228"/>
                    </a:lnTo>
                    <a:lnTo>
                      <a:pt x="1979" y="0"/>
                    </a:lnTo>
                    <a:lnTo>
                      <a:pt x="500" y="0"/>
                    </a:lnTo>
                    <a:lnTo>
                      <a:pt x="0" y="228"/>
                    </a:lnTo>
                  </a:path>
                </a:pathLst>
              </a:custGeom>
              <a:gradFill rotWithShape="0">
                <a:gsLst>
                  <a:gs pos="0">
                    <a:srgbClr val="F4A70C"/>
                  </a:gs>
                  <a:gs pos="100000">
                    <a:srgbClr val="744F06"/>
                  </a:gs>
                </a:gsLst>
                <a:lin ang="2700000" scaled="1"/>
              </a:gradFill>
              <a:ln w="12700" cap="rnd">
                <a:noFill/>
                <a:round/>
                <a:headEnd/>
                <a:tailEnd/>
              </a:ln>
            </p:spPr>
            <p:txBody>
              <a:bodyPr/>
              <a:lstStyle/>
              <a:p>
                <a:endParaRPr lang="zh-CN" altLang="en-US"/>
              </a:p>
            </p:txBody>
          </p:sp>
          <p:sp>
            <p:nvSpPr>
              <p:cNvPr id="76" name="Freeform 34"/>
              <p:cNvSpPr>
                <a:spLocks/>
              </p:cNvSpPr>
              <p:nvPr/>
            </p:nvSpPr>
            <p:spPr bwMode="gray">
              <a:xfrm>
                <a:off x="3436" y="1354"/>
                <a:ext cx="787" cy="955"/>
              </a:xfrm>
              <a:custGeom>
                <a:avLst/>
                <a:gdLst>
                  <a:gd name="T0" fmla="*/ 68 w 477"/>
                  <a:gd name="T1" fmla="*/ 75 h 625"/>
                  <a:gd name="T2" fmla="*/ 81 w 477"/>
                  <a:gd name="T3" fmla="*/ 72 h 625"/>
                  <a:gd name="T4" fmla="*/ 0 w 477"/>
                  <a:gd name="T5" fmla="*/ 0 h 625"/>
                  <a:gd name="T6" fmla="*/ 68 w 477"/>
                  <a:gd name="T7" fmla="*/ 75 h 625"/>
                  <a:gd name="T8" fmla="*/ 0 60000 65536"/>
                  <a:gd name="T9" fmla="*/ 0 60000 65536"/>
                  <a:gd name="T10" fmla="*/ 0 60000 65536"/>
                  <a:gd name="T11" fmla="*/ 0 60000 65536"/>
                  <a:gd name="T12" fmla="*/ 0 w 477"/>
                  <a:gd name="T13" fmla="*/ 0 h 625"/>
                  <a:gd name="T14" fmla="*/ 477 w 477"/>
                  <a:gd name="T15" fmla="*/ 625 h 625"/>
                </a:gdLst>
                <a:ahLst/>
                <a:cxnLst>
                  <a:cxn ang="T8">
                    <a:pos x="T0" y="T1"/>
                  </a:cxn>
                  <a:cxn ang="T9">
                    <a:pos x="T2" y="T3"/>
                  </a:cxn>
                  <a:cxn ang="T10">
                    <a:pos x="T4" y="T5"/>
                  </a:cxn>
                  <a:cxn ang="T11">
                    <a:pos x="T6" y="T7"/>
                  </a:cxn>
                </a:cxnLst>
                <a:rect l="T12" t="T13" r="T14" b="T15"/>
                <a:pathLst>
                  <a:path w="477" h="625">
                    <a:moveTo>
                      <a:pt x="387" y="624"/>
                    </a:moveTo>
                    <a:lnTo>
                      <a:pt x="476" y="527"/>
                    </a:lnTo>
                    <a:lnTo>
                      <a:pt x="0" y="0"/>
                    </a:lnTo>
                    <a:lnTo>
                      <a:pt x="387" y="624"/>
                    </a:lnTo>
                  </a:path>
                </a:pathLst>
              </a:custGeom>
              <a:gradFill rotWithShape="0">
                <a:gsLst>
                  <a:gs pos="0">
                    <a:srgbClr val="0051CA"/>
                  </a:gs>
                  <a:gs pos="100000">
                    <a:srgbClr val="0066FF"/>
                  </a:gs>
                </a:gsLst>
                <a:lin ang="2700000" scaled="1"/>
              </a:gradFill>
              <a:ln w="12700" cap="rnd">
                <a:noFill/>
                <a:round/>
                <a:headEnd/>
                <a:tailEnd/>
              </a:ln>
            </p:spPr>
            <p:txBody>
              <a:bodyPr/>
              <a:lstStyle/>
              <a:p>
                <a:endParaRPr lang="zh-CN" altLang="en-US"/>
              </a:p>
            </p:txBody>
          </p:sp>
          <p:sp>
            <p:nvSpPr>
              <p:cNvPr id="77" name="Freeform 35"/>
              <p:cNvSpPr>
                <a:spLocks/>
              </p:cNvSpPr>
              <p:nvPr/>
            </p:nvSpPr>
            <p:spPr bwMode="gray">
              <a:xfrm>
                <a:off x="2824" y="1354"/>
                <a:ext cx="1262" cy="955"/>
              </a:xfrm>
              <a:custGeom>
                <a:avLst/>
                <a:gdLst>
                  <a:gd name="T0" fmla="*/ 0 w 773"/>
                  <a:gd name="T1" fmla="*/ 75 h 625"/>
                  <a:gd name="T2" fmla="*/ 126 w 773"/>
                  <a:gd name="T3" fmla="*/ 75 h 625"/>
                  <a:gd name="T4" fmla="*/ 64 w 773"/>
                  <a:gd name="T5" fmla="*/ 0 h 625"/>
                  <a:gd name="T6" fmla="*/ 0 w 773"/>
                  <a:gd name="T7" fmla="*/ 75 h 625"/>
                  <a:gd name="T8" fmla="*/ 0 60000 65536"/>
                  <a:gd name="T9" fmla="*/ 0 60000 65536"/>
                  <a:gd name="T10" fmla="*/ 0 60000 65536"/>
                  <a:gd name="T11" fmla="*/ 0 60000 65536"/>
                  <a:gd name="T12" fmla="*/ 0 w 773"/>
                  <a:gd name="T13" fmla="*/ 0 h 625"/>
                  <a:gd name="T14" fmla="*/ 773 w 773"/>
                  <a:gd name="T15" fmla="*/ 625 h 625"/>
                </a:gdLst>
                <a:ahLst/>
                <a:cxnLst>
                  <a:cxn ang="T8">
                    <a:pos x="T0" y="T1"/>
                  </a:cxn>
                  <a:cxn ang="T9">
                    <a:pos x="T2" y="T3"/>
                  </a:cxn>
                  <a:cxn ang="T10">
                    <a:pos x="T4" y="T5"/>
                  </a:cxn>
                  <a:cxn ang="T11">
                    <a:pos x="T6" y="T7"/>
                  </a:cxn>
                </a:cxnLst>
                <a:rect l="T12" t="T13" r="T14" b="T15"/>
                <a:pathLst>
                  <a:path w="773" h="625">
                    <a:moveTo>
                      <a:pt x="0" y="624"/>
                    </a:moveTo>
                    <a:lnTo>
                      <a:pt x="772" y="624"/>
                    </a:lnTo>
                    <a:lnTo>
                      <a:pt x="387" y="0"/>
                    </a:lnTo>
                    <a:lnTo>
                      <a:pt x="0" y="624"/>
                    </a:lnTo>
                  </a:path>
                </a:pathLst>
              </a:custGeom>
              <a:gradFill rotWithShape="0">
                <a:gsLst>
                  <a:gs pos="0">
                    <a:srgbClr val="9EC5FF"/>
                  </a:gs>
                  <a:gs pos="100000">
                    <a:srgbClr val="0066FF"/>
                  </a:gs>
                </a:gsLst>
                <a:lin ang="2700000" scaled="1"/>
              </a:gradFill>
              <a:ln w="12700" cap="rnd">
                <a:noFill/>
                <a:round/>
                <a:headEnd/>
                <a:tailEnd/>
              </a:ln>
            </p:spPr>
            <p:txBody>
              <a:bodyPr/>
              <a:lstStyle/>
              <a:p>
                <a:endParaRPr lang="zh-CN" altLang="en-US"/>
              </a:p>
            </p:txBody>
          </p:sp>
        </p:grpSp>
      </p:grpSp>
      <p:sp>
        <p:nvSpPr>
          <p:cNvPr id="103" name="Text Box 19"/>
          <p:cNvSpPr txBox="1">
            <a:spLocks noChangeArrowheads="1"/>
          </p:cNvSpPr>
          <p:nvPr/>
        </p:nvSpPr>
        <p:spPr bwMode="black">
          <a:xfrm>
            <a:off x="4572000" y="5900738"/>
            <a:ext cx="1825625" cy="584200"/>
          </a:xfrm>
          <a:prstGeom prst="rect">
            <a:avLst/>
          </a:prstGeom>
          <a:noFill/>
          <a:ln w="9525">
            <a:noFill/>
            <a:miter lim="800000"/>
            <a:headEnd/>
            <a:tailEnd/>
          </a:ln>
        </p:spPr>
        <p:txBody>
          <a:bodyPr wrap="none">
            <a:spAutoFit/>
          </a:bodyPr>
          <a:lstStyle/>
          <a:p>
            <a:pPr eaLnBrk="0" hangingPunct="0">
              <a:defRPr/>
            </a:pPr>
            <a:r>
              <a:rPr lang="zh-CN" altLang="en-US" sz="3200" b="1" dirty="0">
                <a:solidFill>
                  <a:schemeClr val="bg1"/>
                </a:solidFill>
                <a:latin typeface="+mj-ea"/>
                <a:ea typeface="+mj-ea"/>
              </a:rPr>
              <a:t>一个中心</a:t>
            </a:r>
            <a:endParaRPr lang="en-US" altLang="zh-CN" sz="3200" b="1" dirty="0">
              <a:solidFill>
                <a:schemeClr val="bg1"/>
              </a:solidFill>
              <a:latin typeface="+mj-ea"/>
              <a:ea typeface="+mj-ea"/>
            </a:endParaRPr>
          </a:p>
        </p:txBody>
      </p:sp>
      <p:sp>
        <p:nvSpPr>
          <p:cNvPr id="112" name="Text Box 18"/>
          <p:cNvSpPr txBox="1">
            <a:spLocks noChangeArrowheads="1"/>
          </p:cNvSpPr>
          <p:nvPr/>
        </p:nvSpPr>
        <p:spPr bwMode="black">
          <a:xfrm>
            <a:off x="4643438" y="2500306"/>
            <a:ext cx="1415772" cy="830997"/>
          </a:xfrm>
          <a:prstGeom prst="rect">
            <a:avLst/>
          </a:prstGeom>
          <a:noFill/>
          <a:ln w="9525">
            <a:noFill/>
            <a:miter lim="800000"/>
            <a:headEnd/>
            <a:tailEnd/>
          </a:ln>
        </p:spPr>
        <p:txBody>
          <a:bodyPr wrap="none">
            <a:spAutoFit/>
          </a:bodyPr>
          <a:lstStyle/>
          <a:p>
            <a:pPr algn="ctr" eaLnBrk="0" hangingPunct="0">
              <a:defRPr/>
            </a:pPr>
            <a:r>
              <a:rPr lang="zh-CN" altLang="en-US" sz="2400" b="1" dirty="0">
                <a:latin typeface="+mj-ea"/>
                <a:ea typeface="+mj-ea"/>
              </a:rPr>
              <a:t>十项</a:t>
            </a:r>
            <a:endParaRPr lang="en-US" altLang="zh-CN" sz="2400" b="1" dirty="0">
              <a:latin typeface="+mj-ea"/>
              <a:ea typeface="+mj-ea"/>
            </a:endParaRPr>
          </a:p>
          <a:p>
            <a:pPr algn="ctr" eaLnBrk="0" hangingPunct="0">
              <a:defRPr/>
            </a:pPr>
            <a:r>
              <a:rPr lang="zh-CN" altLang="en-US" sz="2400" b="1" dirty="0">
                <a:latin typeface="+mj-ea"/>
                <a:ea typeface="+mj-ea"/>
              </a:rPr>
              <a:t>应用工程</a:t>
            </a:r>
            <a:endParaRPr lang="en-US" altLang="zh-CN" sz="2400" b="1" dirty="0">
              <a:latin typeface="+mj-ea"/>
              <a:ea typeface="+mj-ea"/>
            </a:endParaRPr>
          </a:p>
        </p:txBody>
      </p:sp>
      <p:sp>
        <p:nvSpPr>
          <p:cNvPr id="113" name="Text Box 19"/>
          <p:cNvSpPr txBox="1">
            <a:spLocks noChangeArrowheads="1"/>
          </p:cNvSpPr>
          <p:nvPr/>
        </p:nvSpPr>
        <p:spPr bwMode="black">
          <a:xfrm>
            <a:off x="4716463" y="5035550"/>
            <a:ext cx="1722437" cy="461963"/>
          </a:xfrm>
          <a:prstGeom prst="rect">
            <a:avLst/>
          </a:prstGeom>
          <a:noFill/>
          <a:ln w="9525">
            <a:noFill/>
            <a:miter lim="800000"/>
            <a:headEnd/>
            <a:tailEnd/>
          </a:ln>
        </p:spPr>
        <p:txBody>
          <a:bodyPr wrap="none">
            <a:spAutoFit/>
          </a:bodyPr>
          <a:lstStyle/>
          <a:p>
            <a:pPr eaLnBrk="0" hangingPunct="0">
              <a:defRPr/>
            </a:pPr>
            <a:r>
              <a:rPr lang="zh-CN" altLang="en-US" sz="2400" b="1" dirty="0">
                <a:solidFill>
                  <a:schemeClr val="bg1"/>
                </a:solidFill>
                <a:latin typeface="+mj-ea"/>
                <a:ea typeface="+mj-ea"/>
              </a:rPr>
              <a:t>三大基础库</a:t>
            </a:r>
            <a:endParaRPr lang="en-US" altLang="zh-CN" sz="2400" b="1" dirty="0">
              <a:solidFill>
                <a:schemeClr val="bg1"/>
              </a:solidFill>
              <a:latin typeface="+mj-ea"/>
              <a:ea typeface="+mj-ea"/>
            </a:endParaRPr>
          </a:p>
        </p:txBody>
      </p:sp>
      <p:sp>
        <p:nvSpPr>
          <p:cNvPr id="114" name="Text Box 19"/>
          <p:cNvSpPr txBox="1">
            <a:spLocks noChangeArrowheads="1"/>
          </p:cNvSpPr>
          <p:nvPr/>
        </p:nvSpPr>
        <p:spPr bwMode="black">
          <a:xfrm>
            <a:off x="4787900" y="3884613"/>
            <a:ext cx="1416050" cy="460375"/>
          </a:xfrm>
          <a:prstGeom prst="rect">
            <a:avLst/>
          </a:prstGeom>
          <a:noFill/>
          <a:ln w="9525">
            <a:noFill/>
            <a:miter lim="800000"/>
            <a:headEnd/>
            <a:tailEnd/>
          </a:ln>
        </p:spPr>
        <p:txBody>
          <a:bodyPr wrap="none">
            <a:spAutoFit/>
          </a:bodyPr>
          <a:lstStyle/>
          <a:p>
            <a:pPr eaLnBrk="0" hangingPunct="0">
              <a:defRPr/>
            </a:pPr>
            <a:r>
              <a:rPr lang="zh-CN" altLang="en-US" sz="2400" b="1" dirty="0">
                <a:solidFill>
                  <a:schemeClr val="bg1"/>
                </a:solidFill>
                <a:latin typeface="+mj-ea"/>
                <a:ea typeface="+mj-ea"/>
              </a:rPr>
              <a:t>两大平台</a:t>
            </a:r>
            <a:endParaRPr lang="en-US" altLang="zh-CN" sz="2400" b="1" dirty="0">
              <a:solidFill>
                <a:schemeClr val="bg1"/>
              </a:solidFill>
              <a:latin typeface="+mj-ea"/>
              <a:ea typeface="+mj-ea"/>
            </a:endParaRPr>
          </a:p>
        </p:txBody>
      </p:sp>
      <p:sp>
        <p:nvSpPr>
          <p:cNvPr id="118" name="Text Box 10"/>
          <p:cNvSpPr txBox="1">
            <a:spLocks noChangeArrowheads="1"/>
          </p:cNvSpPr>
          <p:nvPr/>
        </p:nvSpPr>
        <p:spPr bwMode="auto">
          <a:xfrm>
            <a:off x="250825" y="5670550"/>
            <a:ext cx="1724025" cy="830263"/>
          </a:xfrm>
          <a:prstGeom prst="rect">
            <a:avLst/>
          </a:prstGeom>
          <a:noFill/>
          <a:ln w="9525" algn="ctr">
            <a:noFill/>
            <a:miter lim="800000"/>
            <a:headEnd/>
            <a:tailEnd/>
          </a:ln>
          <a:effectLst>
            <a:outerShdw dist="12700" dir="5400000" algn="ctr" rotWithShape="0">
              <a:schemeClr val="tx1"/>
            </a:outerShdw>
          </a:effectLst>
        </p:spPr>
        <p:txBody>
          <a:bodyPr wrap="none">
            <a:spAutoFit/>
          </a:bodyPr>
          <a:lstStyle/>
          <a:p>
            <a:pPr latinLnBrk="1"/>
            <a:r>
              <a:rPr kumimoji="1" lang="zh-CN" altLang="en-US" sz="2400" b="1" dirty="0">
                <a:solidFill>
                  <a:srgbClr val="C00000"/>
                </a:solidFill>
                <a:latin typeface="微软雅黑" pitchFamily="34" charset="-122"/>
                <a:ea typeface="微软雅黑" pitchFamily="34" charset="-122"/>
              </a:rPr>
              <a:t>智慧城市</a:t>
            </a:r>
            <a:endParaRPr kumimoji="1" lang="en-US" altLang="zh-CN" sz="2400" b="1" dirty="0">
              <a:solidFill>
                <a:srgbClr val="C00000"/>
              </a:solidFill>
              <a:latin typeface="微软雅黑" pitchFamily="34" charset="-122"/>
              <a:ea typeface="微软雅黑" pitchFamily="34" charset="-122"/>
            </a:endParaRPr>
          </a:p>
          <a:p>
            <a:pPr latinLnBrk="1"/>
            <a:r>
              <a:rPr kumimoji="1" lang="zh-CN" altLang="en-US" sz="2400" b="1" dirty="0">
                <a:solidFill>
                  <a:srgbClr val="C00000"/>
                </a:solidFill>
                <a:latin typeface="微软雅黑" pitchFamily="34" charset="-122"/>
                <a:ea typeface="微软雅黑" pitchFamily="34" charset="-122"/>
              </a:rPr>
              <a:t>云计算中心</a:t>
            </a:r>
            <a:endParaRPr kumimoji="1" lang="en-US" altLang="ko-KR" sz="2400" b="1" dirty="0">
              <a:solidFill>
                <a:srgbClr val="C00000"/>
              </a:solidFill>
              <a:latin typeface="微软雅黑" pitchFamily="34" charset="-122"/>
              <a:ea typeface="微软雅黑" pitchFamily="34" charset="-122"/>
            </a:endParaRPr>
          </a:p>
        </p:txBody>
      </p:sp>
      <p:sp>
        <p:nvSpPr>
          <p:cNvPr id="121" name="Text Box 11"/>
          <p:cNvSpPr txBox="1">
            <a:spLocks noChangeArrowheads="1"/>
          </p:cNvSpPr>
          <p:nvPr/>
        </p:nvSpPr>
        <p:spPr bwMode="auto">
          <a:xfrm>
            <a:off x="390525" y="4714875"/>
            <a:ext cx="1724025" cy="830263"/>
          </a:xfrm>
          <a:prstGeom prst="rect">
            <a:avLst/>
          </a:prstGeom>
          <a:noFill/>
          <a:ln w="9525" algn="ctr">
            <a:noFill/>
            <a:miter lim="800000"/>
            <a:headEnd/>
            <a:tailEnd/>
          </a:ln>
          <a:effectLst>
            <a:outerShdw dist="12700" dir="5400000" algn="ctr" rotWithShape="0">
              <a:schemeClr val="tx1"/>
            </a:outerShdw>
          </a:effectLst>
        </p:spPr>
        <p:txBody>
          <a:bodyPr wrap="none">
            <a:spAutoFit/>
          </a:bodyPr>
          <a:lstStyle/>
          <a:p>
            <a:pPr latinLnBrk="1"/>
            <a:r>
              <a:rPr kumimoji="1" lang="zh-CN" altLang="en-US" sz="2400" b="1">
                <a:solidFill>
                  <a:srgbClr val="00B050"/>
                </a:solidFill>
                <a:latin typeface="微软雅黑" pitchFamily="34" charset="-122"/>
                <a:ea typeface="微软雅黑" pitchFamily="34" charset="-122"/>
              </a:rPr>
              <a:t>人口、法人</a:t>
            </a:r>
            <a:endParaRPr kumimoji="1" lang="en-US" altLang="zh-CN" sz="2400" b="1">
              <a:solidFill>
                <a:srgbClr val="00B050"/>
              </a:solidFill>
              <a:latin typeface="微软雅黑" pitchFamily="34" charset="-122"/>
              <a:ea typeface="微软雅黑" pitchFamily="34" charset="-122"/>
            </a:endParaRPr>
          </a:p>
          <a:p>
            <a:pPr latinLnBrk="1"/>
            <a:r>
              <a:rPr kumimoji="1" lang="zh-CN" altLang="en-US" sz="2400" b="1">
                <a:solidFill>
                  <a:srgbClr val="00B050"/>
                </a:solidFill>
                <a:latin typeface="微软雅黑" pitchFamily="34" charset="-122"/>
                <a:ea typeface="微软雅黑" pitchFamily="34" charset="-122"/>
              </a:rPr>
              <a:t>地理信息库</a:t>
            </a:r>
            <a:endParaRPr kumimoji="1" lang="en-US" altLang="ko-KR" sz="2400" b="1">
              <a:solidFill>
                <a:srgbClr val="00B050"/>
              </a:solidFill>
              <a:latin typeface="微软雅黑" pitchFamily="34" charset="-122"/>
              <a:ea typeface="微软雅黑" pitchFamily="34" charset="-122"/>
            </a:endParaRPr>
          </a:p>
        </p:txBody>
      </p:sp>
      <p:sp>
        <p:nvSpPr>
          <p:cNvPr id="122" name="Text Box 12"/>
          <p:cNvSpPr txBox="1">
            <a:spLocks noChangeArrowheads="1"/>
          </p:cNvSpPr>
          <p:nvPr/>
        </p:nvSpPr>
        <p:spPr bwMode="auto">
          <a:xfrm>
            <a:off x="285750" y="3638550"/>
            <a:ext cx="3354388" cy="830263"/>
          </a:xfrm>
          <a:prstGeom prst="rect">
            <a:avLst/>
          </a:prstGeom>
          <a:noFill/>
          <a:ln w="9525" algn="ctr">
            <a:noFill/>
            <a:miter lim="800000"/>
            <a:headEnd/>
            <a:tailEnd/>
          </a:ln>
          <a:effectLst>
            <a:outerShdw dist="12700" dir="5400000" algn="ctr" rotWithShape="0">
              <a:schemeClr val="tx1"/>
            </a:outerShdw>
          </a:effectLst>
        </p:spPr>
        <p:txBody>
          <a:bodyPr wrap="none">
            <a:spAutoFit/>
          </a:bodyPr>
          <a:lstStyle/>
          <a:p>
            <a:pPr latinLnBrk="1"/>
            <a:r>
              <a:rPr kumimoji="1" lang="en-US" altLang="zh-CN" sz="2400" b="1" dirty="0">
                <a:solidFill>
                  <a:srgbClr val="C00000"/>
                </a:solidFill>
                <a:latin typeface="微软雅黑" pitchFamily="34" charset="-122"/>
                <a:ea typeface="微软雅黑" pitchFamily="34" charset="-122"/>
              </a:rPr>
              <a:t> </a:t>
            </a:r>
            <a:r>
              <a:rPr kumimoji="1" lang="zh-CN" altLang="zh-CN" sz="2400" b="1" dirty="0">
                <a:solidFill>
                  <a:srgbClr val="C00000"/>
                </a:solidFill>
                <a:latin typeface="微软雅黑" pitchFamily="34" charset="-122"/>
                <a:ea typeface="微软雅黑" pitchFamily="34" charset="-122"/>
              </a:rPr>
              <a:t>智慧城市应用支撑平台</a:t>
            </a:r>
            <a:endParaRPr kumimoji="1" lang="en-US" altLang="zh-CN" sz="2400" b="1" dirty="0">
              <a:solidFill>
                <a:srgbClr val="C00000"/>
              </a:solidFill>
              <a:latin typeface="微软雅黑" pitchFamily="34" charset="-122"/>
              <a:ea typeface="微软雅黑" pitchFamily="34" charset="-122"/>
            </a:endParaRPr>
          </a:p>
          <a:p>
            <a:pPr latinLnBrk="1"/>
            <a:r>
              <a:rPr kumimoji="1" lang="en-US" altLang="zh-CN" sz="2400" b="1" dirty="0">
                <a:solidFill>
                  <a:srgbClr val="C00000"/>
                </a:solidFill>
                <a:latin typeface="微软雅黑" pitchFamily="34" charset="-122"/>
                <a:ea typeface="微软雅黑" pitchFamily="34" charset="-122"/>
              </a:rPr>
              <a:t> </a:t>
            </a:r>
            <a:r>
              <a:rPr kumimoji="1" lang="zh-CN" altLang="en-US" sz="2400" b="1" dirty="0">
                <a:solidFill>
                  <a:srgbClr val="C00000"/>
                </a:solidFill>
                <a:latin typeface="微软雅黑" pitchFamily="34" charset="-122"/>
                <a:ea typeface="微软雅黑" pitchFamily="34" charset="-122"/>
              </a:rPr>
              <a:t>智慧城市公共信息</a:t>
            </a:r>
            <a:r>
              <a:rPr kumimoji="1" lang="zh-CN" altLang="zh-CN" sz="2400" b="1" dirty="0">
                <a:solidFill>
                  <a:srgbClr val="C00000"/>
                </a:solidFill>
                <a:latin typeface="微软雅黑" pitchFamily="34" charset="-122"/>
                <a:ea typeface="微软雅黑" pitchFamily="34" charset="-122"/>
              </a:rPr>
              <a:t>平台</a:t>
            </a:r>
            <a:endParaRPr kumimoji="1" lang="zh-CN" altLang="en-US" sz="2400" b="1" dirty="0">
              <a:solidFill>
                <a:srgbClr val="C00000"/>
              </a:solidFill>
              <a:latin typeface="微软雅黑" pitchFamily="34" charset="-122"/>
              <a:ea typeface="微软雅黑" pitchFamily="34" charset="-122"/>
            </a:endParaRPr>
          </a:p>
        </p:txBody>
      </p:sp>
      <p:sp>
        <p:nvSpPr>
          <p:cNvPr id="123" name="TextBox 1"/>
          <p:cNvSpPr txBox="1">
            <a:spLocks noChangeArrowheads="1"/>
          </p:cNvSpPr>
          <p:nvPr/>
        </p:nvSpPr>
        <p:spPr bwMode="auto">
          <a:xfrm>
            <a:off x="-71438" y="1785938"/>
            <a:ext cx="5427663" cy="1708160"/>
          </a:xfrm>
          <a:prstGeom prst="rect">
            <a:avLst/>
          </a:prstGeom>
          <a:noFill/>
          <a:ln w="9525">
            <a:noFill/>
            <a:miter lim="800000"/>
            <a:headEnd/>
            <a:tailEnd/>
          </a:ln>
        </p:spPr>
        <p:txBody>
          <a:bodyPr>
            <a:spAutoFit/>
          </a:bodyPr>
          <a:lstStyle/>
          <a:p>
            <a:pPr lvl="1" latinLnBrk="1">
              <a:lnSpc>
                <a:spcPct val="150000"/>
              </a:lnSpc>
            </a:pPr>
            <a:r>
              <a:rPr kumimoji="1" lang="zh-CN" altLang="en-US" b="1" dirty="0">
                <a:solidFill>
                  <a:srgbClr val="C00000"/>
                </a:solidFill>
                <a:latin typeface="微软雅黑" pitchFamily="34" charset="-122"/>
                <a:ea typeface="微软雅黑" pitchFamily="34" charset="-122"/>
              </a:rPr>
              <a:t>数字城管、智慧政务</a:t>
            </a:r>
            <a:r>
              <a:rPr kumimoji="1" lang="zh-CN" altLang="zh-CN" b="1" dirty="0">
                <a:solidFill>
                  <a:srgbClr val="C00000"/>
                </a:solidFill>
                <a:latin typeface="微软雅黑" pitchFamily="34" charset="-122"/>
                <a:ea typeface="微软雅黑" pitchFamily="34" charset="-122"/>
              </a:rPr>
              <a:t>、智慧社区</a:t>
            </a:r>
            <a:r>
              <a:rPr kumimoji="1" lang="zh-CN" altLang="en-US" b="1" dirty="0">
                <a:solidFill>
                  <a:srgbClr val="C00000"/>
                </a:solidFill>
                <a:latin typeface="微软雅黑" pitchFamily="34" charset="-122"/>
                <a:ea typeface="微软雅黑" pitchFamily="34" charset="-122"/>
              </a:rPr>
              <a:t>、</a:t>
            </a:r>
            <a:r>
              <a:rPr kumimoji="1" lang="zh-CN" altLang="zh-CN" b="1" dirty="0">
                <a:solidFill>
                  <a:srgbClr val="C00000"/>
                </a:solidFill>
                <a:latin typeface="微软雅黑" pitchFamily="34" charset="-122"/>
                <a:ea typeface="微软雅黑" pitchFamily="34" charset="-122"/>
              </a:rPr>
              <a:t>智慧</a:t>
            </a:r>
            <a:r>
              <a:rPr kumimoji="1" lang="zh-CN" altLang="en-US" b="1" dirty="0">
                <a:solidFill>
                  <a:srgbClr val="C00000"/>
                </a:solidFill>
                <a:latin typeface="微软雅黑" pitchFamily="34" charset="-122"/>
                <a:ea typeface="微软雅黑" pitchFamily="34" charset="-122"/>
              </a:rPr>
              <a:t>教育</a:t>
            </a:r>
            <a:endParaRPr kumimoji="1" lang="en-US" altLang="zh-CN" b="1" dirty="0">
              <a:solidFill>
                <a:srgbClr val="C00000"/>
              </a:solidFill>
              <a:latin typeface="微软雅黑" pitchFamily="34" charset="-122"/>
              <a:ea typeface="微软雅黑" pitchFamily="34" charset="-122"/>
            </a:endParaRPr>
          </a:p>
          <a:p>
            <a:pPr lvl="1" latinLnBrk="1">
              <a:lnSpc>
                <a:spcPct val="150000"/>
              </a:lnSpc>
            </a:pPr>
            <a:r>
              <a:rPr kumimoji="1" lang="zh-CN" altLang="en-US" b="1" dirty="0">
                <a:solidFill>
                  <a:srgbClr val="C00000"/>
                </a:solidFill>
                <a:latin typeface="微软雅黑" pitchFamily="34" charset="-122"/>
                <a:ea typeface="微软雅黑" pitchFamily="34" charset="-122"/>
              </a:rPr>
              <a:t>智慧环保、智慧旅游、智慧交通</a:t>
            </a:r>
            <a:endParaRPr kumimoji="1" lang="en-US" altLang="zh-CN" b="1" dirty="0">
              <a:solidFill>
                <a:srgbClr val="C00000"/>
              </a:solidFill>
              <a:latin typeface="微软雅黑" pitchFamily="34" charset="-122"/>
              <a:ea typeface="微软雅黑" pitchFamily="34" charset="-122"/>
            </a:endParaRPr>
          </a:p>
          <a:p>
            <a:pPr lvl="1" latinLnBrk="1">
              <a:lnSpc>
                <a:spcPct val="150000"/>
              </a:lnSpc>
            </a:pPr>
            <a:r>
              <a:rPr kumimoji="1" lang="zh-CN" altLang="zh-CN" b="1" dirty="0">
                <a:solidFill>
                  <a:srgbClr val="C00000"/>
                </a:solidFill>
                <a:latin typeface="微软雅黑" pitchFamily="34" charset="-122"/>
                <a:ea typeface="微软雅黑" pitchFamily="34" charset="-122"/>
              </a:rPr>
              <a:t>智</a:t>
            </a:r>
            <a:r>
              <a:rPr kumimoji="1" lang="zh-CN" altLang="en-US" b="1" dirty="0">
                <a:solidFill>
                  <a:srgbClr val="C00000"/>
                </a:solidFill>
                <a:latin typeface="微软雅黑" pitchFamily="34" charset="-122"/>
                <a:ea typeface="微软雅黑" pitchFamily="34" charset="-122"/>
              </a:rPr>
              <a:t>慧医疗</a:t>
            </a:r>
            <a:r>
              <a:rPr kumimoji="1" lang="zh-CN" altLang="zh-CN" b="1" dirty="0">
                <a:solidFill>
                  <a:srgbClr val="C00000"/>
                </a:solidFill>
                <a:latin typeface="微软雅黑" pitchFamily="34" charset="-122"/>
                <a:ea typeface="微软雅黑" pitchFamily="34" charset="-122"/>
              </a:rPr>
              <a:t>、</a:t>
            </a:r>
            <a:r>
              <a:rPr kumimoji="1" lang="zh-CN" altLang="en-US" b="1" dirty="0">
                <a:solidFill>
                  <a:srgbClr val="C00000"/>
                </a:solidFill>
                <a:latin typeface="微软雅黑" pitchFamily="34" charset="-122"/>
                <a:ea typeface="微软雅黑" pitchFamily="34" charset="-122"/>
              </a:rPr>
              <a:t>智慧能源、智慧建设</a:t>
            </a:r>
          </a:p>
          <a:p>
            <a:endParaRPr lang="zh-CN" altLang="en-US" sz="2400" dirty="0"/>
          </a:p>
        </p:txBody>
      </p:sp>
      <p:sp>
        <p:nvSpPr>
          <p:cNvPr id="124" name="Line 12"/>
          <p:cNvSpPr>
            <a:spLocks noChangeShapeType="1"/>
          </p:cNvSpPr>
          <p:nvPr/>
        </p:nvSpPr>
        <p:spPr bwMode="black">
          <a:xfrm>
            <a:off x="331788" y="1628775"/>
            <a:ext cx="0" cy="1943100"/>
          </a:xfrm>
          <a:prstGeom prst="line">
            <a:avLst/>
          </a:prstGeom>
          <a:noFill/>
          <a:ln w="9525">
            <a:solidFill>
              <a:schemeClr val="tx2"/>
            </a:solidFill>
            <a:round/>
            <a:headEnd type="triangle" w="med" len="med"/>
            <a:tailEnd type="triangle" w="med" len="med"/>
          </a:ln>
        </p:spPr>
        <p:txBody>
          <a:bodyPr wrap="none" anchor="ctr"/>
          <a:lstStyle/>
          <a:p>
            <a:endParaRPr lang="zh-CN" altLang="en-US"/>
          </a:p>
        </p:txBody>
      </p:sp>
    </p:spTree>
    <p:extLst>
      <p:ext uri="{BB962C8B-B14F-4D97-AF65-F5344CB8AC3E}">
        <p14:creationId xmlns:p14="http://schemas.microsoft.com/office/powerpoint/2010/main" val="3038797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智慧城市逻辑架构</a:t>
            </a:r>
            <a:endParaRPr lang="zh-CN" altLang="en-US" dirty="0"/>
          </a:p>
        </p:txBody>
      </p:sp>
      <p:sp>
        <p:nvSpPr>
          <p:cNvPr id="4" name="灯片编号占位符 3"/>
          <p:cNvSpPr>
            <a:spLocks noGrp="1"/>
          </p:cNvSpPr>
          <p:nvPr>
            <p:ph type="sldNum" sz="quarter" idx="12"/>
          </p:nvPr>
        </p:nvSpPr>
        <p:spPr/>
        <p:txBody>
          <a:bodyPr/>
          <a:lstStyle/>
          <a:p>
            <a:fld id="{BD61978C-FD3D-4268-8D6C-034E9AD544A3}" type="slidenum">
              <a:rPr lang="en-US" altLang="zh-CN" smtClean="0"/>
              <a:pPr/>
              <a:t>6</a:t>
            </a:fld>
            <a:endParaRPr lang="en-US" altLang="zh-CN"/>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463" y="838200"/>
            <a:ext cx="8601075" cy="532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4076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梯形 17"/>
          <p:cNvSpPr/>
          <p:nvPr/>
        </p:nvSpPr>
        <p:spPr>
          <a:xfrm rot="10800000">
            <a:off x="165099" y="4402460"/>
            <a:ext cx="8864939" cy="626739"/>
          </a:xfrm>
          <a:prstGeom prst="trapezoid">
            <a:avLst>
              <a:gd name="adj" fmla="val 362979"/>
            </a:avLst>
          </a:prstGeom>
          <a:solidFill>
            <a:schemeClr val="bg1">
              <a:lumMod val="85000"/>
            </a:schemeClr>
          </a:solidFill>
          <a:ln>
            <a:solidFill>
              <a:schemeClr val="bg1">
                <a:lumMod val="85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9" name="矩形 18"/>
          <p:cNvSpPr/>
          <p:nvPr/>
        </p:nvSpPr>
        <p:spPr>
          <a:xfrm>
            <a:off x="125846" y="1424148"/>
            <a:ext cx="2008909" cy="3109752"/>
          </a:xfrm>
          <a:prstGeom prst="rect">
            <a:avLst/>
          </a:prstGeom>
          <a:no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2" name="标题 1"/>
          <p:cNvSpPr>
            <a:spLocks noGrp="1"/>
          </p:cNvSpPr>
          <p:nvPr>
            <p:ph type="title"/>
          </p:nvPr>
        </p:nvSpPr>
        <p:spPr>
          <a:xfrm>
            <a:off x="304800" y="352425"/>
            <a:ext cx="8610600" cy="561975"/>
          </a:xfrm>
        </p:spPr>
        <p:txBody>
          <a:bodyPr/>
          <a:lstStyle/>
          <a:p>
            <a:r>
              <a:rPr lang="zh-CN" altLang="en-US" dirty="0"/>
              <a:t>如何解决城市数据分散在不同部门的系统里？</a:t>
            </a:r>
          </a:p>
        </p:txBody>
      </p:sp>
      <p:sp>
        <p:nvSpPr>
          <p:cNvPr id="4" name="灯片编号占位符 3"/>
          <p:cNvSpPr>
            <a:spLocks noGrp="1"/>
          </p:cNvSpPr>
          <p:nvPr>
            <p:ph type="sldNum" sz="quarter" idx="12"/>
          </p:nvPr>
        </p:nvSpPr>
        <p:spPr/>
        <p:txBody>
          <a:bodyPr/>
          <a:lstStyle/>
          <a:p>
            <a:fld id="{BD61978C-FD3D-4268-8D6C-034E9AD544A3}" type="slidenum">
              <a:rPr lang="en-US" altLang="zh-CN" smtClean="0"/>
              <a:pPr/>
              <a:t>7</a:t>
            </a:fld>
            <a:endParaRPr lang="en-US" altLang="zh-CN"/>
          </a:p>
        </p:txBody>
      </p:sp>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142" y="2473008"/>
            <a:ext cx="542505" cy="421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云形 4"/>
          <p:cNvSpPr/>
          <p:nvPr/>
        </p:nvSpPr>
        <p:spPr>
          <a:xfrm>
            <a:off x="196164" y="2037108"/>
            <a:ext cx="1233264" cy="294409"/>
          </a:xfrm>
          <a:prstGeom prst="cloud">
            <a:avLst/>
          </a:prstGeom>
          <a:solidFill>
            <a:schemeClr val="accent6">
              <a:lumMod val="40000"/>
              <a:lumOff val="60000"/>
            </a:schemeClr>
          </a:solidFill>
          <a:ln w="3175">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pic>
        <p:nvPicPr>
          <p:cNvPr id="4101"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0327" y="3012989"/>
            <a:ext cx="964307" cy="940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227" y="3870396"/>
            <a:ext cx="901267" cy="41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4027" y="2877645"/>
            <a:ext cx="512866" cy="341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4"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6444" y="1712231"/>
            <a:ext cx="521541" cy="211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7199" y="1719553"/>
            <a:ext cx="466242" cy="21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604118" y="1412789"/>
            <a:ext cx="1066644" cy="251817"/>
          </a:xfrm>
          <a:prstGeom prst="rect">
            <a:avLst/>
          </a:prstGeom>
          <a:noFill/>
        </p:spPr>
        <p:txBody>
          <a:bodyPr wrap="square" rtlCol="0">
            <a:spAutoFit/>
          </a:bodyPr>
          <a:lstStyle/>
          <a:p>
            <a:r>
              <a:rPr lang="zh-CN" altLang="en-US" sz="1200" b="1" dirty="0">
                <a:latin typeface="+mn-ea"/>
                <a:ea typeface="+mn-ea"/>
              </a:rPr>
              <a:t>外部用户</a:t>
            </a:r>
          </a:p>
        </p:txBody>
      </p:sp>
      <p:sp>
        <p:nvSpPr>
          <p:cNvPr id="15" name="TextBox 14"/>
          <p:cNvSpPr txBox="1"/>
          <p:nvPr/>
        </p:nvSpPr>
        <p:spPr>
          <a:xfrm>
            <a:off x="1447800" y="3160294"/>
            <a:ext cx="1066644" cy="251817"/>
          </a:xfrm>
          <a:prstGeom prst="rect">
            <a:avLst/>
          </a:prstGeom>
          <a:noFill/>
        </p:spPr>
        <p:txBody>
          <a:bodyPr wrap="square" rtlCol="0">
            <a:spAutoFit/>
          </a:bodyPr>
          <a:lstStyle/>
          <a:p>
            <a:r>
              <a:rPr lang="zh-CN" altLang="en-US" sz="1200" b="1" dirty="0">
                <a:latin typeface="+mn-ea"/>
                <a:ea typeface="+mn-ea"/>
              </a:rPr>
              <a:t>内部用户</a:t>
            </a:r>
          </a:p>
        </p:txBody>
      </p:sp>
      <p:sp>
        <p:nvSpPr>
          <p:cNvPr id="16" name="TextBox 15"/>
          <p:cNvSpPr txBox="1"/>
          <p:nvPr/>
        </p:nvSpPr>
        <p:spPr>
          <a:xfrm>
            <a:off x="1221731" y="3470189"/>
            <a:ext cx="1066644" cy="251817"/>
          </a:xfrm>
          <a:prstGeom prst="rect">
            <a:avLst/>
          </a:prstGeom>
          <a:noFill/>
        </p:spPr>
        <p:txBody>
          <a:bodyPr wrap="square" rtlCol="0">
            <a:spAutoFit/>
          </a:bodyPr>
          <a:lstStyle/>
          <a:p>
            <a:r>
              <a:rPr lang="zh-CN" altLang="en-US" sz="1200" b="1" dirty="0">
                <a:latin typeface="+mn-ea"/>
                <a:ea typeface="+mn-ea"/>
              </a:rPr>
              <a:t>服务器集群</a:t>
            </a:r>
          </a:p>
        </p:txBody>
      </p:sp>
      <p:cxnSp>
        <p:nvCxnSpPr>
          <p:cNvPr id="8" name="直接箭头连接符 7"/>
          <p:cNvCxnSpPr/>
          <p:nvPr/>
        </p:nvCxnSpPr>
        <p:spPr bwMode="auto">
          <a:xfrm>
            <a:off x="863599" y="1944241"/>
            <a:ext cx="1" cy="2135548"/>
          </a:xfrm>
          <a:prstGeom prst="straightConnector1">
            <a:avLst/>
          </a:prstGeom>
          <a:ln w="57150">
            <a:solidFill>
              <a:srgbClr val="FF0000"/>
            </a:solidFill>
            <a:headEnd type="triangle" w="med" len="med"/>
            <a:tailEnd type="triangle" w="med" len="med"/>
          </a:ln>
        </p:spPr>
        <p:style>
          <a:lnRef idx="3">
            <a:schemeClr val="accent2"/>
          </a:lnRef>
          <a:fillRef idx="0">
            <a:schemeClr val="accent2"/>
          </a:fillRef>
          <a:effectRef idx="2">
            <a:schemeClr val="accent2"/>
          </a:effectRef>
          <a:fontRef idx="minor">
            <a:schemeClr val="tx1"/>
          </a:fontRef>
        </p:style>
      </p:cxnSp>
      <p:sp>
        <p:nvSpPr>
          <p:cNvPr id="62" name="矩形 61"/>
          <p:cNvSpPr/>
          <p:nvPr/>
        </p:nvSpPr>
        <p:spPr>
          <a:xfrm>
            <a:off x="2424545" y="1408359"/>
            <a:ext cx="2008909" cy="3109752"/>
          </a:xfrm>
          <a:prstGeom prst="rect">
            <a:avLst/>
          </a:prstGeom>
          <a:no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pic>
        <p:nvPicPr>
          <p:cNvPr id="6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841" y="2457219"/>
            <a:ext cx="542505" cy="421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 name="云形 63"/>
          <p:cNvSpPr/>
          <p:nvPr/>
        </p:nvSpPr>
        <p:spPr>
          <a:xfrm>
            <a:off x="2494863" y="2021319"/>
            <a:ext cx="1233264" cy="294409"/>
          </a:xfrm>
          <a:prstGeom prst="cloud">
            <a:avLst/>
          </a:prstGeom>
          <a:solidFill>
            <a:schemeClr val="accent6">
              <a:lumMod val="40000"/>
              <a:lumOff val="60000"/>
            </a:schemeClr>
          </a:solidFill>
          <a:ln w="3175">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pic>
        <p:nvPicPr>
          <p:cNvPr id="65"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19026" y="2997200"/>
            <a:ext cx="964307" cy="940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9926" y="3854607"/>
            <a:ext cx="901267" cy="41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2726" y="2861856"/>
            <a:ext cx="512866" cy="341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8"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5143" y="1696442"/>
            <a:ext cx="521541" cy="211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95898" y="1703764"/>
            <a:ext cx="466242" cy="21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 name="TextBox 69"/>
          <p:cNvSpPr txBox="1"/>
          <p:nvPr/>
        </p:nvSpPr>
        <p:spPr>
          <a:xfrm>
            <a:off x="2902817" y="1397000"/>
            <a:ext cx="1066644" cy="251817"/>
          </a:xfrm>
          <a:prstGeom prst="rect">
            <a:avLst/>
          </a:prstGeom>
          <a:noFill/>
        </p:spPr>
        <p:txBody>
          <a:bodyPr wrap="square" rtlCol="0">
            <a:spAutoFit/>
          </a:bodyPr>
          <a:lstStyle/>
          <a:p>
            <a:r>
              <a:rPr lang="zh-CN" altLang="en-US" sz="1200" b="1" dirty="0">
                <a:latin typeface="+mn-ea"/>
                <a:ea typeface="+mn-ea"/>
              </a:rPr>
              <a:t>外部用户</a:t>
            </a:r>
          </a:p>
        </p:txBody>
      </p:sp>
      <p:sp>
        <p:nvSpPr>
          <p:cNvPr id="71" name="TextBox 70"/>
          <p:cNvSpPr txBox="1"/>
          <p:nvPr/>
        </p:nvSpPr>
        <p:spPr>
          <a:xfrm>
            <a:off x="3733800" y="3157205"/>
            <a:ext cx="1066644" cy="251817"/>
          </a:xfrm>
          <a:prstGeom prst="rect">
            <a:avLst/>
          </a:prstGeom>
          <a:noFill/>
        </p:spPr>
        <p:txBody>
          <a:bodyPr wrap="square" rtlCol="0">
            <a:spAutoFit/>
          </a:bodyPr>
          <a:lstStyle/>
          <a:p>
            <a:r>
              <a:rPr lang="zh-CN" altLang="en-US" sz="1200" b="1" dirty="0">
                <a:latin typeface="+mn-ea"/>
                <a:ea typeface="+mn-ea"/>
              </a:rPr>
              <a:t>内部用户</a:t>
            </a:r>
          </a:p>
        </p:txBody>
      </p:sp>
      <p:sp>
        <p:nvSpPr>
          <p:cNvPr id="72" name="TextBox 71"/>
          <p:cNvSpPr txBox="1"/>
          <p:nvPr/>
        </p:nvSpPr>
        <p:spPr>
          <a:xfrm>
            <a:off x="3520430" y="3454400"/>
            <a:ext cx="1066644" cy="251817"/>
          </a:xfrm>
          <a:prstGeom prst="rect">
            <a:avLst/>
          </a:prstGeom>
          <a:noFill/>
        </p:spPr>
        <p:txBody>
          <a:bodyPr wrap="square" rtlCol="0">
            <a:spAutoFit/>
          </a:bodyPr>
          <a:lstStyle/>
          <a:p>
            <a:r>
              <a:rPr lang="zh-CN" altLang="en-US" sz="1200" b="1" dirty="0">
                <a:latin typeface="+mn-ea"/>
                <a:ea typeface="+mn-ea"/>
              </a:rPr>
              <a:t>服务器集群</a:t>
            </a:r>
          </a:p>
        </p:txBody>
      </p:sp>
      <p:cxnSp>
        <p:nvCxnSpPr>
          <p:cNvPr id="73" name="直接箭头连接符 72"/>
          <p:cNvCxnSpPr/>
          <p:nvPr/>
        </p:nvCxnSpPr>
        <p:spPr bwMode="auto">
          <a:xfrm>
            <a:off x="3162298" y="1928452"/>
            <a:ext cx="1" cy="2135548"/>
          </a:xfrm>
          <a:prstGeom prst="straightConnector1">
            <a:avLst/>
          </a:prstGeom>
          <a:ln w="57150">
            <a:solidFill>
              <a:srgbClr val="FF0000"/>
            </a:solidFill>
            <a:headEnd type="triangle" w="med" len="med"/>
            <a:tailEnd type="triangle" w="med" len="med"/>
          </a:ln>
        </p:spPr>
        <p:style>
          <a:lnRef idx="3">
            <a:schemeClr val="accent2"/>
          </a:lnRef>
          <a:fillRef idx="0">
            <a:schemeClr val="accent2"/>
          </a:fillRef>
          <a:effectRef idx="2">
            <a:schemeClr val="accent2"/>
          </a:effectRef>
          <a:fontRef idx="minor">
            <a:schemeClr val="tx1"/>
          </a:fontRef>
        </p:style>
      </p:cxnSp>
      <p:sp>
        <p:nvSpPr>
          <p:cNvPr id="74" name="矩形 73"/>
          <p:cNvSpPr/>
          <p:nvPr/>
        </p:nvSpPr>
        <p:spPr>
          <a:xfrm>
            <a:off x="4731039" y="1408359"/>
            <a:ext cx="2008909" cy="3109752"/>
          </a:xfrm>
          <a:prstGeom prst="rect">
            <a:avLst/>
          </a:prstGeom>
          <a:no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pic>
        <p:nvPicPr>
          <p:cNvPr id="7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3335" y="2457219"/>
            <a:ext cx="542505" cy="421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6" name="云形 75"/>
          <p:cNvSpPr/>
          <p:nvPr/>
        </p:nvSpPr>
        <p:spPr>
          <a:xfrm>
            <a:off x="4801357" y="2021319"/>
            <a:ext cx="1233264" cy="294409"/>
          </a:xfrm>
          <a:prstGeom prst="cloud">
            <a:avLst/>
          </a:prstGeom>
          <a:solidFill>
            <a:schemeClr val="accent6">
              <a:lumMod val="40000"/>
              <a:lumOff val="60000"/>
            </a:schemeClr>
          </a:solidFill>
          <a:ln w="3175">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pic>
        <p:nvPicPr>
          <p:cNvPr id="77"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25520" y="2997200"/>
            <a:ext cx="964307" cy="940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6420" y="3854607"/>
            <a:ext cx="901267" cy="41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9220" y="2861856"/>
            <a:ext cx="512866" cy="341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1637" y="1696442"/>
            <a:ext cx="521541" cy="211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02392" y="1703764"/>
            <a:ext cx="466242" cy="21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 name="TextBox 81"/>
          <p:cNvSpPr txBox="1"/>
          <p:nvPr/>
        </p:nvSpPr>
        <p:spPr>
          <a:xfrm>
            <a:off x="5209311" y="1397000"/>
            <a:ext cx="1066644" cy="251817"/>
          </a:xfrm>
          <a:prstGeom prst="rect">
            <a:avLst/>
          </a:prstGeom>
          <a:noFill/>
        </p:spPr>
        <p:txBody>
          <a:bodyPr wrap="square" rtlCol="0">
            <a:spAutoFit/>
          </a:bodyPr>
          <a:lstStyle/>
          <a:p>
            <a:r>
              <a:rPr lang="zh-CN" altLang="en-US" sz="1200" b="1" dirty="0">
                <a:latin typeface="+mn-ea"/>
                <a:ea typeface="+mn-ea"/>
              </a:rPr>
              <a:t>外部用户</a:t>
            </a:r>
          </a:p>
        </p:txBody>
      </p:sp>
      <p:sp>
        <p:nvSpPr>
          <p:cNvPr id="83" name="TextBox 82"/>
          <p:cNvSpPr txBox="1"/>
          <p:nvPr/>
        </p:nvSpPr>
        <p:spPr>
          <a:xfrm>
            <a:off x="6019800" y="3157205"/>
            <a:ext cx="1066644" cy="251817"/>
          </a:xfrm>
          <a:prstGeom prst="rect">
            <a:avLst/>
          </a:prstGeom>
          <a:noFill/>
        </p:spPr>
        <p:txBody>
          <a:bodyPr wrap="square" rtlCol="0">
            <a:spAutoFit/>
          </a:bodyPr>
          <a:lstStyle/>
          <a:p>
            <a:r>
              <a:rPr lang="zh-CN" altLang="en-US" sz="1200" b="1" dirty="0">
                <a:latin typeface="+mn-ea"/>
                <a:ea typeface="+mn-ea"/>
              </a:rPr>
              <a:t>内部用户</a:t>
            </a:r>
          </a:p>
        </p:txBody>
      </p:sp>
      <p:sp>
        <p:nvSpPr>
          <p:cNvPr id="84" name="TextBox 83"/>
          <p:cNvSpPr txBox="1"/>
          <p:nvPr/>
        </p:nvSpPr>
        <p:spPr>
          <a:xfrm>
            <a:off x="5826924" y="3454400"/>
            <a:ext cx="1066644" cy="251817"/>
          </a:xfrm>
          <a:prstGeom prst="rect">
            <a:avLst/>
          </a:prstGeom>
          <a:noFill/>
        </p:spPr>
        <p:txBody>
          <a:bodyPr wrap="square" rtlCol="0">
            <a:spAutoFit/>
          </a:bodyPr>
          <a:lstStyle/>
          <a:p>
            <a:r>
              <a:rPr lang="zh-CN" altLang="en-US" sz="1200" b="1" dirty="0">
                <a:latin typeface="+mn-ea"/>
                <a:ea typeface="+mn-ea"/>
              </a:rPr>
              <a:t>服务器集群</a:t>
            </a:r>
          </a:p>
        </p:txBody>
      </p:sp>
      <p:cxnSp>
        <p:nvCxnSpPr>
          <p:cNvPr id="85" name="直接箭头连接符 84"/>
          <p:cNvCxnSpPr/>
          <p:nvPr/>
        </p:nvCxnSpPr>
        <p:spPr bwMode="auto">
          <a:xfrm>
            <a:off x="5468792" y="1928452"/>
            <a:ext cx="1" cy="2135548"/>
          </a:xfrm>
          <a:prstGeom prst="straightConnector1">
            <a:avLst/>
          </a:prstGeom>
          <a:ln w="57150">
            <a:solidFill>
              <a:srgbClr val="FF0000"/>
            </a:solidFill>
            <a:headEnd type="triangle" w="med" len="med"/>
            <a:tailEnd type="triangle" w="med" len="med"/>
          </a:ln>
        </p:spPr>
        <p:style>
          <a:lnRef idx="3">
            <a:schemeClr val="accent2"/>
          </a:lnRef>
          <a:fillRef idx="0">
            <a:schemeClr val="accent2"/>
          </a:fillRef>
          <a:effectRef idx="2">
            <a:schemeClr val="accent2"/>
          </a:effectRef>
          <a:fontRef idx="minor">
            <a:schemeClr val="tx1"/>
          </a:fontRef>
        </p:style>
      </p:cxnSp>
      <p:sp>
        <p:nvSpPr>
          <p:cNvPr id="86" name="矩形 85"/>
          <p:cNvSpPr/>
          <p:nvPr/>
        </p:nvSpPr>
        <p:spPr>
          <a:xfrm>
            <a:off x="7029738" y="1417970"/>
            <a:ext cx="2008909" cy="3109752"/>
          </a:xfrm>
          <a:prstGeom prst="rect">
            <a:avLst/>
          </a:prstGeom>
          <a:no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pic>
        <p:nvPicPr>
          <p:cNvPr id="8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2034" y="2466830"/>
            <a:ext cx="542505" cy="421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 name="云形 87"/>
          <p:cNvSpPr/>
          <p:nvPr/>
        </p:nvSpPr>
        <p:spPr>
          <a:xfrm>
            <a:off x="7100056" y="2030930"/>
            <a:ext cx="1233264" cy="294409"/>
          </a:xfrm>
          <a:prstGeom prst="cloud">
            <a:avLst/>
          </a:prstGeom>
          <a:solidFill>
            <a:schemeClr val="accent6">
              <a:lumMod val="40000"/>
              <a:lumOff val="60000"/>
            </a:schemeClr>
          </a:solidFill>
          <a:ln w="3175">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pic>
        <p:nvPicPr>
          <p:cNvPr id="8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24219" y="3006811"/>
            <a:ext cx="964307" cy="940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5119" y="3864218"/>
            <a:ext cx="901267" cy="41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77919" y="2871467"/>
            <a:ext cx="512866" cy="341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50336" y="1706053"/>
            <a:ext cx="521541" cy="211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01091" y="1713375"/>
            <a:ext cx="466242" cy="214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4" name="TextBox 93"/>
          <p:cNvSpPr txBox="1"/>
          <p:nvPr/>
        </p:nvSpPr>
        <p:spPr>
          <a:xfrm>
            <a:off x="7508010" y="1406611"/>
            <a:ext cx="1066644" cy="251817"/>
          </a:xfrm>
          <a:prstGeom prst="rect">
            <a:avLst/>
          </a:prstGeom>
          <a:noFill/>
        </p:spPr>
        <p:txBody>
          <a:bodyPr wrap="square" rtlCol="0">
            <a:spAutoFit/>
          </a:bodyPr>
          <a:lstStyle/>
          <a:p>
            <a:r>
              <a:rPr lang="zh-CN" altLang="en-US" sz="1200" b="1" dirty="0">
                <a:latin typeface="+mn-ea"/>
                <a:ea typeface="+mn-ea"/>
              </a:rPr>
              <a:t>外部用户</a:t>
            </a:r>
          </a:p>
        </p:txBody>
      </p:sp>
      <p:sp>
        <p:nvSpPr>
          <p:cNvPr id="95" name="TextBox 94"/>
          <p:cNvSpPr txBox="1"/>
          <p:nvPr/>
        </p:nvSpPr>
        <p:spPr>
          <a:xfrm>
            <a:off x="8382156" y="3166816"/>
            <a:ext cx="1066644" cy="251817"/>
          </a:xfrm>
          <a:prstGeom prst="rect">
            <a:avLst/>
          </a:prstGeom>
          <a:noFill/>
        </p:spPr>
        <p:txBody>
          <a:bodyPr wrap="square" rtlCol="0">
            <a:spAutoFit/>
          </a:bodyPr>
          <a:lstStyle/>
          <a:p>
            <a:r>
              <a:rPr lang="zh-CN" altLang="en-US" sz="1200" b="1" dirty="0">
                <a:latin typeface="+mn-ea"/>
                <a:ea typeface="+mn-ea"/>
              </a:rPr>
              <a:t>内部用户</a:t>
            </a:r>
          </a:p>
        </p:txBody>
      </p:sp>
      <p:sp>
        <p:nvSpPr>
          <p:cNvPr id="96" name="TextBox 95"/>
          <p:cNvSpPr txBox="1"/>
          <p:nvPr/>
        </p:nvSpPr>
        <p:spPr>
          <a:xfrm>
            <a:off x="8125623" y="3464011"/>
            <a:ext cx="1066644" cy="251817"/>
          </a:xfrm>
          <a:prstGeom prst="rect">
            <a:avLst/>
          </a:prstGeom>
          <a:noFill/>
        </p:spPr>
        <p:txBody>
          <a:bodyPr wrap="square" rtlCol="0">
            <a:spAutoFit/>
          </a:bodyPr>
          <a:lstStyle/>
          <a:p>
            <a:r>
              <a:rPr lang="zh-CN" altLang="en-US" sz="1200" b="1" dirty="0">
                <a:latin typeface="+mn-ea"/>
                <a:ea typeface="+mn-ea"/>
              </a:rPr>
              <a:t>服务器集群</a:t>
            </a:r>
          </a:p>
        </p:txBody>
      </p:sp>
      <p:cxnSp>
        <p:nvCxnSpPr>
          <p:cNvPr id="97" name="直接箭头连接符 96"/>
          <p:cNvCxnSpPr/>
          <p:nvPr/>
        </p:nvCxnSpPr>
        <p:spPr bwMode="auto">
          <a:xfrm>
            <a:off x="7767491" y="1938063"/>
            <a:ext cx="1" cy="2135548"/>
          </a:xfrm>
          <a:prstGeom prst="straightConnector1">
            <a:avLst/>
          </a:prstGeom>
          <a:ln w="57150">
            <a:solidFill>
              <a:srgbClr val="FF0000"/>
            </a:solidFill>
            <a:headEnd type="triangle" w="med" len="med"/>
            <a:tailEnd type="triangle" w="med" len="med"/>
          </a:ln>
        </p:spPr>
        <p:style>
          <a:lnRef idx="3">
            <a:schemeClr val="accent2"/>
          </a:lnRef>
          <a:fillRef idx="0">
            <a:schemeClr val="accent2"/>
          </a:fillRef>
          <a:effectRef idx="2">
            <a:schemeClr val="accent2"/>
          </a:effectRef>
          <a:fontRef idx="minor">
            <a:schemeClr val="tx1"/>
          </a:fontRef>
        </p:style>
      </p:cxnSp>
      <p:sp>
        <p:nvSpPr>
          <p:cNvPr id="98" name="TextBox 97"/>
          <p:cNvSpPr txBox="1"/>
          <p:nvPr/>
        </p:nvSpPr>
        <p:spPr>
          <a:xfrm>
            <a:off x="393295" y="1066800"/>
            <a:ext cx="1173308" cy="338554"/>
          </a:xfrm>
          <a:prstGeom prst="rect">
            <a:avLst/>
          </a:prstGeom>
          <a:noFill/>
        </p:spPr>
        <p:txBody>
          <a:bodyPr wrap="square" rtlCol="0">
            <a:spAutoFit/>
          </a:bodyPr>
          <a:lstStyle/>
          <a:p>
            <a:r>
              <a:rPr lang="zh-CN" altLang="en-US" sz="1600" b="1" dirty="0">
                <a:solidFill>
                  <a:srgbClr val="FF0000"/>
                </a:solidFill>
                <a:latin typeface="+mn-ea"/>
                <a:ea typeface="+mn-ea"/>
              </a:rPr>
              <a:t>平安城市</a:t>
            </a:r>
          </a:p>
        </p:txBody>
      </p:sp>
      <p:sp>
        <p:nvSpPr>
          <p:cNvPr id="99" name="TextBox 98"/>
          <p:cNvSpPr txBox="1"/>
          <p:nvPr/>
        </p:nvSpPr>
        <p:spPr>
          <a:xfrm>
            <a:off x="2780084" y="1054100"/>
            <a:ext cx="1173308" cy="338554"/>
          </a:xfrm>
          <a:prstGeom prst="rect">
            <a:avLst/>
          </a:prstGeom>
          <a:noFill/>
        </p:spPr>
        <p:txBody>
          <a:bodyPr wrap="square" rtlCol="0">
            <a:spAutoFit/>
          </a:bodyPr>
          <a:lstStyle/>
          <a:p>
            <a:r>
              <a:rPr lang="zh-CN" altLang="en-US" sz="1600" b="1" dirty="0">
                <a:solidFill>
                  <a:srgbClr val="FF0000"/>
                </a:solidFill>
                <a:latin typeface="+mn-ea"/>
                <a:ea typeface="+mn-ea"/>
              </a:rPr>
              <a:t>交通监管</a:t>
            </a:r>
          </a:p>
        </p:txBody>
      </p:sp>
      <p:sp>
        <p:nvSpPr>
          <p:cNvPr id="100" name="TextBox 99"/>
          <p:cNvSpPr txBox="1"/>
          <p:nvPr/>
        </p:nvSpPr>
        <p:spPr>
          <a:xfrm>
            <a:off x="4998488" y="1029900"/>
            <a:ext cx="1173308" cy="338554"/>
          </a:xfrm>
          <a:prstGeom prst="rect">
            <a:avLst/>
          </a:prstGeom>
          <a:noFill/>
        </p:spPr>
        <p:txBody>
          <a:bodyPr wrap="square" rtlCol="0">
            <a:spAutoFit/>
          </a:bodyPr>
          <a:lstStyle/>
          <a:p>
            <a:r>
              <a:rPr lang="zh-CN" altLang="en-US" sz="1600" b="1" dirty="0">
                <a:solidFill>
                  <a:srgbClr val="FF0000"/>
                </a:solidFill>
                <a:latin typeface="+mn-ea"/>
                <a:ea typeface="+mn-ea"/>
              </a:rPr>
              <a:t>行政审批</a:t>
            </a:r>
          </a:p>
        </p:txBody>
      </p:sp>
      <p:sp>
        <p:nvSpPr>
          <p:cNvPr id="101" name="TextBox 100"/>
          <p:cNvSpPr txBox="1"/>
          <p:nvPr/>
        </p:nvSpPr>
        <p:spPr>
          <a:xfrm>
            <a:off x="7372757" y="1031100"/>
            <a:ext cx="1173308" cy="338554"/>
          </a:xfrm>
          <a:prstGeom prst="rect">
            <a:avLst/>
          </a:prstGeom>
          <a:noFill/>
        </p:spPr>
        <p:txBody>
          <a:bodyPr wrap="square" rtlCol="0">
            <a:spAutoFit/>
          </a:bodyPr>
          <a:lstStyle/>
          <a:p>
            <a:r>
              <a:rPr lang="zh-CN" altLang="en-US" sz="1600" b="1" dirty="0">
                <a:solidFill>
                  <a:srgbClr val="FF0000"/>
                </a:solidFill>
                <a:latin typeface="+mn-ea"/>
                <a:ea typeface="+mn-ea"/>
              </a:rPr>
              <a:t>环境卫生</a:t>
            </a:r>
          </a:p>
        </p:txBody>
      </p:sp>
      <p:sp>
        <p:nvSpPr>
          <p:cNvPr id="105" name="内容占位符 2"/>
          <p:cNvSpPr>
            <a:spLocks noGrp="1"/>
          </p:cNvSpPr>
          <p:nvPr>
            <p:ph idx="1"/>
          </p:nvPr>
        </p:nvSpPr>
        <p:spPr>
          <a:xfrm>
            <a:off x="76200" y="5257800"/>
            <a:ext cx="8382000" cy="744538"/>
          </a:xfrm>
        </p:spPr>
        <p:txBody>
          <a:bodyPr/>
          <a:lstStyle/>
          <a:p>
            <a:r>
              <a:rPr lang="zh-CN" altLang="en-US" sz="1800" b="1" dirty="0">
                <a:latin typeface="+mn-ea"/>
              </a:rPr>
              <a:t>工信部：基于云计算的电子政务公共平台</a:t>
            </a:r>
            <a:endParaRPr lang="en-US" altLang="zh-CN" sz="1800" b="1" dirty="0">
              <a:latin typeface="+mn-ea"/>
            </a:endParaRPr>
          </a:p>
          <a:p>
            <a:r>
              <a:rPr lang="zh-CN" altLang="en-US" sz="1800" b="1" dirty="0">
                <a:latin typeface="+mn-ea"/>
              </a:rPr>
              <a:t>住建部：智慧城市公共数据库和公共信息平台</a:t>
            </a:r>
          </a:p>
        </p:txBody>
      </p:sp>
      <p:sp>
        <p:nvSpPr>
          <p:cNvPr id="22" name="矩形 21"/>
          <p:cNvSpPr/>
          <p:nvPr/>
        </p:nvSpPr>
        <p:spPr>
          <a:xfrm>
            <a:off x="3362216" y="4648200"/>
            <a:ext cx="2276584" cy="369332"/>
          </a:xfrm>
          <a:prstGeom prst="rect">
            <a:avLst/>
          </a:prstGeom>
        </p:spPr>
        <p:txBody>
          <a:bodyPr wrap="none">
            <a:spAutoFit/>
          </a:bodyPr>
          <a:lstStyle/>
          <a:p>
            <a:pPr algn="ctr"/>
            <a:r>
              <a:rPr lang="zh-CN" altLang="en-US" b="1" dirty="0">
                <a:latin typeface="+mn-ea"/>
                <a:ea typeface="+mn-ea"/>
              </a:rPr>
              <a:t>信息交换、资源共享</a:t>
            </a:r>
          </a:p>
        </p:txBody>
      </p:sp>
    </p:spTree>
    <p:extLst>
      <p:ext uri="{BB962C8B-B14F-4D97-AF65-F5344CB8AC3E}">
        <p14:creationId xmlns:p14="http://schemas.microsoft.com/office/powerpoint/2010/main" val="1439157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1478000" y="2940981"/>
            <a:ext cx="3018017" cy="840074"/>
          </a:xfrm>
          <a:prstGeom prst="rect">
            <a:avLst/>
          </a:prstGeom>
          <a:solidFill>
            <a:schemeClr val="bg1"/>
          </a:solidFill>
          <a:ln/>
        </p:spPr>
        <p:style>
          <a:lnRef idx="1">
            <a:schemeClr val="accent6"/>
          </a:lnRef>
          <a:fillRef idx="2">
            <a:schemeClr val="accent6"/>
          </a:fillRef>
          <a:effectRef idx="1">
            <a:schemeClr val="accent6"/>
          </a:effectRef>
          <a:fontRef idx="minor">
            <a:schemeClr val="dk1"/>
          </a:fontRef>
        </p:style>
        <p:txBody>
          <a:bodyPr lIns="0" rIns="0" rtlCol="0" anchor="t" anchorCtr="0"/>
          <a:lstStyle/>
          <a:p>
            <a:pPr algn="ctr"/>
            <a:r>
              <a:rPr lang="zh-CN" altLang="en-US" sz="1600" dirty="0">
                <a:solidFill>
                  <a:schemeClr val="tx1"/>
                </a:solidFill>
              </a:rPr>
              <a:t>共享数据库</a:t>
            </a:r>
          </a:p>
        </p:txBody>
      </p:sp>
      <p:sp>
        <p:nvSpPr>
          <p:cNvPr id="2" name="标题 1"/>
          <p:cNvSpPr>
            <a:spLocks noGrp="1"/>
          </p:cNvSpPr>
          <p:nvPr>
            <p:ph type="title"/>
          </p:nvPr>
        </p:nvSpPr>
        <p:spPr>
          <a:xfrm>
            <a:off x="212915" y="0"/>
            <a:ext cx="8610600" cy="561975"/>
          </a:xfrm>
        </p:spPr>
        <p:txBody>
          <a:bodyPr/>
          <a:lstStyle/>
          <a:p>
            <a:r>
              <a:rPr lang="zh-CN" altLang="en-US" dirty="0"/>
              <a:t>信息资源交换平台在智慧城市中的定位</a:t>
            </a:r>
          </a:p>
        </p:txBody>
      </p:sp>
      <p:sp>
        <p:nvSpPr>
          <p:cNvPr id="4" name="灯片编号占位符 3"/>
          <p:cNvSpPr>
            <a:spLocks noGrp="1"/>
          </p:cNvSpPr>
          <p:nvPr>
            <p:ph type="sldNum" sz="quarter" idx="12"/>
          </p:nvPr>
        </p:nvSpPr>
        <p:spPr>
          <a:xfrm>
            <a:off x="3429000" y="6991350"/>
            <a:ext cx="2133600" cy="476250"/>
          </a:xfrm>
        </p:spPr>
        <p:txBody>
          <a:bodyPr/>
          <a:lstStyle/>
          <a:p>
            <a:fld id="{BD61978C-FD3D-4268-8D6C-034E9AD544A3}" type="slidenum">
              <a:rPr lang="en-US" altLang="zh-CN" smtClean="0"/>
              <a:pPr/>
              <a:t>8</a:t>
            </a:fld>
            <a:endParaRPr lang="en-US" altLang="zh-CN"/>
          </a:p>
        </p:txBody>
      </p:sp>
      <p:pic>
        <p:nvPicPr>
          <p:cNvPr id="1026" name="Picture 2" descr="C:\Users\ZYC\Desktop\数据交换\图片\M2M.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63826" y="5503018"/>
            <a:ext cx="983497" cy="737623"/>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ZYC\Desktop\数据交换\图片\RFI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8452" y="5570844"/>
            <a:ext cx="686951" cy="686951"/>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ZYC\Desktop\数据交换\图片\传感器.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25153" y="5565523"/>
            <a:ext cx="879690" cy="62604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ZYC\Desktop\数据交换\图片\控制器.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7557931" y="5488827"/>
            <a:ext cx="693556" cy="693556"/>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C:\Users\ZYC\Desktop\数据交换\图片\摄像头.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59399" y="5520171"/>
            <a:ext cx="838200" cy="63807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16140" y="5511799"/>
            <a:ext cx="739614" cy="652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254454" y="6096653"/>
            <a:ext cx="1143000" cy="307777"/>
          </a:xfrm>
          <a:prstGeom prst="rect">
            <a:avLst/>
          </a:prstGeom>
          <a:noFill/>
        </p:spPr>
        <p:txBody>
          <a:bodyPr wrap="square" rtlCol="0">
            <a:spAutoFit/>
          </a:bodyPr>
          <a:lstStyle/>
          <a:p>
            <a:r>
              <a:rPr lang="zh-CN" altLang="en-US" sz="1400" dirty="0">
                <a:latin typeface="+mn-ea"/>
                <a:ea typeface="+mn-ea"/>
              </a:rPr>
              <a:t>车载终端</a:t>
            </a:r>
          </a:p>
        </p:txBody>
      </p:sp>
      <p:sp>
        <p:nvSpPr>
          <p:cNvPr id="17" name="TextBox 16"/>
          <p:cNvSpPr txBox="1"/>
          <p:nvPr/>
        </p:nvSpPr>
        <p:spPr>
          <a:xfrm>
            <a:off x="2506312" y="6089393"/>
            <a:ext cx="1143000" cy="307777"/>
          </a:xfrm>
          <a:prstGeom prst="rect">
            <a:avLst/>
          </a:prstGeom>
          <a:noFill/>
        </p:spPr>
        <p:txBody>
          <a:bodyPr wrap="square" rtlCol="0">
            <a:spAutoFit/>
          </a:bodyPr>
          <a:lstStyle/>
          <a:p>
            <a:r>
              <a:rPr lang="en-US" altLang="zh-CN" sz="1400" dirty="0">
                <a:latin typeface="+mn-ea"/>
                <a:ea typeface="+mn-ea"/>
              </a:rPr>
              <a:t>RFID</a:t>
            </a:r>
            <a:r>
              <a:rPr lang="zh-CN" altLang="en-US" sz="1400" dirty="0">
                <a:latin typeface="+mn-ea"/>
                <a:ea typeface="+mn-ea"/>
              </a:rPr>
              <a:t>设备</a:t>
            </a:r>
          </a:p>
        </p:txBody>
      </p:sp>
      <p:sp>
        <p:nvSpPr>
          <p:cNvPr id="18" name="TextBox 17"/>
          <p:cNvSpPr txBox="1"/>
          <p:nvPr/>
        </p:nvSpPr>
        <p:spPr>
          <a:xfrm>
            <a:off x="7588353" y="6104809"/>
            <a:ext cx="877847" cy="307777"/>
          </a:xfrm>
          <a:prstGeom prst="rect">
            <a:avLst/>
          </a:prstGeom>
          <a:noFill/>
        </p:spPr>
        <p:txBody>
          <a:bodyPr wrap="square" rtlCol="0">
            <a:spAutoFit/>
          </a:bodyPr>
          <a:lstStyle/>
          <a:p>
            <a:r>
              <a:rPr lang="zh-CN" altLang="en-US" sz="1400" dirty="0">
                <a:latin typeface="+mn-ea"/>
                <a:ea typeface="+mn-ea"/>
              </a:rPr>
              <a:t>控制器</a:t>
            </a:r>
          </a:p>
        </p:txBody>
      </p:sp>
      <p:sp>
        <p:nvSpPr>
          <p:cNvPr id="19" name="TextBox 18"/>
          <p:cNvSpPr txBox="1"/>
          <p:nvPr/>
        </p:nvSpPr>
        <p:spPr>
          <a:xfrm>
            <a:off x="4075823" y="5814540"/>
            <a:ext cx="1143000" cy="307777"/>
          </a:xfrm>
          <a:prstGeom prst="rect">
            <a:avLst/>
          </a:prstGeom>
          <a:noFill/>
        </p:spPr>
        <p:txBody>
          <a:bodyPr wrap="square" rtlCol="0">
            <a:spAutoFit/>
          </a:bodyPr>
          <a:lstStyle/>
          <a:p>
            <a:endParaRPr lang="zh-CN" altLang="en-US" sz="1400" dirty="0">
              <a:latin typeface="+mn-ea"/>
              <a:ea typeface="+mn-ea"/>
            </a:endParaRPr>
          </a:p>
        </p:txBody>
      </p:sp>
      <p:sp>
        <p:nvSpPr>
          <p:cNvPr id="20" name="TextBox 19"/>
          <p:cNvSpPr txBox="1"/>
          <p:nvPr/>
        </p:nvSpPr>
        <p:spPr>
          <a:xfrm>
            <a:off x="3736277" y="6094136"/>
            <a:ext cx="1143000" cy="307777"/>
          </a:xfrm>
          <a:prstGeom prst="rect">
            <a:avLst/>
          </a:prstGeom>
          <a:noFill/>
        </p:spPr>
        <p:txBody>
          <a:bodyPr wrap="square" rtlCol="0">
            <a:spAutoFit/>
          </a:bodyPr>
          <a:lstStyle/>
          <a:p>
            <a:r>
              <a:rPr lang="en-US" altLang="zh-CN" sz="1400" dirty="0">
                <a:latin typeface="+mn-ea"/>
                <a:ea typeface="+mn-ea"/>
              </a:rPr>
              <a:t>M2M</a:t>
            </a:r>
            <a:r>
              <a:rPr lang="zh-CN" altLang="en-US" sz="1400" dirty="0">
                <a:latin typeface="+mn-ea"/>
                <a:ea typeface="+mn-ea"/>
              </a:rPr>
              <a:t>模块</a:t>
            </a:r>
          </a:p>
        </p:txBody>
      </p:sp>
      <p:sp>
        <p:nvSpPr>
          <p:cNvPr id="21" name="TextBox 20"/>
          <p:cNvSpPr txBox="1"/>
          <p:nvPr/>
        </p:nvSpPr>
        <p:spPr>
          <a:xfrm>
            <a:off x="6430999" y="6097766"/>
            <a:ext cx="1143000" cy="307777"/>
          </a:xfrm>
          <a:prstGeom prst="rect">
            <a:avLst/>
          </a:prstGeom>
          <a:noFill/>
        </p:spPr>
        <p:txBody>
          <a:bodyPr wrap="square" rtlCol="0">
            <a:spAutoFit/>
          </a:bodyPr>
          <a:lstStyle/>
          <a:p>
            <a:r>
              <a:rPr lang="zh-CN" altLang="en-US" sz="1400" dirty="0">
                <a:latin typeface="+mn-ea"/>
                <a:ea typeface="+mn-ea"/>
              </a:rPr>
              <a:t>传感器</a:t>
            </a:r>
          </a:p>
        </p:txBody>
      </p:sp>
      <p:sp>
        <p:nvSpPr>
          <p:cNvPr id="22" name="TextBox 21"/>
          <p:cNvSpPr txBox="1"/>
          <p:nvPr/>
        </p:nvSpPr>
        <p:spPr>
          <a:xfrm>
            <a:off x="5102941" y="6088225"/>
            <a:ext cx="1143000" cy="307777"/>
          </a:xfrm>
          <a:prstGeom prst="rect">
            <a:avLst/>
          </a:prstGeom>
          <a:noFill/>
        </p:spPr>
        <p:txBody>
          <a:bodyPr wrap="square" rtlCol="0">
            <a:spAutoFit/>
          </a:bodyPr>
          <a:lstStyle/>
          <a:p>
            <a:r>
              <a:rPr lang="zh-CN" altLang="en-US" sz="1400" dirty="0">
                <a:latin typeface="+mn-ea"/>
                <a:ea typeface="+mn-ea"/>
              </a:rPr>
              <a:t>摄像头</a:t>
            </a:r>
          </a:p>
        </p:txBody>
      </p:sp>
      <p:sp>
        <p:nvSpPr>
          <p:cNvPr id="8" name="圆柱形 7"/>
          <p:cNvSpPr/>
          <p:nvPr/>
        </p:nvSpPr>
        <p:spPr>
          <a:xfrm rot="5400000">
            <a:off x="4355487" y="979770"/>
            <a:ext cx="417225" cy="6172200"/>
          </a:xfrm>
          <a:prstGeom prst="can">
            <a:avLst/>
          </a:prstGeom>
          <a:solidFill>
            <a:srgbClr val="0070C0"/>
          </a:solidFill>
          <a:ln>
            <a:solidFill>
              <a:srgbClr val="0070C0"/>
            </a:solidFill>
          </a:ln>
        </p:spPr>
        <p:style>
          <a:lnRef idx="1">
            <a:schemeClr val="accent6"/>
          </a:lnRef>
          <a:fillRef idx="2">
            <a:schemeClr val="accent6"/>
          </a:fillRef>
          <a:effectRef idx="1">
            <a:schemeClr val="accent6"/>
          </a:effectRef>
          <a:fontRef idx="minor">
            <a:schemeClr val="dk1"/>
          </a:fontRef>
        </p:style>
        <p:txBody>
          <a:bodyPr vert="vert270" lIns="0" rIns="0" rtlCol="0" anchor="t" anchorCtr="0"/>
          <a:lstStyle/>
          <a:p>
            <a:pPr algn="ctr">
              <a:lnSpc>
                <a:spcPct val="150000"/>
              </a:lnSpc>
            </a:pPr>
            <a:r>
              <a:rPr lang="zh-CN" altLang="en-US" sz="1600" b="1" dirty="0">
                <a:solidFill>
                  <a:schemeClr val="bg1"/>
                </a:solidFill>
              </a:rPr>
              <a:t>信息资源交换</a:t>
            </a:r>
          </a:p>
        </p:txBody>
      </p:sp>
      <p:sp>
        <p:nvSpPr>
          <p:cNvPr id="9" name="矩形 8"/>
          <p:cNvSpPr/>
          <p:nvPr/>
        </p:nvSpPr>
        <p:spPr>
          <a:xfrm>
            <a:off x="4738100" y="2979081"/>
            <a:ext cx="2912100" cy="381000"/>
          </a:xfrm>
          <a:prstGeom prst="rect">
            <a:avLst/>
          </a:prstGeom>
          <a:solidFill>
            <a:srgbClr val="00B0F0"/>
          </a:solidFill>
          <a:ln>
            <a:solidFill>
              <a:srgbClr val="00B0F0"/>
            </a:solidFill>
          </a:ln>
        </p:spPr>
        <p:style>
          <a:lnRef idx="1">
            <a:schemeClr val="accent6"/>
          </a:lnRef>
          <a:fillRef idx="2">
            <a:schemeClr val="accent6"/>
          </a:fillRef>
          <a:effectRef idx="1">
            <a:schemeClr val="accent6"/>
          </a:effectRef>
          <a:fontRef idx="minor">
            <a:schemeClr val="dk1"/>
          </a:fontRef>
        </p:style>
        <p:txBody>
          <a:bodyPr lIns="0" rIns="0" rtlCol="0" anchor="t" anchorCtr="0"/>
          <a:lstStyle/>
          <a:p>
            <a:pPr algn="ctr"/>
            <a:r>
              <a:rPr lang="zh-CN" altLang="en-US" sz="1600" b="1" dirty="0">
                <a:solidFill>
                  <a:schemeClr val="bg1"/>
                </a:solidFill>
              </a:rPr>
              <a:t>资源目录</a:t>
            </a:r>
          </a:p>
        </p:txBody>
      </p:sp>
      <p:sp>
        <p:nvSpPr>
          <p:cNvPr id="26" name="矩形 25"/>
          <p:cNvSpPr/>
          <p:nvPr/>
        </p:nvSpPr>
        <p:spPr>
          <a:xfrm>
            <a:off x="4738100" y="3403623"/>
            <a:ext cx="2912100" cy="381000"/>
          </a:xfrm>
          <a:prstGeom prst="rect">
            <a:avLst/>
          </a:prstGeom>
          <a:solidFill>
            <a:srgbClr val="00B0F0"/>
          </a:solidFill>
          <a:ln>
            <a:solidFill>
              <a:srgbClr val="00B0F0"/>
            </a:solidFill>
          </a:ln>
        </p:spPr>
        <p:style>
          <a:lnRef idx="1">
            <a:schemeClr val="accent6"/>
          </a:lnRef>
          <a:fillRef idx="2">
            <a:schemeClr val="accent6"/>
          </a:fillRef>
          <a:effectRef idx="1">
            <a:schemeClr val="accent6"/>
          </a:effectRef>
          <a:fontRef idx="minor">
            <a:schemeClr val="dk1"/>
          </a:fontRef>
        </p:style>
        <p:txBody>
          <a:bodyPr lIns="0" rIns="0" rtlCol="0" anchor="t" anchorCtr="0"/>
          <a:lstStyle/>
          <a:p>
            <a:pPr algn="ctr"/>
            <a:r>
              <a:rPr lang="zh-CN" altLang="en-US" sz="1600" b="1" dirty="0">
                <a:solidFill>
                  <a:schemeClr val="bg1"/>
                </a:solidFill>
              </a:rPr>
              <a:t>核心元数据</a:t>
            </a:r>
          </a:p>
        </p:txBody>
      </p:sp>
      <p:sp>
        <p:nvSpPr>
          <p:cNvPr id="10" name="圆柱形 9"/>
          <p:cNvSpPr/>
          <p:nvPr/>
        </p:nvSpPr>
        <p:spPr>
          <a:xfrm>
            <a:off x="1943232" y="3436281"/>
            <a:ext cx="641156" cy="304800"/>
          </a:xfrm>
          <a:prstGeom prst="can">
            <a:avLst/>
          </a:prstGeom>
          <a:solidFill>
            <a:schemeClr val="accent3">
              <a:lumMod val="65000"/>
            </a:schemeClr>
          </a:solidFill>
          <a:ln>
            <a:solidFill>
              <a:schemeClr val="accent3"/>
            </a:solidFill>
          </a:ln>
        </p:spPr>
        <p:style>
          <a:lnRef idx="1">
            <a:schemeClr val="accent6"/>
          </a:lnRef>
          <a:fillRef idx="2">
            <a:schemeClr val="accent6"/>
          </a:fillRef>
          <a:effectRef idx="1">
            <a:schemeClr val="accent6"/>
          </a:effectRef>
          <a:fontRef idx="minor">
            <a:schemeClr val="dk1"/>
          </a:fontRef>
        </p:style>
        <p:txBody>
          <a:bodyPr lIns="0" rIns="0" rtlCol="0" anchor="t" anchorCtr="0"/>
          <a:lstStyle/>
          <a:p>
            <a:pPr algn="ctr"/>
            <a:endParaRPr lang="zh-CN" altLang="en-US" sz="1600" dirty="0">
              <a:solidFill>
                <a:schemeClr val="tx1"/>
              </a:solidFill>
            </a:endParaRPr>
          </a:p>
        </p:txBody>
      </p:sp>
      <p:sp>
        <p:nvSpPr>
          <p:cNvPr id="28" name="圆柱形 27"/>
          <p:cNvSpPr/>
          <p:nvPr/>
        </p:nvSpPr>
        <p:spPr>
          <a:xfrm>
            <a:off x="2680584" y="3436281"/>
            <a:ext cx="641156" cy="304800"/>
          </a:xfrm>
          <a:prstGeom prst="can">
            <a:avLst/>
          </a:prstGeom>
          <a:solidFill>
            <a:schemeClr val="accent3">
              <a:lumMod val="65000"/>
            </a:schemeClr>
          </a:solidFill>
          <a:ln>
            <a:solidFill>
              <a:schemeClr val="accent3"/>
            </a:solidFill>
          </a:ln>
        </p:spPr>
        <p:style>
          <a:lnRef idx="1">
            <a:schemeClr val="accent6"/>
          </a:lnRef>
          <a:fillRef idx="2">
            <a:schemeClr val="accent6"/>
          </a:fillRef>
          <a:effectRef idx="1">
            <a:schemeClr val="accent6"/>
          </a:effectRef>
          <a:fontRef idx="minor">
            <a:schemeClr val="dk1"/>
          </a:fontRef>
        </p:style>
        <p:txBody>
          <a:bodyPr lIns="0" rIns="0" rtlCol="0" anchor="t" anchorCtr="0"/>
          <a:lstStyle/>
          <a:p>
            <a:pPr algn="ctr"/>
            <a:endParaRPr lang="zh-CN" altLang="en-US" sz="1600" dirty="0">
              <a:solidFill>
                <a:schemeClr val="tx1"/>
              </a:solidFill>
            </a:endParaRPr>
          </a:p>
        </p:txBody>
      </p:sp>
      <p:sp>
        <p:nvSpPr>
          <p:cNvPr id="29" name="圆柱形 28"/>
          <p:cNvSpPr/>
          <p:nvPr/>
        </p:nvSpPr>
        <p:spPr>
          <a:xfrm>
            <a:off x="3422588" y="3436281"/>
            <a:ext cx="641156" cy="304800"/>
          </a:xfrm>
          <a:prstGeom prst="can">
            <a:avLst/>
          </a:prstGeom>
          <a:solidFill>
            <a:schemeClr val="accent3">
              <a:lumMod val="65000"/>
            </a:schemeClr>
          </a:solidFill>
          <a:ln>
            <a:solidFill>
              <a:schemeClr val="accent3"/>
            </a:solidFill>
          </a:ln>
        </p:spPr>
        <p:style>
          <a:lnRef idx="1">
            <a:schemeClr val="accent6"/>
          </a:lnRef>
          <a:fillRef idx="2">
            <a:schemeClr val="accent6"/>
          </a:fillRef>
          <a:effectRef idx="1">
            <a:schemeClr val="accent6"/>
          </a:effectRef>
          <a:fontRef idx="minor">
            <a:schemeClr val="dk1"/>
          </a:fontRef>
        </p:style>
        <p:txBody>
          <a:bodyPr lIns="0" rIns="0" rtlCol="0" anchor="t" anchorCtr="0"/>
          <a:lstStyle/>
          <a:p>
            <a:pPr algn="ctr"/>
            <a:endParaRPr lang="zh-CN" altLang="en-US" sz="1600" dirty="0">
              <a:solidFill>
                <a:schemeClr val="tx1"/>
              </a:solidFill>
            </a:endParaRPr>
          </a:p>
        </p:txBody>
      </p:sp>
      <p:sp>
        <p:nvSpPr>
          <p:cNvPr id="30" name="圆柱形 29"/>
          <p:cNvSpPr/>
          <p:nvPr/>
        </p:nvSpPr>
        <p:spPr>
          <a:xfrm>
            <a:off x="2129716" y="3251223"/>
            <a:ext cx="641156" cy="304800"/>
          </a:xfrm>
          <a:prstGeom prst="can">
            <a:avLst/>
          </a:prstGeom>
          <a:solidFill>
            <a:schemeClr val="accent3">
              <a:lumMod val="65000"/>
            </a:schemeClr>
          </a:solidFill>
          <a:ln>
            <a:solidFill>
              <a:schemeClr val="accent3"/>
            </a:solidFill>
          </a:ln>
        </p:spPr>
        <p:style>
          <a:lnRef idx="1">
            <a:schemeClr val="accent6"/>
          </a:lnRef>
          <a:fillRef idx="2">
            <a:schemeClr val="accent6"/>
          </a:fillRef>
          <a:effectRef idx="1">
            <a:schemeClr val="accent6"/>
          </a:effectRef>
          <a:fontRef idx="minor">
            <a:schemeClr val="dk1"/>
          </a:fontRef>
        </p:style>
        <p:txBody>
          <a:bodyPr lIns="0" rIns="0" rtlCol="0" anchor="t" anchorCtr="0"/>
          <a:lstStyle/>
          <a:p>
            <a:pPr algn="ctr"/>
            <a:endParaRPr lang="zh-CN" altLang="en-US" sz="1600" dirty="0">
              <a:solidFill>
                <a:schemeClr val="tx1"/>
              </a:solidFill>
            </a:endParaRPr>
          </a:p>
        </p:txBody>
      </p:sp>
      <p:sp>
        <p:nvSpPr>
          <p:cNvPr id="31" name="圆柱形 30"/>
          <p:cNvSpPr/>
          <p:nvPr/>
        </p:nvSpPr>
        <p:spPr>
          <a:xfrm>
            <a:off x="2847072" y="3251223"/>
            <a:ext cx="641156" cy="304800"/>
          </a:xfrm>
          <a:prstGeom prst="can">
            <a:avLst/>
          </a:prstGeom>
          <a:solidFill>
            <a:schemeClr val="accent3">
              <a:lumMod val="65000"/>
            </a:schemeClr>
          </a:solidFill>
          <a:ln>
            <a:solidFill>
              <a:schemeClr val="accent3"/>
            </a:solidFill>
          </a:ln>
        </p:spPr>
        <p:style>
          <a:lnRef idx="1">
            <a:schemeClr val="accent6"/>
          </a:lnRef>
          <a:fillRef idx="2">
            <a:schemeClr val="accent6"/>
          </a:fillRef>
          <a:effectRef idx="1">
            <a:schemeClr val="accent6"/>
          </a:effectRef>
          <a:fontRef idx="minor">
            <a:schemeClr val="dk1"/>
          </a:fontRef>
        </p:style>
        <p:txBody>
          <a:bodyPr lIns="0" rIns="0" rtlCol="0" anchor="t" anchorCtr="0"/>
          <a:lstStyle/>
          <a:p>
            <a:pPr algn="ctr"/>
            <a:endParaRPr lang="zh-CN" altLang="en-US" sz="1600" dirty="0">
              <a:solidFill>
                <a:schemeClr val="tx1"/>
              </a:solidFill>
            </a:endParaRPr>
          </a:p>
        </p:txBody>
      </p:sp>
      <p:sp>
        <p:nvSpPr>
          <p:cNvPr id="33" name="云形 32"/>
          <p:cNvSpPr/>
          <p:nvPr/>
        </p:nvSpPr>
        <p:spPr>
          <a:xfrm>
            <a:off x="1316139" y="4504172"/>
            <a:ext cx="7248459" cy="838201"/>
          </a:xfrm>
          <a:prstGeom prst="cloud">
            <a:avLst/>
          </a:prstGeom>
          <a:solidFill>
            <a:schemeClr val="bg1"/>
          </a:solidFill>
          <a:ln>
            <a:solidFill>
              <a:srgbClr val="00B0F0"/>
            </a:solidFill>
          </a:ln>
        </p:spPr>
        <p:style>
          <a:lnRef idx="1">
            <a:schemeClr val="accent6"/>
          </a:lnRef>
          <a:fillRef idx="2">
            <a:schemeClr val="accent6"/>
          </a:fillRef>
          <a:effectRef idx="1">
            <a:schemeClr val="accent6"/>
          </a:effectRef>
          <a:fontRef idx="minor">
            <a:schemeClr val="dk1"/>
          </a:fontRef>
        </p:style>
        <p:txBody>
          <a:bodyPr lIns="0" rIns="0" rtlCol="0" anchor="t" anchorCtr="0"/>
          <a:lstStyle/>
          <a:p>
            <a:pPr algn="ctr"/>
            <a:endParaRPr lang="zh-CN" altLang="en-US" sz="1100" dirty="0">
              <a:solidFill>
                <a:schemeClr val="tx1"/>
              </a:solidFill>
            </a:endParaRPr>
          </a:p>
        </p:txBody>
      </p:sp>
      <p:sp>
        <p:nvSpPr>
          <p:cNvPr id="11" name="矩形 10"/>
          <p:cNvSpPr/>
          <p:nvPr/>
        </p:nvSpPr>
        <p:spPr>
          <a:xfrm>
            <a:off x="3230599" y="4958395"/>
            <a:ext cx="3048000" cy="307777"/>
          </a:xfrm>
          <a:prstGeom prst="rect">
            <a:avLst/>
          </a:prstGeom>
          <a:noFill/>
        </p:spPr>
        <p:txBody>
          <a:bodyPr wrap="square" rtlCol="0">
            <a:spAutoFit/>
          </a:bodyPr>
          <a:lstStyle/>
          <a:p>
            <a:r>
              <a:rPr lang="zh-CN" altLang="en-US" sz="1400" dirty="0">
                <a:latin typeface="+mn-ea"/>
                <a:ea typeface="+mn-ea"/>
              </a:rPr>
              <a:t>智慧城市专用网络</a:t>
            </a:r>
            <a:r>
              <a:rPr lang="en-US" altLang="zh-CN" sz="1400" dirty="0">
                <a:latin typeface="+mn-ea"/>
                <a:ea typeface="+mn-ea"/>
              </a:rPr>
              <a:t>/</a:t>
            </a:r>
            <a:r>
              <a:rPr lang="zh-CN" altLang="en-US" sz="1400" dirty="0">
                <a:latin typeface="+mn-ea"/>
                <a:ea typeface="+mn-ea"/>
              </a:rPr>
              <a:t>委办局前置节点</a:t>
            </a:r>
          </a:p>
        </p:txBody>
      </p:sp>
      <p:pic>
        <p:nvPicPr>
          <p:cNvPr id="1035" name="Picture 1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35199" y="4770649"/>
            <a:ext cx="261937" cy="357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1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697199" y="4770649"/>
            <a:ext cx="261937" cy="357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 name="Picture 1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459199" y="4656572"/>
            <a:ext cx="261937" cy="357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1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331385" y="4580372"/>
            <a:ext cx="261937" cy="357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 name="Picture 1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87854" y="4656572"/>
            <a:ext cx="261937" cy="357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1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843598" y="4580372"/>
            <a:ext cx="261937" cy="357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 name="Picture 1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52430" y="4770649"/>
            <a:ext cx="261937" cy="357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2" name="Picture 1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69243" y="4565191"/>
            <a:ext cx="261937" cy="357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 name="矩形 42"/>
          <p:cNvSpPr/>
          <p:nvPr/>
        </p:nvSpPr>
        <p:spPr>
          <a:xfrm>
            <a:off x="1478000" y="2369481"/>
            <a:ext cx="6172200" cy="381000"/>
          </a:xfrm>
          <a:prstGeom prst="rect">
            <a:avLst/>
          </a:prstGeom>
          <a:solidFill>
            <a:srgbClr val="00B0F0"/>
          </a:solidFill>
          <a:ln>
            <a:solidFill>
              <a:srgbClr val="00B0F0"/>
            </a:solidFill>
          </a:ln>
        </p:spPr>
        <p:style>
          <a:lnRef idx="1">
            <a:schemeClr val="accent6"/>
          </a:lnRef>
          <a:fillRef idx="2">
            <a:schemeClr val="accent6"/>
          </a:fillRef>
          <a:effectRef idx="1">
            <a:schemeClr val="accent6"/>
          </a:effectRef>
          <a:fontRef idx="minor">
            <a:schemeClr val="dk1"/>
          </a:fontRef>
        </p:style>
        <p:txBody>
          <a:bodyPr lIns="0" rIns="0" rtlCol="0" anchor="t" anchorCtr="0"/>
          <a:lstStyle/>
          <a:p>
            <a:pPr algn="ctr"/>
            <a:r>
              <a:rPr lang="zh-CN" altLang="en-US" sz="1600" b="1" dirty="0">
                <a:solidFill>
                  <a:schemeClr val="bg1"/>
                </a:solidFill>
              </a:rPr>
              <a:t>信息共享与数据发布</a:t>
            </a:r>
          </a:p>
        </p:txBody>
      </p:sp>
      <p:sp>
        <p:nvSpPr>
          <p:cNvPr id="44" name="矩形 43"/>
          <p:cNvSpPr/>
          <p:nvPr/>
        </p:nvSpPr>
        <p:spPr>
          <a:xfrm>
            <a:off x="7779893" y="2362200"/>
            <a:ext cx="533908" cy="1912282"/>
          </a:xfrm>
          <a:prstGeom prst="rect">
            <a:avLst/>
          </a:prstGeom>
          <a:solidFill>
            <a:srgbClr val="FFC000"/>
          </a:solidFill>
          <a:ln>
            <a:solidFill>
              <a:srgbClr val="FFC000"/>
            </a:solidFill>
          </a:ln>
        </p:spPr>
        <p:style>
          <a:lnRef idx="1">
            <a:schemeClr val="accent6"/>
          </a:lnRef>
          <a:fillRef idx="2">
            <a:schemeClr val="accent6"/>
          </a:fillRef>
          <a:effectRef idx="1">
            <a:schemeClr val="accent6"/>
          </a:effectRef>
          <a:fontRef idx="minor">
            <a:schemeClr val="dk1"/>
          </a:fontRef>
        </p:style>
        <p:txBody>
          <a:bodyPr lIns="0" rIns="0" rtlCol="0" anchor="t" anchorCtr="0"/>
          <a:lstStyle/>
          <a:p>
            <a:pPr algn="ctr"/>
            <a:r>
              <a:rPr lang="zh-CN" altLang="en-US" sz="1600" b="1" dirty="0">
                <a:solidFill>
                  <a:schemeClr val="bg1"/>
                </a:solidFill>
              </a:rPr>
              <a:t>统</a:t>
            </a:r>
            <a:endParaRPr lang="en-US" altLang="zh-CN" sz="1600" b="1" dirty="0">
              <a:solidFill>
                <a:schemeClr val="bg1"/>
              </a:solidFill>
            </a:endParaRPr>
          </a:p>
          <a:p>
            <a:pPr algn="ctr"/>
            <a:r>
              <a:rPr lang="zh-CN" altLang="en-US" sz="1600" b="1" dirty="0">
                <a:solidFill>
                  <a:schemeClr val="bg1"/>
                </a:solidFill>
              </a:rPr>
              <a:t>一</a:t>
            </a:r>
            <a:endParaRPr lang="en-US" altLang="zh-CN" sz="1600" b="1" dirty="0">
              <a:solidFill>
                <a:schemeClr val="bg1"/>
              </a:solidFill>
            </a:endParaRPr>
          </a:p>
          <a:p>
            <a:pPr algn="ctr"/>
            <a:r>
              <a:rPr lang="zh-CN" altLang="en-US" sz="1600" b="1" dirty="0">
                <a:solidFill>
                  <a:schemeClr val="bg1"/>
                </a:solidFill>
              </a:rPr>
              <a:t>管</a:t>
            </a:r>
            <a:endParaRPr lang="en-US" altLang="zh-CN" sz="1600" b="1" dirty="0">
              <a:solidFill>
                <a:schemeClr val="bg1"/>
              </a:solidFill>
            </a:endParaRPr>
          </a:p>
          <a:p>
            <a:pPr algn="ctr"/>
            <a:r>
              <a:rPr lang="zh-CN" altLang="en-US" sz="1600" b="1" dirty="0">
                <a:solidFill>
                  <a:schemeClr val="bg1"/>
                </a:solidFill>
              </a:rPr>
              <a:t>控</a:t>
            </a:r>
            <a:endParaRPr lang="en-US" altLang="zh-CN" sz="1600" b="1" dirty="0">
              <a:solidFill>
                <a:schemeClr val="bg1"/>
              </a:solidFill>
            </a:endParaRPr>
          </a:p>
          <a:p>
            <a:pPr algn="ctr"/>
            <a:r>
              <a:rPr lang="zh-CN" altLang="en-US" sz="1600" b="1" dirty="0">
                <a:solidFill>
                  <a:schemeClr val="bg1"/>
                </a:solidFill>
              </a:rPr>
              <a:t>与</a:t>
            </a:r>
            <a:endParaRPr lang="en-US" altLang="zh-CN" sz="1600" b="1" dirty="0">
              <a:solidFill>
                <a:schemeClr val="bg1"/>
              </a:solidFill>
            </a:endParaRPr>
          </a:p>
          <a:p>
            <a:pPr algn="ctr"/>
            <a:r>
              <a:rPr lang="zh-CN" altLang="en-US" sz="1600" b="1" dirty="0">
                <a:solidFill>
                  <a:schemeClr val="bg1"/>
                </a:solidFill>
              </a:rPr>
              <a:t>调</a:t>
            </a:r>
            <a:endParaRPr lang="en-US" altLang="zh-CN" sz="1600" b="1" dirty="0">
              <a:solidFill>
                <a:schemeClr val="bg1"/>
              </a:solidFill>
            </a:endParaRPr>
          </a:p>
          <a:p>
            <a:pPr algn="ctr"/>
            <a:r>
              <a:rPr lang="zh-CN" altLang="en-US" sz="1600" b="1" dirty="0">
                <a:solidFill>
                  <a:schemeClr val="bg1"/>
                </a:solidFill>
              </a:rPr>
              <a:t>度</a:t>
            </a:r>
          </a:p>
        </p:txBody>
      </p:sp>
      <p:pic>
        <p:nvPicPr>
          <p:cNvPr id="1037" name="Picture 13" descr="C:\Users\ZYC\Desktop\数据交换\图片\智慧环保.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382999" y="1143000"/>
            <a:ext cx="888642" cy="66567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C:\Users\ZYC\Desktop\数据交换\图片\智慧交通.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flipH="1">
            <a:off x="1432548" y="1157800"/>
            <a:ext cx="807451" cy="662524"/>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C:\Users\ZYC\Desktop\数据交换\图片\智慧农业.jp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467302" y="1143000"/>
            <a:ext cx="942898" cy="66567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C:\Users\ZYC\Desktop\数据交换\图片\智慧社区.jp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5562600" y="1143000"/>
            <a:ext cx="926387" cy="694173"/>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7" descr="C:\Users\ZYC\Desktop\数据交换\图片\智慧医疗.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430149" y="1150966"/>
            <a:ext cx="800450" cy="67619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C:\Users\ZYC\Desktop\数据交换\图片\智能分析.jp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659599" y="1143000"/>
            <a:ext cx="734435" cy="665674"/>
          </a:xfrm>
          <a:prstGeom prst="rect">
            <a:avLst/>
          </a:prstGeom>
          <a:noFill/>
          <a:extLst>
            <a:ext uri="{909E8E84-426E-40DD-AFC4-6F175D3DCCD1}">
              <a14:hiddenFill xmlns:a14="http://schemas.microsoft.com/office/drawing/2010/main">
                <a:solidFill>
                  <a:srgbClr val="FFFFFF"/>
                </a:solidFill>
              </a14:hiddenFill>
            </a:ext>
          </a:extLst>
        </p:spPr>
      </p:pic>
      <p:pic>
        <p:nvPicPr>
          <p:cNvPr id="1043" name="Picture 19" descr="C:\Users\ZYC\Desktop\数据交换\图片\移动终端.jp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581492" y="1150966"/>
            <a:ext cx="685800" cy="686207"/>
          </a:xfrm>
          <a:prstGeom prst="rect">
            <a:avLst/>
          </a:prstGeom>
          <a:noFill/>
          <a:extLst>
            <a:ext uri="{909E8E84-426E-40DD-AFC4-6F175D3DCCD1}">
              <a14:hiddenFill xmlns:a14="http://schemas.microsoft.com/office/drawing/2010/main">
                <a:solidFill>
                  <a:srgbClr val="FFFFFF"/>
                </a:solidFill>
              </a14:hiddenFill>
            </a:ext>
          </a:extLst>
        </p:spPr>
      </p:pic>
      <p:sp>
        <p:nvSpPr>
          <p:cNvPr id="54" name="圆柱形 53"/>
          <p:cNvSpPr/>
          <p:nvPr/>
        </p:nvSpPr>
        <p:spPr>
          <a:xfrm>
            <a:off x="3580044" y="3251223"/>
            <a:ext cx="641156" cy="304800"/>
          </a:xfrm>
          <a:prstGeom prst="can">
            <a:avLst/>
          </a:prstGeom>
          <a:solidFill>
            <a:schemeClr val="accent3">
              <a:lumMod val="65000"/>
            </a:schemeClr>
          </a:solidFill>
          <a:ln>
            <a:solidFill>
              <a:schemeClr val="accent3"/>
            </a:solidFill>
          </a:ln>
        </p:spPr>
        <p:style>
          <a:lnRef idx="1">
            <a:schemeClr val="accent6"/>
          </a:lnRef>
          <a:fillRef idx="2">
            <a:schemeClr val="accent6"/>
          </a:fillRef>
          <a:effectRef idx="1">
            <a:schemeClr val="accent6"/>
          </a:effectRef>
          <a:fontRef idx="minor">
            <a:schemeClr val="dk1"/>
          </a:fontRef>
        </p:style>
        <p:txBody>
          <a:bodyPr lIns="0" rIns="0" rtlCol="0" anchor="t" anchorCtr="0"/>
          <a:lstStyle/>
          <a:p>
            <a:pPr algn="ctr"/>
            <a:endParaRPr lang="zh-CN" altLang="en-US" sz="1600" dirty="0">
              <a:solidFill>
                <a:schemeClr val="tx1"/>
              </a:solidFill>
            </a:endParaRPr>
          </a:p>
        </p:txBody>
      </p:sp>
      <p:cxnSp>
        <p:nvCxnSpPr>
          <p:cNvPr id="13" name="直接连接符 12"/>
          <p:cNvCxnSpPr/>
          <p:nvPr/>
        </p:nvCxnSpPr>
        <p:spPr bwMode="auto">
          <a:xfrm>
            <a:off x="289484" y="5486400"/>
            <a:ext cx="8451273" cy="0"/>
          </a:xfrm>
          <a:prstGeom prst="line">
            <a:avLst/>
          </a:prstGeom>
          <a:ln>
            <a:solidFill>
              <a:srgbClr val="0070C0"/>
            </a:solidFill>
            <a:prstDash val="dash"/>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14" name="TextBox 13"/>
          <p:cNvSpPr txBox="1"/>
          <p:nvPr/>
        </p:nvSpPr>
        <p:spPr>
          <a:xfrm>
            <a:off x="212915" y="5824203"/>
            <a:ext cx="1126027" cy="369332"/>
          </a:xfrm>
          <a:prstGeom prst="rect">
            <a:avLst/>
          </a:prstGeom>
          <a:noFill/>
        </p:spPr>
        <p:txBody>
          <a:bodyPr wrap="square" rtlCol="0">
            <a:spAutoFit/>
          </a:bodyPr>
          <a:lstStyle/>
          <a:p>
            <a:r>
              <a:rPr lang="zh-CN" altLang="en-US" b="1" dirty="0">
                <a:solidFill>
                  <a:srgbClr val="0070C0"/>
                </a:solidFill>
                <a:latin typeface="+mj-ea"/>
                <a:ea typeface="+mj-ea"/>
              </a:rPr>
              <a:t>感知层</a:t>
            </a:r>
          </a:p>
        </p:txBody>
      </p:sp>
      <p:cxnSp>
        <p:nvCxnSpPr>
          <p:cNvPr id="59" name="直接连接符 58"/>
          <p:cNvCxnSpPr/>
          <p:nvPr/>
        </p:nvCxnSpPr>
        <p:spPr bwMode="auto">
          <a:xfrm>
            <a:off x="289484" y="4419600"/>
            <a:ext cx="8451273" cy="0"/>
          </a:xfrm>
          <a:prstGeom prst="line">
            <a:avLst/>
          </a:prstGeom>
          <a:ln>
            <a:solidFill>
              <a:srgbClr val="0070C0"/>
            </a:solidFill>
            <a:prstDash val="dash"/>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60" name="TextBox 59"/>
          <p:cNvSpPr txBox="1"/>
          <p:nvPr/>
        </p:nvSpPr>
        <p:spPr>
          <a:xfrm>
            <a:off x="196338" y="4757420"/>
            <a:ext cx="1126027" cy="369332"/>
          </a:xfrm>
          <a:prstGeom prst="rect">
            <a:avLst/>
          </a:prstGeom>
          <a:noFill/>
        </p:spPr>
        <p:txBody>
          <a:bodyPr wrap="square" rtlCol="0">
            <a:spAutoFit/>
          </a:bodyPr>
          <a:lstStyle/>
          <a:p>
            <a:r>
              <a:rPr lang="zh-CN" altLang="en-US" b="1" dirty="0">
                <a:solidFill>
                  <a:srgbClr val="0070C0"/>
                </a:solidFill>
                <a:latin typeface="+mj-ea"/>
                <a:ea typeface="+mj-ea"/>
              </a:rPr>
              <a:t>网络层</a:t>
            </a:r>
          </a:p>
        </p:txBody>
      </p:sp>
      <p:sp>
        <p:nvSpPr>
          <p:cNvPr id="61" name="TextBox 60"/>
          <p:cNvSpPr txBox="1"/>
          <p:nvPr/>
        </p:nvSpPr>
        <p:spPr>
          <a:xfrm>
            <a:off x="198401" y="3318341"/>
            <a:ext cx="1126027" cy="369332"/>
          </a:xfrm>
          <a:prstGeom prst="rect">
            <a:avLst/>
          </a:prstGeom>
          <a:noFill/>
        </p:spPr>
        <p:txBody>
          <a:bodyPr wrap="square" rtlCol="0">
            <a:spAutoFit/>
          </a:bodyPr>
          <a:lstStyle/>
          <a:p>
            <a:r>
              <a:rPr lang="zh-CN" altLang="en-US" b="1" dirty="0">
                <a:solidFill>
                  <a:srgbClr val="0070C0"/>
                </a:solidFill>
                <a:latin typeface="+mj-ea"/>
                <a:ea typeface="+mj-ea"/>
              </a:rPr>
              <a:t>平台层</a:t>
            </a:r>
          </a:p>
        </p:txBody>
      </p:sp>
      <p:sp>
        <p:nvSpPr>
          <p:cNvPr id="62" name="TextBox 61"/>
          <p:cNvSpPr txBox="1"/>
          <p:nvPr/>
        </p:nvSpPr>
        <p:spPr>
          <a:xfrm>
            <a:off x="199966" y="1541420"/>
            <a:ext cx="1126027" cy="369332"/>
          </a:xfrm>
          <a:prstGeom prst="rect">
            <a:avLst/>
          </a:prstGeom>
          <a:noFill/>
        </p:spPr>
        <p:txBody>
          <a:bodyPr wrap="square" rtlCol="0">
            <a:spAutoFit/>
          </a:bodyPr>
          <a:lstStyle/>
          <a:p>
            <a:r>
              <a:rPr lang="zh-CN" altLang="en-US" b="1" dirty="0">
                <a:solidFill>
                  <a:srgbClr val="0070C0"/>
                </a:solidFill>
                <a:latin typeface="+mj-ea"/>
                <a:ea typeface="+mj-ea"/>
              </a:rPr>
              <a:t>应用层</a:t>
            </a:r>
          </a:p>
        </p:txBody>
      </p:sp>
      <p:cxnSp>
        <p:nvCxnSpPr>
          <p:cNvPr id="63" name="直接连接符 62"/>
          <p:cNvCxnSpPr/>
          <p:nvPr/>
        </p:nvCxnSpPr>
        <p:spPr bwMode="auto">
          <a:xfrm>
            <a:off x="276259" y="2209800"/>
            <a:ext cx="8451273" cy="0"/>
          </a:xfrm>
          <a:prstGeom prst="line">
            <a:avLst/>
          </a:prstGeom>
          <a:ln>
            <a:solidFill>
              <a:srgbClr val="0070C0"/>
            </a:solidFill>
            <a:prstDash val="dash"/>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64" name="TextBox 63"/>
          <p:cNvSpPr txBox="1"/>
          <p:nvPr/>
        </p:nvSpPr>
        <p:spPr>
          <a:xfrm>
            <a:off x="1409313" y="1826040"/>
            <a:ext cx="1143000" cy="307777"/>
          </a:xfrm>
          <a:prstGeom prst="rect">
            <a:avLst/>
          </a:prstGeom>
          <a:noFill/>
        </p:spPr>
        <p:txBody>
          <a:bodyPr wrap="square" rtlCol="0">
            <a:spAutoFit/>
          </a:bodyPr>
          <a:lstStyle/>
          <a:p>
            <a:r>
              <a:rPr lang="zh-CN" altLang="en-US" sz="1400" dirty="0">
                <a:latin typeface="+mn-ea"/>
                <a:ea typeface="+mn-ea"/>
              </a:rPr>
              <a:t>智慧交通</a:t>
            </a:r>
          </a:p>
        </p:txBody>
      </p:sp>
      <p:sp>
        <p:nvSpPr>
          <p:cNvPr id="65" name="TextBox 64"/>
          <p:cNvSpPr txBox="1"/>
          <p:nvPr/>
        </p:nvSpPr>
        <p:spPr>
          <a:xfrm>
            <a:off x="2438400" y="1818780"/>
            <a:ext cx="1143000" cy="307777"/>
          </a:xfrm>
          <a:prstGeom prst="rect">
            <a:avLst/>
          </a:prstGeom>
          <a:noFill/>
        </p:spPr>
        <p:txBody>
          <a:bodyPr wrap="square" rtlCol="0">
            <a:spAutoFit/>
          </a:bodyPr>
          <a:lstStyle/>
          <a:p>
            <a:r>
              <a:rPr lang="zh-CN" altLang="en-US" sz="1400" dirty="0">
                <a:latin typeface="+mn-ea"/>
                <a:ea typeface="+mn-ea"/>
              </a:rPr>
              <a:t>智慧医疗</a:t>
            </a:r>
          </a:p>
        </p:txBody>
      </p:sp>
      <p:sp>
        <p:nvSpPr>
          <p:cNvPr id="66" name="TextBox 65"/>
          <p:cNvSpPr txBox="1"/>
          <p:nvPr/>
        </p:nvSpPr>
        <p:spPr>
          <a:xfrm>
            <a:off x="6582228" y="1834196"/>
            <a:ext cx="921893" cy="307777"/>
          </a:xfrm>
          <a:prstGeom prst="rect">
            <a:avLst/>
          </a:prstGeom>
          <a:noFill/>
        </p:spPr>
        <p:txBody>
          <a:bodyPr wrap="square" rtlCol="0">
            <a:spAutoFit/>
          </a:bodyPr>
          <a:lstStyle/>
          <a:p>
            <a:r>
              <a:rPr lang="zh-CN" altLang="en-US" sz="1400" dirty="0">
                <a:latin typeface="+mn-ea"/>
                <a:ea typeface="+mn-ea"/>
              </a:rPr>
              <a:t>决策支持</a:t>
            </a:r>
          </a:p>
        </p:txBody>
      </p:sp>
      <p:sp>
        <p:nvSpPr>
          <p:cNvPr id="67" name="TextBox 66"/>
          <p:cNvSpPr txBox="1"/>
          <p:nvPr/>
        </p:nvSpPr>
        <p:spPr>
          <a:xfrm>
            <a:off x="3429000" y="1823523"/>
            <a:ext cx="1143000" cy="307777"/>
          </a:xfrm>
          <a:prstGeom prst="rect">
            <a:avLst/>
          </a:prstGeom>
          <a:noFill/>
        </p:spPr>
        <p:txBody>
          <a:bodyPr wrap="square" rtlCol="0">
            <a:spAutoFit/>
          </a:bodyPr>
          <a:lstStyle/>
          <a:p>
            <a:r>
              <a:rPr lang="zh-CN" altLang="en-US" sz="1400" dirty="0">
                <a:latin typeface="+mn-ea"/>
                <a:ea typeface="+mn-ea"/>
              </a:rPr>
              <a:t>智慧环保</a:t>
            </a:r>
          </a:p>
        </p:txBody>
      </p:sp>
      <p:sp>
        <p:nvSpPr>
          <p:cNvPr id="68" name="TextBox 67"/>
          <p:cNvSpPr txBox="1"/>
          <p:nvPr/>
        </p:nvSpPr>
        <p:spPr>
          <a:xfrm>
            <a:off x="5608601" y="1827153"/>
            <a:ext cx="1143000" cy="307777"/>
          </a:xfrm>
          <a:prstGeom prst="rect">
            <a:avLst/>
          </a:prstGeom>
          <a:noFill/>
        </p:spPr>
        <p:txBody>
          <a:bodyPr wrap="square" rtlCol="0">
            <a:spAutoFit/>
          </a:bodyPr>
          <a:lstStyle/>
          <a:p>
            <a:r>
              <a:rPr lang="zh-CN" altLang="en-US" sz="1400" dirty="0">
                <a:latin typeface="+mn-ea"/>
                <a:ea typeface="+mn-ea"/>
              </a:rPr>
              <a:t>智慧社区</a:t>
            </a:r>
          </a:p>
        </p:txBody>
      </p:sp>
      <p:sp>
        <p:nvSpPr>
          <p:cNvPr id="69" name="TextBox 68"/>
          <p:cNvSpPr txBox="1"/>
          <p:nvPr/>
        </p:nvSpPr>
        <p:spPr>
          <a:xfrm>
            <a:off x="4495800" y="1817612"/>
            <a:ext cx="1143000" cy="307777"/>
          </a:xfrm>
          <a:prstGeom prst="rect">
            <a:avLst/>
          </a:prstGeom>
          <a:noFill/>
        </p:spPr>
        <p:txBody>
          <a:bodyPr wrap="square" rtlCol="0">
            <a:spAutoFit/>
          </a:bodyPr>
          <a:lstStyle/>
          <a:p>
            <a:r>
              <a:rPr lang="zh-CN" altLang="en-US" sz="1400" dirty="0">
                <a:latin typeface="+mn-ea"/>
                <a:ea typeface="+mn-ea"/>
              </a:rPr>
              <a:t>智慧农业</a:t>
            </a:r>
          </a:p>
        </p:txBody>
      </p:sp>
      <p:sp>
        <p:nvSpPr>
          <p:cNvPr id="70" name="TextBox 69"/>
          <p:cNvSpPr txBox="1"/>
          <p:nvPr/>
        </p:nvSpPr>
        <p:spPr>
          <a:xfrm>
            <a:off x="7543800" y="1837173"/>
            <a:ext cx="921893" cy="307777"/>
          </a:xfrm>
          <a:prstGeom prst="rect">
            <a:avLst/>
          </a:prstGeom>
          <a:noFill/>
        </p:spPr>
        <p:txBody>
          <a:bodyPr wrap="square" rtlCol="0">
            <a:spAutoFit/>
          </a:bodyPr>
          <a:lstStyle/>
          <a:p>
            <a:r>
              <a:rPr lang="zh-CN" altLang="en-US" sz="1400" dirty="0">
                <a:latin typeface="+mn-ea"/>
                <a:ea typeface="+mn-ea"/>
              </a:rPr>
              <a:t>移动终端</a:t>
            </a:r>
          </a:p>
        </p:txBody>
      </p:sp>
      <p:sp>
        <p:nvSpPr>
          <p:cNvPr id="15" name="矩形 14"/>
          <p:cNvSpPr/>
          <p:nvPr/>
        </p:nvSpPr>
        <p:spPr>
          <a:xfrm>
            <a:off x="1030024" y="2164187"/>
            <a:ext cx="7809176" cy="2371975"/>
          </a:xfrm>
          <a:prstGeom prst="rect">
            <a:avLst/>
          </a:prstGeom>
          <a:noFill/>
          <a:ln w="28575">
            <a:solidFill>
              <a:srgbClr val="FF0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Tree>
    <p:extLst>
      <p:ext uri="{BB962C8B-B14F-4D97-AF65-F5344CB8AC3E}">
        <p14:creationId xmlns:p14="http://schemas.microsoft.com/office/powerpoint/2010/main" val="1351956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p:cNvSpPr>
            <a:spLocks noChangeArrowheads="1"/>
          </p:cNvSpPr>
          <p:nvPr/>
        </p:nvSpPr>
        <p:spPr bwMode="auto">
          <a:xfrm>
            <a:off x="379442" y="1457302"/>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a:solidFill>
                  <a:schemeClr val="bg1"/>
                </a:solidFill>
                <a:latin typeface="+mn-ea"/>
              </a:rPr>
              <a:t>1</a:t>
            </a:r>
          </a:p>
        </p:txBody>
      </p:sp>
      <p:sp>
        <p:nvSpPr>
          <p:cNvPr id="408579" name="Freeform 4"/>
          <p:cNvSpPr>
            <a:spLocks/>
          </p:cNvSpPr>
          <p:nvPr/>
        </p:nvSpPr>
        <p:spPr bwMode="auto">
          <a:xfrm>
            <a:off x="1143000" y="1457302"/>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chemeClr val="bg1"/>
          </a:solidFill>
          <a:ln w="3175" algn="ctr">
            <a:solidFill>
              <a:srgbClr val="C0C0C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408580" name="Rectangle 5"/>
          <p:cNvSpPr>
            <a:spLocks noChangeArrowheads="1"/>
          </p:cNvSpPr>
          <p:nvPr/>
        </p:nvSpPr>
        <p:spPr bwMode="auto">
          <a:xfrm>
            <a:off x="1476828" y="1511277"/>
            <a:ext cx="7100888" cy="546100"/>
          </a:xfrm>
          <a:prstGeom prst="rect">
            <a:avLst/>
          </a:prstGeom>
          <a:noFill/>
          <a:ln w="6350">
            <a:noFill/>
            <a:miter lim="800000"/>
            <a:headEnd/>
            <a:tailEnd/>
          </a:ln>
        </p:spPr>
        <p:txBody>
          <a:bodyPr lIns="0" tIns="0" rIns="0" bIns="0" anchor="ctr"/>
          <a:lstStyle/>
          <a:p>
            <a:pPr marL="190500" lvl="1" indent="266700">
              <a:spcBef>
                <a:spcPct val="20000"/>
              </a:spcBef>
              <a:tabLst>
                <a:tab pos="8521700" algn="r"/>
              </a:tabLst>
            </a:pPr>
            <a:r>
              <a:rPr kumimoji="1" lang="zh-CN" altLang="en-US" sz="2400" b="1" dirty="0">
                <a:latin typeface="+mn-ea"/>
                <a:ea typeface="+mn-ea"/>
              </a:rPr>
              <a:t>智慧城市信息资源交换平台建设背景</a:t>
            </a:r>
            <a:endParaRPr kumimoji="1" lang="zh-CN" altLang="de-DE" sz="2400" b="1" dirty="0">
              <a:latin typeface="+mn-ea"/>
              <a:ea typeface="+mn-ea"/>
            </a:endParaRPr>
          </a:p>
        </p:txBody>
      </p:sp>
      <p:sp>
        <p:nvSpPr>
          <p:cNvPr id="408581" name="Rectangle 2"/>
          <p:cNvSpPr>
            <a:spLocks noGrp="1" noChangeArrowheads="1"/>
          </p:cNvSpPr>
          <p:nvPr>
            <p:ph type="title" idx="4294967295"/>
          </p:nvPr>
        </p:nvSpPr>
        <p:spPr>
          <a:xfrm>
            <a:off x="352455" y="152400"/>
            <a:ext cx="8280400" cy="596900"/>
          </a:xfrm>
        </p:spPr>
        <p:txBody>
          <a:bodyPr/>
          <a:lstStyle/>
          <a:p>
            <a:r>
              <a:rPr lang="zh-CN" altLang="en-US" sz="3200" dirty="0">
                <a:latin typeface="+mn-ea"/>
                <a:ea typeface="+mn-ea"/>
              </a:rPr>
              <a:t>提纲</a:t>
            </a:r>
          </a:p>
        </p:txBody>
      </p:sp>
      <p:sp>
        <p:nvSpPr>
          <p:cNvPr id="2" name="AutoShape 2"/>
          <p:cNvSpPr>
            <a:spLocks noChangeArrowheads="1"/>
          </p:cNvSpPr>
          <p:nvPr/>
        </p:nvSpPr>
        <p:spPr bwMode="auto">
          <a:xfrm>
            <a:off x="379442" y="2243120"/>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a:solidFill>
                  <a:srgbClr val="FFFFFF"/>
                </a:solidFill>
                <a:latin typeface="+mn-ea"/>
              </a:rPr>
              <a:t>2</a:t>
            </a:r>
          </a:p>
        </p:txBody>
      </p:sp>
      <p:sp>
        <p:nvSpPr>
          <p:cNvPr id="408583" name="Freeform 4"/>
          <p:cNvSpPr>
            <a:spLocks/>
          </p:cNvSpPr>
          <p:nvPr/>
        </p:nvSpPr>
        <p:spPr bwMode="auto">
          <a:xfrm>
            <a:off x="1171605" y="2243120"/>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00B0F0"/>
          </a:solidFill>
          <a:ln w="3175" algn="ctr">
            <a:solidFill>
              <a:srgbClr val="00B0F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408584" name="Rectangle 5"/>
          <p:cNvSpPr>
            <a:spLocks noChangeArrowheads="1"/>
          </p:cNvSpPr>
          <p:nvPr/>
        </p:nvSpPr>
        <p:spPr bwMode="auto">
          <a:xfrm>
            <a:off x="1488425" y="2297095"/>
            <a:ext cx="7100888" cy="546100"/>
          </a:xfrm>
          <a:prstGeom prst="rect">
            <a:avLst/>
          </a:prstGeom>
          <a:noFill/>
          <a:ln w="6350" algn="ctr">
            <a:noFill/>
            <a:miter lim="800000"/>
            <a:headEnd/>
            <a:tailEnd/>
          </a:ln>
          <a:effectLst/>
        </p:spPr>
        <p:txBody>
          <a:bodyPr lIns="0" tIns="0" rIns="0" bIns="0" anchor="ctr"/>
          <a:lstStyle/>
          <a:p>
            <a:pPr marL="190500" lvl="1" indent="266700">
              <a:spcBef>
                <a:spcPct val="20000"/>
              </a:spcBef>
              <a:tabLst>
                <a:tab pos="8521700" algn="r"/>
              </a:tabLst>
            </a:pPr>
            <a:r>
              <a:rPr kumimoji="1" lang="zh-CN" altLang="en-US" sz="2400" b="1" dirty="0">
                <a:solidFill>
                  <a:schemeClr val="bg1"/>
                </a:solidFill>
                <a:latin typeface="+mn-ea"/>
                <a:ea typeface="+mn-ea"/>
              </a:rPr>
              <a:t>智慧城市信息资源交换平台总体方案</a:t>
            </a:r>
            <a:endParaRPr kumimoji="1" lang="zh-CN" altLang="de-DE" sz="2400" b="1" dirty="0">
              <a:solidFill>
                <a:schemeClr val="bg1"/>
              </a:solidFill>
              <a:latin typeface="+mn-ea"/>
              <a:ea typeface="+mn-ea"/>
            </a:endParaRPr>
          </a:p>
        </p:txBody>
      </p:sp>
      <p:sp>
        <p:nvSpPr>
          <p:cNvPr id="24" name="AutoShape 2"/>
          <p:cNvSpPr>
            <a:spLocks noChangeArrowheads="1"/>
          </p:cNvSpPr>
          <p:nvPr/>
        </p:nvSpPr>
        <p:spPr bwMode="auto">
          <a:xfrm>
            <a:off x="363596" y="2995614"/>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dirty="0">
                <a:solidFill>
                  <a:srgbClr val="FFFFFF"/>
                </a:solidFill>
                <a:latin typeface="+mn-ea"/>
              </a:rPr>
              <a:t>3</a:t>
            </a:r>
          </a:p>
        </p:txBody>
      </p:sp>
      <p:sp>
        <p:nvSpPr>
          <p:cNvPr id="25" name="Freeform 4"/>
          <p:cNvSpPr>
            <a:spLocks/>
          </p:cNvSpPr>
          <p:nvPr/>
        </p:nvSpPr>
        <p:spPr bwMode="auto">
          <a:xfrm>
            <a:off x="1165284" y="3009903"/>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chemeClr val="bg1"/>
          </a:solidFill>
          <a:ln w="3175" algn="ctr">
            <a:solidFill>
              <a:srgbClr val="C0C0C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26" name="Rectangle 5"/>
          <p:cNvSpPr>
            <a:spLocks noChangeArrowheads="1"/>
          </p:cNvSpPr>
          <p:nvPr/>
        </p:nvSpPr>
        <p:spPr bwMode="auto">
          <a:xfrm>
            <a:off x="1516121" y="3049589"/>
            <a:ext cx="7100888" cy="546100"/>
          </a:xfrm>
          <a:prstGeom prst="rect">
            <a:avLst/>
          </a:prstGeom>
          <a:noFill/>
          <a:ln w="6350" algn="ctr">
            <a:noFill/>
            <a:miter lim="800000"/>
            <a:headEnd/>
            <a:tailEnd/>
          </a:ln>
          <a:effectLst/>
        </p:spPr>
        <p:txBody>
          <a:bodyPr lIns="0" tIns="0" rIns="0" bIns="0" anchor="ctr"/>
          <a:lstStyle/>
          <a:p>
            <a:pPr marL="190500" lvl="1" indent="266700">
              <a:spcBef>
                <a:spcPct val="20000"/>
              </a:spcBef>
              <a:tabLst>
                <a:tab pos="8521700" algn="r"/>
              </a:tabLst>
            </a:pPr>
            <a:r>
              <a:rPr kumimoji="1" lang="zh-CN" altLang="en-US" sz="2400" b="1" dirty="0">
                <a:latin typeface="+mn-ea"/>
                <a:ea typeface="+mn-ea"/>
              </a:rPr>
              <a:t>智慧城市信息资源交换平台应用场景</a:t>
            </a:r>
            <a:endParaRPr kumimoji="1" lang="zh-CN" altLang="de-DE" sz="2400" b="1" dirty="0">
              <a:latin typeface="+mn-ea"/>
              <a:ea typeface="+mn-ea"/>
            </a:endParaRPr>
          </a:p>
        </p:txBody>
      </p:sp>
      <p:sp>
        <p:nvSpPr>
          <p:cNvPr id="12" name="AutoShape 2"/>
          <p:cNvSpPr>
            <a:spLocks noChangeArrowheads="1"/>
          </p:cNvSpPr>
          <p:nvPr/>
        </p:nvSpPr>
        <p:spPr bwMode="auto">
          <a:xfrm>
            <a:off x="363596" y="3781432"/>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dirty="0">
                <a:solidFill>
                  <a:srgbClr val="FFFFFF"/>
                </a:solidFill>
                <a:latin typeface="+mn-ea"/>
              </a:rPr>
              <a:t>4</a:t>
            </a:r>
          </a:p>
        </p:txBody>
      </p:sp>
      <p:sp>
        <p:nvSpPr>
          <p:cNvPr id="13" name="Freeform 4"/>
          <p:cNvSpPr>
            <a:spLocks/>
          </p:cNvSpPr>
          <p:nvPr/>
        </p:nvSpPr>
        <p:spPr bwMode="auto">
          <a:xfrm>
            <a:off x="1155759" y="3781432"/>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chemeClr val="bg1"/>
          </a:solidFill>
          <a:ln w="3175" algn="ctr">
            <a:solidFill>
              <a:srgbClr val="C0C0C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14" name="Rectangle 5"/>
          <p:cNvSpPr>
            <a:spLocks noChangeArrowheads="1"/>
          </p:cNvSpPr>
          <p:nvPr/>
        </p:nvSpPr>
        <p:spPr bwMode="auto">
          <a:xfrm>
            <a:off x="1516121" y="3835407"/>
            <a:ext cx="7100888" cy="546100"/>
          </a:xfrm>
          <a:prstGeom prst="rect">
            <a:avLst/>
          </a:prstGeom>
          <a:noFill/>
          <a:ln w="6350" algn="ctr">
            <a:noFill/>
            <a:miter lim="800000"/>
            <a:headEnd/>
            <a:tailEnd/>
          </a:ln>
          <a:effectLst/>
        </p:spPr>
        <p:txBody>
          <a:bodyPr lIns="0" tIns="0" rIns="0" bIns="0" anchor="ctr"/>
          <a:lstStyle/>
          <a:p>
            <a:pPr marL="190500" lvl="1" indent="266700">
              <a:spcBef>
                <a:spcPct val="20000"/>
              </a:spcBef>
              <a:tabLst>
                <a:tab pos="8521700" algn="r"/>
              </a:tabLst>
            </a:pPr>
            <a:r>
              <a:rPr kumimoji="1" lang="zh-CN" altLang="en-US" sz="2400" b="1" dirty="0">
                <a:latin typeface="+mn-ea"/>
                <a:ea typeface="+mn-ea"/>
              </a:rPr>
              <a:t>智慧城市信息资源交换平台关键特性</a:t>
            </a:r>
            <a:endParaRPr kumimoji="1" lang="zh-CN" altLang="de-DE" sz="2400" b="1" dirty="0">
              <a:latin typeface="+mn-ea"/>
              <a:ea typeface="+mn-ea"/>
            </a:endParaRPr>
          </a:p>
        </p:txBody>
      </p:sp>
      <p:sp>
        <p:nvSpPr>
          <p:cNvPr id="18" name="灯片编号占位符 3"/>
          <p:cNvSpPr txBox="1">
            <a:spLocks/>
          </p:cNvSpPr>
          <p:nvPr/>
        </p:nvSpPr>
        <p:spPr>
          <a:xfrm>
            <a:off x="3429000" y="6245225"/>
            <a:ext cx="2133600" cy="476250"/>
          </a:xfrm>
          <a:prstGeom prst="rect">
            <a:avLst/>
          </a:prstGeom>
        </p:spPr>
        <p:txBody>
          <a:bodyPr/>
          <a:lstStyle>
            <a:defPPr>
              <a:defRPr lang="en-US"/>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fld id="{BD61978C-FD3D-4268-8D6C-034E9AD544A3}" type="slidenum">
              <a:rPr lang="en-US" altLang="zh-CN" smtClean="0">
                <a:latin typeface="+mn-ea"/>
                <a:ea typeface="+mn-ea"/>
              </a:rPr>
              <a:pPr algn="ctr"/>
              <a:t>9</a:t>
            </a:fld>
            <a:endParaRPr lang="en-US" altLang="zh-CN">
              <a:latin typeface="+mn-ea"/>
              <a:ea typeface="+mn-ea"/>
            </a:endParaRPr>
          </a:p>
        </p:txBody>
      </p:sp>
    </p:spTree>
    <p:extLst>
      <p:ext uri="{BB962C8B-B14F-4D97-AF65-F5344CB8AC3E}">
        <p14:creationId xmlns:p14="http://schemas.microsoft.com/office/powerpoint/2010/main" val="182642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矩形 164"/>
          <p:cNvSpPr/>
          <p:nvPr/>
        </p:nvSpPr>
        <p:spPr>
          <a:xfrm>
            <a:off x="2079711" y="3405786"/>
            <a:ext cx="5362432" cy="805702"/>
          </a:xfrm>
          <a:prstGeom prst="rect">
            <a:avLst/>
          </a:prstGeom>
          <a:solidFill>
            <a:schemeClr val="bg1">
              <a:lumMod val="95000"/>
            </a:schemeClr>
          </a:solidFill>
          <a:ln>
            <a:solidFill>
              <a:schemeClr val="bg1">
                <a:lumMod val="95000"/>
              </a:schemeClr>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dirty="0">
              <a:latin typeface="+mn-ea"/>
            </a:endParaRPr>
          </a:p>
        </p:txBody>
      </p:sp>
      <p:sp>
        <p:nvSpPr>
          <p:cNvPr id="527362" name="Rectangle 2"/>
          <p:cNvSpPr>
            <a:spLocks noGrp="1" noChangeArrowheads="1"/>
          </p:cNvSpPr>
          <p:nvPr>
            <p:ph type="title"/>
          </p:nvPr>
        </p:nvSpPr>
        <p:spPr>
          <a:xfrm>
            <a:off x="304800" y="228600"/>
            <a:ext cx="8991600" cy="411162"/>
          </a:xfrm>
        </p:spPr>
        <p:txBody>
          <a:bodyPr/>
          <a:lstStyle/>
          <a:p>
            <a:pPr>
              <a:defRPr/>
            </a:pPr>
            <a:r>
              <a:rPr lang="zh-CN" altLang="en-US" sz="3200" dirty="0">
                <a:latin typeface="+mn-ea"/>
                <a:ea typeface="+mn-ea"/>
              </a:rPr>
              <a:t>信息资源交换平台体系结构</a:t>
            </a:r>
          </a:p>
        </p:txBody>
      </p:sp>
      <p:sp>
        <p:nvSpPr>
          <p:cNvPr id="7" name="Rectangle 22"/>
          <p:cNvSpPr>
            <a:spLocks noChangeArrowheads="1"/>
          </p:cNvSpPr>
          <p:nvPr/>
        </p:nvSpPr>
        <p:spPr bwMode="auto">
          <a:xfrm>
            <a:off x="-104775" y="965200"/>
            <a:ext cx="9848850"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90000"/>
              </a:lnSpc>
            </a:pPr>
            <a:endParaRPr lang="zh-CN" sz="2400" dirty="0">
              <a:latin typeface="+mn-ea"/>
              <a:ea typeface="+mn-ea"/>
            </a:endParaRPr>
          </a:p>
        </p:txBody>
      </p:sp>
      <p:sp>
        <p:nvSpPr>
          <p:cNvPr id="175" name="矩形 174"/>
          <p:cNvSpPr/>
          <p:nvPr/>
        </p:nvSpPr>
        <p:spPr>
          <a:xfrm>
            <a:off x="571500" y="685800"/>
            <a:ext cx="8487736" cy="1210127"/>
          </a:xfrm>
          <a:prstGeom prst="rect">
            <a:avLst/>
          </a:prstGeom>
          <a:solidFill>
            <a:schemeClr val="bg1">
              <a:lumMod val="95000"/>
            </a:schemeClr>
          </a:solidFill>
          <a:ln>
            <a:solidFill>
              <a:schemeClr val="bg1">
                <a:lumMod val="95000"/>
              </a:schemeClr>
            </a:solidFill>
          </a:ln>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dirty="0">
              <a:latin typeface="+mn-ea"/>
            </a:endParaRPr>
          </a:p>
        </p:txBody>
      </p:sp>
      <p:sp>
        <p:nvSpPr>
          <p:cNvPr id="176" name="矩形 175"/>
          <p:cNvSpPr/>
          <p:nvPr/>
        </p:nvSpPr>
        <p:spPr>
          <a:xfrm>
            <a:off x="586645" y="1968500"/>
            <a:ext cx="1445355" cy="850900"/>
          </a:xfrm>
          <a:prstGeom prst="rect">
            <a:avLst/>
          </a:prstGeom>
          <a:solidFill>
            <a:schemeClr val="accent2">
              <a:lumMod val="60000"/>
              <a:lumOff val="40000"/>
            </a:schemeClr>
          </a:solidFill>
          <a:ln>
            <a:solidFill>
              <a:schemeClr val="tx2">
                <a:lumMod val="20000"/>
                <a:lumOff val="80000"/>
              </a:schemeClr>
            </a:solidFill>
          </a:ln>
        </p:spPr>
        <p:style>
          <a:lnRef idx="1">
            <a:schemeClr val="accent3"/>
          </a:lnRef>
          <a:fillRef idx="2">
            <a:schemeClr val="accent3"/>
          </a:fillRef>
          <a:effectRef idx="1">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b="1" dirty="0">
                <a:solidFill>
                  <a:schemeClr val="bg1"/>
                </a:solidFill>
                <a:latin typeface="+mn-ea"/>
              </a:rPr>
              <a:t>平台监控</a:t>
            </a:r>
            <a:endParaRPr lang="en-US" altLang="zh-CN" b="1" dirty="0">
              <a:solidFill>
                <a:schemeClr val="bg1"/>
              </a:solidFill>
              <a:latin typeface="+mn-ea"/>
            </a:endParaRPr>
          </a:p>
          <a:p>
            <a:pPr algn="ctr"/>
            <a:r>
              <a:rPr lang="zh-CN" altLang="en-US" b="1" dirty="0">
                <a:solidFill>
                  <a:schemeClr val="bg1"/>
                </a:solidFill>
                <a:latin typeface="+mn-ea"/>
              </a:rPr>
              <a:t>管理系统</a:t>
            </a:r>
          </a:p>
        </p:txBody>
      </p:sp>
      <p:sp>
        <p:nvSpPr>
          <p:cNvPr id="177" name="矩形 176"/>
          <p:cNvSpPr/>
          <p:nvPr/>
        </p:nvSpPr>
        <p:spPr>
          <a:xfrm>
            <a:off x="571500" y="4784730"/>
            <a:ext cx="1457418" cy="1879292"/>
          </a:xfrm>
          <a:prstGeom prst="rect">
            <a:avLst/>
          </a:prstGeom>
          <a:solidFill>
            <a:schemeClr val="accent1">
              <a:lumMod val="50000"/>
            </a:schemeClr>
          </a:solidFill>
          <a:ln>
            <a:solidFill>
              <a:schemeClr val="accent1">
                <a:lumMod val="50000"/>
              </a:schemeClr>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b="1" dirty="0">
                <a:solidFill>
                  <a:schemeClr val="bg1"/>
                </a:solidFill>
                <a:latin typeface="+mn-ea"/>
              </a:rPr>
              <a:t>标准规范</a:t>
            </a:r>
            <a:endParaRPr lang="en-US" altLang="zh-CN" b="1" dirty="0">
              <a:solidFill>
                <a:schemeClr val="bg1"/>
              </a:solidFill>
              <a:latin typeface="+mn-ea"/>
            </a:endParaRPr>
          </a:p>
          <a:p>
            <a:pPr algn="ctr"/>
            <a:r>
              <a:rPr lang="zh-CN" altLang="en-US" b="1" dirty="0">
                <a:solidFill>
                  <a:schemeClr val="bg1"/>
                </a:solidFill>
                <a:latin typeface="+mn-ea"/>
              </a:rPr>
              <a:t>建设</a:t>
            </a:r>
          </a:p>
        </p:txBody>
      </p:sp>
      <p:sp>
        <p:nvSpPr>
          <p:cNvPr id="179" name="TextBox 178"/>
          <p:cNvSpPr txBox="1"/>
          <p:nvPr/>
        </p:nvSpPr>
        <p:spPr>
          <a:xfrm>
            <a:off x="4191000" y="685800"/>
            <a:ext cx="1404941" cy="33855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latin typeface="+mn-ea"/>
              </a:rPr>
              <a:t>智慧应用</a:t>
            </a:r>
          </a:p>
        </p:txBody>
      </p:sp>
      <p:sp>
        <p:nvSpPr>
          <p:cNvPr id="187" name="矩形 186"/>
          <p:cNvSpPr/>
          <p:nvPr/>
        </p:nvSpPr>
        <p:spPr>
          <a:xfrm>
            <a:off x="2085230" y="2578411"/>
            <a:ext cx="5356912" cy="728675"/>
          </a:xfrm>
          <a:prstGeom prst="rect">
            <a:avLst/>
          </a:prstGeom>
          <a:solidFill>
            <a:schemeClr val="bg1">
              <a:lumMod val="95000"/>
            </a:schemeClr>
          </a:solidFill>
          <a:ln>
            <a:solidFill>
              <a:schemeClr val="bg1">
                <a:lumMod val="95000"/>
              </a:schemeClr>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a:latin typeface="+mn-ea"/>
            </a:endParaRPr>
          </a:p>
        </p:txBody>
      </p:sp>
      <p:sp>
        <p:nvSpPr>
          <p:cNvPr id="188" name="流程图: 磁盘 187"/>
          <p:cNvSpPr/>
          <p:nvPr/>
        </p:nvSpPr>
        <p:spPr>
          <a:xfrm>
            <a:off x="6322560" y="2795462"/>
            <a:ext cx="1003522" cy="443417"/>
          </a:xfrm>
          <a:prstGeom prst="flowChartMagneticDisk">
            <a:avLst/>
          </a:prstGeom>
          <a:solidFill>
            <a:schemeClr val="accent1">
              <a:lumMod val="50000"/>
            </a:schemeClr>
          </a:solidFill>
          <a:ln w="19050"/>
        </p:spPr>
        <p:style>
          <a:lnRef idx="3">
            <a:schemeClr val="lt1"/>
          </a:lnRef>
          <a:fillRef idx="1">
            <a:schemeClr val="accent4"/>
          </a:fillRef>
          <a:effectRef idx="1">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b="1" dirty="0">
                <a:solidFill>
                  <a:schemeClr val="bg1"/>
                </a:solidFill>
                <a:latin typeface="+mn-ea"/>
              </a:rPr>
              <a:t>元数据库</a:t>
            </a:r>
          </a:p>
        </p:txBody>
      </p:sp>
      <p:sp>
        <p:nvSpPr>
          <p:cNvPr id="189" name="流程图: 磁盘 188"/>
          <p:cNvSpPr/>
          <p:nvPr/>
        </p:nvSpPr>
        <p:spPr>
          <a:xfrm>
            <a:off x="2109670" y="2791572"/>
            <a:ext cx="1153875" cy="455423"/>
          </a:xfrm>
          <a:prstGeom prst="flowChartMagneticDisk">
            <a:avLst/>
          </a:prstGeom>
          <a:solidFill>
            <a:schemeClr val="bg1">
              <a:lumMod val="65000"/>
            </a:schemeClr>
          </a:solidFill>
          <a:ln w="19050"/>
        </p:spPr>
        <p:style>
          <a:lnRef idx="3">
            <a:schemeClr val="lt1"/>
          </a:lnRef>
          <a:fillRef idx="1">
            <a:schemeClr val="accent4"/>
          </a:fillRef>
          <a:effectRef idx="1">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b="1" dirty="0">
                <a:solidFill>
                  <a:schemeClr val="bg1"/>
                </a:solidFill>
                <a:latin typeface="+mn-ea"/>
              </a:rPr>
              <a:t>人口库</a:t>
            </a:r>
          </a:p>
        </p:txBody>
      </p:sp>
      <p:sp>
        <p:nvSpPr>
          <p:cNvPr id="190" name="流程图: 磁盘 189"/>
          <p:cNvSpPr/>
          <p:nvPr/>
        </p:nvSpPr>
        <p:spPr>
          <a:xfrm>
            <a:off x="3208958" y="2795462"/>
            <a:ext cx="1108635" cy="443417"/>
          </a:xfrm>
          <a:prstGeom prst="flowChartMagneticDisk">
            <a:avLst/>
          </a:prstGeom>
          <a:solidFill>
            <a:schemeClr val="bg1">
              <a:lumMod val="65000"/>
            </a:schemeClr>
          </a:solidFill>
          <a:ln w="19050"/>
        </p:spPr>
        <p:style>
          <a:lnRef idx="3">
            <a:schemeClr val="lt1"/>
          </a:lnRef>
          <a:fillRef idx="1">
            <a:schemeClr val="accent4"/>
          </a:fillRef>
          <a:effectRef idx="1">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b="1" dirty="0">
                <a:solidFill>
                  <a:schemeClr val="bg1"/>
                </a:solidFill>
                <a:latin typeface="+mn-ea"/>
              </a:rPr>
              <a:t>法人库</a:t>
            </a:r>
          </a:p>
        </p:txBody>
      </p:sp>
      <p:sp>
        <p:nvSpPr>
          <p:cNvPr id="191" name="流程图: 磁盘 190"/>
          <p:cNvSpPr/>
          <p:nvPr/>
        </p:nvSpPr>
        <p:spPr>
          <a:xfrm>
            <a:off x="4275758" y="2801020"/>
            <a:ext cx="1108635" cy="437330"/>
          </a:xfrm>
          <a:prstGeom prst="flowChartMagneticDisk">
            <a:avLst/>
          </a:prstGeom>
          <a:solidFill>
            <a:schemeClr val="bg1">
              <a:lumMod val="65000"/>
            </a:schemeClr>
          </a:solidFill>
          <a:ln w="19050"/>
        </p:spPr>
        <p:style>
          <a:lnRef idx="3">
            <a:schemeClr val="lt1"/>
          </a:lnRef>
          <a:fillRef idx="1">
            <a:schemeClr val="accent4"/>
          </a:fillRef>
          <a:effectRef idx="1">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b="1" dirty="0">
                <a:solidFill>
                  <a:schemeClr val="bg1"/>
                </a:solidFill>
                <a:latin typeface="+mn-ea"/>
              </a:rPr>
              <a:t>空间地理库</a:t>
            </a:r>
          </a:p>
        </p:txBody>
      </p:sp>
      <p:sp>
        <p:nvSpPr>
          <p:cNvPr id="205" name="矩形 204"/>
          <p:cNvSpPr/>
          <p:nvPr/>
        </p:nvSpPr>
        <p:spPr>
          <a:xfrm>
            <a:off x="7026424" y="4802014"/>
            <a:ext cx="1584176" cy="1524000"/>
          </a:xfrm>
          <a:prstGeom prst="rect">
            <a:avLst/>
          </a:prstGeom>
          <a:solidFill>
            <a:schemeClr val="accent1">
              <a:lumMod val="20000"/>
              <a:lumOff val="80000"/>
            </a:schemeClr>
          </a:solidFill>
          <a:ln>
            <a:solidFill>
              <a:schemeClr val="accent1">
                <a:lumMod val="20000"/>
                <a:lumOff val="80000"/>
              </a:schemeClr>
            </a:solidFill>
            <a:prstDash val="dash"/>
          </a:ln>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sz="1400" dirty="0">
              <a:solidFill>
                <a:schemeClr val="tx1"/>
              </a:solidFill>
              <a:latin typeface="+mn-ea"/>
            </a:endParaRPr>
          </a:p>
        </p:txBody>
      </p:sp>
      <p:sp>
        <p:nvSpPr>
          <p:cNvPr id="206" name="立方体 205"/>
          <p:cNvSpPr/>
          <p:nvPr/>
        </p:nvSpPr>
        <p:spPr>
          <a:xfrm>
            <a:off x="7175876" y="5316528"/>
            <a:ext cx="1201296" cy="476086"/>
          </a:xfrm>
          <a:prstGeom prst="cube">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b="1" dirty="0">
                <a:solidFill>
                  <a:schemeClr val="bg1"/>
                </a:solidFill>
                <a:latin typeface="+mn-ea"/>
              </a:rPr>
              <a:t>委办局</a:t>
            </a:r>
          </a:p>
        </p:txBody>
      </p:sp>
      <p:sp>
        <p:nvSpPr>
          <p:cNvPr id="207" name="立方体 206"/>
          <p:cNvSpPr/>
          <p:nvPr/>
        </p:nvSpPr>
        <p:spPr>
          <a:xfrm>
            <a:off x="7115835" y="5888839"/>
            <a:ext cx="1201296" cy="476086"/>
          </a:xfrm>
          <a:prstGeom prst="cube">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b="1" dirty="0">
                <a:solidFill>
                  <a:schemeClr val="bg1"/>
                </a:solidFill>
                <a:latin typeface="+mn-ea"/>
              </a:rPr>
              <a:t>委办局</a:t>
            </a:r>
          </a:p>
        </p:txBody>
      </p:sp>
      <p:sp>
        <p:nvSpPr>
          <p:cNvPr id="209" name="矩形 208"/>
          <p:cNvSpPr/>
          <p:nvPr/>
        </p:nvSpPr>
        <p:spPr>
          <a:xfrm>
            <a:off x="2077740" y="4746116"/>
            <a:ext cx="1440160" cy="1906441"/>
          </a:xfrm>
          <a:prstGeom prst="rect">
            <a:avLst/>
          </a:prstGeom>
          <a:noFill/>
          <a:ln w="19050">
            <a:solidFill>
              <a:srgbClr val="FF0000"/>
            </a:solidFill>
            <a:prstDash val="dash"/>
          </a:ln>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sz="1400">
              <a:solidFill>
                <a:schemeClr val="tx1"/>
              </a:solidFill>
              <a:latin typeface="+mn-ea"/>
            </a:endParaRPr>
          </a:p>
        </p:txBody>
      </p:sp>
      <p:sp>
        <p:nvSpPr>
          <p:cNvPr id="210" name="立方体 209"/>
          <p:cNvSpPr/>
          <p:nvPr/>
        </p:nvSpPr>
        <p:spPr>
          <a:xfrm>
            <a:off x="2336577" y="5964898"/>
            <a:ext cx="1003273" cy="576064"/>
          </a:xfrm>
          <a:prstGeom prst="cube">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b="1" dirty="0">
                <a:solidFill>
                  <a:schemeClr val="bg1"/>
                </a:solidFill>
                <a:latin typeface="+mn-ea"/>
              </a:rPr>
              <a:t>委办局</a:t>
            </a:r>
          </a:p>
        </p:txBody>
      </p:sp>
      <p:sp>
        <p:nvSpPr>
          <p:cNvPr id="211" name="矩形 210"/>
          <p:cNvSpPr/>
          <p:nvPr/>
        </p:nvSpPr>
        <p:spPr>
          <a:xfrm>
            <a:off x="2120628" y="4973216"/>
            <a:ext cx="1224136" cy="923697"/>
          </a:xfrm>
          <a:prstGeom prst="rect">
            <a:avLst/>
          </a:prstGeom>
          <a:solidFill>
            <a:schemeClr val="accent5">
              <a:lumMod val="60000"/>
              <a:lumOff val="40000"/>
            </a:schemeClr>
          </a:solidFill>
          <a:ln>
            <a:solidFill>
              <a:schemeClr val="accent5">
                <a:lumMod val="60000"/>
                <a:lumOff val="40000"/>
              </a:schemeClr>
            </a:solidFill>
          </a:ln>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sz="1400">
              <a:solidFill>
                <a:schemeClr val="tx1"/>
              </a:solidFill>
              <a:latin typeface="+mn-ea"/>
            </a:endParaRPr>
          </a:p>
        </p:txBody>
      </p:sp>
      <p:sp>
        <p:nvSpPr>
          <p:cNvPr id="212" name="流程图: 磁盘 211"/>
          <p:cNvSpPr/>
          <p:nvPr/>
        </p:nvSpPr>
        <p:spPr>
          <a:xfrm>
            <a:off x="2351738" y="5181600"/>
            <a:ext cx="990466" cy="357066"/>
          </a:xfrm>
          <a:prstGeom prst="flowChartMagneticDisk">
            <a:avLst/>
          </a:prstGeom>
          <a:solidFill>
            <a:schemeClr val="bg1">
              <a:lumMod val="65000"/>
            </a:schemeClr>
          </a:solidFill>
          <a:ln w="9525"/>
        </p:spPr>
        <p:style>
          <a:lnRef idx="3">
            <a:schemeClr val="lt1"/>
          </a:lnRef>
          <a:fillRef idx="1">
            <a:schemeClr val="accent4"/>
          </a:fillRef>
          <a:effectRef idx="1">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zh-CN" altLang="en-US" sz="1200" b="1" dirty="0">
                <a:solidFill>
                  <a:schemeClr val="bg1"/>
                </a:solidFill>
                <a:latin typeface="+mn-ea"/>
              </a:rPr>
              <a:t>交换信息库</a:t>
            </a:r>
          </a:p>
        </p:txBody>
      </p:sp>
      <p:sp>
        <p:nvSpPr>
          <p:cNvPr id="214" name="矩形 213"/>
          <p:cNvSpPr/>
          <p:nvPr/>
        </p:nvSpPr>
        <p:spPr>
          <a:xfrm>
            <a:off x="3697164" y="4746116"/>
            <a:ext cx="1440160" cy="1906441"/>
          </a:xfrm>
          <a:prstGeom prst="rect">
            <a:avLst/>
          </a:prstGeom>
          <a:noFill/>
          <a:ln w="19050">
            <a:solidFill>
              <a:srgbClr val="FF0000"/>
            </a:solidFill>
            <a:prstDash val="dash"/>
          </a:ln>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sz="1400">
              <a:solidFill>
                <a:schemeClr val="tx1"/>
              </a:solidFill>
              <a:latin typeface="+mn-ea"/>
            </a:endParaRPr>
          </a:p>
        </p:txBody>
      </p:sp>
      <p:sp>
        <p:nvSpPr>
          <p:cNvPr id="215" name="立方体 214"/>
          <p:cNvSpPr/>
          <p:nvPr/>
        </p:nvSpPr>
        <p:spPr>
          <a:xfrm>
            <a:off x="3984897" y="5964898"/>
            <a:ext cx="1008186" cy="576064"/>
          </a:xfrm>
          <a:prstGeom prst="cube">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b="1" dirty="0">
                <a:solidFill>
                  <a:schemeClr val="bg1"/>
                </a:solidFill>
                <a:latin typeface="+mn-ea"/>
              </a:rPr>
              <a:t>委办局</a:t>
            </a:r>
          </a:p>
        </p:txBody>
      </p:sp>
      <p:sp>
        <p:nvSpPr>
          <p:cNvPr id="216" name="矩形 215"/>
          <p:cNvSpPr/>
          <p:nvPr/>
        </p:nvSpPr>
        <p:spPr>
          <a:xfrm>
            <a:off x="3841180" y="4973216"/>
            <a:ext cx="1195800" cy="923697"/>
          </a:xfrm>
          <a:prstGeom prst="rect">
            <a:avLst/>
          </a:prstGeom>
          <a:solidFill>
            <a:schemeClr val="accent5">
              <a:lumMod val="60000"/>
              <a:lumOff val="40000"/>
            </a:schemeClr>
          </a:solidFill>
          <a:ln>
            <a:solidFill>
              <a:schemeClr val="accent5">
                <a:lumMod val="60000"/>
                <a:lumOff val="40000"/>
              </a:schemeClr>
            </a:solidFill>
          </a:ln>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sz="1400">
              <a:solidFill>
                <a:schemeClr val="tx1"/>
              </a:solidFill>
              <a:latin typeface="+mn-ea"/>
            </a:endParaRPr>
          </a:p>
        </p:txBody>
      </p:sp>
      <p:sp>
        <p:nvSpPr>
          <p:cNvPr id="217" name="流程图: 磁盘 216"/>
          <p:cNvSpPr/>
          <p:nvPr/>
        </p:nvSpPr>
        <p:spPr>
          <a:xfrm>
            <a:off x="4043262" y="5181600"/>
            <a:ext cx="990466" cy="357066"/>
          </a:xfrm>
          <a:prstGeom prst="flowChartMagneticDisk">
            <a:avLst/>
          </a:prstGeom>
          <a:solidFill>
            <a:schemeClr val="bg1">
              <a:lumMod val="65000"/>
            </a:schemeClr>
          </a:solidFill>
          <a:ln w="9525"/>
        </p:spPr>
        <p:style>
          <a:lnRef idx="3">
            <a:schemeClr val="lt1"/>
          </a:lnRef>
          <a:fillRef idx="1">
            <a:schemeClr val="accent4"/>
          </a:fillRef>
          <a:effectRef idx="1">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zh-CN" altLang="en-US" sz="1200" b="1" dirty="0">
                <a:solidFill>
                  <a:schemeClr val="bg1"/>
                </a:solidFill>
                <a:latin typeface="+mn-ea"/>
              </a:rPr>
              <a:t>交换信息库</a:t>
            </a:r>
          </a:p>
        </p:txBody>
      </p:sp>
      <p:sp>
        <p:nvSpPr>
          <p:cNvPr id="219" name="矩形 218"/>
          <p:cNvSpPr/>
          <p:nvPr/>
        </p:nvSpPr>
        <p:spPr>
          <a:xfrm>
            <a:off x="5304362" y="4746116"/>
            <a:ext cx="1440160" cy="1906441"/>
          </a:xfrm>
          <a:prstGeom prst="rect">
            <a:avLst/>
          </a:prstGeom>
          <a:noFill/>
          <a:ln w="19050">
            <a:solidFill>
              <a:srgbClr val="FF0000"/>
            </a:solidFill>
            <a:prstDash val="dash"/>
          </a:ln>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sz="1400">
              <a:solidFill>
                <a:schemeClr val="tx1"/>
              </a:solidFill>
              <a:latin typeface="+mn-ea"/>
            </a:endParaRPr>
          </a:p>
        </p:txBody>
      </p:sp>
      <p:sp>
        <p:nvSpPr>
          <p:cNvPr id="220" name="立方体 219"/>
          <p:cNvSpPr/>
          <p:nvPr/>
        </p:nvSpPr>
        <p:spPr>
          <a:xfrm>
            <a:off x="5592319" y="5964898"/>
            <a:ext cx="1003273" cy="576064"/>
          </a:xfrm>
          <a:prstGeom prst="cube">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b="1" dirty="0">
                <a:solidFill>
                  <a:schemeClr val="bg1"/>
                </a:solidFill>
                <a:latin typeface="+mn-ea"/>
              </a:rPr>
              <a:t>委办局</a:t>
            </a:r>
          </a:p>
        </p:txBody>
      </p:sp>
      <p:sp>
        <p:nvSpPr>
          <p:cNvPr id="221" name="矩形 220"/>
          <p:cNvSpPr/>
          <p:nvPr/>
        </p:nvSpPr>
        <p:spPr>
          <a:xfrm>
            <a:off x="5360470" y="4973216"/>
            <a:ext cx="1281630" cy="936104"/>
          </a:xfrm>
          <a:prstGeom prst="rect">
            <a:avLst/>
          </a:prstGeom>
          <a:solidFill>
            <a:schemeClr val="accent5">
              <a:lumMod val="60000"/>
              <a:lumOff val="40000"/>
            </a:schemeClr>
          </a:solidFill>
          <a:ln>
            <a:solidFill>
              <a:schemeClr val="accent5">
                <a:lumMod val="60000"/>
                <a:lumOff val="40000"/>
              </a:schemeClr>
            </a:solidFill>
          </a:ln>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zh-CN" altLang="en-US" sz="1400">
              <a:solidFill>
                <a:schemeClr val="tx1"/>
              </a:solidFill>
              <a:latin typeface="+mn-ea"/>
            </a:endParaRPr>
          </a:p>
        </p:txBody>
      </p:sp>
      <p:sp>
        <p:nvSpPr>
          <p:cNvPr id="222" name="流程图: 磁盘 221"/>
          <p:cNvSpPr/>
          <p:nvPr/>
        </p:nvSpPr>
        <p:spPr>
          <a:xfrm>
            <a:off x="5592966" y="5181600"/>
            <a:ext cx="990466" cy="357066"/>
          </a:xfrm>
          <a:prstGeom prst="flowChartMagneticDisk">
            <a:avLst/>
          </a:prstGeom>
          <a:solidFill>
            <a:schemeClr val="bg1">
              <a:lumMod val="65000"/>
            </a:schemeClr>
          </a:solidFill>
          <a:ln w="9525"/>
        </p:spPr>
        <p:style>
          <a:lnRef idx="3">
            <a:schemeClr val="lt1"/>
          </a:lnRef>
          <a:fillRef idx="1">
            <a:schemeClr val="accent4"/>
          </a:fillRef>
          <a:effectRef idx="1">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zh-CN" altLang="en-US" sz="1200" b="1" dirty="0">
                <a:solidFill>
                  <a:schemeClr val="bg1"/>
                </a:solidFill>
                <a:latin typeface="+mn-ea"/>
              </a:rPr>
              <a:t>交换信息库</a:t>
            </a:r>
          </a:p>
        </p:txBody>
      </p:sp>
      <p:sp>
        <p:nvSpPr>
          <p:cNvPr id="224" name="云形 223"/>
          <p:cNvSpPr/>
          <p:nvPr/>
        </p:nvSpPr>
        <p:spPr>
          <a:xfrm>
            <a:off x="4469555" y="4315272"/>
            <a:ext cx="1514847" cy="297904"/>
          </a:xfrm>
          <a:prstGeom prst="cloud">
            <a:avLst/>
          </a:prstGeom>
          <a:solidFill>
            <a:srgbClr val="CCECFF"/>
          </a:solidFill>
          <a:ln>
            <a:solidFill>
              <a:schemeClr val="bg1"/>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b="1" dirty="0">
                <a:solidFill>
                  <a:schemeClr val="tx1"/>
                </a:solidFill>
                <a:latin typeface="+mn-ea"/>
              </a:rPr>
              <a:t>公网</a:t>
            </a:r>
          </a:p>
        </p:txBody>
      </p:sp>
      <p:sp>
        <p:nvSpPr>
          <p:cNvPr id="225" name="云形 224"/>
          <p:cNvSpPr/>
          <p:nvPr/>
        </p:nvSpPr>
        <p:spPr>
          <a:xfrm>
            <a:off x="2197300" y="4315272"/>
            <a:ext cx="1514847" cy="297904"/>
          </a:xfrm>
          <a:prstGeom prst="cloud">
            <a:avLst/>
          </a:prstGeom>
          <a:solidFill>
            <a:srgbClr val="CCECFF"/>
          </a:solidFill>
          <a:ln>
            <a:solidFill>
              <a:schemeClr val="bg1"/>
            </a:solidFill>
          </a:ln>
        </p:spPr>
        <p:style>
          <a:lnRef idx="1">
            <a:schemeClr val="accent1"/>
          </a:lnRef>
          <a:fillRef idx="2">
            <a:schemeClr val="accent1"/>
          </a:fillRef>
          <a:effectRef idx="1">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b="1" dirty="0">
                <a:solidFill>
                  <a:schemeClr val="tx1"/>
                </a:solidFill>
                <a:latin typeface="+mn-ea"/>
              </a:rPr>
              <a:t>专网</a:t>
            </a:r>
          </a:p>
        </p:txBody>
      </p:sp>
      <p:cxnSp>
        <p:nvCxnSpPr>
          <p:cNvPr id="226" name="直接连接符 225"/>
          <p:cNvCxnSpPr>
            <a:stCxn id="209" idx="0"/>
            <a:endCxn id="225" idx="1"/>
          </p:cNvCxnSpPr>
          <p:nvPr/>
        </p:nvCxnSpPr>
        <p:spPr>
          <a:xfrm flipV="1">
            <a:off x="2797820" y="4612859"/>
            <a:ext cx="156904" cy="133257"/>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7" name="直接箭头连接符 226"/>
          <p:cNvCxnSpPr/>
          <p:nvPr/>
        </p:nvCxnSpPr>
        <p:spPr>
          <a:xfrm flipV="1">
            <a:off x="2955586" y="4085687"/>
            <a:ext cx="868189" cy="2700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8" name="直接连接符 227"/>
          <p:cNvCxnSpPr>
            <a:stCxn id="214" idx="0"/>
          </p:cNvCxnSpPr>
          <p:nvPr/>
        </p:nvCxnSpPr>
        <p:spPr>
          <a:xfrm flipV="1">
            <a:off x="4417244" y="4612859"/>
            <a:ext cx="873235" cy="133257"/>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9" name="直接连接符 228"/>
          <p:cNvCxnSpPr>
            <a:stCxn id="219" idx="0"/>
            <a:endCxn id="224" idx="1"/>
          </p:cNvCxnSpPr>
          <p:nvPr/>
        </p:nvCxnSpPr>
        <p:spPr>
          <a:xfrm flipH="1" flipV="1">
            <a:off x="5226979" y="4612859"/>
            <a:ext cx="797463" cy="133257"/>
          </a:xfrm>
          <a:prstGeom prst="line">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0" name="直接箭头连接符 229"/>
          <p:cNvCxnSpPr/>
          <p:nvPr/>
        </p:nvCxnSpPr>
        <p:spPr>
          <a:xfrm flipH="1" flipV="1">
            <a:off x="4466226" y="4085685"/>
            <a:ext cx="916483" cy="2700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31" name="TextBox 1054"/>
          <p:cNvSpPr txBox="1"/>
          <p:nvPr/>
        </p:nvSpPr>
        <p:spPr>
          <a:xfrm>
            <a:off x="2128540" y="4953000"/>
            <a:ext cx="257810"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b="1" dirty="0">
                <a:latin typeface="+mn-ea"/>
              </a:rPr>
              <a:t>前置节点</a:t>
            </a:r>
          </a:p>
        </p:txBody>
      </p:sp>
      <p:sp>
        <p:nvSpPr>
          <p:cNvPr id="241" name="TextBox 240"/>
          <p:cNvSpPr txBox="1"/>
          <p:nvPr/>
        </p:nvSpPr>
        <p:spPr>
          <a:xfrm>
            <a:off x="3932049" y="2514600"/>
            <a:ext cx="1325751" cy="307777"/>
          </a:xfrm>
          <a:prstGeom prst="rect">
            <a:avLst/>
          </a:prstGeom>
          <a:noFill/>
        </p:spPr>
        <p:txBody>
          <a:bodyPr wrap="square" rtlCol="0">
            <a:spAutoFit/>
          </a:bodyPr>
          <a:lstStyle/>
          <a:p>
            <a:r>
              <a:rPr lang="zh-CN" altLang="en-US" sz="1400" b="1" dirty="0">
                <a:latin typeface="+mn-ea"/>
                <a:ea typeface="+mn-ea"/>
              </a:rPr>
              <a:t>数据共享中心</a:t>
            </a:r>
          </a:p>
        </p:txBody>
      </p:sp>
      <p:sp>
        <p:nvSpPr>
          <p:cNvPr id="242" name="TextBox 241"/>
          <p:cNvSpPr txBox="1"/>
          <p:nvPr/>
        </p:nvSpPr>
        <p:spPr>
          <a:xfrm>
            <a:off x="7010400" y="4954414"/>
            <a:ext cx="1532520" cy="523220"/>
          </a:xfrm>
          <a:prstGeom prst="rect">
            <a:avLst/>
          </a:prstGeom>
          <a:noFill/>
        </p:spPr>
        <p:txBody>
          <a:bodyPr wrap="square" rtlCol="0">
            <a:spAutoFit/>
          </a:bodyPr>
          <a:lstStyle/>
          <a:p>
            <a:pPr algn="ctr"/>
            <a:r>
              <a:rPr lang="zh-CN" altLang="en-US" sz="1200" b="1" dirty="0">
                <a:latin typeface="+mn-ea"/>
                <a:ea typeface="+mn-ea"/>
              </a:rPr>
              <a:t>无前置交换节点</a:t>
            </a:r>
          </a:p>
          <a:p>
            <a:endParaRPr lang="zh-CN" altLang="en-US" sz="1600" b="1" dirty="0">
              <a:latin typeface="+mn-ea"/>
              <a:ea typeface="+mn-ea"/>
            </a:endParaRPr>
          </a:p>
        </p:txBody>
      </p:sp>
      <p:sp>
        <p:nvSpPr>
          <p:cNvPr id="72" name="灯片编号占位符 3"/>
          <p:cNvSpPr txBox="1">
            <a:spLocks/>
          </p:cNvSpPr>
          <p:nvPr/>
        </p:nvSpPr>
        <p:spPr>
          <a:xfrm>
            <a:off x="3352800" y="6610350"/>
            <a:ext cx="2133600" cy="476250"/>
          </a:xfrm>
          <a:prstGeom prst="rect">
            <a:avLst/>
          </a:prstGeom>
        </p:spPr>
        <p:txBody>
          <a:bodyPr/>
          <a:lstStyle>
            <a:defPPr>
              <a:defRPr lang="en-US"/>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fld id="{BD61978C-FD3D-4268-8D6C-034E9AD544A3}" type="slidenum">
              <a:rPr lang="en-US" altLang="zh-CN" sz="1600" smtClean="0">
                <a:latin typeface="+mn-ea"/>
                <a:ea typeface="+mn-ea"/>
              </a:rPr>
              <a:pPr algn="ctr"/>
              <a:t>10</a:t>
            </a:fld>
            <a:endParaRPr lang="en-US" altLang="zh-CN" sz="1600" dirty="0">
              <a:latin typeface="+mn-ea"/>
              <a:ea typeface="+mn-ea"/>
            </a:endParaRPr>
          </a:p>
        </p:txBody>
      </p:sp>
      <p:sp>
        <p:nvSpPr>
          <p:cNvPr id="2" name="矩形 1"/>
          <p:cNvSpPr/>
          <p:nvPr/>
        </p:nvSpPr>
        <p:spPr>
          <a:xfrm>
            <a:off x="2396759" y="5625480"/>
            <a:ext cx="900424" cy="228431"/>
          </a:xfrm>
          <a:prstGeom prst="rect">
            <a:avLst/>
          </a:prstGeom>
          <a:solidFill>
            <a:srgbClr val="00B0F0"/>
          </a:solidFill>
          <a:ln>
            <a:solidFill>
              <a:srgbClr val="00B0F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latin typeface="+mn-ea"/>
              </a:rPr>
              <a:t>数据桥接</a:t>
            </a:r>
          </a:p>
        </p:txBody>
      </p:sp>
      <p:sp>
        <p:nvSpPr>
          <p:cNvPr id="74" name="矩形 73"/>
          <p:cNvSpPr/>
          <p:nvPr/>
        </p:nvSpPr>
        <p:spPr>
          <a:xfrm>
            <a:off x="4102100" y="5613569"/>
            <a:ext cx="900424" cy="228431"/>
          </a:xfrm>
          <a:prstGeom prst="rect">
            <a:avLst/>
          </a:prstGeom>
          <a:solidFill>
            <a:srgbClr val="00B0F0"/>
          </a:solidFill>
          <a:ln>
            <a:solidFill>
              <a:srgbClr val="00B0F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latin typeface="+mn-ea"/>
              </a:rPr>
              <a:t>数据桥接</a:t>
            </a:r>
          </a:p>
        </p:txBody>
      </p:sp>
      <p:sp>
        <p:nvSpPr>
          <p:cNvPr id="75" name="矩形 74"/>
          <p:cNvSpPr/>
          <p:nvPr/>
        </p:nvSpPr>
        <p:spPr>
          <a:xfrm>
            <a:off x="5648671" y="5613400"/>
            <a:ext cx="900424" cy="228431"/>
          </a:xfrm>
          <a:prstGeom prst="rect">
            <a:avLst/>
          </a:prstGeom>
          <a:solidFill>
            <a:srgbClr val="00B0F0"/>
          </a:solidFill>
          <a:ln>
            <a:solidFill>
              <a:srgbClr val="00B0F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latin typeface="+mn-ea"/>
              </a:rPr>
              <a:t>数据桥接</a:t>
            </a:r>
          </a:p>
        </p:txBody>
      </p:sp>
      <p:sp>
        <p:nvSpPr>
          <p:cNvPr id="87" name="矩形 86"/>
          <p:cNvSpPr/>
          <p:nvPr/>
        </p:nvSpPr>
        <p:spPr>
          <a:xfrm>
            <a:off x="2417811" y="4902200"/>
            <a:ext cx="900424" cy="228431"/>
          </a:xfrm>
          <a:prstGeom prst="rect">
            <a:avLst/>
          </a:prstGeom>
          <a:solidFill>
            <a:srgbClr val="00B0F0"/>
          </a:solidFill>
          <a:ln>
            <a:solidFill>
              <a:srgbClr val="00B0F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latin typeface="+mn-ea"/>
              </a:rPr>
              <a:t>数据传输</a:t>
            </a:r>
          </a:p>
        </p:txBody>
      </p:sp>
      <p:sp>
        <p:nvSpPr>
          <p:cNvPr id="88" name="矩形 87"/>
          <p:cNvSpPr/>
          <p:nvPr/>
        </p:nvSpPr>
        <p:spPr>
          <a:xfrm>
            <a:off x="4093504" y="4902200"/>
            <a:ext cx="900424" cy="228431"/>
          </a:xfrm>
          <a:prstGeom prst="rect">
            <a:avLst/>
          </a:prstGeom>
          <a:solidFill>
            <a:srgbClr val="00B0F0"/>
          </a:solidFill>
          <a:ln>
            <a:solidFill>
              <a:srgbClr val="00B0F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latin typeface="+mn-ea"/>
              </a:rPr>
              <a:t>数据传输</a:t>
            </a:r>
          </a:p>
        </p:txBody>
      </p:sp>
      <p:sp>
        <p:nvSpPr>
          <p:cNvPr id="89" name="矩形 88"/>
          <p:cNvSpPr/>
          <p:nvPr/>
        </p:nvSpPr>
        <p:spPr>
          <a:xfrm>
            <a:off x="5655604" y="4927600"/>
            <a:ext cx="900424" cy="228431"/>
          </a:xfrm>
          <a:prstGeom prst="rect">
            <a:avLst/>
          </a:prstGeom>
          <a:solidFill>
            <a:srgbClr val="00B0F0"/>
          </a:solidFill>
          <a:ln>
            <a:solidFill>
              <a:srgbClr val="00B0F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latin typeface="+mn-ea"/>
              </a:rPr>
              <a:t>数据传输</a:t>
            </a:r>
          </a:p>
        </p:txBody>
      </p:sp>
      <p:sp>
        <p:nvSpPr>
          <p:cNvPr id="108" name="五边形 107"/>
          <p:cNvSpPr/>
          <p:nvPr/>
        </p:nvSpPr>
        <p:spPr>
          <a:xfrm>
            <a:off x="2133600" y="3704990"/>
            <a:ext cx="1584886" cy="365311"/>
          </a:xfrm>
          <a:prstGeom prst="homePlate">
            <a:avLst/>
          </a:prstGeom>
          <a:solidFill>
            <a:srgbClr val="92D050"/>
          </a:solidFill>
        </p:spPr>
        <p:style>
          <a:lnRef idx="3">
            <a:schemeClr val="lt1"/>
          </a:lnRef>
          <a:fillRef idx="1">
            <a:schemeClr val="accent2"/>
          </a:fillRef>
          <a:effectRef idx="1">
            <a:schemeClr val="accent2"/>
          </a:effectRef>
          <a:fontRef idx="minor">
            <a:schemeClr val="lt1"/>
          </a:fontRef>
        </p:style>
        <p:txBody>
          <a:bodyPr/>
          <a:lstStyle/>
          <a:p>
            <a:pPr algn="ctr"/>
            <a:r>
              <a:rPr lang="zh-CN" altLang="en-US" sz="1400" b="1" dirty="0">
                <a:latin typeface="+mn-ea"/>
              </a:rPr>
              <a:t>数据传输</a:t>
            </a:r>
          </a:p>
        </p:txBody>
      </p:sp>
      <p:sp>
        <p:nvSpPr>
          <p:cNvPr id="106" name="燕尾形 105"/>
          <p:cNvSpPr/>
          <p:nvPr/>
        </p:nvSpPr>
        <p:spPr>
          <a:xfrm>
            <a:off x="3291914" y="3704990"/>
            <a:ext cx="1584886" cy="365311"/>
          </a:xfrm>
          <a:prstGeom prst="chevron">
            <a:avLst/>
          </a:prstGeom>
          <a:solidFill>
            <a:srgbClr val="92D050"/>
          </a:solidFill>
        </p:spPr>
        <p:style>
          <a:lnRef idx="3">
            <a:schemeClr val="lt1"/>
          </a:lnRef>
          <a:fillRef idx="1">
            <a:schemeClr val="accent2"/>
          </a:fillRef>
          <a:effectRef idx="1">
            <a:schemeClr val="accent2"/>
          </a:effectRef>
          <a:fontRef idx="minor">
            <a:schemeClr val="lt1"/>
          </a:fontRef>
        </p:style>
        <p:txBody>
          <a:bodyPr/>
          <a:lstStyle/>
          <a:p>
            <a:pPr algn="ctr"/>
            <a:r>
              <a:rPr lang="zh-CN" altLang="en-US" sz="1400" b="1" dirty="0">
                <a:latin typeface="+mn-ea"/>
              </a:rPr>
              <a:t>数据处理</a:t>
            </a:r>
          </a:p>
        </p:txBody>
      </p:sp>
      <p:sp>
        <p:nvSpPr>
          <p:cNvPr id="104" name="燕尾形 103"/>
          <p:cNvSpPr/>
          <p:nvPr/>
        </p:nvSpPr>
        <p:spPr>
          <a:xfrm>
            <a:off x="4479583" y="3704990"/>
            <a:ext cx="1584886" cy="365311"/>
          </a:xfrm>
          <a:prstGeom prst="chevron">
            <a:avLst/>
          </a:prstGeom>
          <a:solidFill>
            <a:srgbClr val="92D050"/>
          </a:solidFill>
        </p:spPr>
        <p:style>
          <a:lnRef idx="3">
            <a:schemeClr val="lt1"/>
          </a:lnRef>
          <a:fillRef idx="1">
            <a:schemeClr val="accent2"/>
          </a:fillRef>
          <a:effectRef idx="1">
            <a:schemeClr val="accent2"/>
          </a:effectRef>
          <a:fontRef idx="minor">
            <a:schemeClr val="lt1"/>
          </a:fontRef>
        </p:style>
        <p:txBody>
          <a:bodyPr/>
          <a:lstStyle/>
          <a:p>
            <a:pPr algn="ctr"/>
            <a:r>
              <a:rPr lang="zh-CN" altLang="en-US" sz="1400" b="1" dirty="0">
                <a:latin typeface="+mn-ea"/>
              </a:rPr>
              <a:t>数据核检</a:t>
            </a:r>
          </a:p>
        </p:txBody>
      </p:sp>
      <p:sp>
        <p:nvSpPr>
          <p:cNvPr id="102" name="燕尾形 101"/>
          <p:cNvSpPr/>
          <p:nvPr/>
        </p:nvSpPr>
        <p:spPr>
          <a:xfrm>
            <a:off x="5806514" y="3704990"/>
            <a:ext cx="1584886" cy="365311"/>
          </a:xfrm>
          <a:prstGeom prst="chevron">
            <a:avLst/>
          </a:prstGeom>
          <a:solidFill>
            <a:srgbClr val="92D050"/>
          </a:solidFill>
        </p:spPr>
        <p:style>
          <a:lnRef idx="3">
            <a:schemeClr val="lt1"/>
          </a:lnRef>
          <a:fillRef idx="1">
            <a:schemeClr val="accent2"/>
          </a:fillRef>
          <a:effectRef idx="1">
            <a:schemeClr val="accent2"/>
          </a:effectRef>
          <a:fontRef idx="minor">
            <a:schemeClr val="lt1"/>
          </a:fontRef>
        </p:style>
        <p:txBody>
          <a:bodyPr/>
          <a:lstStyle/>
          <a:p>
            <a:pPr algn="ctr"/>
            <a:r>
              <a:rPr lang="zh-CN" altLang="en-US" sz="1400" b="1" dirty="0">
                <a:latin typeface="+mn-ea"/>
              </a:rPr>
              <a:t>数据录入</a:t>
            </a:r>
          </a:p>
        </p:txBody>
      </p:sp>
      <p:sp>
        <p:nvSpPr>
          <p:cNvPr id="3" name="矩形 2"/>
          <p:cNvSpPr/>
          <p:nvPr/>
        </p:nvSpPr>
        <p:spPr>
          <a:xfrm>
            <a:off x="2078524" y="1968500"/>
            <a:ext cx="6980711" cy="533400"/>
          </a:xfrm>
          <a:prstGeom prst="rect">
            <a:avLst/>
          </a:prstGeom>
          <a:solidFill>
            <a:srgbClr val="0070C0"/>
          </a:solidFill>
          <a:ln>
            <a:solidFill>
              <a:srgbClr val="0070C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lnSpc>
                <a:spcPct val="150000"/>
              </a:lnSpc>
            </a:pPr>
            <a:r>
              <a:rPr lang="zh-CN" altLang="en-US" b="1" dirty="0">
                <a:solidFill>
                  <a:schemeClr val="bg1"/>
                </a:solidFill>
                <a:latin typeface="+mn-ea"/>
              </a:rPr>
              <a:t>企业服务总线（服务接入</a:t>
            </a:r>
            <a:r>
              <a:rPr lang="en-US" altLang="zh-CN" b="1" dirty="0">
                <a:solidFill>
                  <a:schemeClr val="bg1"/>
                </a:solidFill>
                <a:latin typeface="+mn-ea"/>
              </a:rPr>
              <a:t>/</a:t>
            </a:r>
            <a:r>
              <a:rPr lang="zh-CN" altLang="en-US" b="1" dirty="0">
                <a:solidFill>
                  <a:schemeClr val="bg1"/>
                </a:solidFill>
                <a:latin typeface="+mn-ea"/>
              </a:rPr>
              <a:t>信息发布）</a:t>
            </a:r>
          </a:p>
        </p:txBody>
      </p:sp>
      <p:pic>
        <p:nvPicPr>
          <p:cNvPr id="125" name="Picture 18" descr="C:\Users\ZYC\Desktop\数据交换\图片\智能分析.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1106" y="1057951"/>
            <a:ext cx="888667" cy="805465"/>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14" descr="C:\Users\ZYC\Desktop\数据交换\图片\智慧交通.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705694" y="1047627"/>
            <a:ext cx="977016" cy="801656"/>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16" descr="C:\Users\ZYC\Desktop\数据交换\图片\智慧社区.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3082923" y="1035932"/>
            <a:ext cx="1120929" cy="839949"/>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17" descr="C:\Users\ZYC\Desktop\数据交换\图片\智慧医疗.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899075" y="1056209"/>
            <a:ext cx="968545" cy="818191"/>
          </a:xfrm>
          <a:prstGeom prst="rect">
            <a:avLst/>
          </a:prstGeom>
          <a:noFill/>
          <a:extLst>
            <a:ext uri="{909E8E84-426E-40DD-AFC4-6F175D3DCCD1}">
              <a14:hiddenFill xmlns:a14="http://schemas.microsoft.com/office/drawing/2010/main">
                <a:solidFill>
                  <a:srgbClr val="FFFFFF"/>
                </a:solidFill>
              </a14:hiddenFill>
            </a:ext>
          </a:extLst>
        </p:spPr>
      </p:pic>
      <p:sp>
        <p:nvSpPr>
          <p:cNvPr id="138" name="矩形 137"/>
          <p:cNvSpPr/>
          <p:nvPr/>
        </p:nvSpPr>
        <p:spPr>
          <a:xfrm>
            <a:off x="583563" y="2908300"/>
            <a:ext cx="1445355" cy="850900"/>
          </a:xfrm>
          <a:prstGeom prst="rect">
            <a:avLst/>
          </a:prstGeom>
          <a:solidFill>
            <a:schemeClr val="accent1">
              <a:lumMod val="50000"/>
            </a:schemeClr>
          </a:solidFill>
          <a:ln>
            <a:solidFill>
              <a:schemeClr val="accent1">
                <a:lumMod val="50000"/>
              </a:schemeClr>
            </a:solidFill>
          </a:ln>
        </p:spPr>
        <p:style>
          <a:lnRef idx="1">
            <a:schemeClr val="accent3"/>
          </a:lnRef>
          <a:fillRef idx="2">
            <a:schemeClr val="accent3"/>
          </a:fillRef>
          <a:effectRef idx="1">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bg1"/>
                </a:solidFill>
                <a:latin typeface="+mn-ea"/>
              </a:rPr>
              <a:t>统一调度</a:t>
            </a:r>
            <a:endParaRPr lang="en-US" altLang="zh-CN" b="1" dirty="0">
              <a:solidFill>
                <a:schemeClr val="bg1"/>
              </a:solidFill>
              <a:latin typeface="+mn-ea"/>
            </a:endParaRPr>
          </a:p>
          <a:p>
            <a:pPr algn="ctr"/>
            <a:r>
              <a:rPr lang="zh-CN" altLang="en-US" b="1" dirty="0">
                <a:solidFill>
                  <a:schemeClr val="bg1"/>
                </a:solidFill>
                <a:latin typeface="+mn-ea"/>
              </a:rPr>
              <a:t>系统</a:t>
            </a:r>
          </a:p>
        </p:txBody>
      </p:sp>
      <p:sp>
        <p:nvSpPr>
          <p:cNvPr id="145" name="矩形 144"/>
          <p:cNvSpPr/>
          <p:nvPr/>
        </p:nvSpPr>
        <p:spPr>
          <a:xfrm>
            <a:off x="583563" y="3862245"/>
            <a:ext cx="1445355" cy="855342"/>
          </a:xfrm>
          <a:prstGeom prst="rect">
            <a:avLst/>
          </a:prstGeom>
          <a:solidFill>
            <a:srgbClr val="00B0F0"/>
          </a:solidFill>
          <a:ln>
            <a:solidFill>
              <a:schemeClr val="tx2">
                <a:lumMod val="20000"/>
                <a:lumOff val="80000"/>
              </a:schemeClr>
            </a:solidFill>
          </a:ln>
        </p:spPr>
        <p:style>
          <a:lnRef idx="1">
            <a:schemeClr val="accent3"/>
          </a:lnRef>
          <a:fillRef idx="2">
            <a:schemeClr val="accent3"/>
          </a:fillRef>
          <a:effectRef idx="1">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bg1"/>
                </a:solidFill>
                <a:latin typeface="+mn-ea"/>
              </a:rPr>
              <a:t>元数据</a:t>
            </a:r>
            <a:endParaRPr lang="en-US" altLang="zh-CN" b="1" dirty="0">
              <a:solidFill>
                <a:schemeClr val="bg1"/>
              </a:solidFill>
              <a:latin typeface="+mn-ea"/>
            </a:endParaRPr>
          </a:p>
          <a:p>
            <a:pPr algn="ctr"/>
            <a:r>
              <a:rPr lang="zh-CN" altLang="en-US" b="1" dirty="0">
                <a:solidFill>
                  <a:schemeClr val="bg1"/>
                </a:solidFill>
                <a:latin typeface="+mn-ea"/>
              </a:rPr>
              <a:t>管理系统</a:t>
            </a:r>
          </a:p>
        </p:txBody>
      </p:sp>
      <p:sp>
        <p:nvSpPr>
          <p:cNvPr id="146" name="矩形 145"/>
          <p:cNvSpPr/>
          <p:nvPr/>
        </p:nvSpPr>
        <p:spPr>
          <a:xfrm>
            <a:off x="7522401" y="3405786"/>
            <a:ext cx="1536835" cy="838644"/>
          </a:xfrm>
          <a:prstGeom prst="rect">
            <a:avLst/>
          </a:prstGeom>
          <a:solidFill>
            <a:schemeClr val="accent2">
              <a:lumMod val="60000"/>
              <a:lumOff val="40000"/>
            </a:schemeClr>
          </a:solidFill>
          <a:ln>
            <a:solidFill>
              <a:schemeClr val="tx2">
                <a:lumMod val="20000"/>
                <a:lumOff val="80000"/>
              </a:schemeClr>
            </a:solidFill>
          </a:ln>
        </p:spPr>
        <p:style>
          <a:lnRef idx="1">
            <a:schemeClr val="accent3"/>
          </a:lnRef>
          <a:fillRef idx="2">
            <a:schemeClr val="accent3"/>
          </a:fillRef>
          <a:effectRef idx="1">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bg1"/>
                </a:solidFill>
                <a:latin typeface="+mn-ea"/>
              </a:rPr>
              <a:t>信息资源</a:t>
            </a:r>
            <a:endParaRPr lang="en-US" altLang="zh-CN" b="1" dirty="0">
              <a:solidFill>
                <a:schemeClr val="bg1"/>
              </a:solidFill>
              <a:latin typeface="+mn-ea"/>
            </a:endParaRPr>
          </a:p>
          <a:p>
            <a:pPr algn="ctr"/>
            <a:r>
              <a:rPr lang="zh-CN" altLang="en-US" b="1" dirty="0">
                <a:solidFill>
                  <a:schemeClr val="bg1"/>
                </a:solidFill>
                <a:latin typeface="+mn-ea"/>
              </a:rPr>
              <a:t>目录</a:t>
            </a:r>
          </a:p>
        </p:txBody>
      </p:sp>
      <p:sp>
        <p:nvSpPr>
          <p:cNvPr id="6" name="椭圆 5"/>
          <p:cNvSpPr/>
          <p:nvPr/>
        </p:nvSpPr>
        <p:spPr>
          <a:xfrm>
            <a:off x="6858000" y="4495800"/>
            <a:ext cx="1168283" cy="382414"/>
          </a:xfrm>
          <a:prstGeom prst="ellipse">
            <a:avLst/>
          </a:prstGeom>
          <a:solidFill>
            <a:srgbClr val="92D050"/>
          </a:solidFill>
          <a:ln>
            <a:solidFill>
              <a:srgbClr val="92D050"/>
            </a:solidFill>
          </a:ln>
        </p:spPr>
        <p:style>
          <a:lnRef idx="1">
            <a:schemeClr val="accent2"/>
          </a:lnRef>
          <a:fillRef idx="2">
            <a:schemeClr val="accent2"/>
          </a:fillRef>
          <a:effectRef idx="1">
            <a:schemeClr val="accent2"/>
          </a:effectRef>
          <a:fontRef idx="minor">
            <a:schemeClr val="dk1"/>
          </a:fontRef>
        </p:style>
        <p:txBody>
          <a:bodyPr lIns="0" rIns="0" rtlCol="0" anchor="t" anchorCtr="0"/>
          <a:lstStyle/>
          <a:p>
            <a:pPr algn="ctr"/>
            <a:r>
              <a:rPr lang="zh-CN" altLang="en-US" sz="1400" b="1" dirty="0">
                <a:solidFill>
                  <a:schemeClr val="bg1"/>
                </a:solidFill>
                <a:latin typeface="+mn-ea"/>
              </a:rPr>
              <a:t>手工录入</a:t>
            </a:r>
          </a:p>
        </p:txBody>
      </p:sp>
      <p:sp>
        <p:nvSpPr>
          <p:cNvPr id="157" name="矩形 156"/>
          <p:cNvSpPr/>
          <p:nvPr/>
        </p:nvSpPr>
        <p:spPr>
          <a:xfrm>
            <a:off x="7522401" y="2529276"/>
            <a:ext cx="1536835" cy="823523"/>
          </a:xfrm>
          <a:prstGeom prst="rect">
            <a:avLst/>
          </a:prstGeom>
          <a:solidFill>
            <a:srgbClr val="00B0F0"/>
          </a:solidFill>
          <a:ln>
            <a:solidFill>
              <a:schemeClr val="tx2">
                <a:lumMod val="20000"/>
                <a:lumOff val="80000"/>
              </a:schemeClr>
            </a:solidFill>
          </a:ln>
        </p:spPr>
        <p:style>
          <a:lnRef idx="1">
            <a:schemeClr val="accent3"/>
          </a:lnRef>
          <a:fillRef idx="2">
            <a:schemeClr val="accent3"/>
          </a:fillRef>
          <a:effectRef idx="1">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zh-CN" altLang="en-US" b="1" dirty="0">
                <a:solidFill>
                  <a:schemeClr val="bg1"/>
                </a:solidFill>
                <a:latin typeface="+mn-ea"/>
              </a:rPr>
              <a:t>数据分析与信息展现</a:t>
            </a:r>
          </a:p>
        </p:txBody>
      </p:sp>
      <p:pic>
        <p:nvPicPr>
          <p:cNvPr id="164" name="Picture 15" descr="C:\Users\ZYC\Desktop\数据交换\图片\智慧农业.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49853" y="1047705"/>
            <a:ext cx="1140907" cy="805465"/>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19" descr="C:\Users\ZYC\Desktop\数据交换\图片\移动终端.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01381" y="1045140"/>
            <a:ext cx="829819" cy="830312"/>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13" descr="C:\Users\ZYC\Desktop\数据交换\图片\智慧环保.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694825" y="1044148"/>
            <a:ext cx="1075257" cy="805465"/>
          </a:xfrm>
          <a:prstGeom prst="rect">
            <a:avLst/>
          </a:prstGeom>
          <a:noFill/>
          <a:extLst>
            <a:ext uri="{909E8E84-426E-40DD-AFC4-6F175D3DCCD1}">
              <a14:hiddenFill xmlns:a14="http://schemas.microsoft.com/office/drawing/2010/main">
                <a:solidFill>
                  <a:srgbClr val="FFFFFF"/>
                </a:solidFill>
              </a14:hiddenFill>
            </a:ext>
          </a:extLst>
        </p:spPr>
      </p:pic>
      <p:sp>
        <p:nvSpPr>
          <p:cNvPr id="69" name="TextBox 1054"/>
          <p:cNvSpPr txBox="1"/>
          <p:nvPr/>
        </p:nvSpPr>
        <p:spPr>
          <a:xfrm>
            <a:off x="3820795" y="4997803"/>
            <a:ext cx="257810"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b="1" dirty="0">
                <a:latin typeface="+mn-ea"/>
              </a:rPr>
              <a:t>前置节点</a:t>
            </a:r>
          </a:p>
        </p:txBody>
      </p:sp>
      <p:sp>
        <p:nvSpPr>
          <p:cNvPr id="70" name="TextBox 1054"/>
          <p:cNvSpPr txBox="1"/>
          <p:nvPr/>
        </p:nvSpPr>
        <p:spPr>
          <a:xfrm>
            <a:off x="5353425" y="4942806"/>
            <a:ext cx="257810"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b="1" dirty="0">
                <a:latin typeface="+mn-ea"/>
              </a:rPr>
              <a:t>前置节点</a:t>
            </a:r>
          </a:p>
        </p:txBody>
      </p:sp>
      <p:sp>
        <p:nvSpPr>
          <p:cNvPr id="71" name="流程图: 磁盘 70"/>
          <p:cNvSpPr/>
          <p:nvPr/>
        </p:nvSpPr>
        <p:spPr>
          <a:xfrm>
            <a:off x="5366692" y="2795462"/>
            <a:ext cx="1003522" cy="443417"/>
          </a:xfrm>
          <a:prstGeom prst="flowChartMagneticDisk">
            <a:avLst/>
          </a:prstGeom>
          <a:solidFill>
            <a:schemeClr val="accent1">
              <a:lumMod val="50000"/>
            </a:schemeClr>
          </a:solidFill>
          <a:ln w="19050"/>
        </p:spPr>
        <p:style>
          <a:lnRef idx="3">
            <a:schemeClr val="lt1"/>
          </a:lnRef>
          <a:fillRef idx="1">
            <a:schemeClr val="accent4"/>
          </a:fillRef>
          <a:effectRef idx="1">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400" b="1" dirty="0">
                <a:solidFill>
                  <a:schemeClr val="bg1"/>
                </a:solidFill>
                <a:latin typeface="+mn-ea"/>
              </a:rPr>
              <a:t>指标库</a:t>
            </a:r>
          </a:p>
        </p:txBody>
      </p:sp>
      <p:sp>
        <p:nvSpPr>
          <p:cNvPr id="5" name="矩形 4"/>
          <p:cNvSpPr/>
          <p:nvPr/>
        </p:nvSpPr>
        <p:spPr>
          <a:xfrm>
            <a:off x="4120594" y="3364468"/>
            <a:ext cx="902811" cy="307777"/>
          </a:xfrm>
          <a:prstGeom prst="rect">
            <a:avLst/>
          </a:prstGeom>
        </p:spPr>
        <p:txBody>
          <a:bodyPr wrap="none">
            <a:spAutoFit/>
          </a:bodyPr>
          <a:lstStyle/>
          <a:p>
            <a:pPr algn="ctr"/>
            <a:r>
              <a:rPr lang="zh-CN" altLang="en-US" sz="1400" b="1" dirty="0">
                <a:latin typeface="+mn-ea"/>
                <a:ea typeface="+mn-ea"/>
              </a:rPr>
              <a:t>中心节点</a:t>
            </a:r>
          </a:p>
        </p:txBody>
      </p:sp>
      <p:cxnSp>
        <p:nvCxnSpPr>
          <p:cNvPr id="76" name="直接箭头连接符 75"/>
          <p:cNvCxnSpPr/>
          <p:nvPr/>
        </p:nvCxnSpPr>
        <p:spPr>
          <a:xfrm flipH="1" flipV="1">
            <a:off x="6322560" y="4144022"/>
            <a:ext cx="916483" cy="27005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943889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AutoShape 3"/>
          <p:cNvSpPr>
            <a:spLocks noChangeArrowheads="1"/>
          </p:cNvSpPr>
          <p:nvPr/>
        </p:nvSpPr>
        <p:spPr bwMode="blackWhite">
          <a:xfrm>
            <a:off x="4406868" y="2528398"/>
            <a:ext cx="1981201" cy="462049"/>
          </a:xfrm>
          <a:prstGeom prst="triangle">
            <a:avLst>
              <a:gd name="adj" fmla="val 50000"/>
            </a:avLst>
          </a:prstGeom>
          <a:solidFill>
            <a:srgbClr val="CCFFCC"/>
          </a:solidFill>
          <a:ln w="12700" algn="ctr">
            <a:solidFill>
              <a:srgbClr val="CCFFCC"/>
            </a:solidFill>
            <a:miter lim="800000"/>
            <a:headEnd/>
            <a:tailEnd/>
          </a:ln>
          <a:effectLst>
            <a:softEdge rad="12700"/>
          </a:effectLst>
        </p:spPr>
        <p:txBody>
          <a:bodyPr wrap="none" lIns="82294" tIns="41147" rIns="82294" bIns="41147" anchor="ctr"/>
          <a:lstStyle/>
          <a:p>
            <a:pPr marL="225425" indent="-225425" algn="ctr">
              <a:lnSpc>
                <a:spcPct val="90000"/>
              </a:lnSpc>
              <a:spcBef>
                <a:spcPct val="40000"/>
              </a:spcBef>
            </a:pPr>
            <a:endParaRPr lang="zh-CN" altLang="en-US" sz="1400" b="1">
              <a:solidFill>
                <a:srgbClr val="003366"/>
              </a:solidFill>
              <a:latin typeface="+mn-ea"/>
              <a:ea typeface="+mn-ea"/>
            </a:endParaRPr>
          </a:p>
        </p:txBody>
      </p:sp>
      <p:sp>
        <p:nvSpPr>
          <p:cNvPr id="93" name="矩形 92"/>
          <p:cNvSpPr/>
          <p:nvPr/>
        </p:nvSpPr>
        <p:spPr>
          <a:xfrm>
            <a:off x="4143375" y="1752600"/>
            <a:ext cx="2714626" cy="1048485"/>
          </a:xfrm>
          <a:prstGeom prst="rect">
            <a:avLst/>
          </a:prstGeom>
          <a:solidFill>
            <a:schemeClr val="bg1"/>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90" name="AutoShape 3"/>
          <p:cNvSpPr>
            <a:spLocks noChangeArrowheads="1"/>
          </p:cNvSpPr>
          <p:nvPr/>
        </p:nvSpPr>
        <p:spPr bwMode="blackWhite">
          <a:xfrm rot="10800000">
            <a:off x="4252903" y="4883343"/>
            <a:ext cx="2283071" cy="922331"/>
          </a:xfrm>
          <a:prstGeom prst="triangle">
            <a:avLst>
              <a:gd name="adj" fmla="val 50000"/>
            </a:avLst>
          </a:prstGeom>
          <a:solidFill>
            <a:srgbClr val="CCFFCC"/>
          </a:solidFill>
          <a:ln w="12700" algn="ctr">
            <a:solidFill>
              <a:srgbClr val="CCFFCC"/>
            </a:solidFill>
            <a:miter lim="800000"/>
            <a:headEnd/>
            <a:tailEnd/>
          </a:ln>
          <a:effectLst>
            <a:softEdge rad="12700"/>
          </a:effectLst>
        </p:spPr>
        <p:txBody>
          <a:bodyPr wrap="none" lIns="82294" tIns="41147" rIns="82294" bIns="41147" anchor="ctr"/>
          <a:lstStyle/>
          <a:p>
            <a:pPr marL="225425" indent="-225425" algn="ctr">
              <a:lnSpc>
                <a:spcPct val="90000"/>
              </a:lnSpc>
              <a:spcBef>
                <a:spcPct val="40000"/>
              </a:spcBef>
            </a:pPr>
            <a:endParaRPr lang="zh-CN" altLang="en-US" sz="1400" b="1">
              <a:solidFill>
                <a:srgbClr val="003366"/>
              </a:solidFill>
              <a:latin typeface="+mn-ea"/>
              <a:ea typeface="+mn-ea"/>
            </a:endParaRPr>
          </a:p>
        </p:txBody>
      </p:sp>
      <p:sp>
        <p:nvSpPr>
          <p:cNvPr id="163" name="矩形 162"/>
          <p:cNvSpPr/>
          <p:nvPr/>
        </p:nvSpPr>
        <p:spPr>
          <a:xfrm>
            <a:off x="4419600" y="2950263"/>
            <a:ext cx="2286001" cy="2142736"/>
          </a:xfrm>
          <a:prstGeom prst="rect">
            <a:avLst/>
          </a:prstGeom>
          <a:solidFill>
            <a:schemeClr val="bg1">
              <a:lumMod val="95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1" name="矩形 10"/>
          <p:cNvSpPr/>
          <p:nvPr/>
        </p:nvSpPr>
        <p:spPr>
          <a:xfrm>
            <a:off x="2022604" y="2058279"/>
            <a:ext cx="744604" cy="930775"/>
          </a:xfrm>
          <a:prstGeom prst="rect">
            <a:avLst/>
          </a:prstGeom>
          <a:solidFill>
            <a:schemeClr val="bg1">
              <a:lumMod val="95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55" name="AutoShape 3"/>
          <p:cNvSpPr>
            <a:spLocks noChangeArrowheads="1"/>
          </p:cNvSpPr>
          <p:nvPr/>
        </p:nvSpPr>
        <p:spPr bwMode="blackWhite">
          <a:xfrm rot="5400000">
            <a:off x="5871522" y="3535076"/>
            <a:ext cx="2105179" cy="922331"/>
          </a:xfrm>
          <a:prstGeom prst="triangle">
            <a:avLst>
              <a:gd name="adj" fmla="val 50000"/>
            </a:avLst>
          </a:prstGeom>
          <a:solidFill>
            <a:srgbClr val="CCFFCC"/>
          </a:solidFill>
          <a:ln w="12700" algn="ctr">
            <a:solidFill>
              <a:srgbClr val="CCFFCC"/>
            </a:solidFill>
            <a:miter lim="800000"/>
            <a:headEnd/>
            <a:tailEnd/>
          </a:ln>
          <a:effectLst>
            <a:softEdge rad="12700"/>
          </a:effectLst>
        </p:spPr>
        <p:txBody>
          <a:bodyPr wrap="none" lIns="82294" tIns="41147" rIns="82294" bIns="41147" anchor="ctr"/>
          <a:lstStyle/>
          <a:p>
            <a:pPr marL="225425" indent="-225425" algn="ctr">
              <a:lnSpc>
                <a:spcPct val="90000"/>
              </a:lnSpc>
              <a:spcBef>
                <a:spcPct val="40000"/>
              </a:spcBef>
            </a:pPr>
            <a:endParaRPr lang="zh-CN" altLang="en-US" sz="1400" b="1">
              <a:solidFill>
                <a:srgbClr val="003366"/>
              </a:solidFill>
              <a:latin typeface="+mn-ea"/>
              <a:ea typeface="+mn-ea"/>
            </a:endParaRPr>
          </a:p>
        </p:txBody>
      </p:sp>
      <p:sp>
        <p:nvSpPr>
          <p:cNvPr id="79" name="矩形 78"/>
          <p:cNvSpPr/>
          <p:nvPr/>
        </p:nvSpPr>
        <p:spPr>
          <a:xfrm>
            <a:off x="309750" y="3324691"/>
            <a:ext cx="1977570" cy="1475909"/>
          </a:xfrm>
          <a:prstGeom prst="rect">
            <a:avLst/>
          </a:prstGeom>
          <a:noFill/>
          <a:ln w="12700">
            <a:solidFill>
              <a:srgbClr val="FF0000"/>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2" name="矩形 11"/>
          <p:cNvSpPr/>
          <p:nvPr/>
        </p:nvSpPr>
        <p:spPr>
          <a:xfrm>
            <a:off x="4432300" y="3698514"/>
            <a:ext cx="939800" cy="503802"/>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200" b="1" dirty="0">
                <a:solidFill>
                  <a:schemeClr val="bg1"/>
                </a:solidFill>
                <a:latin typeface="+mn-ea"/>
              </a:rPr>
              <a:t>数据交换系统</a:t>
            </a:r>
          </a:p>
        </p:txBody>
      </p:sp>
      <p:sp>
        <p:nvSpPr>
          <p:cNvPr id="13" name="矩形 12"/>
          <p:cNvSpPr/>
          <p:nvPr/>
        </p:nvSpPr>
        <p:spPr>
          <a:xfrm>
            <a:off x="4432301" y="3241314"/>
            <a:ext cx="1882774" cy="357699"/>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200" b="1" dirty="0">
                <a:solidFill>
                  <a:schemeClr val="bg1"/>
                </a:solidFill>
                <a:latin typeface="+mn-ea"/>
              </a:rPr>
              <a:t>资源目录</a:t>
            </a:r>
            <a:endParaRPr lang="en-US" altLang="zh-CN" sz="1200" b="1" dirty="0">
              <a:solidFill>
                <a:schemeClr val="bg1"/>
              </a:solidFill>
              <a:latin typeface="+mn-ea"/>
            </a:endParaRPr>
          </a:p>
          <a:p>
            <a:pPr algn="ctr"/>
            <a:endParaRPr lang="zh-CN" altLang="en-US" sz="1200" b="1" dirty="0">
              <a:solidFill>
                <a:schemeClr val="bg1"/>
              </a:solidFill>
              <a:latin typeface="+mn-ea"/>
            </a:endParaRPr>
          </a:p>
        </p:txBody>
      </p:sp>
      <p:sp>
        <p:nvSpPr>
          <p:cNvPr id="14" name="矩形 13"/>
          <p:cNvSpPr/>
          <p:nvPr/>
        </p:nvSpPr>
        <p:spPr>
          <a:xfrm>
            <a:off x="5594721" y="3698514"/>
            <a:ext cx="727364" cy="503802"/>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200" b="1" dirty="0">
                <a:solidFill>
                  <a:schemeClr val="bg1"/>
                </a:solidFill>
                <a:latin typeface="+mn-ea"/>
              </a:rPr>
              <a:t>数据质量核检</a:t>
            </a:r>
          </a:p>
        </p:txBody>
      </p:sp>
      <p:sp>
        <p:nvSpPr>
          <p:cNvPr id="15" name="矩形 14"/>
          <p:cNvSpPr/>
          <p:nvPr/>
        </p:nvSpPr>
        <p:spPr>
          <a:xfrm>
            <a:off x="6477002" y="3050814"/>
            <a:ext cx="279400" cy="1998017"/>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bg1"/>
                </a:solidFill>
                <a:latin typeface="+mn-ea"/>
              </a:rPr>
              <a:t>信息共享与服务发布</a:t>
            </a:r>
          </a:p>
        </p:txBody>
      </p:sp>
      <p:sp>
        <p:nvSpPr>
          <p:cNvPr id="17" name="圆柱形 16"/>
          <p:cNvSpPr/>
          <p:nvPr/>
        </p:nvSpPr>
        <p:spPr>
          <a:xfrm>
            <a:off x="1068120" y="2494803"/>
            <a:ext cx="838200" cy="364319"/>
          </a:xfrm>
          <a:prstGeom prst="can">
            <a:avLst/>
          </a:prstGeom>
          <a:solidFill>
            <a:schemeClr val="bg2">
              <a:lumMod val="60000"/>
              <a:lumOff val="40000"/>
            </a:schemeClr>
          </a:solidFill>
          <a:ln>
            <a:solidFill>
              <a:schemeClr val="bg2">
                <a:lumMod val="40000"/>
                <a:lumOff val="60000"/>
              </a:schemeClr>
            </a:solidFill>
          </a:ln>
        </p:spPr>
        <p:style>
          <a:lnRef idx="1">
            <a:schemeClr val="accent2"/>
          </a:lnRef>
          <a:fillRef idx="2">
            <a:schemeClr val="accent2"/>
          </a:fillRef>
          <a:effectRef idx="1">
            <a:schemeClr val="accent2"/>
          </a:effectRef>
          <a:fontRef idx="minor">
            <a:schemeClr val="dk1"/>
          </a:fontRef>
        </p:style>
        <p:txBody>
          <a:bodyPr lIns="0" rIns="0" rtlCol="0" anchor="t" anchorCtr="0"/>
          <a:lstStyle/>
          <a:p>
            <a:pPr algn="ctr"/>
            <a:r>
              <a:rPr lang="zh-CN" altLang="en-US" sz="1200" b="1" dirty="0">
                <a:solidFill>
                  <a:schemeClr val="tx1"/>
                </a:solidFill>
                <a:latin typeface="+mn-ea"/>
              </a:rPr>
              <a:t>业务数据库</a:t>
            </a:r>
          </a:p>
        </p:txBody>
      </p:sp>
      <p:sp>
        <p:nvSpPr>
          <p:cNvPr id="19" name="圆角矩形 18"/>
          <p:cNvSpPr/>
          <p:nvPr/>
        </p:nvSpPr>
        <p:spPr>
          <a:xfrm>
            <a:off x="1060266" y="2030233"/>
            <a:ext cx="858754" cy="255767"/>
          </a:xfrm>
          <a:prstGeom prst="roundRect">
            <a:avLst/>
          </a:prstGeom>
          <a:solidFill>
            <a:schemeClr val="accent1">
              <a:lumMod val="50000"/>
            </a:schemeClr>
          </a:solidFill>
          <a:ln>
            <a:solidFill>
              <a:schemeClr val="accent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t" anchorCtr="0"/>
          <a:lstStyle/>
          <a:p>
            <a:pPr algn="ctr"/>
            <a:r>
              <a:rPr lang="zh-CN" altLang="en-US" sz="1100" b="1" dirty="0">
                <a:solidFill>
                  <a:schemeClr val="bg1"/>
                </a:solidFill>
              </a:rPr>
              <a:t>业务应用</a:t>
            </a:r>
          </a:p>
        </p:txBody>
      </p:sp>
      <p:cxnSp>
        <p:nvCxnSpPr>
          <p:cNvPr id="45" name="直接箭头连接符 44"/>
          <p:cNvCxnSpPr>
            <a:stCxn id="19" idx="2"/>
            <a:endCxn id="17" idx="1"/>
          </p:cNvCxnSpPr>
          <p:nvPr/>
        </p:nvCxnSpPr>
        <p:spPr bwMode="auto">
          <a:xfrm flipH="1">
            <a:off x="1487220" y="2286000"/>
            <a:ext cx="2423" cy="208803"/>
          </a:xfrm>
          <a:prstGeom prst="straightConnector1">
            <a:avLst/>
          </a:prstGeom>
          <a:ln>
            <a:headEnd type="none" w="lg" len="med"/>
            <a:tailEnd type="none" w="lg" len="med"/>
          </a:ln>
        </p:spPr>
        <p:style>
          <a:lnRef idx="2">
            <a:schemeClr val="accent2"/>
          </a:lnRef>
          <a:fillRef idx="0">
            <a:schemeClr val="accent2"/>
          </a:fillRef>
          <a:effectRef idx="1">
            <a:schemeClr val="accent2"/>
          </a:effectRef>
          <a:fontRef idx="minor">
            <a:schemeClr val="tx1"/>
          </a:fontRef>
        </p:style>
      </p:cxnSp>
      <p:sp>
        <p:nvSpPr>
          <p:cNvPr id="59" name="TextBox 58"/>
          <p:cNvSpPr txBox="1"/>
          <p:nvPr/>
        </p:nvSpPr>
        <p:spPr>
          <a:xfrm>
            <a:off x="4648200" y="2971637"/>
            <a:ext cx="1905000" cy="307777"/>
          </a:xfrm>
          <a:prstGeom prst="rect">
            <a:avLst/>
          </a:prstGeom>
          <a:noFill/>
        </p:spPr>
        <p:txBody>
          <a:bodyPr wrap="square" rtlCol="0">
            <a:spAutoFit/>
          </a:bodyPr>
          <a:lstStyle/>
          <a:p>
            <a:r>
              <a:rPr lang="zh-CN" altLang="en-US" sz="1400" b="1" dirty="0">
                <a:latin typeface="+mn-ea"/>
                <a:ea typeface="+mn-ea"/>
              </a:rPr>
              <a:t>信息资源交换平台</a:t>
            </a:r>
          </a:p>
        </p:txBody>
      </p:sp>
      <p:sp>
        <p:nvSpPr>
          <p:cNvPr id="3" name="矩形 2"/>
          <p:cNvSpPr/>
          <p:nvPr/>
        </p:nvSpPr>
        <p:spPr>
          <a:xfrm>
            <a:off x="331520" y="2482103"/>
            <a:ext cx="533400" cy="381000"/>
          </a:xfrm>
          <a:prstGeom prst="rect">
            <a:avLst/>
          </a:prstGeom>
          <a:solidFill>
            <a:schemeClr val="bg2">
              <a:lumMod val="50000"/>
            </a:schemeClr>
          </a:solidFill>
          <a:ln>
            <a:solidFill>
              <a:schemeClr val="bg2">
                <a:lumMod val="50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100" b="1" dirty="0">
                <a:solidFill>
                  <a:schemeClr val="bg1"/>
                </a:solidFill>
              </a:rPr>
              <a:t>数据采集设备</a:t>
            </a:r>
          </a:p>
        </p:txBody>
      </p:sp>
      <p:sp>
        <p:nvSpPr>
          <p:cNvPr id="40" name="矩形 39"/>
          <p:cNvSpPr/>
          <p:nvPr/>
        </p:nvSpPr>
        <p:spPr>
          <a:xfrm>
            <a:off x="309750" y="1671550"/>
            <a:ext cx="1977570" cy="1393703"/>
          </a:xfrm>
          <a:prstGeom prst="rect">
            <a:avLst/>
          </a:prstGeom>
          <a:noFill/>
          <a:ln w="12700">
            <a:solidFill>
              <a:srgbClr val="FF0000"/>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33" name="TextBox 32"/>
          <p:cNvSpPr txBox="1"/>
          <p:nvPr/>
        </p:nvSpPr>
        <p:spPr>
          <a:xfrm>
            <a:off x="381000" y="1718846"/>
            <a:ext cx="2114550" cy="338554"/>
          </a:xfrm>
          <a:prstGeom prst="rect">
            <a:avLst/>
          </a:prstGeom>
          <a:noFill/>
        </p:spPr>
        <p:txBody>
          <a:bodyPr wrap="square" rtlCol="0">
            <a:spAutoFit/>
          </a:bodyPr>
          <a:lstStyle/>
          <a:p>
            <a:r>
              <a:rPr lang="zh-CN" altLang="en-US" sz="1600" b="1" dirty="0">
                <a:latin typeface="+mn-ea"/>
                <a:ea typeface="+mn-ea"/>
              </a:rPr>
              <a:t>委办局</a:t>
            </a:r>
          </a:p>
        </p:txBody>
      </p:sp>
      <p:sp>
        <p:nvSpPr>
          <p:cNvPr id="37" name="标题 36"/>
          <p:cNvSpPr>
            <a:spLocks noGrp="1"/>
          </p:cNvSpPr>
          <p:nvPr>
            <p:ph type="title"/>
          </p:nvPr>
        </p:nvSpPr>
        <p:spPr/>
        <p:txBody>
          <a:bodyPr/>
          <a:lstStyle/>
          <a:p>
            <a:r>
              <a:rPr lang="zh-CN" altLang="en-US" dirty="0"/>
              <a:t>信息资源</a:t>
            </a:r>
            <a:r>
              <a:rPr lang="zh-CN" altLang="en-US"/>
              <a:t>交换平台概念模型</a:t>
            </a:r>
            <a:endParaRPr lang="zh-CN" altLang="en-US" dirty="0"/>
          </a:p>
        </p:txBody>
      </p:sp>
      <p:sp>
        <p:nvSpPr>
          <p:cNvPr id="44" name="AutoShape 20"/>
          <p:cNvSpPr>
            <a:spLocks noChangeArrowheads="1"/>
          </p:cNvSpPr>
          <p:nvPr/>
        </p:nvSpPr>
        <p:spPr bwMode="auto">
          <a:xfrm rot="10800000">
            <a:off x="381000" y="914401"/>
            <a:ext cx="7696200" cy="570111"/>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defTabSz="711200" fontAlgn="auto">
              <a:lnSpc>
                <a:spcPct val="140000"/>
              </a:lnSpc>
              <a:spcBef>
                <a:spcPts val="0"/>
              </a:spcBef>
              <a:spcAft>
                <a:spcPct val="35000"/>
              </a:spcAft>
            </a:pPr>
            <a:r>
              <a:rPr lang="zh-CN" altLang="en-US" sz="1400" b="1" dirty="0">
                <a:latin typeface="+mn-ea"/>
                <a:ea typeface="+mn-ea"/>
              </a:rPr>
              <a:t>信息资源交换平台是智慧城市的基础设施，实现了不同部门异构系统间资源的共享和业务协同</a:t>
            </a:r>
          </a:p>
        </p:txBody>
      </p:sp>
      <p:sp>
        <p:nvSpPr>
          <p:cNvPr id="47" name="矩形 46"/>
          <p:cNvSpPr/>
          <p:nvPr/>
        </p:nvSpPr>
        <p:spPr>
          <a:xfrm>
            <a:off x="2058720" y="2108200"/>
            <a:ext cx="661240" cy="251901"/>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100" b="1" dirty="0">
                <a:solidFill>
                  <a:schemeClr val="bg1"/>
                </a:solidFill>
                <a:latin typeface="+mn-ea"/>
              </a:rPr>
              <a:t>数据桥接</a:t>
            </a:r>
            <a:endParaRPr lang="en-US" altLang="zh-CN" sz="1100" b="1" dirty="0">
              <a:solidFill>
                <a:schemeClr val="bg1"/>
              </a:solidFill>
              <a:latin typeface="+mn-ea"/>
            </a:endParaRPr>
          </a:p>
          <a:p>
            <a:pPr algn="ctr"/>
            <a:endParaRPr lang="zh-CN" altLang="en-US" sz="1100" b="1" dirty="0">
              <a:solidFill>
                <a:schemeClr val="bg1"/>
              </a:solidFill>
              <a:latin typeface="+mn-ea"/>
            </a:endParaRPr>
          </a:p>
        </p:txBody>
      </p:sp>
      <p:sp>
        <p:nvSpPr>
          <p:cNvPr id="52" name="矩形 51"/>
          <p:cNvSpPr/>
          <p:nvPr/>
        </p:nvSpPr>
        <p:spPr>
          <a:xfrm>
            <a:off x="2058720" y="2402399"/>
            <a:ext cx="661240" cy="251901"/>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100" b="1" dirty="0">
                <a:solidFill>
                  <a:schemeClr val="bg1"/>
                </a:solidFill>
                <a:latin typeface="+mn-ea"/>
              </a:rPr>
              <a:t>数据处理</a:t>
            </a:r>
          </a:p>
        </p:txBody>
      </p:sp>
      <p:sp>
        <p:nvSpPr>
          <p:cNvPr id="56" name="矩形 55"/>
          <p:cNvSpPr/>
          <p:nvPr/>
        </p:nvSpPr>
        <p:spPr>
          <a:xfrm>
            <a:off x="4432300" y="4293412"/>
            <a:ext cx="939800" cy="324366"/>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200" b="1" dirty="0">
                <a:solidFill>
                  <a:schemeClr val="bg1"/>
                </a:solidFill>
                <a:latin typeface="+mn-ea"/>
              </a:rPr>
              <a:t>元数据管理</a:t>
            </a:r>
            <a:endParaRPr lang="en-US" altLang="zh-CN" sz="1200" b="1" dirty="0">
              <a:solidFill>
                <a:schemeClr val="bg1"/>
              </a:solidFill>
              <a:latin typeface="+mn-ea"/>
            </a:endParaRPr>
          </a:p>
          <a:p>
            <a:pPr algn="ctr"/>
            <a:endParaRPr lang="zh-CN" altLang="en-US" sz="1200" b="1" dirty="0">
              <a:solidFill>
                <a:schemeClr val="bg1"/>
              </a:solidFill>
              <a:latin typeface="+mn-ea"/>
            </a:endParaRPr>
          </a:p>
        </p:txBody>
      </p:sp>
      <p:sp>
        <p:nvSpPr>
          <p:cNvPr id="57" name="灯片编号占位符 3"/>
          <p:cNvSpPr>
            <a:spLocks noGrp="1"/>
          </p:cNvSpPr>
          <p:nvPr>
            <p:ph type="sldNum" sz="quarter" idx="12"/>
          </p:nvPr>
        </p:nvSpPr>
        <p:spPr>
          <a:xfrm>
            <a:off x="4562063" y="5924550"/>
            <a:ext cx="2133600" cy="476250"/>
          </a:xfrm>
        </p:spPr>
        <p:txBody>
          <a:bodyPr/>
          <a:lstStyle/>
          <a:p>
            <a:fld id="{BD61978C-FD3D-4268-8D6C-034E9AD544A3}" type="slidenum">
              <a:rPr lang="en-US" altLang="zh-CN" smtClean="0">
                <a:latin typeface="+mn-ea"/>
                <a:ea typeface="+mn-ea"/>
              </a:rPr>
              <a:pPr/>
              <a:t>11</a:t>
            </a:fld>
            <a:endParaRPr lang="en-US" altLang="zh-CN">
              <a:latin typeface="+mn-ea"/>
              <a:ea typeface="+mn-ea"/>
            </a:endParaRPr>
          </a:p>
        </p:txBody>
      </p:sp>
      <p:sp>
        <p:nvSpPr>
          <p:cNvPr id="58" name="矩形 57"/>
          <p:cNvSpPr/>
          <p:nvPr/>
        </p:nvSpPr>
        <p:spPr>
          <a:xfrm>
            <a:off x="3714214" y="5311241"/>
            <a:ext cx="3449905" cy="1013359"/>
          </a:xfrm>
          <a:prstGeom prst="rect">
            <a:avLst/>
          </a:prstGeom>
          <a:solidFill>
            <a:schemeClr val="bg1">
              <a:lumMod val="95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60" name="圆柱形 59"/>
          <p:cNvSpPr/>
          <p:nvPr/>
        </p:nvSpPr>
        <p:spPr>
          <a:xfrm>
            <a:off x="3801795" y="5494740"/>
            <a:ext cx="762000" cy="381000"/>
          </a:xfrm>
          <a:prstGeom prst="can">
            <a:avLst/>
          </a:prstGeom>
          <a:solidFill>
            <a:schemeClr val="bg2">
              <a:lumMod val="60000"/>
              <a:lumOff val="40000"/>
            </a:schemeClr>
          </a:solidFill>
          <a:ln>
            <a:solidFill>
              <a:schemeClr val="bg2">
                <a:lumMod val="60000"/>
                <a:lumOff val="40000"/>
              </a:schemeClr>
            </a:solidFill>
          </a:ln>
        </p:spPr>
        <p:style>
          <a:lnRef idx="1">
            <a:schemeClr val="accent2"/>
          </a:lnRef>
          <a:fillRef idx="2">
            <a:schemeClr val="accent2"/>
          </a:fillRef>
          <a:effectRef idx="1">
            <a:schemeClr val="accent2"/>
          </a:effectRef>
          <a:fontRef idx="minor">
            <a:schemeClr val="dk1"/>
          </a:fontRef>
        </p:style>
        <p:txBody>
          <a:bodyPr lIns="0" rIns="0" rtlCol="0" anchor="t" anchorCtr="0"/>
          <a:lstStyle/>
          <a:p>
            <a:pPr algn="ctr"/>
            <a:r>
              <a:rPr lang="zh-CN" altLang="en-US" sz="1100" b="1" dirty="0">
                <a:solidFill>
                  <a:schemeClr val="tx1"/>
                </a:solidFill>
                <a:latin typeface="+mn-ea"/>
              </a:rPr>
              <a:t>人口</a:t>
            </a:r>
          </a:p>
        </p:txBody>
      </p:sp>
      <p:sp>
        <p:nvSpPr>
          <p:cNvPr id="61" name="圆柱形 60"/>
          <p:cNvSpPr/>
          <p:nvPr/>
        </p:nvSpPr>
        <p:spPr>
          <a:xfrm>
            <a:off x="4639995" y="5494740"/>
            <a:ext cx="762000" cy="381000"/>
          </a:xfrm>
          <a:prstGeom prst="can">
            <a:avLst/>
          </a:prstGeom>
          <a:solidFill>
            <a:schemeClr val="bg2">
              <a:lumMod val="60000"/>
              <a:lumOff val="40000"/>
            </a:schemeClr>
          </a:solidFill>
          <a:ln>
            <a:solidFill>
              <a:schemeClr val="bg2">
                <a:lumMod val="60000"/>
                <a:lumOff val="40000"/>
              </a:schemeClr>
            </a:solidFill>
          </a:ln>
        </p:spPr>
        <p:style>
          <a:lnRef idx="1">
            <a:schemeClr val="accent2"/>
          </a:lnRef>
          <a:fillRef idx="2">
            <a:schemeClr val="accent2"/>
          </a:fillRef>
          <a:effectRef idx="1">
            <a:schemeClr val="accent2"/>
          </a:effectRef>
          <a:fontRef idx="minor">
            <a:schemeClr val="dk1"/>
          </a:fontRef>
        </p:style>
        <p:txBody>
          <a:bodyPr lIns="0" rIns="0" rtlCol="0" anchor="t" anchorCtr="0"/>
          <a:lstStyle/>
          <a:p>
            <a:pPr algn="ctr"/>
            <a:r>
              <a:rPr lang="zh-CN" altLang="en-US" sz="1100" b="1" dirty="0">
                <a:solidFill>
                  <a:schemeClr val="tx1"/>
                </a:solidFill>
                <a:latin typeface="+mn-ea"/>
              </a:rPr>
              <a:t>法人</a:t>
            </a:r>
            <a:endParaRPr lang="en-US" altLang="zh-CN" sz="1100" b="1" dirty="0">
              <a:solidFill>
                <a:schemeClr val="tx1"/>
              </a:solidFill>
              <a:latin typeface="+mn-ea"/>
            </a:endParaRPr>
          </a:p>
          <a:p>
            <a:pPr algn="ctr"/>
            <a:endParaRPr lang="zh-CN" altLang="en-US" sz="1100" b="1" dirty="0">
              <a:solidFill>
                <a:schemeClr val="tx1"/>
              </a:solidFill>
              <a:latin typeface="+mn-ea"/>
            </a:endParaRPr>
          </a:p>
        </p:txBody>
      </p:sp>
      <p:sp>
        <p:nvSpPr>
          <p:cNvPr id="62" name="圆柱形 61"/>
          <p:cNvSpPr/>
          <p:nvPr/>
        </p:nvSpPr>
        <p:spPr>
          <a:xfrm>
            <a:off x="5478195" y="5499688"/>
            <a:ext cx="762000" cy="381000"/>
          </a:xfrm>
          <a:prstGeom prst="can">
            <a:avLst/>
          </a:prstGeom>
          <a:solidFill>
            <a:schemeClr val="bg2">
              <a:lumMod val="60000"/>
              <a:lumOff val="40000"/>
            </a:schemeClr>
          </a:solidFill>
          <a:ln>
            <a:solidFill>
              <a:schemeClr val="bg2">
                <a:lumMod val="60000"/>
                <a:lumOff val="40000"/>
              </a:schemeClr>
            </a:solidFill>
          </a:ln>
        </p:spPr>
        <p:style>
          <a:lnRef idx="1">
            <a:schemeClr val="accent2"/>
          </a:lnRef>
          <a:fillRef idx="2">
            <a:schemeClr val="accent2"/>
          </a:fillRef>
          <a:effectRef idx="1">
            <a:schemeClr val="accent2"/>
          </a:effectRef>
          <a:fontRef idx="minor">
            <a:schemeClr val="dk1"/>
          </a:fontRef>
        </p:style>
        <p:txBody>
          <a:bodyPr lIns="0" rIns="0" rtlCol="0" anchor="t" anchorCtr="0"/>
          <a:lstStyle/>
          <a:p>
            <a:pPr algn="ctr"/>
            <a:r>
              <a:rPr lang="zh-CN" altLang="en-US" sz="1100" b="1" dirty="0">
                <a:solidFill>
                  <a:schemeClr val="tx1"/>
                </a:solidFill>
                <a:latin typeface="+mn-ea"/>
              </a:rPr>
              <a:t>空间地理</a:t>
            </a:r>
          </a:p>
        </p:txBody>
      </p:sp>
      <p:sp>
        <p:nvSpPr>
          <p:cNvPr id="63" name="TextBox 62"/>
          <p:cNvSpPr txBox="1"/>
          <p:nvPr/>
        </p:nvSpPr>
        <p:spPr>
          <a:xfrm>
            <a:off x="4792395" y="5951940"/>
            <a:ext cx="1752600" cy="369332"/>
          </a:xfrm>
          <a:prstGeom prst="rect">
            <a:avLst/>
          </a:prstGeom>
          <a:noFill/>
        </p:spPr>
        <p:txBody>
          <a:bodyPr wrap="square" rtlCol="0">
            <a:spAutoFit/>
          </a:bodyPr>
          <a:lstStyle/>
          <a:p>
            <a:r>
              <a:rPr lang="zh-CN" altLang="en-US" b="1" dirty="0">
                <a:latin typeface="+mn-ea"/>
                <a:ea typeface="+mn-ea"/>
              </a:rPr>
              <a:t>数据存储</a:t>
            </a:r>
          </a:p>
        </p:txBody>
      </p:sp>
      <p:sp>
        <p:nvSpPr>
          <p:cNvPr id="64" name="圆柱形 63"/>
          <p:cNvSpPr/>
          <p:nvPr/>
        </p:nvSpPr>
        <p:spPr>
          <a:xfrm>
            <a:off x="6316395" y="5494740"/>
            <a:ext cx="762000" cy="381000"/>
          </a:xfrm>
          <a:prstGeom prst="can">
            <a:avLst/>
          </a:prstGeom>
          <a:solidFill>
            <a:schemeClr val="bg2">
              <a:lumMod val="60000"/>
              <a:lumOff val="40000"/>
            </a:schemeClr>
          </a:solidFill>
          <a:ln>
            <a:solidFill>
              <a:schemeClr val="bg2">
                <a:lumMod val="60000"/>
                <a:lumOff val="40000"/>
              </a:schemeClr>
            </a:solidFill>
          </a:ln>
        </p:spPr>
        <p:style>
          <a:lnRef idx="1">
            <a:schemeClr val="accent2"/>
          </a:lnRef>
          <a:fillRef idx="2">
            <a:schemeClr val="accent2"/>
          </a:fillRef>
          <a:effectRef idx="1">
            <a:schemeClr val="accent2"/>
          </a:effectRef>
          <a:fontRef idx="minor">
            <a:schemeClr val="dk1"/>
          </a:fontRef>
        </p:style>
        <p:txBody>
          <a:bodyPr lIns="0" rIns="0" rtlCol="0" anchor="t" anchorCtr="0"/>
          <a:lstStyle/>
          <a:p>
            <a:pPr algn="ctr"/>
            <a:r>
              <a:rPr lang="zh-CN" altLang="en-US" sz="1100" b="1" dirty="0">
                <a:solidFill>
                  <a:schemeClr val="tx1"/>
                </a:solidFill>
                <a:latin typeface="+mn-ea"/>
              </a:rPr>
              <a:t>核心元数据</a:t>
            </a:r>
          </a:p>
        </p:txBody>
      </p:sp>
      <p:sp>
        <p:nvSpPr>
          <p:cNvPr id="65" name="线形标注 1 64"/>
          <p:cNvSpPr/>
          <p:nvPr/>
        </p:nvSpPr>
        <p:spPr>
          <a:xfrm>
            <a:off x="7497477" y="5435221"/>
            <a:ext cx="1381161" cy="364319"/>
          </a:xfrm>
          <a:prstGeom prst="borderCallout1">
            <a:avLst>
              <a:gd name="adj1" fmla="val 15415"/>
              <a:gd name="adj2" fmla="val -6754"/>
              <a:gd name="adj3" fmla="val 17458"/>
              <a:gd name="adj4" fmla="val -32218"/>
            </a:avLst>
          </a:prstGeom>
          <a:solidFill>
            <a:schemeClr val="bg1"/>
          </a:solidFill>
          <a:ln w="12700">
            <a:solidFill>
              <a:srgbClr val="FF0000"/>
            </a:solidFill>
            <a:prstDash val="dash"/>
          </a:ln>
        </p:spPr>
        <p:style>
          <a:lnRef idx="1">
            <a:schemeClr val="accent5"/>
          </a:lnRef>
          <a:fillRef idx="2">
            <a:schemeClr val="accent5"/>
          </a:fillRef>
          <a:effectRef idx="1">
            <a:schemeClr val="accent5"/>
          </a:effectRef>
          <a:fontRef idx="minor">
            <a:schemeClr val="dk1"/>
          </a:fontRef>
        </p:style>
        <p:txBody>
          <a:bodyPr lIns="0" rIns="0" rtlCol="0" anchor="t" anchorCtr="0"/>
          <a:lstStyle/>
          <a:p>
            <a:pPr algn="ctr"/>
            <a:r>
              <a:rPr lang="zh-CN" altLang="en-US" sz="1200" b="1" dirty="0">
                <a:solidFill>
                  <a:schemeClr val="tx1"/>
                </a:solidFill>
              </a:rPr>
              <a:t>委办局数据的整合</a:t>
            </a:r>
          </a:p>
        </p:txBody>
      </p:sp>
      <p:sp>
        <p:nvSpPr>
          <p:cNvPr id="66" name="线形标注 1 65"/>
          <p:cNvSpPr/>
          <p:nvPr/>
        </p:nvSpPr>
        <p:spPr>
          <a:xfrm>
            <a:off x="7497477" y="6036481"/>
            <a:ext cx="1381161" cy="364319"/>
          </a:xfrm>
          <a:prstGeom prst="borderCallout1">
            <a:avLst>
              <a:gd name="adj1" fmla="val 15415"/>
              <a:gd name="adj2" fmla="val -6754"/>
              <a:gd name="adj3" fmla="val 17458"/>
              <a:gd name="adj4" fmla="val -32218"/>
            </a:avLst>
          </a:prstGeom>
          <a:solidFill>
            <a:schemeClr val="bg1"/>
          </a:solidFill>
          <a:ln w="12700">
            <a:solidFill>
              <a:srgbClr val="FF0000"/>
            </a:solidFill>
            <a:prstDash val="dash"/>
          </a:ln>
        </p:spPr>
        <p:style>
          <a:lnRef idx="1">
            <a:schemeClr val="accent5"/>
          </a:lnRef>
          <a:fillRef idx="2">
            <a:schemeClr val="accent5"/>
          </a:fillRef>
          <a:effectRef idx="1">
            <a:schemeClr val="accent5"/>
          </a:effectRef>
          <a:fontRef idx="minor">
            <a:schemeClr val="dk1"/>
          </a:fontRef>
        </p:style>
        <p:txBody>
          <a:bodyPr lIns="0" rIns="0" rtlCol="0" anchor="t" anchorCtr="0"/>
          <a:lstStyle/>
          <a:p>
            <a:pPr algn="ctr"/>
            <a:r>
              <a:rPr lang="zh-CN" altLang="en-US" sz="1200" b="1" dirty="0">
                <a:solidFill>
                  <a:schemeClr val="tx1"/>
                </a:solidFill>
              </a:rPr>
              <a:t>智慧应用数据的整合</a:t>
            </a:r>
          </a:p>
        </p:txBody>
      </p:sp>
      <p:sp>
        <p:nvSpPr>
          <p:cNvPr id="67" name="矩形 66"/>
          <p:cNvSpPr/>
          <p:nvPr/>
        </p:nvSpPr>
        <p:spPr>
          <a:xfrm>
            <a:off x="4143375" y="4093700"/>
            <a:ext cx="209550" cy="1033047"/>
          </a:xfrm>
          <a:prstGeom prst="rect">
            <a:avLst/>
          </a:prstGeom>
          <a:solidFill>
            <a:srgbClr val="92D050"/>
          </a:solidFill>
          <a:ln>
            <a:solidFill>
              <a:srgbClr val="92D05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200" b="1" dirty="0">
                <a:solidFill>
                  <a:schemeClr val="bg1"/>
                </a:solidFill>
                <a:latin typeface="+mn-ea"/>
              </a:rPr>
              <a:t>元数据采集</a:t>
            </a:r>
          </a:p>
        </p:txBody>
      </p:sp>
      <p:sp>
        <p:nvSpPr>
          <p:cNvPr id="74" name="圆柱形 73"/>
          <p:cNvSpPr/>
          <p:nvPr/>
        </p:nvSpPr>
        <p:spPr>
          <a:xfrm>
            <a:off x="1068120" y="4230150"/>
            <a:ext cx="838200" cy="364319"/>
          </a:xfrm>
          <a:prstGeom prst="can">
            <a:avLst/>
          </a:prstGeom>
          <a:solidFill>
            <a:schemeClr val="bg2">
              <a:lumMod val="60000"/>
              <a:lumOff val="40000"/>
            </a:schemeClr>
          </a:solidFill>
          <a:ln>
            <a:solidFill>
              <a:schemeClr val="bg2">
                <a:lumMod val="40000"/>
                <a:lumOff val="60000"/>
              </a:schemeClr>
            </a:solidFill>
          </a:ln>
        </p:spPr>
        <p:style>
          <a:lnRef idx="1">
            <a:schemeClr val="accent2"/>
          </a:lnRef>
          <a:fillRef idx="2">
            <a:schemeClr val="accent2"/>
          </a:fillRef>
          <a:effectRef idx="1">
            <a:schemeClr val="accent2"/>
          </a:effectRef>
          <a:fontRef idx="minor">
            <a:schemeClr val="dk1"/>
          </a:fontRef>
        </p:style>
        <p:txBody>
          <a:bodyPr lIns="0" rIns="0" rtlCol="0" anchor="t" anchorCtr="0"/>
          <a:lstStyle/>
          <a:p>
            <a:pPr algn="ctr"/>
            <a:r>
              <a:rPr lang="zh-CN" altLang="en-US" sz="1200" b="1" dirty="0">
                <a:solidFill>
                  <a:schemeClr val="tx1"/>
                </a:solidFill>
                <a:latin typeface="+mn-ea"/>
              </a:rPr>
              <a:t>业务数据库</a:t>
            </a:r>
          </a:p>
        </p:txBody>
      </p:sp>
      <p:sp>
        <p:nvSpPr>
          <p:cNvPr id="75" name="圆角矩形 74"/>
          <p:cNvSpPr/>
          <p:nvPr/>
        </p:nvSpPr>
        <p:spPr>
          <a:xfrm>
            <a:off x="1060266" y="3773697"/>
            <a:ext cx="858754" cy="255767"/>
          </a:xfrm>
          <a:prstGeom prst="roundRect">
            <a:avLst/>
          </a:prstGeom>
          <a:solidFill>
            <a:schemeClr val="accent1">
              <a:lumMod val="50000"/>
            </a:schemeClr>
          </a:solidFill>
          <a:ln>
            <a:solidFill>
              <a:schemeClr val="accent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t" anchorCtr="0"/>
          <a:lstStyle/>
          <a:p>
            <a:pPr algn="ctr"/>
            <a:r>
              <a:rPr lang="zh-CN" altLang="en-US" sz="1100" b="1" dirty="0">
                <a:solidFill>
                  <a:schemeClr val="bg1"/>
                </a:solidFill>
              </a:rPr>
              <a:t>业务应用</a:t>
            </a:r>
          </a:p>
        </p:txBody>
      </p:sp>
      <p:cxnSp>
        <p:nvCxnSpPr>
          <p:cNvPr id="76" name="直接箭头连接符 75"/>
          <p:cNvCxnSpPr>
            <a:stCxn id="75" idx="2"/>
            <a:endCxn id="74" idx="1"/>
          </p:cNvCxnSpPr>
          <p:nvPr/>
        </p:nvCxnSpPr>
        <p:spPr bwMode="auto">
          <a:xfrm flipH="1">
            <a:off x="1487220" y="4029464"/>
            <a:ext cx="2423" cy="200686"/>
          </a:xfrm>
          <a:prstGeom prst="straightConnector1">
            <a:avLst/>
          </a:prstGeom>
          <a:ln>
            <a:headEnd type="none" w="lg" len="med"/>
            <a:tailEnd type="none" w="lg" len="med"/>
          </a:ln>
        </p:spPr>
        <p:style>
          <a:lnRef idx="2">
            <a:schemeClr val="accent2"/>
          </a:lnRef>
          <a:fillRef idx="0">
            <a:schemeClr val="accent2"/>
          </a:fillRef>
          <a:effectRef idx="1">
            <a:schemeClr val="accent2"/>
          </a:effectRef>
          <a:fontRef idx="minor">
            <a:schemeClr val="tx1"/>
          </a:fontRef>
        </p:style>
      </p:cxnSp>
      <p:sp>
        <p:nvSpPr>
          <p:cNvPr id="77" name="矩形 76"/>
          <p:cNvSpPr/>
          <p:nvPr/>
        </p:nvSpPr>
        <p:spPr>
          <a:xfrm>
            <a:off x="331520" y="4217450"/>
            <a:ext cx="533400" cy="381000"/>
          </a:xfrm>
          <a:prstGeom prst="rect">
            <a:avLst/>
          </a:prstGeom>
          <a:solidFill>
            <a:schemeClr val="bg2">
              <a:lumMod val="50000"/>
            </a:schemeClr>
          </a:solidFill>
          <a:ln>
            <a:solidFill>
              <a:schemeClr val="bg2">
                <a:lumMod val="50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100" b="1" dirty="0">
                <a:solidFill>
                  <a:schemeClr val="bg1"/>
                </a:solidFill>
              </a:rPr>
              <a:t>数据采集设备</a:t>
            </a:r>
          </a:p>
        </p:txBody>
      </p:sp>
      <p:sp>
        <p:nvSpPr>
          <p:cNvPr id="80" name="圆柱形 79"/>
          <p:cNvSpPr/>
          <p:nvPr/>
        </p:nvSpPr>
        <p:spPr>
          <a:xfrm>
            <a:off x="1063170" y="5979186"/>
            <a:ext cx="838200" cy="364319"/>
          </a:xfrm>
          <a:prstGeom prst="can">
            <a:avLst/>
          </a:prstGeom>
          <a:solidFill>
            <a:schemeClr val="bg2">
              <a:lumMod val="60000"/>
              <a:lumOff val="40000"/>
            </a:schemeClr>
          </a:solidFill>
          <a:ln>
            <a:solidFill>
              <a:schemeClr val="bg2">
                <a:lumMod val="40000"/>
                <a:lumOff val="60000"/>
              </a:schemeClr>
            </a:solidFill>
          </a:ln>
        </p:spPr>
        <p:style>
          <a:lnRef idx="1">
            <a:schemeClr val="accent2"/>
          </a:lnRef>
          <a:fillRef idx="2">
            <a:schemeClr val="accent2"/>
          </a:fillRef>
          <a:effectRef idx="1">
            <a:schemeClr val="accent2"/>
          </a:effectRef>
          <a:fontRef idx="minor">
            <a:schemeClr val="dk1"/>
          </a:fontRef>
        </p:style>
        <p:txBody>
          <a:bodyPr lIns="0" rIns="0" rtlCol="0" anchor="t" anchorCtr="0"/>
          <a:lstStyle/>
          <a:p>
            <a:pPr algn="ctr"/>
            <a:r>
              <a:rPr lang="zh-CN" altLang="en-US" sz="1200" b="1" dirty="0">
                <a:solidFill>
                  <a:schemeClr val="tx1"/>
                </a:solidFill>
                <a:latin typeface="+mn-ea"/>
              </a:rPr>
              <a:t>业务数据库</a:t>
            </a:r>
          </a:p>
        </p:txBody>
      </p:sp>
      <p:sp>
        <p:nvSpPr>
          <p:cNvPr id="81" name="圆角矩形 80"/>
          <p:cNvSpPr/>
          <p:nvPr/>
        </p:nvSpPr>
        <p:spPr>
          <a:xfrm>
            <a:off x="1055316" y="5535433"/>
            <a:ext cx="858754" cy="255767"/>
          </a:xfrm>
          <a:prstGeom prst="roundRect">
            <a:avLst/>
          </a:prstGeom>
          <a:solidFill>
            <a:schemeClr val="accent1">
              <a:lumMod val="50000"/>
            </a:schemeClr>
          </a:solidFill>
          <a:ln>
            <a:solidFill>
              <a:schemeClr val="accent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t" anchorCtr="0"/>
          <a:lstStyle/>
          <a:p>
            <a:pPr algn="ctr"/>
            <a:r>
              <a:rPr lang="zh-CN" altLang="en-US" sz="1100" b="1" dirty="0">
                <a:solidFill>
                  <a:schemeClr val="bg1"/>
                </a:solidFill>
              </a:rPr>
              <a:t>业务应用</a:t>
            </a:r>
          </a:p>
        </p:txBody>
      </p:sp>
      <p:cxnSp>
        <p:nvCxnSpPr>
          <p:cNvPr id="82" name="直接箭头连接符 81"/>
          <p:cNvCxnSpPr>
            <a:stCxn id="81" idx="2"/>
            <a:endCxn id="80" idx="1"/>
          </p:cNvCxnSpPr>
          <p:nvPr/>
        </p:nvCxnSpPr>
        <p:spPr bwMode="auto">
          <a:xfrm flipH="1">
            <a:off x="1482270" y="5791200"/>
            <a:ext cx="2423" cy="187986"/>
          </a:xfrm>
          <a:prstGeom prst="straightConnector1">
            <a:avLst/>
          </a:prstGeom>
          <a:ln>
            <a:headEnd type="none" w="lg" len="med"/>
            <a:tailEnd type="none" w="lg" len="med"/>
          </a:ln>
        </p:spPr>
        <p:style>
          <a:lnRef idx="2">
            <a:schemeClr val="accent2"/>
          </a:lnRef>
          <a:fillRef idx="0">
            <a:schemeClr val="accent2"/>
          </a:fillRef>
          <a:effectRef idx="1">
            <a:schemeClr val="accent2"/>
          </a:effectRef>
          <a:fontRef idx="minor">
            <a:schemeClr val="tx1"/>
          </a:fontRef>
        </p:style>
      </p:cxnSp>
      <p:sp>
        <p:nvSpPr>
          <p:cNvPr id="83" name="矩形 82"/>
          <p:cNvSpPr/>
          <p:nvPr/>
        </p:nvSpPr>
        <p:spPr>
          <a:xfrm>
            <a:off x="326570" y="5966486"/>
            <a:ext cx="533400" cy="381000"/>
          </a:xfrm>
          <a:prstGeom prst="rect">
            <a:avLst/>
          </a:prstGeom>
          <a:solidFill>
            <a:schemeClr val="bg2">
              <a:lumMod val="50000"/>
            </a:schemeClr>
          </a:solidFill>
          <a:ln>
            <a:solidFill>
              <a:schemeClr val="bg2">
                <a:lumMod val="50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100" b="1" dirty="0">
                <a:solidFill>
                  <a:schemeClr val="bg1"/>
                </a:solidFill>
              </a:rPr>
              <a:t>数据采集设备</a:t>
            </a:r>
          </a:p>
        </p:txBody>
      </p:sp>
      <p:cxnSp>
        <p:nvCxnSpPr>
          <p:cNvPr id="84" name="直接箭头连接符 83"/>
          <p:cNvCxnSpPr/>
          <p:nvPr/>
        </p:nvCxnSpPr>
        <p:spPr bwMode="auto">
          <a:xfrm>
            <a:off x="859970" y="6172200"/>
            <a:ext cx="208150" cy="0"/>
          </a:xfrm>
          <a:prstGeom prst="straightConnector1">
            <a:avLst/>
          </a:prstGeom>
          <a:ln>
            <a:headEnd type="none" w="med" len="lg"/>
            <a:tailEnd type="none" w="med" len="lg"/>
          </a:ln>
        </p:spPr>
        <p:style>
          <a:lnRef idx="2">
            <a:schemeClr val="accent2"/>
          </a:lnRef>
          <a:fillRef idx="0">
            <a:schemeClr val="accent2"/>
          </a:fillRef>
          <a:effectRef idx="1">
            <a:schemeClr val="accent2"/>
          </a:effectRef>
          <a:fontRef idx="minor">
            <a:schemeClr val="tx1"/>
          </a:fontRef>
        </p:style>
      </p:cxnSp>
      <p:sp>
        <p:nvSpPr>
          <p:cNvPr id="85" name="矩形 84"/>
          <p:cNvSpPr/>
          <p:nvPr/>
        </p:nvSpPr>
        <p:spPr>
          <a:xfrm>
            <a:off x="304800" y="5194299"/>
            <a:ext cx="1982520" cy="1355337"/>
          </a:xfrm>
          <a:prstGeom prst="rect">
            <a:avLst/>
          </a:prstGeom>
          <a:noFill/>
          <a:ln w="12700">
            <a:solidFill>
              <a:srgbClr val="FF0000"/>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86" name="TextBox 85"/>
          <p:cNvSpPr txBox="1"/>
          <p:nvPr/>
        </p:nvSpPr>
        <p:spPr>
          <a:xfrm>
            <a:off x="304800" y="3386110"/>
            <a:ext cx="2114550" cy="338554"/>
          </a:xfrm>
          <a:prstGeom prst="rect">
            <a:avLst/>
          </a:prstGeom>
          <a:noFill/>
        </p:spPr>
        <p:txBody>
          <a:bodyPr wrap="square" rtlCol="0">
            <a:spAutoFit/>
          </a:bodyPr>
          <a:lstStyle/>
          <a:p>
            <a:r>
              <a:rPr lang="zh-CN" altLang="en-US" sz="1600" b="1" dirty="0">
                <a:latin typeface="+mn-ea"/>
                <a:ea typeface="+mn-ea"/>
              </a:rPr>
              <a:t>委办局</a:t>
            </a:r>
          </a:p>
        </p:txBody>
      </p:sp>
      <p:sp>
        <p:nvSpPr>
          <p:cNvPr id="87" name="TextBox 86"/>
          <p:cNvSpPr txBox="1"/>
          <p:nvPr/>
        </p:nvSpPr>
        <p:spPr>
          <a:xfrm>
            <a:off x="309750" y="5224046"/>
            <a:ext cx="2114550" cy="338554"/>
          </a:xfrm>
          <a:prstGeom prst="rect">
            <a:avLst/>
          </a:prstGeom>
          <a:noFill/>
        </p:spPr>
        <p:txBody>
          <a:bodyPr wrap="square" rtlCol="0">
            <a:spAutoFit/>
          </a:bodyPr>
          <a:lstStyle/>
          <a:p>
            <a:r>
              <a:rPr lang="zh-CN" altLang="en-US" sz="1600" b="1" dirty="0">
                <a:latin typeface="+mn-ea"/>
                <a:ea typeface="+mn-ea"/>
              </a:rPr>
              <a:t>委办局</a:t>
            </a:r>
          </a:p>
        </p:txBody>
      </p:sp>
      <p:sp>
        <p:nvSpPr>
          <p:cNvPr id="88" name="矩形 87"/>
          <p:cNvSpPr/>
          <p:nvPr/>
        </p:nvSpPr>
        <p:spPr>
          <a:xfrm>
            <a:off x="2058720" y="2694499"/>
            <a:ext cx="661240" cy="251901"/>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100" b="1" dirty="0">
                <a:solidFill>
                  <a:schemeClr val="bg1"/>
                </a:solidFill>
                <a:latin typeface="+mn-ea"/>
              </a:rPr>
              <a:t>数据传输</a:t>
            </a:r>
          </a:p>
        </p:txBody>
      </p:sp>
      <p:sp>
        <p:nvSpPr>
          <p:cNvPr id="99" name="矩形 98"/>
          <p:cNvSpPr/>
          <p:nvPr/>
        </p:nvSpPr>
        <p:spPr>
          <a:xfrm>
            <a:off x="7090847" y="2585763"/>
            <a:ext cx="986353" cy="2662828"/>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00" name="TextBox 99"/>
          <p:cNvSpPr txBox="1"/>
          <p:nvPr/>
        </p:nvSpPr>
        <p:spPr>
          <a:xfrm>
            <a:off x="7090847" y="2590440"/>
            <a:ext cx="1905000" cy="338554"/>
          </a:xfrm>
          <a:prstGeom prst="rect">
            <a:avLst/>
          </a:prstGeom>
          <a:noFill/>
        </p:spPr>
        <p:txBody>
          <a:bodyPr wrap="square" rtlCol="0">
            <a:spAutoFit/>
          </a:bodyPr>
          <a:lstStyle/>
          <a:p>
            <a:r>
              <a:rPr lang="zh-CN" altLang="en-US" sz="1600" b="1" dirty="0">
                <a:latin typeface="+mn-ea"/>
                <a:ea typeface="+mn-ea"/>
              </a:rPr>
              <a:t>智慧应用</a:t>
            </a:r>
          </a:p>
        </p:txBody>
      </p:sp>
      <p:pic>
        <p:nvPicPr>
          <p:cNvPr id="101" name="Picture 14" descr="C:\Users\ZYC\Desktop\数据交换\图片\智慧交通.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193549" y="2999640"/>
            <a:ext cx="807451" cy="662524"/>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18" descr="C:\Users\ZYC\Desktop\数据交换\图片\智能分析.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93550" y="3709791"/>
            <a:ext cx="807450" cy="665674"/>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19" descr="C:\Users\ZYC\Desktop\数据交换\图片\移动终端.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93550" y="4471384"/>
            <a:ext cx="807449" cy="686207"/>
          </a:xfrm>
          <a:prstGeom prst="rect">
            <a:avLst/>
          </a:prstGeom>
          <a:noFill/>
          <a:extLst>
            <a:ext uri="{909E8E84-426E-40DD-AFC4-6F175D3DCCD1}">
              <a14:hiddenFill xmlns:a14="http://schemas.microsoft.com/office/drawing/2010/main">
                <a:solidFill>
                  <a:srgbClr val="FFFFFF"/>
                </a:solidFill>
              </a14:hiddenFill>
            </a:ext>
          </a:extLst>
        </p:spPr>
      </p:pic>
      <p:cxnSp>
        <p:nvCxnSpPr>
          <p:cNvPr id="122" name="直接连接符 121"/>
          <p:cNvCxnSpPr/>
          <p:nvPr/>
        </p:nvCxnSpPr>
        <p:spPr bwMode="auto">
          <a:xfrm flipV="1">
            <a:off x="2719960" y="2819400"/>
            <a:ext cx="329360" cy="1"/>
          </a:xfrm>
          <a:prstGeom prst="line">
            <a:avLst/>
          </a:prstGeom>
          <a:ln>
            <a:solidFill>
              <a:srgbClr val="FF0000"/>
            </a:solidFill>
            <a:headEnd type="none" w="med" len="med"/>
            <a:tailEnd type="none" w="lg" len="lg"/>
          </a:ln>
        </p:spPr>
        <p:style>
          <a:lnRef idx="2">
            <a:schemeClr val="accent2"/>
          </a:lnRef>
          <a:fillRef idx="0">
            <a:schemeClr val="accent2"/>
          </a:fillRef>
          <a:effectRef idx="1">
            <a:schemeClr val="accent2"/>
          </a:effectRef>
          <a:fontRef idx="minor">
            <a:schemeClr val="tx1"/>
          </a:fontRef>
        </p:style>
      </p:cxnSp>
      <p:cxnSp>
        <p:nvCxnSpPr>
          <p:cNvPr id="135" name="直接连接符 134"/>
          <p:cNvCxnSpPr/>
          <p:nvPr/>
        </p:nvCxnSpPr>
        <p:spPr bwMode="auto">
          <a:xfrm flipV="1">
            <a:off x="3049320" y="2819400"/>
            <a:ext cx="6885" cy="3493532"/>
          </a:xfrm>
          <a:prstGeom prst="line">
            <a:avLst/>
          </a:prstGeom>
          <a:ln>
            <a:solidFill>
              <a:srgbClr val="FF0000"/>
            </a:solidFill>
            <a:headEnd type="none" w="med" len="med"/>
            <a:tailEnd type="none" w="lg" len="lg"/>
          </a:ln>
        </p:spPr>
        <p:style>
          <a:lnRef idx="2">
            <a:schemeClr val="accent2"/>
          </a:lnRef>
          <a:fillRef idx="0">
            <a:schemeClr val="accent2"/>
          </a:fillRef>
          <a:effectRef idx="1">
            <a:schemeClr val="accent2"/>
          </a:effectRef>
          <a:fontRef idx="minor">
            <a:schemeClr val="tx1"/>
          </a:fontRef>
        </p:style>
      </p:cxnSp>
      <p:cxnSp>
        <p:nvCxnSpPr>
          <p:cNvPr id="141" name="直接连接符 140"/>
          <p:cNvCxnSpPr/>
          <p:nvPr/>
        </p:nvCxnSpPr>
        <p:spPr bwMode="auto">
          <a:xfrm flipV="1">
            <a:off x="3049320" y="4022372"/>
            <a:ext cx="1329790" cy="3528"/>
          </a:xfrm>
          <a:prstGeom prst="line">
            <a:avLst/>
          </a:prstGeom>
          <a:ln>
            <a:solidFill>
              <a:srgbClr val="FF0000"/>
            </a:solidFill>
            <a:headEnd type="none" w="med" len="med"/>
            <a:tailEnd type="triangle" w="lg" len="lg"/>
          </a:ln>
        </p:spPr>
        <p:style>
          <a:lnRef idx="2">
            <a:schemeClr val="accent2"/>
          </a:lnRef>
          <a:fillRef idx="0">
            <a:schemeClr val="accent2"/>
          </a:fillRef>
          <a:effectRef idx="1">
            <a:schemeClr val="accent2"/>
          </a:effectRef>
          <a:fontRef idx="minor">
            <a:schemeClr val="tx1"/>
          </a:fontRef>
        </p:style>
      </p:cxnSp>
      <p:cxnSp>
        <p:nvCxnSpPr>
          <p:cNvPr id="147" name="直接连接符 146"/>
          <p:cNvCxnSpPr>
            <a:stCxn id="14" idx="2"/>
          </p:cNvCxnSpPr>
          <p:nvPr/>
        </p:nvCxnSpPr>
        <p:spPr bwMode="auto">
          <a:xfrm>
            <a:off x="5958403" y="4202316"/>
            <a:ext cx="0" cy="1297372"/>
          </a:xfrm>
          <a:prstGeom prst="line">
            <a:avLst/>
          </a:prstGeom>
          <a:ln>
            <a:solidFill>
              <a:srgbClr val="FF0000"/>
            </a:solidFill>
            <a:headEnd type="none" w="med" len="med"/>
            <a:tailEnd type="triangle" w="lg" len="lg"/>
          </a:ln>
        </p:spPr>
        <p:style>
          <a:lnRef idx="2">
            <a:schemeClr val="accent2"/>
          </a:lnRef>
          <a:fillRef idx="0">
            <a:schemeClr val="accent2"/>
          </a:fillRef>
          <a:effectRef idx="1">
            <a:schemeClr val="accent2"/>
          </a:effectRef>
          <a:fontRef idx="minor">
            <a:schemeClr val="tx1"/>
          </a:fontRef>
        </p:style>
      </p:cxnSp>
      <p:sp>
        <p:nvSpPr>
          <p:cNvPr id="97" name="矩形 96"/>
          <p:cNvSpPr/>
          <p:nvPr/>
        </p:nvSpPr>
        <p:spPr>
          <a:xfrm>
            <a:off x="4432300" y="4688742"/>
            <a:ext cx="1882773" cy="322386"/>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200" b="1" dirty="0">
                <a:solidFill>
                  <a:schemeClr val="bg1"/>
                </a:solidFill>
                <a:latin typeface="+mn-ea"/>
              </a:rPr>
              <a:t>管理与监控</a:t>
            </a:r>
          </a:p>
        </p:txBody>
      </p:sp>
      <p:sp>
        <p:nvSpPr>
          <p:cNvPr id="104" name="矩形 103"/>
          <p:cNvSpPr/>
          <p:nvPr/>
        </p:nvSpPr>
        <p:spPr>
          <a:xfrm>
            <a:off x="4143375" y="2988331"/>
            <a:ext cx="212190" cy="887983"/>
          </a:xfrm>
          <a:prstGeom prst="rect">
            <a:avLst/>
          </a:prstGeom>
          <a:solidFill>
            <a:srgbClr val="92D050"/>
          </a:solidFill>
          <a:ln>
            <a:solidFill>
              <a:srgbClr val="92D05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200" b="1" dirty="0">
                <a:solidFill>
                  <a:schemeClr val="bg1"/>
                </a:solidFill>
                <a:latin typeface="+mn-ea"/>
              </a:rPr>
              <a:t>标准接口</a:t>
            </a:r>
          </a:p>
        </p:txBody>
      </p:sp>
      <p:cxnSp>
        <p:nvCxnSpPr>
          <p:cNvPr id="152" name="直接连接符 151"/>
          <p:cNvCxnSpPr>
            <a:stCxn id="12" idx="3"/>
            <a:endCxn id="14" idx="1"/>
          </p:cNvCxnSpPr>
          <p:nvPr/>
        </p:nvCxnSpPr>
        <p:spPr bwMode="auto">
          <a:xfrm>
            <a:off x="5372100" y="3950415"/>
            <a:ext cx="222621" cy="0"/>
          </a:xfrm>
          <a:prstGeom prst="line">
            <a:avLst/>
          </a:prstGeom>
          <a:ln>
            <a:solidFill>
              <a:srgbClr val="FF0000"/>
            </a:solidFill>
            <a:headEnd type="none" w="med" len="med"/>
            <a:tailEnd type="triangle" w="lg" len="lg"/>
          </a:ln>
        </p:spPr>
        <p:style>
          <a:lnRef idx="2">
            <a:schemeClr val="accent2"/>
          </a:lnRef>
          <a:fillRef idx="0">
            <a:schemeClr val="accent2"/>
          </a:fillRef>
          <a:effectRef idx="1">
            <a:schemeClr val="accent2"/>
          </a:effectRef>
          <a:fontRef idx="minor">
            <a:schemeClr val="tx1"/>
          </a:fontRef>
        </p:style>
      </p:cxnSp>
      <p:sp>
        <p:nvSpPr>
          <p:cNvPr id="166" name="矩形 165"/>
          <p:cNvSpPr/>
          <p:nvPr/>
        </p:nvSpPr>
        <p:spPr>
          <a:xfrm>
            <a:off x="2021284" y="3800864"/>
            <a:ext cx="744604" cy="930775"/>
          </a:xfrm>
          <a:prstGeom prst="rect">
            <a:avLst/>
          </a:prstGeom>
          <a:solidFill>
            <a:schemeClr val="bg1">
              <a:lumMod val="95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67" name="矩形 166"/>
          <p:cNvSpPr/>
          <p:nvPr/>
        </p:nvSpPr>
        <p:spPr>
          <a:xfrm>
            <a:off x="2057400" y="3850785"/>
            <a:ext cx="661240" cy="251901"/>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100" b="1" dirty="0">
                <a:solidFill>
                  <a:schemeClr val="bg1"/>
                </a:solidFill>
                <a:latin typeface="+mn-ea"/>
              </a:rPr>
              <a:t>数据桥接</a:t>
            </a:r>
            <a:endParaRPr lang="en-US" altLang="zh-CN" sz="1100" b="1" dirty="0">
              <a:solidFill>
                <a:schemeClr val="bg1"/>
              </a:solidFill>
              <a:latin typeface="+mn-ea"/>
            </a:endParaRPr>
          </a:p>
          <a:p>
            <a:pPr algn="ctr"/>
            <a:endParaRPr lang="zh-CN" altLang="en-US" sz="1100" b="1" dirty="0">
              <a:solidFill>
                <a:schemeClr val="bg1"/>
              </a:solidFill>
              <a:latin typeface="+mn-ea"/>
            </a:endParaRPr>
          </a:p>
        </p:txBody>
      </p:sp>
      <p:sp>
        <p:nvSpPr>
          <p:cNvPr id="168" name="矩形 167"/>
          <p:cNvSpPr/>
          <p:nvPr/>
        </p:nvSpPr>
        <p:spPr>
          <a:xfrm>
            <a:off x="2057400" y="4144984"/>
            <a:ext cx="661240" cy="251901"/>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100" b="1" dirty="0">
                <a:solidFill>
                  <a:schemeClr val="bg1"/>
                </a:solidFill>
                <a:latin typeface="+mn-ea"/>
              </a:rPr>
              <a:t>数据处理</a:t>
            </a:r>
          </a:p>
        </p:txBody>
      </p:sp>
      <p:sp>
        <p:nvSpPr>
          <p:cNvPr id="169" name="矩形 168"/>
          <p:cNvSpPr/>
          <p:nvPr/>
        </p:nvSpPr>
        <p:spPr>
          <a:xfrm>
            <a:off x="2057400" y="4437084"/>
            <a:ext cx="661240" cy="251901"/>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100" b="1" dirty="0">
                <a:solidFill>
                  <a:schemeClr val="bg1"/>
                </a:solidFill>
                <a:latin typeface="+mn-ea"/>
              </a:rPr>
              <a:t>数据传输</a:t>
            </a:r>
          </a:p>
        </p:txBody>
      </p:sp>
      <p:sp>
        <p:nvSpPr>
          <p:cNvPr id="171" name="矩形 170"/>
          <p:cNvSpPr/>
          <p:nvPr/>
        </p:nvSpPr>
        <p:spPr>
          <a:xfrm>
            <a:off x="2036696" y="5520825"/>
            <a:ext cx="744604" cy="930775"/>
          </a:xfrm>
          <a:prstGeom prst="rect">
            <a:avLst/>
          </a:prstGeom>
          <a:solidFill>
            <a:schemeClr val="bg1">
              <a:lumMod val="95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72" name="矩形 171"/>
          <p:cNvSpPr/>
          <p:nvPr/>
        </p:nvSpPr>
        <p:spPr>
          <a:xfrm>
            <a:off x="2072812" y="5570746"/>
            <a:ext cx="661240" cy="251901"/>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100" b="1" dirty="0">
                <a:solidFill>
                  <a:schemeClr val="bg1"/>
                </a:solidFill>
                <a:latin typeface="+mn-ea"/>
              </a:rPr>
              <a:t>数据桥接</a:t>
            </a:r>
            <a:endParaRPr lang="en-US" altLang="zh-CN" sz="1100" b="1" dirty="0">
              <a:solidFill>
                <a:schemeClr val="bg1"/>
              </a:solidFill>
              <a:latin typeface="+mn-ea"/>
            </a:endParaRPr>
          </a:p>
          <a:p>
            <a:pPr algn="ctr"/>
            <a:endParaRPr lang="zh-CN" altLang="en-US" sz="1100" b="1" dirty="0">
              <a:solidFill>
                <a:schemeClr val="bg1"/>
              </a:solidFill>
              <a:latin typeface="+mn-ea"/>
            </a:endParaRPr>
          </a:p>
        </p:txBody>
      </p:sp>
      <p:sp>
        <p:nvSpPr>
          <p:cNvPr id="173" name="矩形 172"/>
          <p:cNvSpPr/>
          <p:nvPr/>
        </p:nvSpPr>
        <p:spPr>
          <a:xfrm>
            <a:off x="2072812" y="5864945"/>
            <a:ext cx="661240" cy="251901"/>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100" b="1" dirty="0">
                <a:solidFill>
                  <a:schemeClr val="bg1"/>
                </a:solidFill>
                <a:latin typeface="+mn-ea"/>
              </a:rPr>
              <a:t>数据处理</a:t>
            </a:r>
          </a:p>
        </p:txBody>
      </p:sp>
      <p:sp>
        <p:nvSpPr>
          <p:cNvPr id="174" name="矩形 173"/>
          <p:cNvSpPr/>
          <p:nvPr/>
        </p:nvSpPr>
        <p:spPr>
          <a:xfrm>
            <a:off x="2072812" y="6157045"/>
            <a:ext cx="661240" cy="251901"/>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100" b="1" dirty="0">
                <a:solidFill>
                  <a:schemeClr val="bg1"/>
                </a:solidFill>
                <a:latin typeface="+mn-ea"/>
              </a:rPr>
              <a:t>数据传输</a:t>
            </a:r>
          </a:p>
        </p:txBody>
      </p:sp>
      <p:cxnSp>
        <p:nvCxnSpPr>
          <p:cNvPr id="126" name="直接连接符 125"/>
          <p:cNvCxnSpPr>
            <a:stCxn id="169" idx="3"/>
          </p:cNvCxnSpPr>
          <p:nvPr/>
        </p:nvCxnSpPr>
        <p:spPr bwMode="auto">
          <a:xfrm flipV="1">
            <a:off x="2718640" y="4562864"/>
            <a:ext cx="330680" cy="171"/>
          </a:xfrm>
          <a:prstGeom prst="line">
            <a:avLst/>
          </a:prstGeom>
          <a:ln>
            <a:solidFill>
              <a:srgbClr val="FF0000"/>
            </a:solidFill>
            <a:headEnd type="none" w="med" len="med"/>
            <a:tailEnd type="none" w="lg" len="lg"/>
          </a:ln>
        </p:spPr>
        <p:style>
          <a:lnRef idx="2">
            <a:schemeClr val="accent2"/>
          </a:lnRef>
          <a:fillRef idx="0">
            <a:schemeClr val="accent2"/>
          </a:fillRef>
          <a:effectRef idx="1">
            <a:schemeClr val="accent2"/>
          </a:effectRef>
          <a:fontRef idx="minor">
            <a:schemeClr val="tx1"/>
          </a:fontRef>
        </p:style>
      </p:cxnSp>
      <p:cxnSp>
        <p:nvCxnSpPr>
          <p:cNvPr id="129" name="直接连接符 128"/>
          <p:cNvCxnSpPr/>
          <p:nvPr/>
        </p:nvCxnSpPr>
        <p:spPr bwMode="auto">
          <a:xfrm>
            <a:off x="2734052" y="6295696"/>
            <a:ext cx="315268" cy="0"/>
          </a:xfrm>
          <a:prstGeom prst="line">
            <a:avLst/>
          </a:prstGeom>
          <a:ln>
            <a:solidFill>
              <a:srgbClr val="FF0000"/>
            </a:solidFill>
            <a:headEnd type="none" w="med" len="med"/>
            <a:tailEnd type="none" w="lg" len="lg"/>
          </a:ln>
        </p:spPr>
        <p:style>
          <a:lnRef idx="2">
            <a:schemeClr val="accent2"/>
          </a:lnRef>
          <a:fillRef idx="0">
            <a:schemeClr val="accent2"/>
          </a:fillRef>
          <a:effectRef idx="1">
            <a:schemeClr val="accent2"/>
          </a:effectRef>
          <a:fontRef idx="minor">
            <a:schemeClr val="tx1"/>
          </a:fontRef>
        </p:style>
      </p:cxnSp>
      <p:sp>
        <p:nvSpPr>
          <p:cNvPr id="186" name="矩形 185"/>
          <p:cNvSpPr/>
          <p:nvPr/>
        </p:nvSpPr>
        <p:spPr>
          <a:xfrm>
            <a:off x="5594721" y="4285860"/>
            <a:ext cx="727364" cy="324366"/>
          </a:xfrm>
          <a:prstGeom prst="rect">
            <a:avLst/>
          </a:prstGeom>
          <a:solidFill>
            <a:srgbClr val="0070C0"/>
          </a:solidFill>
          <a:ln>
            <a:solidFill>
              <a:srgbClr val="0070C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200" b="1" dirty="0">
                <a:solidFill>
                  <a:schemeClr val="bg1"/>
                </a:solidFill>
                <a:latin typeface="+mn-ea"/>
              </a:rPr>
              <a:t>统一调度</a:t>
            </a:r>
            <a:endParaRPr lang="en-US" altLang="zh-CN" sz="1200" b="1" dirty="0">
              <a:solidFill>
                <a:schemeClr val="bg1"/>
              </a:solidFill>
              <a:latin typeface="+mn-ea"/>
            </a:endParaRPr>
          </a:p>
          <a:p>
            <a:pPr algn="ctr"/>
            <a:endParaRPr lang="zh-CN" altLang="en-US" sz="1200" b="1" dirty="0">
              <a:solidFill>
                <a:schemeClr val="bg1"/>
              </a:solidFill>
              <a:latin typeface="+mn-ea"/>
            </a:endParaRPr>
          </a:p>
        </p:txBody>
      </p:sp>
      <p:sp>
        <p:nvSpPr>
          <p:cNvPr id="188" name="TextBox 187"/>
          <p:cNvSpPr txBox="1"/>
          <p:nvPr/>
        </p:nvSpPr>
        <p:spPr>
          <a:xfrm>
            <a:off x="3056205" y="4114800"/>
            <a:ext cx="982395" cy="646331"/>
          </a:xfrm>
          <a:prstGeom prst="rect">
            <a:avLst/>
          </a:prstGeom>
          <a:noFill/>
        </p:spPr>
        <p:txBody>
          <a:bodyPr wrap="square" rtlCol="0">
            <a:spAutoFit/>
          </a:bodyPr>
          <a:lstStyle/>
          <a:p>
            <a:pPr algn="ctr"/>
            <a:r>
              <a:rPr lang="zh-CN" altLang="en-US" sz="1200" b="1" dirty="0">
                <a:solidFill>
                  <a:srgbClr val="FF0000"/>
                </a:solidFill>
                <a:latin typeface="+mn-ea"/>
                <a:ea typeface="+mn-ea"/>
              </a:rPr>
              <a:t>目录传输</a:t>
            </a:r>
            <a:endParaRPr lang="en-US" altLang="zh-CN" sz="1200" b="1" dirty="0">
              <a:solidFill>
                <a:srgbClr val="FF0000"/>
              </a:solidFill>
              <a:latin typeface="+mn-ea"/>
              <a:ea typeface="+mn-ea"/>
            </a:endParaRPr>
          </a:p>
          <a:p>
            <a:pPr algn="ctr"/>
            <a:r>
              <a:rPr lang="zh-CN" altLang="en-US" sz="1200" b="1" dirty="0">
                <a:solidFill>
                  <a:srgbClr val="FF0000"/>
                </a:solidFill>
                <a:latin typeface="+mn-ea"/>
                <a:ea typeface="+mn-ea"/>
              </a:rPr>
              <a:t>数据传输</a:t>
            </a:r>
            <a:endParaRPr lang="en-US" altLang="zh-CN" sz="1200" b="1" dirty="0">
              <a:solidFill>
                <a:srgbClr val="FF0000"/>
              </a:solidFill>
              <a:latin typeface="+mn-ea"/>
              <a:ea typeface="+mn-ea"/>
            </a:endParaRPr>
          </a:p>
          <a:p>
            <a:pPr algn="ctr"/>
            <a:r>
              <a:rPr lang="zh-CN" altLang="en-US" sz="1200" b="1" dirty="0">
                <a:solidFill>
                  <a:srgbClr val="FF0000"/>
                </a:solidFill>
                <a:latin typeface="+mn-ea"/>
                <a:ea typeface="+mn-ea"/>
              </a:rPr>
              <a:t>元数据传输</a:t>
            </a:r>
          </a:p>
        </p:txBody>
      </p:sp>
      <p:sp>
        <p:nvSpPr>
          <p:cNvPr id="191" name="矩形 190"/>
          <p:cNvSpPr/>
          <p:nvPr/>
        </p:nvSpPr>
        <p:spPr>
          <a:xfrm>
            <a:off x="4220360" y="2475056"/>
            <a:ext cx="2536041" cy="277654"/>
          </a:xfrm>
          <a:prstGeom prst="rect">
            <a:avLst/>
          </a:prstGeom>
          <a:solidFill>
            <a:srgbClr val="00B0F0"/>
          </a:solidFill>
          <a:ln>
            <a:solidFill>
              <a:srgbClr val="00B0F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bg1"/>
                </a:solidFill>
                <a:latin typeface="+mn-ea"/>
              </a:rPr>
              <a:t>信息资源交换全景视图</a:t>
            </a:r>
          </a:p>
        </p:txBody>
      </p:sp>
      <p:cxnSp>
        <p:nvCxnSpPr>
          <p:cNvPr id="89" name="直接箭头连接符 88"/>
          <p:cNvCxnSpPr/>
          <p:nvPr/>
        </p:nvCxnSpPr>
        <p:spPr bwMode="auto">
          <a:xfrm>
            <a:off x="858650" y="4410464"/>
            <a:ext cx="208150" cy="0"/>
          </a:xfrm>
          <a:prstGeom prst="straightConnector1">
            <a:avLst/>
          </a:prstGeom>
          <a:ln>
            <a:headEnd type="none" w="med" len="lg"/>
            <a:tailEnd type="none" w="med" len="lg"/>
          </a:ln>
        </p:spPr>
        <p:style>
          <a:lnRef idx="2">
            <a:schemeClr val="accent2"/>
          </a:lnRef>
          <a:fillRef idx="0">
            <a:schemeClr val="accent2"/>
          </a:fillRef>
          <a:effectRef idx="1">
            <a:schemeClr val="accent2"/>
          </a:effectRef>
          <a:fontRef idx="minor">
            <a:schemeClr val="tx1"/>
          </a:fontRef>
        </p:style>
      </p:cxnSp>
      <p:cxnSp>
        <p:nvCxnSpPr>
          <p:cNvPr id="90" name="直接箭头连接符 89"/>
          <p:cNvCxnSpPr/>
          <p:nvPr/>
        </p:nvCxnSpPr>
        <p:spPr bwMode="auto">
          <a:xfrm>
            <a:off x="858650" y="2667000"/>
            <a:ext cx="208150" cy="0"/>
          </a:xfrm>
          <a:prstGeom prst="straightConnector1">
            <a:avLst/>
          </a:prstGeom>
          <a:ln>
            <a:headEnd type="none" w="med" len="lg"/>
            <a:tailEnd type="none" w="med" len="lg"/>
          </a:ln>
        </p:spPr>
        <p:style>
          <a:lnRef idx="2">
            <a:schemeClr val="accent2"/>
          </a:lnRef>
          <a:fillRef idx="0">
            <a:schemeClr val="accent2"/>
          </a:fillRef>
          <a:effectRef idx="1">
            <a:schemeClr val="accent2"/>
          </a:effectRef>
          <a:fontRef idx="minor">
            <a:schemeClr val="tx1"/>
          </a:fontRef>
        </p:style>
      </p:cxnSp>
      <p:pic>
        <p:nvPicPr>
          <p:cNvPr id="4098"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16399" y="1847295"/>
            <a:ext cx="829995" cy="600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143500" y="1851870"/>
            <a:ext cx="700603" cy="596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 name="Picture 2"/>
          <p:cNvPicPr>
            <a:picLocks noChangeAspect="1" noChangeArrowheads="1"/>
          </p:cNvPicPr>
          <p:nvPr/>
        </p:nvPicPr>
        <p:blipFill>
          <a:blip r:embed="rId7" cstate="print"/>
          <a:srcRect/>
          <a:stretch>
            <a:fillRect/>
          </a:stretch>
        </p:blipFill>
        <p:spPr bwMode="auto">
          <a:xfrm flipH="1">
            <a:off x="5943600" y="1851870"/>
            <a:ext cx="809775" cy="596041"/>
          </a:xfrm>
          <a:prstGeom prst="rect">
            <a:avLst/>
          </a:prstGeom>
          <a:noFill/>
          <a:ln w="9525">
            <a:noFill/>
            <a:miter lim="800000"/>
            <a:headEnd/>
            <a:tailEnd/>
          </a:ln>
        </p:spPr>
      </p:pic>
      <p:sp>
        <p:nvSpPr>
          <p:cNvPr id="9" name="TextBox 8"/>
          <p:cNvSpPr txBox="1"/>
          <p:nvPr/>
        </p:nvSpPr>
        <p:spPr>
          <a:xfrm>
            <a:off x="4267200" y="1981200"/>
            <a:ext cx="937125" cy="276999"/>
          </a:xfrm>
          <a:prstGeom prst="rect">
            <a:avLst/>
          </a:prstGeom>
          <a:noFill/>
        </p:spPr>
        <p:txBody>
          <a:bodyPr wrap="square" rtlCol="0">
            <a:spAutoFit/>
          </a:bodyPr>
          <a:lstStyle/>
          <a:p>
            <a:r>
              <a:rPr lang="zh-CN" altLang="en-US" sz="1200" b="1" dirty="0">
                <a:solidFill>
                  <a:srgbClr val="002060"/>
                </a:solidFill>
                <a:latin typeface="+mn-ea"/>
                <a:ea typeface="+mn-ea"/>
              </a:rPr>
              <a:t>交换全景</a:t>
            </a:r>
          </a:p>
        </p:txBody>
      </p:sp>
      <p:sp>
        <p:nvSpPr>
          <p:cNvPr id="106" name="TextBox 105"/>
          <p:cNvSpPr txBox="1"/>
          <p:nvPr/>
        </p:nvSpPr>
        <p:spPr>
          <a:xfrm>
            <a:off x="5082675" y="1981200"/>
            <a:ext cx="937125" cy="276999"/>
          </a:xfrm>
          <a:prstGeom prst="rect">
            <a:avLst/>
          </a:prstGeom>
          <a:noFill/>
        </p:spPr>
        <p:txBody>
          <a:bodyPr wrap="square" rtlCol="0">
            <a:spAutoFit/>
          </a:bodyPr>
          <a:lstStyle/>
          <a:p>
            <a:r>
              <a:rPr lang="zh-CN" altLang="en-US" sz="1200" b="1" dirty="0">
                <a:solidFill>
                  <a:srgbClr val="002060"/>
                </a:solidFill>
                <a:latin typeface="+mn-ea"/>
                <a:ea typeface="+mn-ea"/>
              </a:rPr>
              <a:t>数据地图</a:t>
            </a:r>
          </a:p>
        </p:txBody>
      </p:sp>
      <p:sp>
        <p:nvSpPr>
          <p:cNvPr id="107" name="TextBox 106"/>
          <p:cNvSpPr txBox="1"/>
          <p:nvPr/>
        </p:nvSpPr>
        <p:spPr>
          <a:xfrm>
            <a:off x="5920875" y="1981200"/>
            <a:ext cx="937125" cy="276999"/>
          </a:xfrm>
          <a:prstGeom prst="rect">
            <a:avLst/>
          </a:prstGeom>
          <a:noFill/>
        </p:spPr>
        <p:txBody>
          <a:bodyPr wrap="square" rtlCol="0">
            <a:spAutoFit/>
          </a:bodyPr>
          <a:lstStyle/>
          <a:p>
            <a:r>
              <a:rPr lang="zh-CN" altLang="en-US" sz="1200" b="1" dirty="0">
                <a:solidFill>
                  <a:srgbClr val="002060"/>
                </a:solidFill>
                <a:latin typeface="+mn-ea"/>
                <a:ea typeface="+mn-ea"/>
              </a:rPr>
              <a:t>影响分析</a:t>
            </a:r>
          </a:p>
        </p:txBody>
      </p:sp>
      <p:sp>
        <p:nvSpPr>
          <p:cNvPr id="2" name="TextBox 1"/>
          <p:cNvSpPr txBox="1"/>
          <p:nvPr/>
        </p:nvSpPr>
        <p:spPr>
          <a:xfrm>
            <a:off x="1781243" y="1524000"/>
            <a:ext cx="961957" cy="307777"/>
          </a:xfrm>
          <a:prstGeom prst="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1400" b="1" dirty="0"/>
              <a:t>前置节点</a:t>
            </a:r>
          </a:p>
        </p:txBody>
      </p:sp>
      <p:sp>
        <p:nvSpPr>
          <p:cNvPr id="91" name="TextBox 90"/>
          <p:cNvSpPr txBox="1"/>
          <p:nvPr/>
        </p:nvSpPr>
        <p:spPr>
          <a:xfrm>
            <a:off x="1752600" y="3188287"/>
            <a:ext cx="961957" cy="307777"/>
          </a:xfrm>
          <a:prstGeom prst="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1400" b="1" dirty="0"/>
              <a:t>前置节点</a:t>
            </a:r>
          </a:p>
        </p:txBody>
      </p:sp>
      <p:sp>
        <p:nvSpPr>
          <p:cNvPr id="94" name="TextBox 93"/>
          <p:cNvSpPr txBox="1"/>
          <p:nvPr/>
        </p:nvSpPr>
        <p:spPr>
          <a:xfrm>
            <a:off x="1752600" y="5105400"/>
            <a:ext cx="961957" cy="307777"/>
          </a:xfrm>
          <a:prstGeom prst="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1400" b="1" dirty="0"/>
              <a:t>前置节点</a:t>
            </a:r>
          </a:p>
        </p:txBody>
      </p:sp>
      <p:sp>
        <p:nvSpPr>
          <p:cNvPr id="95" name="矩形 94"/>
          <p:cNvSpPr/>
          <p:nvPr/>
        </p:nvSpPr>
        <p:spPr>
          <a:xfrm>
            <a:off x="3668979" y="1600200"/>
            <a:ext cx="3409415" cy="3736777"/>
          </a:xfrm>
          <a:prstGeom prst="rect">
            <a:avLst/>
          </a:prstGeom>
          <a:noFill/>
          <a:ln w="12700">
            <a:solidFill>
              <a:srgbClr val="FF0000"/>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96" name="TextBox 95"/>
          <p:cNvSpPr txBox="1"/>
          <p:nvPr/>
        </p:nvSpPr>
        <p:spPr>
          <a:xfrm>
            <a:off x="6597415" y="1517661"/>
            <a:ext cx="961957" cy="307777"/>
          </a:xfrm>
          <a:prstGeom prst="rect">
            <a:avLst/>
          </a:prstGeom>
          <a:ln>
            <a:solidFill>
              <a:srgbClr val="0070C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1400" b="1" dirty="0"/>
              <a:t>中心节点</a:t>
            </a:r>
          </a:p>
        </p:txBody>
      </p:sp>
    </p:spTree>
    <p:extLst>
      <p:ext uri="{BB962C8B-B14F-4D97-AF65-F5344CB8AC3E}">
        <p14:creationId xmlns:p14="http://schemas.microsoft.com/office/powerpoint/2010/main" val="2292367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3379701" y="5898798"/>
            <a:ext cx="2133600" cy="476250"/>
          </a:xfrm>
        </p:spPr>
        <p:txBody>
          <a:bodyPr/>
          <a:lstStyle/>
          <a:p>
            <a:fld id="{BD61978C-FD3D-4268-8D6C-034E9AD544A3}" type="slidenum">
              <a:rPr lang="en-US" altLang="zh-CN" smtClean="0"/>
              <a:pPr/>
              <a:t>12</a:t>
            </a:fld>
            <a:endParaRPr lang="en-US" altLang="zh-CN"/>
          </a:p>
        </p:txBody>
      </p:sp>
      <p:sp>
        <p:nvSpPr>
          <p:cNvPr id="5" name="矩形 4"/>
          <p:cNvSpPr/>
          <p:nvPr/>
        </p:nvSpPr>
        <p:spPr>
          <a:xfrm>
            <a:off x="4993452" y="1094536"/>
            <a:ext cx="2960049" cy="982044"/>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tx1"/>
                </a:solidFill>
              </a:rPr>
              <a:t>统一调度</a:t>
            </a:r>
          </a:p>
        </p:txBody>
      </p:sp>
      <p:sp>
        <p:nvSpPr>
          <p:cNvPr id="6" name="矩形 5"/>
          <p:cNvSpPr/>
          <p:nvPr/>
        </p:nvSpPr>
        <p:spPr>
          <a:xfrm>
            <a:off x="3145850" y="2136900"/>
            <a:ext cx="2111950" cy="1013160"/>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tx1"/>
                </a:solidFill>
              </a:rPr>
              <a:t>元数据管理</a:t>
            </a:r>
          </a:p>
        </p:txBody>
      </p:sp>
      <p:sp>
        <p:nvSpPr>
          <p:cNvPr id="7" name="矩形 6"/>
          <p:cNvSpPr/>
          <p:nvPr/>
        </p:nvSpPr>
        <p:spPr>
          <a:xfrm>
            <a:off x="674915" y="2136900"/>
            <a:ext cx="2385792" cy="1013160"/>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tx1"/>
                </a:solidFill>
              </a:rPr>
              <a:t>信息资源目录</a:t>
            </a:r>
          </a:p>
        </p:txBody>
      </p:sp>
      <p:sp>
        <p:nvSpPr>
          <p:cNvPr id="8" name="矩形 7"/>
          <p:cNvSpPr/>
          <p:nvPr/>
        </p:nvSpPr>
        <p:spPr>
          <a:xfrm>
            <a:off x="674915" y="3210761"/>
            <a:ext cx="7290460" cy="2097839"/>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tx1"/>
                </a:solidFill>
              </a:rPr>
              <a:t>信息资源交换</a:t>
            </a:r>
          </a:p>
        </p:txBody>
      </p:sp>
      <p:sp>
        <p:nvSpPr>
          <p:cNvPr id="9" name="矩形 8"/>
          <p:cNvSpPr/>
          <p:nvPr/>
        </p:nvSpPr>
        <p:spPr>
          <a:xfrm>
            <a:off x="805635" y="3517392"/>
            <a:ext cx="1155431" cy="1730847"/>
          </a:xfrm>
          <a:prstGeom prst="rect">
            <a:avLst/>
          </a:prstGeom>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lIns="0" rIns="0" rtlCol="0" anchor="t" anchorCtr="0"/>
          <a:lstStyle/>
          <a:p>
            <a:pPr algn="ctr"/>
            <a:r>
              <a:rPr lang="zh-CN" altLang="en-US" sz="1400" b="1" dirty="0">
                <a:solidFill>
                  <a:schemeClr val="tx1"/>
                </a:solidFill>
              </a:rPr>
              <a:t>数据桥接</a:t>
            </a:r>
          </a:p>
        </p:txBody>
      </p:sp>
      <p:sp>
        <p:nvSpPr>
          <p:cNvPr id="10" name="矩形 9"/>
          <p:cNvSpPr/>
          <p:nvPr/>
        </p:nvSpPr>
        <p:spPr>
          <a:xfrm>
            <a:off x="4717476" y="3517504"/>
            <a:ext cx="1318808" cy="1730735"/>
          </a:xfrm>
          <a:prstGeom prst="rect">
            <a:avLst/>
          </a:prstGeom>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lIns="0" rIns="0" rtlCol="0" anchor="t" anchorCtr="0"/>
          <a:lstStyle/>
          <a:p>
            <a:pPr algn="ctr"/>
            <a:r>
              <a:rPr lang="zh-CN" altLang="en-US" sz="1400" b="1" dirty="0">
                <a:solidFill>
                  <a:schemeClr val="tx1"/>
                </a:solidFill>
              </a:rPr>
              <a:t>数据传输</a:t>
            </a:r>
          </a:p>
        </p:txBody>
      </p:sp>
      <p:sp>
        <p:nvSpPr>
          <p:cNvPr id="11" name="矩形 10"/>
          <p:cNvSpPr/>
          <p:nvPr/>
        </p:nvSpPr>
        <p:spPr>
          <a:xfrm>
            <a:off x="3297670" y="3517392"/>
            <a:ext cx="1326780" cy="1730847"/>
          </a:xfrm>
          <a:prstGeom prst="rect">
            <a:avLst/>
          </a:prstGeom>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lIns="0" rIns="0" rtlCol="0" anchor="t" anchorCtr="0"/>
          <a:lstStyle/>
          <a:p>
            <a:pPr algn="ctr"/>
            <a:r>
              <a:rPr lang="zh-CN" altLang="en-US" sz="1400" b="1" dirty="0">
                <a:solidFill>
                  <a:schemeClr val="tx1"/>
                </a:solidFill>
              </a:rPr>
              <a:t>编目服务</a:t>
            </a:r>
          </a:p>
        </p:txBody>
      </p:sp>
      <p:sp>
        <p:nvSpPr>
          <p:cNvPr id="12" name="矩形 11"/>
          <p:cNvSpPr/>
          <p:nvPr/>
        </p:nvSpPr>
        <p:spPr>
          <a:xfrm>
            <a:off x="6130938" y="3517392"/>
            <a:ext cx="1800427" cy="1730847"/>
          </a:xfrm>
          <a:prstGeom prst="rect">
            <a:avLst/>
          </a:prstGeom>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lIns="0" rIns="0" rtlCol="0" anchor="t" anchorCtr="0"/>
          <a:lstStyle/>
          <a:p>
            <a:pPr algn="ctr"/>
            <a:r>
              <a:rPr lang="zh-CN" altLang="en-US" sz="1400" b="1" dirty="0">
                <a:solidFill>
                  <a:schemeClr val="tx1"/>
                </a:solidFill>
              </a:rPr>
              <a:t>模块接口</a:t>
            </a:r>
          </a:p>
        </p:txBody>
      </p:sp>
      <p:sp>
        <p:nvSpPr>
          <p:cNvPr id="13" name="矩形 12"/>
          <p:cNvSpPr/>
          <p:nvPr/>
        </p:nvSpPr>
        <p:spPr>
          <a:xfrm>
            <a:off x="2045937" y="3517392"/>
            <a:ext cx="1174594" cy="1730847"/>
          </a:xfrm>
          <a:prstGeom prst="rect">
            <a:avLst/>
          </a:prstGeom>
          <a:solidFill>
            <a:schemeClr val="accent6">
              <a:lumMod val="20000"/>
              <a:lumOff val="80000"/>
            </a:schemeClr>
          </a:solidFill>
          <a:ln/>
        </p:spPr>
        <p:style>
          <a:lnRef idx="1">
            <a:schemeClr val="accent1"/>
          </a:lnRef>
          <a:fillRef idx="3">
            <a:schemeClr val="accent1"/>
          </a:fillRef>
          <a:effectRef idx="2">
            <a:schemeClr val="accent1"/>
          </a:effectRef>
          <a:fontRef idx="minor">
            <a:schemeClr val="lt1"/>
          </a:fontRef>
        </p:style>
        <p:txBody>
          <a:bodyPr lIns="0" rIns="0" rtlCol="0" anchor="t" anchorCtr="0"/>
          <a:lstStyle/>
          <a:p>
            <a:pPr algn="ctr"/>
            <a:r>
              <a:rPr lang="zh-CN" altLang="en-US" sz="1400" b="1" dirty="0">
                <a:solidFill>
                  <a:schemeClr val="tx1"/>
                </a:solidFill>
              </a:rPr>
              <a:t>数据处理</a:t>
            </a:r>
          </a:p>
        </p:txBody>
      </p:sp>
      <p:sp>
        <p:nvSpPr>
          <p:cNvPr id="14" name="矩形 13"/>
          <p:cNvSpPr/>
          <p:nvPr/>
        </p:nvSpPr>
        <p:spPr>
          <a:xfrm>
            <a:off x="674916" y="1094536"/>
            <a:ext cx="4219126" cy="982044"/>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tx1"/>
                </a:solidFill>
              </a:rPr>
              <a:t>管理与监控</a:t>
            </a:r>
          </a:p>
        </p:txBody>
      </p:sp>
      <p:sp>
        <p:nvSpPr>
          <p:cNvPr id="16" name="矩形 15"/>
          <p:cNvSpPr/>
          <p:nvPr/>
        </p:nvSpPr>
        <p:spPr>
          <a:xfrm>
            <a:off x="5334001" y="2136901"/>
            <a:ext cx="2619500" cy="1013160"/>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tx1"/>
                </a:solidFill>
              </a:rPr>
              <a:t>数据存储</a:t>
            </a:r>
          </a:p>
        </p:txBody>
      </p:sp>
      <p:sp>
        <p:nvSpPr>
          <p:cNvPr id="17" name="矩形 16"/>
          <p:cNvSpPr/>
          <p:nvPr/>
        </p:nvSpPr>
        <p:spPr>
          <a:xfrm>
            <a:off x="2870201" y="465688"/>
            <a:ext cx="2123252" cy="544533"/>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tx1"/>
                </a:solidFill>
              </a:rPr>
              <a:t>信息共享与数据发布</a:t>
            </a:r>
          </a:p>
        </p:txBody>
      </p:sp>
      <p:sp>
        <p:nvSpPr>
          <p:cNvPr id="18" name="矩形 17"/>
          <p:cNvSpPr/>
          <p:nvPr/>
        </p:nvSpPr>
        <p:spPr>
          <a:xfrm>
            <a:off x="674916" y="453813"/>
            <a:ext cx="2137349" cy="544533"/>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tx1"/>
                </a:solidFill>
              </a:rPr>
              <a:t>业务门户</a:t>
            </a:r>
          </a:p>
        </p:txBody>
      </p:sp>
      <p:sp>
        <p:nvSpPr>
          <p:cNvPr id="19" name="矩形 18"/>
          <p:cNvSpPr/>
          <p:nvPr/>
        </p:nvSpPr>
        <p:spPr>
          <a:xfrm>
            <a:off x="6781800" y="2775200"/>
            <a:ext cx="918791" cy="327360"/>
          </a:xfrm>
          <a:prstGeom prst="rect">
            <a:avLst/>
          </a:prstGeom>
          <a:solidFill>
            <a:schemeClr val="accent3">
              <a:lumMod val="65000"/>
            </a:schemeClr>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基础数据</a:t>
            </a:r>
          </a:p>
        </p:txBody>
      </p:sp>
      <p:sp>
        <p:nvSpPr>
          <p:cNvPr id="20" name="矩形 19"/>
          <p:cNvSpPr/>
          <p:nvPr/>
        </p:nvSpPr>
        <p:spPr>
          <a:xfrm>
            <a:off x="5638800" y="2389250"/>
            <a:ext cx="961217" cy="333308"/>
          </a:xfrm>
          <a:prstGeom prst="rect">
            <a:avLst/>
          </a:prstGeom>
          <a:solidFill>
            <a:schemeClr val="accent3">
              <a:lumMod val="65000"/>
            </a:schemeClr>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业务指标数据</a:t>
            </a:r>
          </a:p>
        </p:txBody>
      </p:sp>
      <p:sp>
        <p:nvSpPr>
          <p:cNvPr id="21" name="矩形 20"/>
          <p:cNvSpPr/>
          <p:nvPr/>
        </p:nvSpPr>
        <p:spPr>
          <a:xfrm>
            <a:off x="6781800" y="2389250"/>
            <a:ext cx="918791" cy="333308"/>
          </a:xfrm>
          <a:prstGeom prst="rect">
            <a:avLst/>
          </a:prstGeom>
          <a:solidFill>
            <a:schemeClr val="accent3">
              <a:lumMod val="65000"/>
            </a:schemeClr>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业务服务数据</a:t>
            </a:r>
          </a:p>
        </p:txBody>
      </p:sp>
      <p:sp>
        <p:nvSpPr>
          <p:cNvPr id="22" name="矩形 21"/>
          <p:cNvSpPr/>
          <p:nvPr/>
        </p:nvSpPr>
        <p:spPr>
          <a:xfrm>
            <a:off x="727062" y="1752802"/>
            <a:ext cx="720487" cy="286251"/>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日志维护</a:t>
            </a:r>
          </a:p>
        </p:txBody>
      </p:sp>
      <p:sp>
        <p:nvSpPr>
          <p:cNvPr id="23" name="矩形 22"/>
          <p:cNvSpPr/>
          <p:nvPr/>
        </p:nvSpPr>
        <p:spPr>
          <a:xfrm>
            <a:off x="3172570" y="2417950"/>
            <a:ext cx="1020782" cy="314876"/>
          </a:xfrm>
          <a:prstGeom prst="rect">
            <a:avLst/>
          </a:prstGeom>
          <a:solidFill>
            <a:srgbClr val="00B0F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目录服务元数据</a:t>
            </a:r>
          </a:p>
        </p:txBody>
      </p:sp>
      <p:sp>
        <p:nvSpPr>
          <p:cNvPr id="24" name="矩形 23"/>
          <p:cNvSpPr/>
          <p:nvPr/>
        </p:nvSpPr>
        <p:spPr>
          <a:xfrm>
            <a:off x="1535875" y="1752802"/>
            <a:ext cx="720487" cy="286251"/>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交换监控</a:t>
            </a:r>
          </a:p>
        </p:txBody>
      </p:sp>
      <p:sp>
        <p:nvSpPr>
          <p:cNvPr id="25" name="矩形 24"/>
          <p:cNvSpPr/>
          <p:nvPr/>
        </p:nvSpPr>
        <p:spPr>
          <a:xfrm>
            <a:off x="5165154" y="1376784"/>
            <a:ext cx="793936" cy="314876"/>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事件触发</a:t>
            </a:r>
          </a:p>
        </p:txBody>
      </p:sp>
      <p:sp>
        <p:nvSpPr>
          <p:cNvPr id="26" name="矩形 25"/>
          <p:cNvSpPr/>
          <p:nvPr/>
        </p:nvSpPr>
        <p:spPr>
          <a:xfrm>
            <a:off x="727313" y="1376784"/>
            <a:ext cx="720487" cy="314876"/>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查询统计</a:t>
            </a:r>
          </a:p>
        </p:txBody>
      </p:sp>
      <p:sp>
        <p:nvSpPr>
          <p:cNvPr id="27" name="矩形 26"/>
          <p:cNvSpPr/>
          <p:nvPr/>
        </p:nvSpPr>
        <p:spPr>
          <a:xfrm>
            <a:off x="3148264" y="1385852"/>
            <a:ext cx="720487" cy="305808"/>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资源管理</a:t>
            </a:r>
          </a:p>
        </p:txBody>
      </p:sp>
      <p:sp>
        <p:nvSpPr>
          <p:cNvPr id="28" name="矩形 27"/>
          <p:cNvSpPr/>
          <p:nvPr/>
        </p:nvSpPr>
        <p:spPr>
          <a:xfrm>
            <a:off x="1529987" y="1376784"/>
            <a:ext cx="720487" cy="314876"/>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系统管理</a:t>
            </a:r>
          </a:p>
        </p:txBody>
      </p:sp>
      <p:sp>
        <p:nvSpPr>
          <p:cNvPr id="29" name="矩形 28"/>
          <p:cNvSpPr/>
          <p:nvPr/>
        </p:nvSpPr>
        <p:spPr>
          <a:xfrm>
            <a:off x="2332463" y="1376784"/>
            <a:ext cx="720487" cy="314876"/>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交换管理</a:t>
            </a:r>
          </a:p>
        </p:txBody>
      </p:sp>
      <p:sp>
        <p:nvSpPr>
          <p:cNvPr id="30" name="矩形 29"/>
          <p:cNvSpPr/>
          <p:nvPr/>
        </p:nvSpPr>
        <p:spPr>
          <a:xfrm>
            <a:off x="2332463" y="1763634"/>
            <a:ext cx="720487" cy="276957"/>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资源监控</a:t>
            </a:r>
          </a:p>
        </p:txBody>
      </p:sp>
      <p:sp>
        <p:nvSpPr>
          <p:cNvPr id="31" name="矩形 30"/>
          <p:cNvSpPr/>
          <p:nvPr/>
        </p:nvSpPr>
        <p:spPr>
          <a:xfrm>
            <a:off x="8024750" y="453812"/>
            <a:ext cx="371774" cy="6044963"/>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eaVert" wrap="square" lIns="0" tIns="45720" rIns="0" bIns="45720" numCol="1" spcCol="0" rtlCol="0" fromWordArt="0" anchor="t" anchorCtr="0" forceAA="0" compatLnSpc="1">
            <a:prstTxWarp prst="textNoShape">
              <a:avLst/>
            </a:prstTxWarp>
            <a:noAutofit/>
          </a:bodyPr>
          <a:lstStyle/>
          <a:p>
            <a:pPr algn="ctr"/>
            <a:r>
              <a:rPr lang="zh-CN" altLang="en-US" sz="1600" b="1" dirty="0">
                <a:solidFill>
                  <a:schemeClr val="tx1"/>
                </a:solidFill>
              </a:rPr>
              <a:t>信息安全保障体系</a:t>
            </a:r>
          </a:p>
        </p:txBody>
      </p:sp>
      <p:sp>
        <p:nvSpPr>
          <p:cNvPr id="32" name="矩形 31"/>
          <p:cNvSpPr/>
          <p:nvPr/>
        </p:nvSpPr>
        <p:spPr>
          <a:xfrm>
            <a:off x="4276295" y="2417950"/>
            <a:ext cx="937840" cy="314876"/>
          </a:xfrm>
          <a:prstGeom prst="rect">
            <a:avLst/>
          </a:prstGeom>
          <a:solidFill>
            <a:srgbClr val="00B0F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交换服务元数据</a:t>
            </a:r>
          </a:p>
        </p:txBody>
      </p:sp>
      <p:sp>
        <p:nvSpPr>
          <p:cNvPr id="33" name="矩形 32"/>
          <p:cNvSpPr/>
          <p:nvPr/>
        </p:nvSpPr>
        <p:spPr>
          <a:xfrm>
            <a:off x="3178264" y="2788874"/>
            <a:ext cx="997028" cy="314876"/>
          </a:xfrm>
          <a:prstGeom prst="rect">
            <a:avLst/>
          </a:prstGeom>
          <a:solidFill>
            <a:srgbClr val="00B0F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共享资源元数据</a:t>
            </a:r>
          </a:p>
        </p:txBody>
      </p:sp>
      <p:sp>
        <p:nvSpPr>
          <p:cNvPr id="34" name="矩形 33"/>
          <p:cNvSpPr/>
          <p:nvPr/>
        </p:nvSpPr>
        <p:spPr>
          <a:xfrm>
            <a:off x="1534849" y="2432705"/>
            <a:ext cx="631863" cy="314876"/>
          </a:xfrm>
          <a:prstGeom prst="rect">
            <a:avLst/>
          </a:prstGeom>
          <a:solidFill>
            <a:srgbClr val="00B0F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编目配置</a:t>
            </a:r>
          </a:p>
        </p:txBody>
      </p:sp>
      <p:sp>
        <p:nvSpPr>
          <p:cNvPr id="35" name="矩形 34"/>
          <p:cNvSpPr/>
          <p:nvPr/>
        </p:nvSpPr>
        <p:spPr>
          <a:xfrm>
            <a:off x="2274586" y="2432705"/>
            <a:ext cx="631863" cy="314876"/>
          </a:xfrm>
          <a:prstGeom prst="rect">
            <a:avLst/>
          </a:prstGeom>
          <a:solidFill>
            <a:srgbClr val="00B0F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编目维护</a:t>
            </a:r>
          </a:p>
        </p:txBody>
      </p:sp>
      <p:sp>
        <p:nvSpPr>
          <p:cNvPr id="36" name="矩形 35"/>
          <p:cNvSpPr/>
          <p:nvPr/>
        </p:nvSpPr>
        <p:spPr>
          <a:xfrm>
            <a:off x="841630" y="2805878"/>
            <a:ext cx="631863" cy="314876"/>
          </a:xfrm>
          <a:prstGeom prst="rect">
            <a:avLst/>
          </a:prstGeom>
          <a:solidFill>
            <a:srgbClr val="00B0F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编目发布</a:t>
            </a:r>
          </a:p>
        </p:txBody>
      </p:sp>
      <p:sp>
        <p:nvSpPr>
          <p:cNvPr id="37" name="矩形 36"/>
          <p:cNvSpPr/>
          <p:nvPr/>
        </p:nvSpPr>
        <p:spPr>
          <a:xfrm>
            <a:off x="2282693" y="2798950"/>
            <a:ext cx="631863" cy="314876"/>
          </a:xfrm>
          <a:prstGeom prst="rect">
            <a:avLst/>
          </a:prstGeom>
          <a:solidFill>
            <a:srgbClr val="00B0F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目录驱动</a:t>
            </a:r>
          </a:p>
        </p:txBody>
      </p:sp>
      <p:sp>
        <p:nvSpPr>
          <p:cNvPr id="38" name="矩形 37"/>
          <p:cNvSpPr/>
          <p:nvPr/>
        </p:nvSpPr>
        <p:spPr>
          <a:xfrm>
            <a:off x="1546602" y="2807856"/>
            <a:ext cx="631863" cy="314876"/>
          </a:xfrm>
          <a:prstGeom prst="rect">
            <a:avLst/>
          </a:prstGeom>
          <a:solidFill>
            <a:srgbClr val="00B0F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目录传输</a:t>
            </a:r>
          </a:p>
        </p:txBody>
      </p:sp>
      <p:sp>
        <p:nvSpPr>
          <p:cNvPr id="39" name="矩形 38"/>
          <p:cNvSpPr/>
          <p:nvPr/>
        </p:nvSpPr>
        <p:spPr>
          <a:xfrm>
            <a:off x="841630" y="2432705"/>
            <a:ext cx="631863" cy="314876"/>
          </a:xfrm>
          <a:prstGeom prst="rect">
            <a:avLst/>
          </a:prstGeom>
          <a:solidFill>
            <a:srgbClr val="00B0F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资源分类</a:t>
            </a:r>
          </a:p>
        </p:txBody>
      </p:sp>
      <p:sp>
        <p:nvSpPr>
          <p:cNvPr id="43" name="矩形 42"/>
          <p:cNvSpPr/>
          <p:nvPr/>
        </p:nvSpPr>
        <p:spPr>
          <a:xfrm>
            <a:off x="5638800" y="2775200"/>
            <a:ext cx="961217" cy="317488"/>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临时数据存储</a:t>
            </a:r>
            <a:endParaRPr lang="en-US" altLang="zh-CN" sz="1050" b="1" dirty="0">
              <a:solidFill>
                <a:schemeClr val="bg1"/>
              </a:solidFill>
            </a:endParaRPr>
          </a:p>
          <a:p>
            <a:pPr algn="ctr"/>
            <a:r>
              <a:rPr lang="zh-CN" altLang="en-US" sz="1050" b="1" dirty="0">
                <a:solidFill>
                  <a:schemeClr val="bg1"/>
                </a:solidFill>
              </a:rPr>
              <a:t>（交换信息库）</a:t>
            </a:r>
          </a:p>
        </p:txBody>
      </p:sp>
      <p:sp>
        <p:nvSpPr>
          <p:cNvPr id="44" name="矩形 43"/>
          <p:cNvSpPr/>
          <p:nvPr/>
        </p:nvSpPr>
        <p:spPr>
          <a:xfrm>
            <a:off x="695468" y="723730"/>
            <a:ext cx="834519" cy="231571"/>
          </a:xfrm>
          <a:prstGeom prst="rect">
            <a:avLst/>
          </a:prstGeom>
          <a:solidFill>
            <a:schemeClr val="bg1">
              <a:lumMod val="65000"/>
            </a:schemeClr>
          </a:solidFill>
          <a:ln>
            <a:solidFill>
              <a:schemeClr val="bg1"/>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公共信息服务</a:t>
            </a:r>
          </a:p>
        </p:txBody>
      </p:sp>
      <p:sp>
        <p:nvSpPr>
          <p:cNvPr id="45" name="矩形 44"/>
          <p:cNvSpPr/>
          <p:nvPr/>
        </p:nvSpPr>
        <p:spPr>
          <a:xfrm>
            <a:off x="4870541" y="3822063"/>
            <a:ext cx="1005840" cy="248581"/>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传输协议</a:t>
            </a:r>
          </a:p>
        </p:txBody>
      </p:sp>
      <p:sp>
        <p:nvSpPr>
          <p:cNvPr id="46" name="矩形 45"/>
          <p:cNvSpPr/>
          <p:nvPr/>
        </p:nvSpPr>
        <p:spPr>
          <a:xfrm>
            <a:off x="6250384" y="4391543"/>
            <a:ext cx="914400" cy="235255"/>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传输管理接口</a:t>
            </a:r>
          </a:p>
        </p:txBody>
      </p:sp>
      <p:sp>
        <p:nvSpPr>
          <p:cNvPr id="47" name="矩形 46"/>
          <p:cNvSpPr/>
          <p:nvPr/>
        </p:nvSpPr>
        <p:spPr>
          <a:xfrm>
            <a:off x="7232075" y="3811902"/>
            <a:ext cx="261867" cy="1376962"/>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数据信息订阅</a:t>
            </a:r>
            <a:endParaRPr lang="en-US" altLang="zh-CN" sz="1050" b="1" dirty="0">
              <a:solidFill>
                <a:schemeClr val="bg1"/>
              </a:solidFill>
            </a:endParaRPr>
          </a:p>
          <a:p>
            <a:pPr algn="ctr"/>
            <a:r>
              <a:rPr lang="zh-CN" altLang="en-US" sz="1050" b="1" dirty="0">
                <a:solidFill>
                  <a:schemeClr val="bg1"/>
                </a:solidFill>
              </a:rPr>
              <a:t>接口</a:t>
            </a:r>
          </a:p>
        </p:txBody>
      </p:sp>
      <p:sp>
        <p:nvSpPr>
          <p:cNvPr id="48" name="矩形 47"/>
          <p:cNvSpPr/>
          <p:nvPr/>
        </p:nvSpPr>
        <p:spPr>
          <a:xfrm>
            <a:off x="7536875" y="3811247"/>
            <a:ext cx="243458" cy="1369503"/>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数据信息注册接口</a:t>
            </a:r>
          </a:p>
        </p:txBody>
      </p:sp>
      <p:sp>
        <p:nvSpPr>
          <p:cNvPr id="49" name="矩形 48"/>
          <p:cNvSpPr/>
          <p:nvPr/>
        </p:nvSpPr>
        <p:spPr>
          <a:xfrm>
            <a:off x="2209800" y="719773"/>
            <a:ext cx="557577" cy="243446"/>
          </a:xfrm>
          <a:prstGeom prst="rect">
            <a:avLst/>
          </a:prstGeom>
          <a:solidFill>
            <a:schemeClr val="bg1">
              <a:lumMod val="65000"/>
            </a:schemeClr>
          </a:solidFill>
          <a:ln>
            <a:solidFill>
              <a:schemeClr val="bg1"/>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信息报送</a:t>
            </a:r>
          </a:p>
        </p:txBody>
      </p:sp>
      <p:sp>
        <p:nvSpPr>
          <p:cNvPr id="50" name="矩形 49"/>
          <p:cNvSpPr/>
          <p:nvPr/>
        </p:nvSpPr>
        <p:spPr>
          <a:xfrm>
            <a:off x="1600200" y="715815"/>
            <a:ext cx="557577" cy="243446"/>
          </a:xfrm>
          <a:prstGeom prst="rect">
            <a:avLst/>
          </a:prstGeom>
          <a:solidFill>
            <a:schemeClr val="bg1">
              <a:lumMod val="65000"/>
            </a:schemeClr>
          </a:solidFill>
          <a:ln>
            <a:solidFill>
              <a:schemeClr val="bg1"/>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行政审批</a:t>
            </a:r>
          </a:p>
        </p:txBody>
      </p:sp>
      <p:sp>
        <p:nvSpPr>
          <p:cNvPr id="52" name="矩形 51"/>
          <p:cNvSpPr/>
          <p:nvPr/>
        </p:nvSpPr>
        <p:spPr>
          <a:xfrm>
            <a:off x="874806" y="3810188"/>
            <a:ext cx="943795" cy="248581"/>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应用适配器</a:t>
            </a:r>
          </a:p>
        </p:txBody>
      </p:sp>
      <p:sp>
        <p:nvSpPr>
          <p:cNvPr id="53" name="矩形 52"/>
          <p:cNvSpPr/>
          <p:nvPr/>
        </p:nvSpPr>
        <p:spPr>
          <a:xfrm>
            <a:off x="874806" y="4098616"/>
            <a:ext cx="943795" cy="235257"/>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数据适配器</a:t>
            </a:r>
          </a:p>
        </p:txBody>
      </p:sp>
      <p:sp>
        <p:nvSpPr>
          <p:cNvPr id="54" name="矩形 53"/>
          <p:cNvSpPr/>
          <p:nvPr/>
        </p:nvSpPr>
        <p:spPr>
          <a:xfrm>
            <a:off x="874806" y="4391541"/>
            <a:ext cx="943795" cy="235257"/>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日志管理</a:t>
            </a:r>
          </a:p>
        </p:txBody>
      </p:sp>
      <p:sp>
        <p:nvSpPr>
          <p:cNvPr id="55" name="矩形 54"/>
          <p:cNvSpPr/>
          <p:nvPr/>
        </p:nvSpPr>
        <p:spPr>
          <a:xfrm>
            <a:off x="874806" y="4940790"/>
            <a:ext cx="943796" cy="248073"/>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安全管理</a:t>
            </a:r>
          </a:p>
        </p:txBody>
      </p:sp>
      <p:sp>
        <p:nvSpPr>
          <p:cNvPr id="56" name="矩形 55"/>
          <p:cNvSpPr/>
          <p:nvPr/>
        </p:nvSpPr>
        <p:spPr>
          <a:xfrm>
            <a:off x="2091186" y="3810188"/>
            <a:ext cx="1005840" cy="248581"/>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数据转换</a:t>
            </a:r>
          </a:p>
        </p:txBody>
      </p:sp>
      <p:sp>
        <p:nvSpPr>
          <p:cNvPr id="57" name="矩形 56"/>
          <p:cNvSpPr/>
          <p:nvPr/>
        </p:nvSpPr>
        <p:spPr>
          <a:xfrm>
            <a:off x="2091186" y="4098616"/>
            <a:ext cx="1005840" cy="235257"/>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数据加密</a:t>
            </a:r>
          </a:p>
        </p:txBody>
      </p:sp>
      <p:sp>
        <p:nvSpPr>
          <p:cNvPr id="58" name="矩形 57"/>
          <p:cNvSpPr/>
          <p:nvPr/>
        </p:nvSpPr>
        <p:spPr>
          <a:xfrm>
            <a:off x="2091186" y="4391542"/>
            <a:ext cx="1005840" cy="235256"/>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数据压缩</a:t>
            </a:r>
          </a:p>
        </p:txBody>
      </p:sp>
      <p:sp>
        <p:nvSpPr>
          <p:cNvPr id="59" name="矩形 58"/>
          <p:cNvSpPr/>
          <p:nvPr/>
        </p:nvSpPr>
        <p:spPr>
          <a:xfrm>
            <a:off x="874805" y="4681138"/>
            <a:ext cx="943796" cy="215888"/>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桥接配置</a:t>
            </a:r>
          </a:p>
        </p:txBody>
      </p:sp>
      <p:sp>
        <p:nvSpPr>
          <p:cNvPr id="60" name="矩形 59"/>
          <p:cNvSpPr/>
          <p:nvPr/>
        </p:nvSpPr>
        <p:spPr>
          <a:xfrm>
            <a:off x="2901308" y="714326"/>
            <a:ext cx="629292" cy="252350"/>
          </a:xfrm>
          <a:prstGeom prst="rect">
            <a:avLst/>
          </a:prstGeom>
          <a:solidFill>
            <a:srgbClr val="92D050"/>
          </a:solidFill>
          <a:ln>
            <a:solidFill>
              <a:srgbClr val="92D05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en-US" altLang="zh-CN" sz="1050" b="1" dirty="0">
                <a:solidFill>
                  <a:schemeClr val="bg1"/>
                </a:solidFill>
              </a:rPr>
              <a:t>Web</a:t>
            </a:r>
            <a:r>
              <a:rPr lang="zh-CN" altLang="en-US" sz="1050" b="1" dirty="0">
                <a:solidFill>
                  <a:schemeClr val="bg1"/>
                </a:solidFill>
              </a:rPr>
              <a:t>服务</a:t>
            </a:r>
          </a:p>
        </p:txBody>
      </p:sp>
      <p:sp>
        <p:nvSpPr>
          <p:cNvPr id="61" name="矩形 60"/>
          <p:cNvSpPr/>
          <p:nvPr/>
        </p:nvSpPr>
        <p:spPr>
          <a:xfrm>
            <a:off x="4870541" y="4148263"/>
            <a:ext cx="1005840" cy="233109"/>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数据寻址</a:t>
            </a:r>
          </a:p>
        </p:txBody>
      </p:sp>
      <p:sp>
        <p:nvSpPr>
          <p:cNvPr id="62" name="矩形 61"/>
          <p:cNvSpPr/>
          <p:nvPr/>
        </p:nvSpPr>
        <p:spPr>
          <a:xfrm>
            <a:off x="4870541" y="4451813"/>
            <a:ext cx="1005840" cy="229328"/>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数据路由</a:t>
            </a:r>
          </a:p>
        </p:txBody>
      </p:sp>
      <p:sp>
        <p:nvSpPr>
          <p:cNvPr id="63" name="矩形 62"/>
          <p:cNvSpPr/>
          <p:nvPr/>
        </p:nvSpPr>
        <p:spPr>
          <a:xfrm>
            <a:off x="6250384" y="3810188"/>
            <a:ext cx="914400" cy="248581"/>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系统管理接口</a:t>
            </a:r>
          </a:p>
        </p:txBody>
      </p:sp>
      <p:sp>
        <p:nvSpPr>
          <p:cNvPr id="64" name="矩形 63"/>
          <p:cNvSpPr/>
          <p:nvPr/>
        </p:nvSpPr>
        <p:spPr>
          <a:xfrm>
            <a:off x="6250384" y="4681141"/>
            <a:ext cx="914400" cy="215886"/>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日志接口</a:t>
            </a:r>
          </a:p>
        </p:txBody>
      </p:sp>
      <p:sp>
        <p:nvSpPr>
          <p:cNvPr id="65" name="矩形 64"/>
          <p:cNvSpPr/>
          <p:nvPr/>
        </p:nvSpPr>
        <p:spPr>
          <a:xfrm>
            <a:off x="4870542" y="4814339"/>
            <a:ext cx="1005840" cy="246659"/>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传输安全</a:t>
            </a:r>
          </a:p>
        </p:txBody>
      </p:sp>
      <p:sp>
        <p:nvSpPr>
          <p:cNvPr id="66" name="矩形 65"/>
          <p:cNvSpPr/>
          <p:nvPr/>
        </p:nvSpPr>
        <p:spPr>
          <a:xfrm>
            <a:off x="3470663" y="3810188"/>
            <a:ext cx="1005840" cy="248581"/>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数据编目</a:t>
            </a:r>
          </a:p>
        </p:txBody>
      </p:sp>
      <p:sp>
        <p:nvSpPr>
          <p:cNvPr id="67" name="矩形 66"/>
          <p:cNvSpPr/>
          <p:nvPr/>
        </p:nvSpPr>
        <p:spPr>
          <a:xfrm>
            <a:off x="3470663" y="4098616"/>
            <a:ext cx="1005840" cy="235257"/>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编目提交</a:t>
            </a:r>
          </a:p>
        </p:txBody>
      </p:sp>
      <p:sp>
        <p:nvSpPr>
          <p:cNvPr id="68" name="矩形 67"/>
          <p:cNvSpPr/>
          <p:nvPr/>
        </p:nvSpPr>
        <p:spPr>
          <a:xfrm>
            <a:off x="3470663" y="4391543"/>
            <a:ext cx="1005840" cy="235256"/>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编目审核</a:t>
            </a:r>
          </a:p>
        </p:txBody>
      </p:sp>
      <p:sp>
        <p:nvSpPr>
          <p:cNvPr id="69" name="矩形 68"/>
          <p:cNvSpPr/>
          <p:nvPr/>
        </p:nvSpPr>
        <p:spPr>
          <a:xfrm>
            <a:off x="2091186" y="4940791"/>
            <a:ext cx="1005840" cy="248072"/>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处理日志</a:t>
            </a:r>
          </a:p>
        </p:txBody>
      </p:sp>
      <p:sp>
        <p:nvSpPr>
          <p:cNvPr id="70" name="矩形 69"/>
          <p:cNvSpPr/>
          <p:nvPr/>
        </p:nvSpPr>
        <p:spPr>
          <a:xfrm>
            <a:off x="3469575" y="4940792"/>
            <a:ext cx="1006980" cy="248072"/>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编目注册</a:t>
            </a:r>
          </a:p>
        </p:txBody>
      </p:sp>
      <p:sp>
        <p:nvSpPr>
          <p:cNvPr id="71" name="矩形 70"/>
          <p:cNvSpPr/>
          <p:nvPr/>
        </p:nvSpPr>
        <p:spPr>
          <a:xfrm rot="16200000">
            <a:off x="6578818" y="4615103"/>
            <a:ext cx="248072" cy="923867"/>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vert="eaVert" lIns="0" rIns="0" rtlCol="0" anchor="t" anchorCtr="0"/>
          <a:lstStyle/>
          <a:p>
            <a:pPr algn="ctr"/>
            <a:r>
              <a:rPr lang="zh-CN" altLang="en-US" sz="1050" b="1" dirty="0">
                <a:solidFill>
                  <a:schemeClr val="bg1"/>
                </a:solidFill>
              </a:rPr>
              <a:t>调度接口</a:t>
            </a:r>
          </a:p>
        </p:txBody>
      </p:sp>
      <p:sp>
        <p:nvSpPr>
          <p:cNvPr id="72" name="矩形 71"/>
          <p:cNvSpPr/>
          <p:nvPr/>
        </p:nvSpPr>
        <p:spPr>
          <a:xfrm>
            <a:off x="3606800" y="714326"/>
            <a:ext cx="629292" cy="252350"/>
          </a:xfrm>
          <a:prstGeom prst="rect">
            <a:avLst/>
          </a:prstGeom>
          <a:solidFill>
            <a:srgbClr val="92D050"/>
          </a:solidFill>
          <a:ln>
            <a:solidFill>
              <a:srgbClr val="92D05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文件服务</a:t>
            </a:r>
          </a:p>
        </p:txBody>
      </p:sp>
      <p:sp>
        <p:nvSpPr>
          <p:cNvPr id="73" name="矩形 72"/>
          <p:cNvSpPr/>
          <p:nvPr/>
        </p:nvSpPr>
        <p:spPr>
          <a:xfrm>
            <a:off x="4318000" y="715651"/>
            <a:ext cx="629292" cy="252350"/>
          </a:xfrm>
          <a:prstGeom prst="rect">
            <a:avLst/>
          </a:prstGeom>
          <a:solidFill>
            <a:srgbClr val="92D050"/>
          </a:solidFill>
          <a:ln>
            <a:solidFill>
              <a:srgbClr val="92D05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目录服务</a:t>
            </a:r>
          </a:p>
        </p:txBody>
      </p:sp>
      <p:sp>
        <p:nvSpPr>
          <p:cNvPr id="77" name="矩形 76"/>
          <p:cNvSpPr/>
          <p:nvPr/>
        </p:nvSpPr>
        <p:spPr>
          <a:xfrm>
            <a:off x="3470663" y="4681140"/>
            <a:ext cx="1005840" cy="215886"/>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数据核检</a:t>
            </a:r>
          </a:p>
        </p:txBody>
      </p:sp>
      <p:sp>
        <p:nvSpPr>
          <p:cNvPr id="78" name="矩形 77"/>
          <p:cNvSpPr/>
          <p:nvPr/>
        </p:nvSpPr>
        <p:spPr>
          <a:xfrm>
            <a:off x="3946123" y="1766626"/>
            <a:ext cx="871790" cy="307924"/>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订阅信息管理</a:t>
            </a:r>
          </a:p>
        </p:txBody>
      </p:sp>
      <p:sp>
        <p:nvSpPr>
          <p:cNvPr id="79" name="矩形 78"/>
          <p:cNvSpPr/>
          <p:nvPr/>
        </p:nvSpPr>
        <p:spPr>
          <a:xfrm>
            <a:off x="3940136" y="1376784"/>
            <a:ext cx="871790" cy="314876"/>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接口信息管理</a:t>
            </a:r>
          </a:p>
        </p:txBody>
      </p:sp>
      <p:sp>
        <p:nvSpPr>
          <p:cNvPr id="80" name="矩形 79"/>
          <p:cNvSpPr/>
          <p:nvPr/>
        </p:nvSpPr>
        <p:spPr>
          <a:xfrm>
            <a:off x="5165154" y="1753297"/>
            <a:ext cx="793936" cy="286251"/>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手工触发</a:t>
            </a:r>
          </a:p>
        </p:txBody>
      </p:sp>
      <p:sp>
        <p:nvSpPr>
          <p:cNvPr id="81" name="矩形 80"/>
          <p:cNvSpPr/>
          <p:nvPr/>
        </p:nvSpPr>
        <p:spPr>
          <a:xfrm>
            <a:off x="7023609" y="1763634"/>
            <a:ext cx="793936" cy="276957"/>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任务计划</a:t>
            </a:r>
          </a:p>
        </p:txBody>
      </p:sp>
      <p:sp>
        <p:nvSpPr>
          <p:cNvPr id="82" name="矩形 81"/>
          <p:cNvSpPr/>
          <p:nvPr/>
        </p:nvSpPr>
        <p:spPr>
          <a:xfrm>
            <a:off x="3148264" y="1765434"/>
            <a:ext cx="720487" cy="286251"/>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权限管理</a:t>
            </a:r>
          </a:p>
        </p:txBody>
      </p:sp>
      <p:sp>
        <p:nvSpPr>
          <p:cNvPr id="84" name="矩形 83"/>
          <p:cNvSpPr/>
          <p:nvPr/>
        </p:nvSpPr>
        <p:spPr>
          <a:xfrm>
            <a:off x="2091186" y="4681139"/>
            <a:ext cx="1005840" cy="211728"/>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可视化配置</a:t>
            </a:r>
          </a:p>
        </p:txBody>
      </p:sp>
      <p:sp>
        <p:nvSpPr>
          <p:cNvPr id="85" name="矩形 84"/>
          <p:cNvSpPr/>
          <p:nvPr/>
        </p:nvSpPr>
        <p:spPr>
          <a:xfrm>
            <a:off x="6250384" y="4100764"/>
            <a:ext cx="914400" cy="233109"/>
          </a:xfrm>
          <a:prstGeom prst="rect">
            <a:avLst/>
          </a:prstGeom>
          <a:solidFill>
            <a:srgbClr val="0070C0"/>
          </a:solidFill>
          <a:ln>
            <a:solidFill>
              <a:srgbClr val="0070C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资源管理接口</a:t>
            </a:r>
          </a:p>
        </p:txBody>
      </p:sp>
      <p:sp>
        <p:nvSpPr>
          <p:cNvPr id="86" name="矩形 85"/>
          <p:cNvSpPr/>
          <p:nvPr/>
        </p:nvSpPr>
        <p:spPr>
          <a:xfrm>
            <a:off x="6087471" y="1376784"/>
            <a:ext cx="793936" cy="314876"/>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资源调配</a:t>
            </a:r>
          </a:p>
        </p:txBody>
      </p:sp>
      <p:sp>
        <p:nvSpPr>
          <p:cNvPr id="87" name="矩形 86"/>
          <p:cNvSpPr/>
          <p:nvPr/>
        </p:nvSpPr>
        <p:spPr>
          <a:xfrm>
            <a:off x="6089789" y="1763634"/>
            <a:ext cx="793936" cy="276957"/>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故障恢复</a:t>
            </a:r>
          </a:p>
        </p:txBody>
      </p:sp>
      <p:sp>
        <p:nvSpPr>
          <p:cNvPr id="88" name="矩形 87"/>
          <p:cNvSpPr/>
          <p:nvPr/>
        </p:nvSpPr>
        <p:spPr>
          <a:xfrm>
            <a:off x="7023609" y="1376054"/>
            <a:ext cx="793936" cy="307924"/>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作业次序</a:t>
            </a:r>
          </a:p>
        </p:txBody>
      </p:sp>
      <p:sp>
        <p:nvSpPr>
          <p:cNvPr id="89" name="矩形 88"/>
          <p:cNvSpPr/>
          <p:nvPr/>
        </p:nvSpPr>
        <p:spPr>
          <a:xfrm>
            <a:off x="228601" y="453812"/>
            <a:ext cx="381000" cy="6044963"/>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eaVert" wrap="square" lIns="0" tIns="45720" rIns="0" bIns="45720" numCol="1" spcCol="0" rtlCol="0" fromWordArt="0" anchor="t" anchorCtr="0" forceAA="0" compatLnSpc="1">
            <a:prstTxWarp prst="textNoShape">
              <a:avLst/>
            </a:prstTxWarp>
            <a:noAutofit/>
          </a:bodyPr>
          <a:lstStyle/>
          <a:p>
            <a:pPr algn="ctr"/>
            <a:r>
              <a:rPr lang="zh-CN" altLang="en-US" sz="1600" b="1" dirty="0">
                <a:solidFill>
                  <a:schemeClr val="tx1"/>
                </a:solidFill>
              </a:rPr>
              <a:t>数据交换标准与规范</a:t>
            </a:r>
          </a:p>
        </p:txBody>
      </p:sp>
      <p:sp>
        <p:nvSpPr>
          <p:cNvPr id="90" name="标题 119"/>
          <p:cNvSpPr txBox="1">
            <a:spLocks/>
          </p:cNvSpPr>
          <p:nvPr/>
        </p:nvSpPr>
        <p:spPr bwMode="auto">
          <a:xfrm>
            <a:off x="381000" y="0"/>
            <a:ext cx="8610600" cy="561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2800" b="1">
                <a:solidFill>
                  <a:srgbClr val="FF9933"/>
                </a:solidFill>
                <a:latin typeface="+mj-lt"/>
                <a:ea typeface="+mj-ea"/>
                <a:cs typeface="+mj-cs"/>
              </a:defRPr>
            </a:lvl1pPr>
            <a:lvl2pPr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2pPr>
            <a:lvl3pPr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3pPr>
            <a:lvl4pPr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4pPr>
            <a:lvl5pPr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5pPr>
            <a:lvl6pPr marL="457200"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6pPr>
            <a:lvl7pPr marL="914400"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7pPr>
            <a:lvl8pPr marL="1371600"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8pPr>
            <a:lvl9pPr marL="1828800"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9pPr>
          </a:lstStyle>
          <a:p>
            <a:r>
              <a:rPr lang="zh-CN" altLang="en-US" dirty="0"/>
              <a:t>信息资源交换平台功能模型</a:t>
            </a:r>
          </a:p>
        </p:txBody>
      </p:sp>
      <p:sp>
        <p:nvSpPr>
          <p:cNvPr id="102" name="矩形 101"/>
          <p:cNvSpPr/>
          <p:nvPr/>
        </p:nvSpPr>
        <p:spPr>
          <a:xfrm>
            <a:off x="674915" y="5760525"/>
            <a:ext cx="7290459" cy="738250"/>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tx1"/>
                </a:solidFill>
              </a:rPr>
              <a:t>基础设施支撑环境</a:t>
            </a:r>
          </a:p>
        </p:txBody>
      </p:sp>
      <p:sp>
        <p:nvSpPr>
          <p:cNvPr id="103" name="矩形 102"/>
          <p:cNvSpPr/>
          <p:nvPr/>
        </p:nvSpPr>
        <p:spPr>
          <a:xfrm>
            <a:off x="1017501" y="6031954"/>
            <a:ext cx="1878099" cy="385671"/>
          </a:xfrm>
          <a:prstGeom prst="rect">
            <a:avLst/>
          </a:prstGeom>
          <a:solidFill>
            <a:schemeClr val="accent3">
              <a:lumMod val="65000"/>
            </a:schemeClr>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100" b="1" dirty="0">
                <a:solidFill>
                  <a:schemeClr val="tx1"/>
                </a:solidFill>
              </a:rPr>
              <a:t>分布式数据存储</a:t>
            </a:r>
            <a:endParaRPr lang="en-US" altLang="zh-CN" sz="1100" b="1" dirty="0">
              <a:solidFill>
                <a:schemeClr val="tx1"/>
              </a:solidFill>
            </a:endParaRPr>
          </a:p>
          <a:p>
            <a:pPr algn="ctr"/>
            <a:r>
              <a:rPr lang="zh-CN" altLang="en-US" sz="1100" b="1" dirty="0">
                <a:solidFill>
                  <a:schemeClr val="tx1"/>
                </a:solidFill>
              </a:rPr>
              <a:t>（文件、数据库、流媒体）</a:t>
            </a:r>
          </a:p>
        </p:txBody>
      </p:sp>
      <p:sp>
        <p:nvSpPr>
          <p:cNvPr id="104" name="矩形 103"/>
          <p:cNvSpPr/>
          <p:nvPr/>
        </p:nvSpPr>
        <p:spPr>
          <a:xfrm>
            <a:off x="3367826" y="6034347"/>
            <a:ext cx="1878099" cy="395153"/>
          </a:xfrm>
          <a:prstGeom prst="rect">
            <a:avLst/>
          </a:prstGeom>
          <a:solidFill>
            <a:schemeClr val="accent3">
              <a:lumMod val="65000"/>
            </a:schemeClr>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100" b="1" dirty="0">
                <a:solidFill>
                  <a:schemeClr val="tx1"/>
                </a:solidFill>
              </a:rPr>
              <a:t>虚拟化资源</a:t>
            </a:r>
            <a:endParaRPr lang="en-US" altLang="zh-CN" sz="1100" b="1" dirty="0">
              <a:solidFill>
                <a:schemeClr val="tx1"/>
              </a:solidFill>
            </a:endParaRPr>
          </a:p>
          <a:p>
            <a:pPr algn="ctr"/>
            <a:r>
              <a:rPr lang="zh-CN" altLang="en-US" sz="1100" b="1" dirty="0">
                <a:solidFill>
                  <a:schemeClr val="tx1"/>
                </a:solidFill>
              </a:rPr>
              <a:t>（服务器、工作站）</a:t>
            </a:r>
          </a:p>
        </p:txBody>
      </p:sp>
      <p:sp>
        <p:nvSpPr>
          <p:cNvPr id="105" name="矩形 104"/>
          <p:cNvSpPr/>
          <p:nvPr/>
        </p:nvSpPr>
        <p:spPr>
          <a:xfrm>
            <a:off x="5741901" y="6034346"/>
            <a:ext cx="1878099" cy="395153"/>
          </a:xfrm>
          <a:prstGeom prst="rect">
            <a:avLst/>
          </a:prstGeom>
          <a:solidFill>
            <a:schemeClr val="accent3">
              <a:lumMod val="65000"/>
            </a:schemeClr>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100" b="1" dirty="0">
                <a:solidFill>
                  <a:schemeClr val="tx1"/>
                </a:solidFill>
              </a:rPr>
              <a:t>网络资源</a:t>
            </a:r>
            <a:endParaRPr lang="en-US" altLang="zh-CN" sz="1100" b="1" dirty="0">
              <a:solidFill>
                <a:schemeClr val="tx1"/>
              </a:solidFill>
            </a:endParaRPr>
          </a:p>
          <a:p>
            <a:pPr algn="ctr"/>
            <a:r>
              <a:rPr lang="zh-CN" altLang="en-US" sz="1100" b="1" dirty="0">
                <a:solidFill>
                  <a:schemeClr val="tx1"/>
                </a:solidFill>
              </a:rPr>
              <a:t>（物联网、互联网、专网</a:t>
            </a:r>
            <a:r>
              <a:rPr lang="en-US" altLang="zh-CN" sz="1100" b="1" dirty="0">
                <a:solidFill>
                  <a:schemeClr val="tx1"/>
                </a:solidFill>
              </a:rPr>
              <a:t>…</a:t>
            </a:r>
            <a:r>
              <a:rPr lang="zh-CN" altLang="en-US" sz="1100" b="1" dirty="0">
                <a:solidFill>
                  <a:schemeClr val="tx1"/>
                </a:solidFill>
              </a:rPr>
              <a:t>）</a:t>
            </a:r>
          </a:p>
        </p:txBody>
      </p:sp>
      <p:sp>
        <p:nvSpPr>
          <p:cNvPr id="91" name="矩形 90"/>
          <p:cNvSpPr/>
          <p:nvPr/>
        </p:nvSpPr>
        <p:spPr>
          <a:xfrm>
            <a:off x="4252563" y="2783772"/>
            <a:ext cx="961572" cy="308916"/>
          </a:xfrm>
          <a:prstGeom prst="rect">
            <a:avLst/>
          </a:prstGeom>
          <a:solidFill>
            <a:srgbClr val="00B0F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rPr>
              <a:t>数据地图</a:t>
            </a:r>
          </a:p>
        </p:txBody>
      </p:sp>
      <p:sp>
        <p:nvSpPr>
          <p:cNvPr id="92" name="矩形 91"/>
          <p:cNvSpPr/>
          <p:nvPr/>
        </p:nvSpPr>
        <p:spPr>
          <a:xfrm>
            <a:off x="660399" y="5368711"/>
            <a:ext cx="7304976" cy="330580"/>
          </a:xfrm>
          <a:prstGeom prst="rect">
            <a:avLst/>
          </a:prstGeom>
          <a:solidFill>
            <a:schemeClr val="accent1">
              <a:lumMod val="50000"/>
            </a:schemeClr>
          </a:solidFill>
          <a:ln>
            <a:solidFill>
              <a:schemeClr val="accent1">
                <a:lumMod val="5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bg1"/>
                </a:solidFill>
              </a:rPr>
              <a:t>基于</a:t>
            </a:r>
            <a:r>
              <a:rPr lang="en-US" altLang="zh-CN" sz="1400" b="1" dirty="0" err="1">
                <a:solidFill>
                  <a:schemeClr val="bg1"/>
                </a:solidFill>
              </a:rPr>
              <a:t>Docker</a:t>
            </a:r>
            <a:r>
              <a:rPr lang="zh-CN" altLang="en-US" sz="1400" b="1" dirty="0">
                <a:solidFill>
                  <a:schemeClr val="bg1"/>
                </a:solidFill>
              </a:rPr>
              <a:t>的自动化运维</a:t>
            </a:r>
          </a:p>
        </p:txBody>
      </p:sp>
      <p:sp>
        <p:nvSpPr>
          <p:cNvPr id="93" name="矩形 92"/>
          <p:cNvSpPr/>
          <p:nvPr/>
        </p:nvSpPr>
        <p:spPr>
          <a:xfrm>
            <a:off x="5116249" y="474260"/>
            <a:ext cx="2834611" cy="544533"/>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tx1"/>
                </a:solidFill>
              </a:rPr>
              <a:t>数据分析与信息展现</a:t>
            </a:r>
          </a:p>
        </p:txBody>
      </p:sp>
      <p:sp>
        <p:nvSpPr>
          <p:cNvPr id="94" name="矩形 93"/>
          <p:cNvSpPr/>
          <p:nvPr/>
        </p:nvSpPr>
        <p:spPr>
          <a:xfrm>
            <a:off x="5156200" y="736600"/>
            <a:ext cx="629292" cy="252350"/>
          </a:xfrm>
          <a:prstGeom prst="rect">
            <a:avLst/>
          </a:prstGeom>
          <a:solidFill>
            <a:srgbClr val="92D050"/>
          </a:solidFill>
          <a:ln>
            <a:solidFill>
              <a:srgbClr val="92D05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报表</a:t>
            </a:r>
          </a:p>
        </p:txBody>
      </p:sp>
      <p:sp>
        <p:nvSpPr>
          <p:cNvPr id="95" name="矩形 94"/>
          <p:cNvSpPr/>
          <p:nvPr/>
        </p:nvSpPr>
        <p:spPr>
          <a:xfrm>
            <a:off x="5873108" y="738250"/>
            <a:ext cx="629292" cy="252350"/>
          </a:xfrm>
          <a:prstGeom prst="rect">
            <a:avLst/>
          </a:prstGeom>
          <a:solidFill>
            <a:srgbClr val="92D050"/>
          </a:solidFill>
          <a:ln>
            <a:solidFill>
              <a:srgbClr val="92D05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仪表盘</a:t>
            </a:r>
          </a:p>
        </p:txBody>
      </p:sp>
      <p:sp>
        <p:nvSpPr>
          <p:cNvPr id="96" name="矩形 95"/>
          <p:cNvSpPr/>
          <p:nvPr/>
        </p:nvSpPr>
        <p:spPr>
          <a:xfrm>
            <a:off x="6584308" y="738250"/>
            <a:ext cx="629292" cy="252350"/>
          </a:xfrm>
          <a:prstGeom prst="rect">
            <a:avLst/>
          </a:prstGeom>
          <a:solidFill>
            <a:srgbClr val="92D050"/>
          </a:solidFill>
          <a:ln>
            <a:solidFill>
              <a:srgbClr val="92D05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查询</a:t>
            </a:r>
          </a:p>
        </p:txBody>
      </p:sp>
      <p:sp>
        <p:nvSpPr>
          <p:cNvPr id="97" name="矩形 96"/>
          <p:cNvSpPr/>
          <p:nvPr/>
        </p:nvSpPr>
        <p:spPr>
          <a:xfrm>
            <a:off x="7295508" y="738250"/>
            <a:ext cx="629292" cy="252350"/>
          </a:xfrm>
          <a:prstGeom prst="rect">
            <a:avLst/>
          </a:prstGeom>
          <a:solidFill>
            <a:srgbClr val="92D050"/>
          </a:solidFill>
          <a:ln>
            <a:solidFill>
              <a:srgbClr val="92D05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bg1"/>
                </a:solidFill>
              </a:rPr>
              <a:t>分析</a:t>
            </a:r>
          </a:p>
        </p:txBody>
      </p:sp>
    </p:spTree>
    <p:extLst>
      <p:ext uri="{BB962C8B-B14F-4D97-AF65-F5344CB8AC3E}">
        <p14:creationId xmlns:p14="http://schemas.microsoft.com/office/powerpoint/2010/main" val="2615012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ea typeface="+mn-ea"/>
              </a:rPr>
              <a:t>信息资源交换逻辑结构</a:t>
            </a:r>
          </a:p>
        </p:txBody>
      </p:sp>
      <p:sp>
        <p:nvSpPr>
          <p:cNvPr id="52" name="矩形 51"/>
          <p:cNvSpPr/>
          <p:nvPr/>
        </p:nvSpPr>
        <p:spPr>
          <a:xfrm>
            <a:off x="4111285" y="4223944"/>
            <a:ext cx="1300260" cy="1157228"/>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53" name="矩形 52"/>
          <p:cNvSpPr/>
          <p:nvPr/>
        </p:nvSpPr>
        <p:spPr>
          <a:xfrm>
            <a:off x="2417523" y="4219244"/>
            <a:ext cx="1300260" cy="1161928"/>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54" name="矩形 53"/>
          <p:cNvSpPr/>
          <p:nvPr/>
        </p:nvSpPr>
        <p:spPr>
          <a:xfrm>
            <a:off x="685800" y="4243932"/>
            <a:ext cx="1300260" cy="1137240"/>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55" name="矩形 54"/>
          <p:cNvSpPr/>
          <p:nvPr/>
        </p:nvSpPr>
        <p:spPr>
          <a:xfrm>
            <a:off x="1020368" y="1865477"/>
            <a:ext cx="4022190" cy="742416"/>
          </a:xfrm>
          <a:prstGeom prst="rect">
            <a:avLst/>
          </a:prstGeom>
          <a:solidFill>
            <a:schemeClr val="bg1">
              <a:lumMod val="95000"/>
            </a:schemeClr>
          </a:solidFill>
          <a:ln/>
        </p:spPr>
        <p:style>
          <a:lnRef idx="3">
            <a:schemeClr val="lt1"/>
          </a:lnRef>
          <a:fillRef idx="1">
            <a:schemeClr val="accent3"/>
          </a:fillRef>
          <a:effectRef idx="1">
            <a:schemeClr val="accent3"/>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56" name="流程图: 磁盘 55"/>
          <p:cNvSpPr/>
          <p:nvPr/>
        </p:nvSpPr>
        <p:spPr>
          <a:xfrm>
            <a:off x="785006" y="5697847"/>
            <a:ext cx="1048646" cy="504700"/>
          </a:xfrm>
          <a:prstGeom prst="flowChartMagneticDisk">
            <a:avLst/>
          </a:prstGeom>
          <a:solidFill>
            <a:schemeClr val="bg1">
              <a:lumMod val="65000"/>
            </a:schemeClr>
          </a:solidFill>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业务信息库</a:t>
            </a:r>
          </a:p>
        </p:txBody>
      </p:sp>
      <p:sp>
        <p:nvSpPr>
          <p:cNvPr id="57" name="圆柱形 56"/>
          <p:cNvSpPr/>
          <p:nvPr/>
        </p:nvSpPr>
        <p:spPr>
          <a:xfrm rot="5400000">
            <a:off x="2880337" y="1301880"/>
            <a:ext cx="399806" cy="4780467"/>
          </a:xfrm>
          <a:prstGeom prst="can">
            <a:avLst/>
          </a:prstGeom>
          <a:solidFill>
            <a:schemeClr val="accent2">
              <a:lumMod val="60000"/>
              <a:lumOff val="40000"/>
            </a:schemeClr>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a typeface="+mn-ea"/>
            </a:endParaRPr>
          </a:p>
        </p:txBody>
      </p:sp>
      <p:sp>
        <p:nvSpPr>
          <p:cNvPr id="58" name="矩形 57"/>
          <p:cNvSpPr/>
          <p:nvPr/>
        </p:nvSpPr>
        <p:spPr>
          <a:xfrm>
            <a:off x="741123" y="1133932"/>
            <a:ext cx="4797728" cy="1945116"/>
          </a:xfrm>
          <a:prstGeom prst="rect">
            <a:avLst/>
          </a:prstGeom>
          <a:solidFill>
            <a:srgbClr val="FFFFFF"/>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59" name="TextBox 58"/>
          <p:cNvSpPr txBox="1"/>
          <p:nvPr/>
        </p:nvSpPr>
        <p:spPr>
          <a:xfrm>
            <a:off x="1567870" y="3502813"/>
            <a:ext cx="2478564" cy="307777"/>
          </a:xfrm>
          <a:prstGeom prst="rect">
            <a:avLst/>
          </a:prstGeom>
          <a:noFill/>
        </p:spPr>
        <p:txBody>
          <a:bodyPr wrap="none" rtlCol="0">
            <a:spAutoFit/>
          </a:bodyPr>
          <a:lstStyle/>
          <a:p>
            <a:pPr algn="ctr"/>
            <a:r>
              <a:rPr lang="zh-CN" altLang="en-US" sz="1400" b="1" dirty="0">
                <a:solidFill>
                  <a:schemeClr val="bg1"/>
                </a:solidFill>
                <a:latin typeface="+mn-ea"/>
                <a:ea typeface="+mn-ea"/>
              </a:rPr>
              <a:t>        数   据  </a:t>
            </a:r>
            <a:r>
              <a:rPr lang="en-US" altLang="zh-CN" sz="1400" b="1" dirty="0">
                <a:solidFill>
                  <a:schemeClr val="bg1"/>
                </a:solidFill>
                <a:latin typeface="+mn-ea"/>
                <a:ea typeface="+mn-ea"/>
              </a:rPr>
              <a:t> </a:t>
            </a:r>
            <a:r>
              <a:rPr lang="zh-CN" altLang="en-US" sz="1400" b="1" dirty="0">
                <a:solidFill>
                  <a:schemeClr val="bg1"/>
                </a:solidFill>
                <a:latin typeface="+mn-ea"/>
                <a:ea typeface="+mn-ea"/>
              </a:rPr>
              <a:t>传   输   链   路</a:t>
            </a:r>
          </a:p>
        </p:txBody>
      </p:sp>
      <p:sp>
        <p:nvSpPr>
          <p:cNvPr id="60" name="TextBox 59"/>
          <p:cNvSpPr txBox="1"/>
          <p:nvPr/>
        </p:nvSpPr>
        <p:spPr>
          <a:xfrm>
            <a:off x="923890" y="6207497"/>
            <a:ext cx="761747" cy="276999"/>
          </a:xfrm>
          <a:prstGeom prst="rect">
            <a:avLst/>
          </a:prstGeom>
          <a:noFill/>
        </p:spPr>
        <p:txBody>
          <a:bodyPr wrap="none" rtlCol="0">
            <a:spAutoFit/>
          </a:bodyPr>
          <a:lstStyle/>
          <a:p>
            <a:pPr algn="ctr"/>
            <a:r>
              <a:rPr lang="zh-CN" altLang="en-US" sz="1200" b="1" dirty="0">
                <a:latin typeface="+mn-ea"/>
                <a:ea typeface="+mn-ea"/>
              </a:rPr>
              <a:t>委办局</a:t>
            </a:r>
            <a:r>
              <a:rPr lang="en-US" altLang="zh-CN" sz="1200" b="1" dirty="0">
                <a:latin typeface="+mn-ea"/>
                <a:ea typeface="+mn-ea"/>
              </a:rPr>
              <a:t>A</a:t>
            </a:r>
            <a:endParaRPr lang="zh-CN" altLang="en-US" sz="1200" b="1" dirty="0">
              <a:latin typeface="+mn-ea"/>
              <a:ea typeface="+mn-ea"/>
            </a:endParaRPr>
          </a:p>
        </p:txBody>
      </p:sp>
      <p:sp>
        <p:nvSpPr>
          <p:cNvPr id="61" name="TextBox 60"/>
          <p:cNvSpPr txBox="1"/>
          <p:nvPr/>
        </p:nvSpPr>
        <p:spPr>
          <a:xfrm>
            <a:off x="2737593" y="6247173"/>
            <a:ext cx="752130" cy="276999"/>
          </a:xfrm>
          <a:prstGeom prst="rect">
            <a:avLst/>
          </a:prstGeom>
          <a:noFill/>
        </p:spPr>
        <p:txBody>
          <a:bodyPr wrap="none" rtlCol="0">
            <a:spAutoFit/>
          </a:bodyPr>
          <a:lstStyle/>
          <a:p>
            <a:pPr algn="ctr"/>
            <a:r>
              <a:rPr lang="zh-CN" altLang="en-US" sz="1200" b="1" dirty="0">
                <a:latin typeface="+mn-ea"/>
              </a:rPr>
              <a:t>委办局</a:t>
            </a:r>
            <a:r>
              <a:rPr lang="en-US" altLang="zh-CN" sz="1200" b="1" dirty="0">
                <a:latin typeface="+mn-ea"/>
              </a:rPr>
              <a:t>B</a:t>
            </a:r>
            <a:endParaRPr lang="zh-CN" altLang="en-US" sz="1200" b="1" dirty="0">
              <a:latin typeface="+mn-ea"/>
            </a:endParaRPr>
          </a:p>
        </p:txBody>
      </p:sp>
      <p:sp>
        <p:nvSpPr>
          <p:cNvPr id="62" name="TextBox 61"/>
          <p:cNvSpPr txBox="1"/>
          <p:nvPr/>
        </p:nvSpPr>
        <p:spPr>
          <a:xfrm>
            <a:off x="4538494" y="6236197"/>
            <a:ext cx="750526" cy="276999"/>
          </a:xfrm>
          <a:prstGeom prst="rect">
            <a:avLst/>
          </a:prstGeom>
          <a:noFill/>
        </p:spPr>
        <p:txBody>
          <a:bodyPr wrap="none" rtlCol="0">
            <a:spAutoFit/>
          </a:bodyPr>
          <a:lstStyle/>
          <a:p>
            <a:pPr algn="ctr"/>
            <a:r>
              <a:rPr lang="zh-CN" altLang="en-US" sz="1200" b="1" dirty="0">
                <a:latin typeface="+mn-ea"/>
              </a:rPr>
              <a:t>委办局</a:t>
            </a:r>
            <a:r>
              <a:rPr lang="en-US" altLang="zh-CN" sz="1200" b="1" dirty="0">
                <a:latin typeface="+mn-ea"/>
              </a:rPr>
              <a:t>C</a:t>
            </a:r>
            <a:endParaRPr lang="zh-CN" altLang="en-US" sz="1200" b="1" dirty="0">
              <a:latin typeface="+mn-ea"/>
            </a:endParaRPr>
          </a:p>
        </p:txBody>
      </p:sp>
      <p:sp>
        <p:nvSpPr>
          <p:cNvPr id="63" name="流程图: 磁盘 62"/>
          <p:cNvSpPr/>
          <p:nvPr/>
        </p:nvSpPr>
        <p:spPr>
          <a:xfrm>
            <a:off x="2588077" y="5739360"/>
            <a:ext cx="1048646" cy="504700"/>
          </a:xfrm>
          <a:prstGeom prst="flowChartMagneticDisk">
            <a:avLst/>
          </a:prstGeom>
          <a:solidFill>
            <a:schemeClr val="bg1">
              <a:lumMod val="65000"/>
            </a:schemeClr>
          </a:solidFill>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业务信息库</a:t>
            </a:r>
          </a:p>
        </p:txBody>
      </p:sp>
      <p:sp>
        <p:nvSpPr>
          <p:cNvPr id="64" name="流程图: 磁盘 63"/>
          <p:cNvSpPr/>
          <p:nvPr/>
        </p:nvSpPr>
        <p:spPr>
          <a:xfrm>
            <a:off x="4340677" y="5739360"/>
            <a:ext cx="1048646" cy="504700"/>
          </a:xfrm>
          <a:prstGeom prst="flowChartMagneticDisk">
            <a:avLst/>
          </a:prstGeom>
          <a:solidFill>
            <a:schemeClr val="bg1">
              <a:lumMod val="65000"/>
            </a:schemeClr>
          </a:solidFill>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业务信息库</a:t>
            </a:r>
          </a:p>
        </p:txBody>
      </p:sp>
      <p:sp>
        <p:nvSpPr>
          <p:cNvPr id="66" name="流程图: 磁盘 65"/>
          <p:cNvSpPr/>
          <p:nvPr/>
        </p:nvSpPr>
        <p:spPr>
          <a:xfrm>
            <a:off x="893522" y="4585399"/>
            <a:ext cx="978725" cy="472045"/>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交换信息库</a:t>
            </a:r>
          </a:p>
        </p:txBody>
      </p:sp>
      <p:sp>
        <p:nvSpPr>
          <p:cNvPr id="67" name="TextBox 66"/>
          <p:cNvSpPr txBox="1"/>
          <p:nvPr/>
        </p:nvSpPr>
        <p:spPr>
          <a:xfrm>
            <a:off x="879669" y="4323245"/>
            <a:ext cx="1080654" cy="276999"/>
          </a:xfrm>
          <a:prstGeom prst="rect">
            <a:avLst/>
          </a:prstGeom>
          <a:noFill/>
        </p:spPr>
        <p:txBody>
          <a:bodyPr wrap="square" rtlCol="0">
            <a:spAutoFit/>
          </a:bodyPr>
          <a:lstStyle/>
          <a:p>
            <a:pPr algn="ctr"/>
            <a:r>
              <a:rPr lang="zh-CN" altLang="en-US" sz="1200" b="1" dirty="0">
                <a:latin typeface="+mn-ea"/>
                <a:ea typeface="+mn-ea"/>
              </a:rPr>
              <a:t>前置交换区</a:t>
            </a:r>
          </a:p>
        </p:txBody>
      </p:sp>
      <p:sp>
        <p:nvSpPr>
          <p:cNvPr id="69" name="流程图: 磁盘 68"/>
          <p:cNvSpPr/>
          <p:nvPr/>
        </p:nvSpPr>
        <p:spPr>
          <a:xfrm>
            <a:off x="2572353" y="4585399"/>
            <a:ext cx="1012216" cy="472045"/>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ea typeface="+mn-ea"/>
              </a:rPr>
              <a:t>交换信息库</a:t>
            </a:r>
          </a:p>
        </p:txBody>
      </p:sp>
      <p:sp>
        <p:nvSpPr>
          <p:cNvPr id="70" name="TextBox 69"/>
          <p:cNvSpPr txBox="1"/>
          <p:nvPr/>
        </p:nvSpPr>
        <p:spPr>
          <a:xfrm>
            <a:off x="2558499" y="4323245"/>
            <a:ext cx="1080654" cy="276999"/>
          </a:xfrm>
          <a:prstGeom prst="rect">
            <a:avLst/>
          </a:prstGeom>
          <a:noFill/>
        </p:spPr>
        <p:txBody>
          <a:bodyPr wrap="square" rtlCol="0">
            <a:spAutoFit/>
          </a:bodyPr>
          <a:lstStyle/>
          <a:p>
            <a:pPr algn="ctr"/>
            <a:r>
              <a:rPr lang="zh-CN" altLang="en-US" sz="1200" b="1" dirty="0">
                <a:latin typeface="+mn-ea"/>
                <a:ea typeface="+mn-ea"/>
              </a:rPr>
              <a:t>前置交换区</a:t>
            </a:r>
          </a:p>
        </p:txBody>
      </p:sp>
      <p:sp>
        <p:nvSpPr>
          <p:cNvPr id="72" name="流程图: 磁盘 71"/>
          <p:cNvSpPr/>
          <p:nvPr/>
        </p:nvSpPr>
        <p:spPr>
          <a:xfrm>
            <a:off x="4266114" y="4585399"/>
            <a:ext cx="978725" cy="472045"/>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ea typeface="+mn-ea"/>
              </a:rPr>
              <a:t>交换信息库</a:t>
            </a:r>
          </a:p>
        </p:txBody>
      </p:sp>
      <p:sp>
        <p:nvSpPr>
          <p:cNvPr id="73" name="TextBox 72"/>
          <p:cNvSpPr txBox="1"/>
          <p:nvPr/>
        </p:nvSpPr>
        <p:spPr>
          <a:xfrm>
            <a:off x="4252261" y="4327945"/>
            <a:ext cx="1080654" cy="276999"/>
          </a:xfrm>
          <a:prstGeom prst="rect">
            <a:avLst/>
          </a:prstGeom>
          <a:noFill/>
        </p:spPr>
        <p:txBody>
          <a:bodyPr wrap="square" rtlCol="0">
            <a:spAutoFit/>
          </a:bodyPr>
          <a:lstStyle/>
          <a:p>
            <a:pPr algn="ctr"/>
            <a:r>
              <a:rPr lang="zh-CN" altLang="en-US" sz="1200" b="1" dirty="0">
                <a:latin typeface="+mn-ea"/>
                <a:ea typeface="+mn-ea"/>
              </a:rPr>
              <a:t>前置交换区</a:t>
            </a:r>
          </a:p>
        </p:txBody>
      </p:sp>
      <p:sp>
        <p:nvSpPr>
          <p:cNvPr id="74" name="上下箭头 73"/>
          <p:cNvSpPr/>
          <p:nvPr/>
        </p:nvSpPr>
        <p:spPr>
          <a:xfrm>
            <a:off x="1198323" y="5343235"/>
            <a:ext cx="221673" cy="383231"/>
          </a:xfrm>
          <a:prstGeom prst="upDown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75" name="上下箭头 74"/>
          <p:cNvSpPr/>
          <p:nvPr/>
        </p:nvSpPr>
        <p:spPr>
          <a:xfrm>
            <a:off x="2950923" y="5362449"/>
            <a:ext cx="248335" cy="369375"/>
          </a:xfrm>
          <a:prstGeom prst="upDown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76" name="上下箭头 75"/>
          <p:cNvSpPr/>
          <p:nvPr/>
        </p:nvSpPr>
        <p:spPr>
          <a:xfrm>
            <a:off x="4703523" y="5362449"/>
            <a:ext cx="248335" cy="369375"/>
          </a:xfrm>
          <a:prstGeom prst="upDown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83" name="上下箭头 82"/>
          <p:cNvSpPr/>
          <p:nvPr/>
        </p:nvSpPr>
        <p:spPr>
          <a:xfrm>
            <a:off x="1264655" y="3079047"/>
            <a:ext cx="293367" cy="421825"/>
          </a:xfrm>
          <a:prstGeom prst="upDownArrow">
            <a:avLst/>
          </a:prstGeom>
          <a:solidFill>
            <a:srgbClr val="92D05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86" name="TextBox 85"/>
          <p:cNvSpPr txBox="1"/>
          <p:nvPr/>
        </p:nvSpPr>
        <p:spPr>
          <a:xfrm>
            <a:off x="1594055" y="2643419"/>
            <a:ext cx="893193" cy="276999"/>
          </a:xfrm>
          <a:prstGeom prst="rect">
            <a:avLst/>
          </a:prstGeom>
          <a:noFill/>
        </p:spPr>
        <p:txBody>
          <a:bodyPr wrap="none" rtlCol="0">
            <a:spAutoFit/>
          </a:bodyPr>
          <a:lstStyle/>
          <a:p>
            <a:pPr algn="ctr"/>
            <a:r>
              <a:rPr lang="zh-CN" altLang="en-US" sz="1200" b="1" dirty="0">
                <a:solidFill>
                  <a:schemeClr val="bg1"/>
                </a:solidFill>
                <a:latin typeface="+mn-ea"/>
                <a:ea typeface="+mn-ea"/>
              </a:rPr>
              <a:t>交 换 桥接</a:t>
            </a:r>
          </a:p>
        </p:txBody>
      </p:sp>
      <p:sp>
        <p:nvSpPr>
          <p:cNvPr id="87" name="TextBox 86"/>
          <p:cNvSpPr txBox="1"/>
          <p:nvPr/>
        </p:nvSpPr>
        <p:spPr>
          <a:xfrm>
            <a:off x="2438400" y="2694801"/>
            <a:ext cx="998423" cy="461665"/>
          </a:xfrm>
          <a:prstGeom prst="rect">
            <a:avLst/>
          </a:prstGeom>
          <a:noFill/>
        </p:spPr>
        <p:txBody>
          <a:bodyPr wrap="square" rtlCol="0">
            <a:spAutoFit/>
          </a:bodyPr>
          <a:lstStyle/>
          <a:p>
            <a:pPr algn="ctr"/>
            <a:r>
              <a:rPr lang="zh-CN" altLang="en-US" sz="1200" b="1" dirty="0">
                <a:solidFill>
                  <a:schemeClr val="bg1"/>
                </a:solidFill>
                <a:latin typeface="+mn-ea"/>
                <a:ea typeface="+mn-ea"/>
              </a:rPr>
              <a:t>交 换 适 配 器</a:t>
            </a:r>
          </a:p>
        </p:txBody>
      </p:sp>
      <p:sp>
        <p:nvSpPr>
          <p:cNvPr id="88" name="TextBox 87"/>
          <p:cNvSpPr txBox="1"/>
          <p:nvPr/>
        </p:nvSpPr>
        <p:spPr>
          <a:xfrm>
            <a:off x="674013" y="1676400"/>
            <a:ext cx="430887" cy="913070"/>
          </a:xfrm>
          <a:prstGeom prst="rect">
            <a:avLst/>
          </a:prstGeom>
          <a:noFill/>
        </p:spPr>
        <p:txBody>
          <a:bodyPr vert="eaVert" wrap="none" rtlCol="0">
            <a:spAutoFit/>
          </a:bodyPr>
          <a:lstStyle/>
          <a:p>
            <a:pPr algn="ctr"/>
            <a:r>
              <a:rPr lang="zh-CN" altLang="en-US" sz="1600" b="1" dirty="0">
                <a:latin typeface="+mn-ea"/>
                <a:ea typeface="+mn-ea"/>
              </a:rPr>
              <a:t>交换中心</a:t>
            </a:r>
          </a:p>
        </p:txBody>
      </p:sp>
      <p:grpSp>
        <p:nvGrpSpPr>
          <p:cNvPr id="89" name="组合 88"/>
          <p:cNvGrpSpPr/>
          <p:nvPr/>
        </p:nvGrpSpPr>
        <p:grpSpPr>
          <a:xfrm>
            <a:off x="1059338" y="1172746"/>
            <a:ext cx="4273577" cy="914039"/>
            <a:chOff x="2378488" y="802984"/>
            <a:chExt cx="4273577" cy="914039"/>
          </a:xfrm>
        </p:grpSpPr>
        <p:sp>
          <p:nvSpPr>
            <p:cNvPr id="90" name="矩形 89"/>
            <p:cNvSpPr/>
            <p:nvPr/>
          </p:nvSpPr>
          <p:spPr>
            <a:xfrm>
              <a:off x="2378488" y="815231"/>
              <a:ext cx="4273577" cy="901792"/>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91" name="流程图: 磁盘 90"/>
            <p:cNvSpPr/>
            <p:nvPr/>
          </p:nvSpPr>
          <p:spPr>
            <a:xfrm>
              <a:off x="3981079" y="1096313"/>
              <a:ext cx="958265" cy="485793"/>
            </a:xfrm>
            <a:prstGeom prst="flowChartMagneticDisk">
              <a:avLst/>
            </a:prstGeom>
            <a:solidFill>
              <a:srgbClr val="6699FF"/>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业务信息库</a:t>
              </a:r>
            </a:p>
          </p:txBody>
        </p:sp>
        <p:sp>
          <p:nvSpPr>
            <p:cNvPr id="92" name="流程图: 磁盘 91"/>
            <p:cNvSpPr/>
            <p:nvPr/>
          </p:nvSpPr>
          <p:spPr>
            <a:xfrm>
              <a:off x="2570390" y="1084436"/>
              <a:ext cx="951830" cy="485793"/>
            </a:xfrm>
            <a:prstGeom prst="flowChartMagneticDisk">
              <a:avLst/>
            </a:prstGeom>
            <a:solidFill>
              <a:srgbClr val="6699FF"/>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基础信息库</a:t>
              </a:r>
            </a:p>
          </p:txBody>
        </p:sp>
        <p:sp>
          <p:nvSpPr>
            <p:cNvPr id="93" name="流程图: 磁盘 92"/>
            <p:cNvSpPr/>
            <p:nvPr/>
          </p:nvSpPr>
          <p:spPr>
            <a:xfrm>
              <a:off x="5459273" y="1078038"/>
              <a:ext cx="1027952" cy="479491"/>
            </a:xfrm>
            <a:prstGeom prst="flowChartMagneticDisk">
              <a:avLst/>
            </a:prstGeom>
            <a:solidFill>
              <a:srgbClr val="6699FF"/>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服务信息库</a:t>
              </a:r>
            </a:p>
          </p:txBody>
        </p:sp>
        <p:sp>
          <p:nvSpPr>
            <p:cNvPr id="94" name="TextBox 93"/>
            <p:cNvSpPr txBox="1"/>
            <p:nvPr/>
          </p:nvSpPr>
          <p:spPr>
            <a:xfrm>
              <a:off x="3883523" y="802984"/>
              <a:ext cx="1210589" cy="338554"/>
            </a:xfrm>
            <a:prstGeom prst="rect">
              <a:avLst/>
            </a:prstGeom>
            <a:noFill/>
          </p:spPr>
          <p:txBody>
            <a:bodyPr wrap="none" rtlCol="0">
              <a:spAutoFit/>
            </a:bodyPr>
            <a:lstStyle/>
            <a:p>
              <a:pPr algn="ctr"/>
              <a:r>
                <a:rPr lang="zh-CN" altLang="en-US" sz="1600" b="1" dirty="0">
                  <a:latin typeface="+mn-ea"/>
                  <a:ea typeface="+mn-ea"/>
                </a:rPr>
                <a:t>共享信息库</a:t>
              </a:r>
            </a:p>
          </p:txBody>
        </p:sp>
      </p:grpSp>
      <p:sp>
        <p:nvSpPr>
          <p:cNvPr id="95" name="流程图: 磁盘 94"/>
          <p:cNvSpPr/>
          <p:nvPr/>
        </p:nvSpPr>
        <p:spPr>
          <a:xfrm>
            <a:off x="2241171" y="2569645"/>
            <a:ext cx="1379024" cy="472045"/>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ea typeface="+mn-ea"/>
              </a:rPr>
              <a:t>交换信息库</a:t>
            </a:r>
          </a:p>
        </p:txBody>
      </p:sp>
      <p:sp>
        <p:nvSpPr>
          <p:cNvPr id="3" name="圆角矩形 2"/>
          <p:cNvSpPr/>
          <p:nvPr/>
        </p:nvSpPr>
        <p:spPr>
          <a:xfrm>
            <a:off x="914399" y="5076372"/>
            <a:ext cx="957847" cy="252349"/>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96" name="上下箭头 95"/>
          <p:cNvSpPr/>
          <p:nvPr/>
        </p:nvSpPr>
        <p:spPr>
          <a:xfrm>
            <a:off x="2889425" y="2249312"/>
            <a:ext cx="278504" cy="358581"/>
          </a:xfrm>
          <a:prstGeom prst="upDown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97" name="圆角矩形 96"/>
          <p:cNvSpPr/>
          <p:nvPr/>
        </p:nvSpPr>
        <p:spPr>
          <a:xfrm>
            <a:off x="2590800" y="5076372"/>
            <a:ext cx="957847" cy="252349"/>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98" name="圆角矩形 97"/>
          <p:cNvSpPr/>
          <p:nvPr/>
        </p:nvSpPr>
        <p:spPr>
          <a:xfrm>
            <a:off x="4299953" y="5076372"/>
            <a:ext cx="957847" cy="252349"/>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99" name="AutoShape 20"/>
          <p:cNvSpPr>
            <a:spLocks noChangeArrowheads="1"/>
          </p:cNvSpPr>
          <p:nvPr/>
        </p:nvSpPr>
        <p:spPr bwMode="auto">
          <a:xfrm rot="10800000">
            <a:off x="5646414" y="1105623"/>
            <a:ext cx="3268981" cy="5130573"/>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sz="1200" dirty="0"/>
          </a:p>
        </p:txBody>
      </p:sp>
      <p:sp>
        <p:nvSpPr>
          <p:cNvPr id="100" name="矩形 99"/>
          <p:cNvSpPr/>
          <p:nvPr/>
        </p:nvSpPr>
        <p:spPr>
          <a:xfrm>
            <a:off x="5638799" y="1075572"/>
            <a:ext cx="3276601" cy="5230663"/>
          </a:xfrm>
          <a:prstGeom prst="rect">
            <a:avLst/>
          </a:prstGeom>
        </p:spPr>
        <p:txBody>
          <a:bodyPr wrap="square">
            <a:spAutoFit/>
          </a:bodyPr>
          <a:lstStyle/>
          <a:p>
            <a:pPr defTabSz="711200" fontAlgn="auto">
              <a:lnSpc>
                <a:spcPct val="140000"/>
              </a:lnSpc>
              <a:spcBef>
                <a:spcPts val="0"/>
              </a:spcBef>
              <a:spcAft>
                <a:spcPct val="35000"/>
              </a:spcAft>
              <a:defRPr/>
            </a:pPr>
            <a:r>
              <a:rPr lang="zh-CN" altLang="en-US" sz="1400" b="1" dirty="0">
                <a:latin typeface="+mn-ea"/>
                <a:ea typeface="+mn-ea"/>
              </a:rPr>
              <a:t>信息资源交换逻辑结构总体分为中心交换模块与前置交换模块。</a:t>
            </a:r>
            <a:endParaRPr lang="en-US" altLang="zh-CN" sz="1400" b="1" dirty="0">
              <a:latin typeface="+mn-ea"/>
              <a:ea typeface="+mn-ea"/>
            </a:endParaRPr>
          </a:p>
          <a:p>
            <a:pPr marL="285750" indent="-285750" defTabSz="711200" fontAlgn="auto">
              <a:lnSpc>
                <a:spcPct val="140000"/>
              </a:lnSpc>
              <a:spcBef>
                <a:spcPts val="0"/>
              </a:spcBef>
              <a:spcAft>
                <a:spcPct val="35000"/>
              </a:spcAft>
              <a:buFont typeface="Wingdings" pitchFamily="2" charset="2"/>
              <a:buChar char="p"/>
              <a:defRPr/>
            </a:pPr>
            <a:r>
              <a:rPr lang="zh-CN" altLang="zh-CN" sz="1300" kern="0" dirty="0">
                <a:solidFill>
                  <a:srgbClr val="C00000"/>
                </a:solidFill>
                <a:latin typeface="+mn-ea"/>
                <a:ea typeface="+mn-ea"/>
              </a:rPr>
              <a:t>前置交换模块</a:t>
            </a:r>
            <a:r>
              <a:rPr lang="zh-CN" altLang="en-US" sz="1300" kern="0" dirty="0">
                <a:solidFill>
                  <a:srgbClr val="C00000"/>
                </a:solidFill>
                <a:latin typeface="+mn-ea"/>
                <a:ea typeface="+mn-ea"/>
              </a:rPr>
              <a:t>：</a:t>
            </a:r>
            <a:r>
              <a:rPr lang="zh-CN" altLang="zh-CN" sz="1300" dirty="0">
                <a:latin typeface="+mn-ea"/>
                <a:ea typeface="+mn-ea"/>
              </a:rPr>
              <a:t>前置交换模块与应用单位业务应用系统之间隔离，保证应用单位业务信息库和业务应用系统的独立性。</a:t>
            </a:r>
            <a:endParaRPr lang="en-US" altLang="zh-CN" sz="1300" dirty="0">
              <a:latin typeface="+mn-ea"/>
              <a:ea typeface="+mn-ea"/>
            </a:endParaRPr>
          </a:p>
          <a:p>
            <a:pPr marL="285750" indent="-285750" defTabSz="711200" fontAlgn="auto">
              <a:lnSpc>
                <a:spcPct val="140000"/>
              </a:lnSpc>
              <a:spcBef>
                <a:spcPts val="0"/>
              </a:spcBef>
              <a:spcAft>
                <a:spcPct val="35000"/>
              </a:spcAft>
              <a:buFont typeface="Wingdings" pitchFamily="2" charset="2"/>
              <a:buChar char="p"/>
              <a:defRPr/>
            </a:pPr>
            <a:r>
              <a:rPr lang="zh-CN" altLang="en-US" sz="1300" kern="0" dirty="0">
                <a:solidFill>
                  <a:srgbClr val="C00000"/>
                </a:solidFill>
                <a:latin typeface="+mn-ea"/>
                <a:ea typeface="+mn-ea"/>
              </a:rPr>
              <a:t>中心交换模块：</a:t>
            </a:r>
            <a:r>
              <a:rPr lang="zh-CN" altLang="en-US" sz="1300" dirty="0">
                <a:latin typeface="+mn-ea"/>
                <a:ea typeface="+mn-ea"/>
              </a:rPr>
              <a:t>提供共享信息的存储、数据整合、数据发布订阅、数据共享、调度监控等功能。</a:t>
            </a:r>
            <a:endParaRPr lang="en-US" altLang="zh-CN" sz="1300" dirty="0">
              <a:latin typeface="+mn-ea"/>
              <a:ea typeface="+mn-ea"/>
            </a:endParaRPr>
          </a:p>
          <a:p>
            <a:pPr marL="285750" indent="-285750" defTabSz="711200" fontAlgn="auto">
              <a:lnSpc>
                <a:spcPct val="140000"/>
              </a:lnSpc>
              <a:spcBef>
                <a:spcPts val="0"/>
              </a:spcBef>
              <a:spcAft>
                <a:spcPct val="35000"/>
              </a:spcAft>
              <a:buFont typeface="Wingdings" pitchFamily="2" charset="2"/>
              <a:buChar char="p"/>
              <a:defRPr/>
            </a:pPr>
            <a:r>
              <a:rPr lang="zh-CN" altLang="en-US" sz="1300" kern="0" dirty="0">
                <a:solidFill>
                  <a:srgbClr val="C00000"/>
                </a:solidFill>
                <a:latin typeface="+mn-ea"/>
                <a:ea typeface="+mn-ea"/>
              </a:rPr>
              <a:t>数据桥接：</a:t>
            </a:r>
            <a:r>
              <a:rPr lang="zh-CN" altLang="zh-CN" sz="1300" dirty="0">
                <a:latin typeface="+mn-ea"/>
                <a:ea typeface="+mn-ea"/>
              </a:rPr>
              <a:t>应用单位业务信息库与前置交换信息库</a:t>
            </a:r>
            <a:r>
              <a:rPr lang="zh-CN" altLang="en-US" sz="1300" dirty="0">
                <a:latin typeface="+mn-ea"/>
                <a:ea typeface="+mn-ea"/>
              </a:rPr>
              <a:t>及共享信息库</a:t>
            </a:r>
            <a:r>
              <a:rPr lang="zh-CN" altLang="zh-CN" sz="1300" dirty="0">
                <a:latin typeface="+mn-ea"/>
                <a:ea typeface="+mn-ea"/>
              </a:rPr>
              <a:t>之间的信息交换</a:t>
            </a:r>
            <a:r>
              <a:rPr lang="zh-CN" altLang="en-US" sz="1300" dirty="0">
                <a:latin typeface="+mn-ea"/>
                <a:ea typeface="+mn-ea"/>
              </a:rPr>
              <a:t>中间件</a:t>
            </a:r>
            <a:r>
              <a:rPr lang="zh-CN" altLang="zh-CN" sz="1300" dirty="0">
                <a:latin typeface="+mn-ea"/>
                <a:ea typeface="+mn-ea"/>
              </a:rPr>
              <a:t>，负责共享数据采集</a:t>
            </a:r>
            <a:r>
              <a:rPr lang="zh-CN" altLang="en-US" sz="1300" dirty="0">
                <a:latin typeface="+mn-ea"/>
                <a:ea typeface="+mn-ea"/>
              </a:rPr>
              <a:t>及不同类型数据适配工作，提供多种数据采集方式，</a:t>
            </a:r>
            <a:r>
              <a:rPr lang="zh-CN" altLang="zh-CN" sz="1300" dirty="0">
                <a:latin typeface="+mn-ea"/>
                <a:ea typeface="+mn-ea"/>
              </a:rPr>
              <a:t>以实现信息库之间的同步。</a:t>
            </a:r>
            <a:endParaRPr lang="en-US" altLang="zh-CN" sz="1300" dirty="0">
              <a:latin typeface="+mn-ea"/>
              <a:ea typeface="+mn-ea"/>
            </a:endParaRPr>
          </a:p>
          <a:p>
            <a:pPr marL="285750" indent="-285750" defTabSz="711200" fontAlgn="auto">
              <a:lnSpc>
                <a:spcPct val="140000"/>
              </a:lnSpc>
              <a:spcBef>
                <a:spcPts val="0"/>
              </a:spcBef>
              <a:spcAft>
                <a:spcPct val="35000"/>
              </a:spcAft>
              <a:buFont typeface="Wingdings" pitchFamily="2" charset="2"/>
              <a:buChar char="p"/>
              <a:defRPr/>
            </a:pPr>
            <a:r>
              <a:rPr lang="zh-CN" altLang="en-US" sz="1300" kern="0" dirty="0">
                <a:solidFill>
                  <a:srgbClr val="C00000"/>
                </a:solidFill>
                <a:latin typeface="+mn-ea"/>
                <a:ea typeface="+mn-ea"/>
              </a:rPr>
              <a:t>数据传输链路：</a:t>
            </a:r>
            <a:r>
              <a:rPr lang="zh-CN" altLang="zh-CN" sz="1300" dirty="0">
                <a:latin typeface="+mn-ea"/>
                <a:ea typeface="+mn-ea"/>
              </a:rPr>
              <a:t>实现应用单位前置交换信息库</a:t>
            </a:r>
            <a:r>
              <a:rPr lang="zh-CN" altLang="en-US" sz="1300" dirty="0">
                <a:latin typeface="+mn-ea"/>
                <a:ea typeface="+mn-ea"/>
              </a:rPr>
              <a:t>与交换中心</a:t>
            </a:r>
            <a:r>
              <a:rPr lang="zh-CN" altLang="zh-CN" sz="1300" dirty="0">
                <a:latin typeface="+mn-ea"/>
                <a:ea typeface="+mn-ea"/>
              </a:rPr>
              <a:t>之间的信息处理</a:t>
            </a:r>
            <a:r>
              <a:rPr lang="zh-CN" altLang="en-US" sz="1300" dirty="0">
                <a:latin typeface="+mn-ea"/>
                <a:ea typeface="+mn-ea"/>
              </a:rPr>
              <a:t>及</a:t>
            </a:r>
            <a:r>
              <a:rPr lang="zh-CN" altLang="zh-CN" sz="1300" dirty="0">
                <a:latin typeface="+mn-ea"/>
                <a:ea typeface="+mn-ea"/>
              </a:rPr>
              <a:t>稳定可靠、不间断</a:t>
            </a:r>
            <a:r>
              <a:rPr lang="zh-CN" altLang="en-US" sz="1300" dirty="0">
                <a:latin typeface="+mn-ea"/>
                <a:ea typeface="+mn-ea"/>
              </a:rPr>
              <a:t>地</a:t>
            </a:r>
            <a:r>
              <a:rPr lang="zh-CN" altLang="zh-CN" sz="1300" dirty="0">
                <a:latin typeface="+mn-ea"/>
                <a:ea typeface="+mn-ea"/>
              </a:rPr>
              <a:t>信息传递。</a:t>
            </a:r>
            <a:endParaRPr lang="en-US" altLang="zh-CN" sz="1300" kern="0" dirty="0">
              <a:latin typeface="+mn-ea"/>
              <a:ea typeface="+mn-ea"/>
            </a:endParaRPr>
          </a:p>
          <a:p>
            <a:pPr>
              <a:lnSpc>
                <a:spcPct val="120000"/>
              </a:lnSpc>
            </a:pPr>
            <a:endParaRPr lang="zh-CN" altLang="en-US" sz="1400" dirty="0">
              <a:latin typeface="+mn-ea"/>
              <a:ea typeface="+mn-ea"/>
            </a:endParaRPr>
          </a:p>
        </p:txBody>
      </p:sp>
      <p:sp>
        <p:nvSpPr>
          <p:cNvPr id="101" name="圆角矩形 100"/>
          <p:cNvSpPr/>
          <p:nvPr/>
        </p:nvSpPr>
        <p:spPr>
          <a:xfrm>
            <a:off x="2590800" y="2006600"/>
            <a:ext cx="957847" cy="252349"/>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102" name="上下箭头 101"/>
          <p:cNvSpPr/>
          <p:nvPr/>
        </p:nvSpPr>
        <p:spPr>
          <a:xfrm>
            <a:off x="2866242" y="3109144"/>
            <a:ext cx="329400" cy="421825"/>
          </a:xfrm>
          <a:prstGeom prst="upDownArrow">
            <a:avLst/>
          </a:prstGeom>
          <a:solidFill>
            <a:srgbClr val="92D05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03" name="上下箭头 102"/>
          <p:cNvSpPr/>
          <p:nvPr/>
        </p:nvSpPr>
        <p:spPr>
          <a:xfrm>
            <a:off x="4547400" y="3098800"/>
            <a:ext cx="329400" cy="421825"/>
          </a:xfrm>
          <a:prstGeom prst="upDownArrow">
            <a:avLst/>
          </a:prstGeom>
          <a:solidFill>
            <a:srgbClr val="92D05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04" name="上下箭头 103"/>
          <p:cNvSpPr/>
          <p:nvPr/>
        </p:nvSpPr>
        <p:spPr>
          <a:xfrm>
            <a:off x="1228622" y="3854576"/>
            <a:ext cx="329400" cy="421825"/>
          </a:xfrm>
          <a:prstGeom prst="upDownArrow">
            <a:avLst/>
          </a:prstGeom>
          <a:solidFill>
            <a:srgbClr val="92D05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05" name="上下箭头 104"/>
          <p:cNvSpPr/>
          <p:nvPr/>
        </p:nvSpPr>
        <p:spPr>
          <a:xfrm>
            <a:off x="2871000" y="3858075"/>
            <a:ext cx="329400" cy="421825"/>
          </a:xfrm>
          <a:prstGeom prst="upDownArrow">
            <a:avLst/>
          </a:prstGeom>
          <a:solidFill>
            <a:srgbClr val="92D05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06" name="上下箭头 105"/>
          <p:cNvSpPr/>
          <p:nvPr/>
        </p:nvSpPr>
        <p:spPr>
          <a:xfrm>
            <a:off x="4572000" y="3886200"/>
            <a:ext cx="329400" cy="421825"/>
          </a:xfrm>
          <a:prstGeom prst="upDownArrow">
            <a:avLst/>
          </a:prstGeom>
          <a:solidFill>
            <a:srgbClr val="92D05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5" name="圆角矩形 4"/>
          <p:cNvSpPr/>
          <p:nvPr/>
        </p:nvSpPr>
        <p:spPr>
          <a:xfrm>
            <a:off x="3991697" y="2621027"/>
            <a:ext cx="935903" cy="350773"/>
          </a:xfrm>
          <a:prstGeom prst="roundRect">
            <a:avLst/>
          </a:prstGeom>
          <a:solidFill>
            <a:srgbClr val="FF000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latin typeface="+mn-ea"/>
              </a:rPr>
              <a:t>数据核检</a:t>
            </a:r>
          </a:p>
        </p:txBody>
      </p:sp>
      <p:sp>
        <p:nvSpPr>
          <p:cNvPr id="6" name="左箭头 5"/>
          <p:cNvSpPr/>
          <p:nvPr/>
        </p:nvSpPr>
        <p:spPr>
          <a:xfrm>
            <a:off x="3600424" y="2710824"/>
            <a:ext cx="374676" cy="209594"/>
          </a:xfrm>
          <a:prstGeom prst="leftArrow">
            <a:avLst/>
          </a:prstGeom>
          <a:solidFill>
            <a:srgbClr val="C0000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Tree>
    <p:extLst>
      <p:ext uri="{BB962C8B-B14F-4D97-AF65-F5344CB8AC3E}">
        <p14:creationId xmlns:p14="http://schemas.microsoft.com/office/powerpoint/2010/main" val="551978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前置交换节点逻辑结构</a:t>
            </a:r>
          </a:p>
        </p:txBody>
      </p:sp>
      <p:sp>
        <p:nvSpPr>
          <p:cNvPr id="4" name="灯片编号占位符 3"/>
          <p:cNvSpPr>
            <a:spLocks noGrp="1"/>
          </p:cNvSpPr>
          <p:nvPr>
            <p:ph type="sldNum" sz="quarter" idx="12"/>
          </p:nvPr>
        </p:nvSpPr>
        <p:spPr/>
        <p:txBody>
          <a:bodyPr/>
          <a:lstStyle/>
          <a:p>
            <a:fld id="{BD61978C-FD3D-4268-8D6C-034E9AD544A3}" type="slidenum">
              <a:rPr lang="en-US" altLang="zh-CN" smtClean="0"/>
              <a:pPr/>
              <a:t>14</a:t>
            </a:fld>
            <a:endParaRPr lang="en-US" altLang="zh-CN"/>
          </a:p>
        </p:txBody>
      </p:sp>
      <p:sp>
        <p:nvSpPr>
          <p:cNvPr id="5" name="流程图: 过程 4"/>
          <p:cNvSpPr/>
          <p:nvPr/>
        </p:nvSpPr>
        <p:spPr>
          <a:xfrm>
            <a:off x="2514599" y="1066800"/>
            <a:ext cx="3124200" cy="2743200"/>
          </a:xfrm>
          <a:prstGeom prst="flowChartProcess">
            <a:avLst/>
          </a:prstGeom>
          <a:solidFill>
            <a:srgbClr val="FFFFFF"/>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7" name="AutoShape 65"/>
          <p:cNvSpPr>
            <a:spLocks noChangeArrowheads="1"/>
          </p:cNvSpPr>
          <p:nvPr/>
        </p:nvSpPr>
        <p:spPr bwMode="auto">
          <a:xfrm>
            <a:off x="542687" y="1696171"/>
            <a:ext cx="918633" cy="535953"/>
          </a:xfrm>
          <a:prstGeom prst="can">
            <a:avLst>
              <a:gd name="adj" fmla="val 25000"/>
            </a:avLst>
          </a:prstGeom>
          <a:solidFill>
            <a:schemeClr val="bg1">
              <a:lumMod val="65000"/>
            </a:schemeClr>
          </a:solidFill>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8" name="AutoShape 66"/>
          <p:cNvSpPr>
            <a:spLocks noChangeArrowheads="1"/>
          </p:cNvSpPr>
          <p:nvPr/>
        </p:nvSpPr>
        <p:spPr bwMode="auto">
          <a:xfrm>
            <a:off x="805154" y="1562183"/>
            <a:ext cx="918633" cy="535953"/>
          </a:xfrm>
          <a:prstGeom prst="can">
            <a:avLst>
              <a:gd name="adj" fmla="val 25000"/>
            </a:avLst>
          </a:prstGeom>
          <a:solidFill>
            <a:schemeClr val="bg1">
              <a:lumMod val="65000"/>
            </a:schemeClr>
          </a:solidFill>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9" name="AutoShape 67"/>
          <p:cNvSpPr>
            <a:spLocks noChangeArrowheads="1"/>
          </p:cNvSpPr>
          <p:nvPr/>
        </p:nvSpPr>
        <p:spPr bwMode="auto">
          <a:xfrm>
            <a:off x="673920" y="1830159"/>
            <a:ext cx="918633" cy="535953"/>
          </a:xfrm>
          <a:prstGeom prst="can">
            <a:avLst>
              <a:gd name="adj" fmla="val 25000"/>
            </a:avLst>
          </a:prstGeom>
          <a:solidFill>
            <a:schemeClr val="bg1">
              <a:lumMod val="65000"/>
            </a:schemeClr>
          </a:solidFill>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a:t>
            </a:r>
            <a:r>
              <a:rPr lang="zh-CN" altLang="en-US" sz="1200" b="1" dirty="0">
                <a:solidFill>
                  <a:schemeClr val="bg1"/>
                </a:solidFill>
                <a:latin typeface="+mn-ea"/>
              </a:rPr>
              <a:t>数据</a:t>
            </a:r>
            <a:endParaRPr lang="zh-CN" sz="1200" b="1" dirty="0">
              <a:solidFill>
                <a:schemeClr val="bg1"/>
              </a:solidFill>
              <a:latin typeface="+mn-ea"/>
            </a:endParaRPr>
          </a:p>
        </p:txBody>
      </p:sp>
      <p:sp>
        <p:nvSpPr>
          <p:cNvPr id="10" name="矩形 9"/>
          <p:cNvSpPr/>
          <p:nvPr/>
        </p:nvSpPr>
        <p:spPr>
          <a:xfrm>
            <a:off x="2642121" y="1524000"/>
            <a:ext cx="1386582" cy="2057400"/>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1" name="左右箭头 10"/>
          <p:cNvSpPr/>
          <p:nvPr/>
        </p:nvSpPr>
        <p:spPr>
          <a:xfrm>
            <a:off x="1740542" y="1789481"/>
            <a:ext cx="750307" cy="367725"/>
          </a:xfrm>
          <a:prstGeom prst="leftRightArrow">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2" name="矩形 11"/>
          <p:cNvSpPr/>
          <p:nvPr/>
        </p:nvSpPr>
        <p:spPr>
          <a:xfrm>
            <a:off x="4099817" y="1524000"/>
            <a:ext cx="1386582" cy="2057400"/>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3" name="圆柱形 12"/>
          <p:cNvSpPr/>
          <p:nvPr/>
        </p:nvSpPr>
        <p:spPr>
          <a:xfrm>
            <a:off x="4230164" y="1981200"/>
            <a:ext cx="1125887" cy="549300"/>
          </a:xfrm>
          <a:prstGeom prst="can">
            <a:avLst/>
          </a:prstGeom>
          <a:solidFill>
            <a:srgbClr val="0070C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交换信息库</a:t>
            </a:r>
          </a:p>
        </p:txBody>
      </p:sp>
      <p:sp>
        <p:nvSpPr>
          <p:cNvPr id="14" name="流程图: 多文档 13"/>
          <p:cNvSpPr/>
          <p:nvPr/>
        </p:nvSpPr>
        <p:spPr>
          <a:xfrm>
            <a:off x="4343399" y="2667000"/>
            <a:ext cx="951435" cy="648269"/>
          </a:xfrm>
          <a:prstGeom prst="flowChartMultidocument">
            <a:avLst/>
          </a:prstGeom>
          <a:solidFill>
            <a:srgbClr val="92D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文件</a:t>
            </a:r>
          </a:p>
        </p:txBody>
      </p:sp>
      <p:sp>
        <p:nvSpPr>
          <p:cNvPr id="15" name="流程图: 过程 14"/>
          <p:cNvSpPr/>
          <p:nvPr/>
        </p:nvSpPr>
        <p:spPr>
          <a:xfrm>
            <a:off x="2832099" y="1624517"/>
            <a:ext cx="1066800" cy="363670"/>
          </a:xfrm>
          <a:prstGeom prst="flowChartProcess">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16" name="流程图: 过程 15"/>
          <p:cNvSpPr/>
          <p:nvPr/>
        </p:nvSpPr>
        <p:spPr>
          <a:xfrm>
            <a:off x="2819399" y="2120900"/>
            <a:ext cx="1066800" cy="363670"/>
          </a:xfrm>
          <a:prstGeom prst="flowChartProcess">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数据处理</a:t>
            </a:r>
          </a:p>
        </p:txBody>
      </p:sp>
      <p:sp>
        <p:nvSpPr>
          <p:cNvPr id="17" name="流程图: 过程 16"/>
          <p:cNvSpPr/>
          <p:nvPr/>
        </p:nvSpPr>
        <p:spPr>
          <a:xfrm>
            <a:off x="2819399" y="2614550"/>
            <a:ext cx="1066800" cy="363670"/>
          </a:xfrm>
          <a:prstGeom prst="flowChartProcess">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数据传输</a:t>
            </a:r>
          </a:p>
        </p:txBody>
      </p:sp>
      <p:sp>
        <p:nvSpPr>
          <p:cNvPr id="20" name="AutoShape 65"/>
          <p:cNvSpPr>
            <a:spLocks noChangeArrowheads="1"/>
          </p:cNvSpPr>
          <p:nvPr/>
        </p:nvSpPr>
        <p:spPr bwMode="auto">
          <a:xfrm>
            <a:off x="673921" y="2932423"/>
            <a:ext cx="918633" cy="535953"/>
          </a:xfrm>
          <a:prstGeom prst="can">
            <a:avLst>
              <a:gd name="adj" fmla="val 25000"/>
            </a:avLst>
          </a:prstGeom>
          <a:solidFill>
            <a:schemeClr val="bg1">
              <a:lumMod val="65000"/>
            </a:schemeClr>
          </a:solidFill>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21" name="AutoShape 66"/>
          <p:cNvSpPr>
            <a:spLocks noChangeArrowheads="1"/>
          </p:cNvSpPr>
          <p:nvPr/>
        </p:nvSpPr>
        <p:spPr bwMode="auto">
          <a:xfrm>
            <a:off x="936388" y="2798435"/>
            <a:ext cx="918633" cy="535953"/>
          </a:xfrm>
          <a:prstGeom prst="can">
            <a:avLst>
              <a:gd name="adj" fmla="val 25000"/>
            </a:avLst>
          </a:prstGeom>
          <a:solidFill>
            <a:schemeClr val="bg1">
              <a:lumMod val="65000"/>
            </a:schemeClr>
          </a:solidFill>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22" name="AutoShape 67"/>
          <p:cNvSpPr>
            <a:spLocks noChangeArrowheads="1"/>
          </p:cNvSpPr>
          <p:nvPr/>
        </p:nvSpPr>
        <p:spPr bwMode="auto">
          <a:xfrm>
            <a:off x="805154" y="3066411"/>
            <a:ext cx="918633" cy="535953"/>
          </a:xfrm>
          <a:prstGeom prst="can">
            <a:avLst>
              <a:gd name="adj" fmla="val 25000"/>
            </a:avLst>
          </a:prstGeom>
          <a:solidFill>
            <a:schemeClr val="bg1">
              <a:lumMod val="65000"/>
            </a:schemeClr>
          </a:solidFill>
          <a:ln w="6350">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a:t>
            </a:r>
            <a:r>
              <a:rPr lang="zh-CN" altLang="en-US" sz="1200" b="1" dirty="0">
                <a:solidFill>
                  <a:schemeClr val="bg1"/>
                </a:solidFill>
                <a:latin typeface="+mn-ea"/>
              </a:rPr>
              <a:t>数据</a:t>
            </a:r>
            <a:endParaRPr lang="zh-CN" sz="1200" b="1" dirty="0">
              <a:solidFill>
                <a:schemeClr val="bg1"/>
              </a:solidFill>
              <a:latin typeface="+mn-ea"/>
            </a:endParaRPr>
          </a:p>
        </p:txBody>
      </p:sp>
      <p:sp>
        <p:nvSpPr>
          <p:cNvPr id="23" name="左右箭头 22"/>
          <p:cNvSpPr/>
          <p:nvPr/>
        </p:nvSpPr>
        <p:spPr>
          <a:xfrm>
            <a:off x="1843781" y="2882548"/>
            <a:ext cx="670818" cy="367725"/>
          </a:xfrm>
          <a:prstGeom prst="leftRightArrow">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24" name="流程图: 过程 23"/>
          <p:cNvSpPr/>
          <p:nvPr/>
        </p:nvSpPr>
        <p:spPr>
          <a:xfrm>
            <a:off x="2819399" y="3105080"/>
            <a:ext cx="1066800" cy="363670"/>
          </a:xfrm>
          <a:prstGeom prst="flowChartProcess">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监控接口</a:t>
            </a:r>
          </a:p>
        </p:txBody>
      </p:sp>
      <p:sp>
        <p:nvSpPr>
          <p:cNvPr id="25" name="矩形 24"/>
          <p:cNvSpPr/>
          <p:nvPr/>
        </p:nvSpPr>
        <p:spPr>
          <a:xfrm>
            <a:off x="3327664" y="1089287"/>
            <a:ext cx="1415773" cy="338554"/>
          </a:xfrm>
          <a:prstGeom prst="rect">
            <a:avLst/>
          </a:prstGeom>
        </p:spPr>
        <p:txBody>
          <a:bodyPr wrap="none">
            <a:spAutoFit/>
          </a:bodyPr>
          <a:lstStyle/>
          <a:p>
            <a:pPr algn="ctr"/>
            <a:r>
              <a:rPr lang="zh-CN" altLang="en-US" sz="1600" b="1" dirty="0">
                <a:latin typeface="+mn-ea"/>
                <a:ea typeface="+mn-ea"/>
              </a:rPr>
              <a:t>前置交换节点</a:t>
            </a:r>
          </a:p>
        </p:txBody>
      </p:sp>
      <p:sp>
        <p:nvSpPr>
          <p:cNvPr id="26" name="左右箭头 25"/>
          <p:cNvSpPr/>
          <p:nvPr/>
        </p:nvSpPr>
        <p:spPr>
          <a:xfrm>
            <a:off x="5638799" y="2184975"/>
            <a:ext cx="750307" cy="367725"/>
          </a:xfrm>
          <a:prstGeom prst="leftRightArrow">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27" name="流程图: 过程 26"/>
          <p:cNvSpPr/>
          <p:nvPr/>
        </p:nvSpPr>
        <p:spPr>
          <a:xfrm>
            <a:off x="6391086" y="1543908"/>
            <a:ext cx="2219514" cy="1504092"/>
          </a:xfrm>
          <a:prstGeom prst="flowChartProcess">
            <a:avLst/>
          </a:prstGeom>
          <a:solidFill>
            <a:srgbClr val="FFFFFF"/>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28" name="矩形 27"/>
          <p:cNvSpPr/>
          <p:nvPr/>
        </p:nvSpPr>
        <p:spPr>
          <a:xfrm>
            <a:off x="6762836" y="1587327"/>
            <a:ext cx="1422185" cy="338554"/>
          </a:xfrm>
          <a:prstGeom prst="rect">
            <a:avLst/>
          </a:prstGeom>
        </p:spPr>
        <p:txBody>
          <a:bodyPr wrap="none">
            <a:spAutoFit/>
          </a:bodyPr>
          <a:lstStyle/>
          <a:p>
            <a:pPr algn="ctr"/>
            <a:r>
              <a:rPr lang="zh-CN" altLang="en-US" sz="1600" b="1" dirty="0">
                <a:latin typeface="+mn-ea"/>
                <a:ea typeface="+mn-ea"/>
              </a:rPr>
              <a:t>中心交换节点</a:t>
            </a:r>
          </a:p>
        </p:txBody>
      </p:sp>
      <p:sp>
        <p:nvSpPr>
          <p:cNvPr id="29" name="圆柱形 28"/>
          <p:cNvSpPr/>
          <p:nvPr/>
        </p:nvSpPr>
        <p:spPr>
          <a:xfrm>
            <a:off x="6774364" y="2040005"/>
            <a:ext cx="1252811" cy="715140"/>
          </a:xfrm>
          <a:prstGeom prst="can">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共享信息库</a:t>
            </a:r>
          </a:p>
        </p:txBody>
      </p:sp>
      <p:sp>
        <p:nvSpPr>
          <p:cNvPr id="30" name="TextBox 29"/>
          <p:cNvSpPr txBox="1"/>
          <p:nvPr/>
        </p:nvSpPr>
        <p:spPr>
          <a:xfrm>
            <a:off x="4273703" y="1524000"/>
            <a:ext cx="1082348" cy="307777"/>
          </a:xfrm>
          <a:prstGeom prst="rect">
            <a:avLst/>
          </a:prstGeom>
          <a:noFill/>
        </p:spPr>
        <p:txBody>
          <a:bodyPr wrap="none" rtlCol="0">
            <a:spAutoFit/>
          </a:bodyPr>
          <a:lstStyle/>
          <a:p>
            <a:r>
              <a:rPr lang="zh-CN" altLang="en-US" sz="1400" b="1" dirty="0">
                <a:latin typeface="+mn-ea"/>
                <a:ea typeface="+mn-ea"/>
              </a:rPr>
              <a:t>交换信息区</a:t>
            </a:r>
          </a:p>
        </p:txBody>
      </p:sp>
      <p:sp>
        <p:nvSpPr>
          <p:cNvPr id="33" name="AutoShape 20"/>
          <p:cNvSpPr>
            <a:spLocks noChangeArrowheads="1"/>
          </p:cNvSpPr>
          <p:nvPr/>
        </p:nvSpPr>
        <p:spPr bwMode="auto">
          <a:xfrm rot="10800000">
            <a:off x="380999" y="3826976"/>
            <a:ext cx="8493907" cy="2421423"/>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sz="1200" dirty="0"/>
          </a:p>
        </p:txBody>
      </p:sp>
      <p:sp>
        <p:nvSpPr>
          <p:cNvPr id="3" name="TextBox 2"/>
          <p:cNvSpPr txBox="1"/>
          <p:nvPr/>
        </p:nvSpPr>
        <p:spPr>
          <a:xfrm>
            <a:off x="648520" y="3962400"/>
            <a:ext cx="8114480" cy="2031325"/>
          </a:xfrm>
          <a:prstGeom prst="rect">
            <a:avLst/>
          </a:prstGeom>
          <a:noFill/>
        </p:spPr>
        <p:txBody>
          <a:bodyPr wrap="square" rtlCol="0">
            <a:spAutoFit/>
          </a:bodyPr>
          <a:lstStyle/>
          <a:p>
            <a:pPr>
              <a:lnSpc>
                <a:spcPct val="150000"/>
              </a:lnSpc>
            </a:pPr>
            <a:r>
              <a:rPr lang="zh-CN" altLang="zh-CN" sz="1400" b="1" dirty="0">
                <a:latin typeface="+mn-lt"/>
                <a:ea typeface="+mn-ea"/>
              </a:rPr>
              <a:t>前置交换</a:t>
            </a:r>
            <a:r>
              <a:rPr lang="zh-CN" altLang="en-US" sz="1400" b="1" dirty="0">
                <a:latin typeface="+mn-lt"/>
                <a:ea typeface="+mn-ea"/>
              </a:rPr>
              <a:t>节点</a:t>
            </a:r>
            <a:r>
              <a:rPr lang="zh-CN" altLang="zh-CN" sz="1400" b="1" dirty="0">
                <a:latin typeface="+mn-lt"/>
                <a:ea typeface="+mn-ea"/>
              </a:rPr>
              <a:t>是交换域的边界，</a:t>
            </a:r>
            <a:r>
              <a:rPr lang="zh-CN" altLang="en-US" sz="1400" b="1" dirty="0">
                <a:latin typeface="微软雅黑" pitchFamily="34" charset="-122"/>
                <a:ea typeface="微软雅黑" pitchFamily="34" charset="-122"/>
              </a:rPr>
              <a:t>是交换平台的重要组成部分，</a:t>
            </a:r>
            <a:r>
              <a:rPr lang="zh-CN" altLang="en-US" sz="1400" b="1" dirty="0">
                <a:latin typeface="+mn-lt"/>
                <a:ea typeface="+mn-ea"/>
              </a:rPr>
              <a:t>保证</a:t>
            </a:r>
            <a:r>
              <a:rPr lang="zh-CN" altLang="zh-CN" sz="1400" b="1" dirty="0">
                <a:latin typeface="+mn-lt"/>
                <a:ea typeface="+mn-ea"/>
              </a:rPr>
              <a:t>交换域与应用单位业务系统的隔离</a:t>
            </a:r>
            <a:r>
              <a:rPr lang="zh-CN" altLang="zh-CN" sz="1400" dirty="0">
                <a:latin typeface="+mn-lt"/>
                <a:ea typeface="+mn-ea"/>
              </a:rPr>
              <a:t>。</a:t>
            </a:r>
            <a:endParaRPr lang="en-US" altLang="zh-CN" sz="1400" dirty="0">
              <a:latin typeface="+mn-lt"/>
              <a:ea typeface="+mn-ea"/>
            </a:endParaRPr>
          </a:p>
          <a:p>
            <a:pPr marL="285750" indent="-285750">
              <a:lnSpc>
                <a:spcPct val="150000"/>
              </a:lnSpc>
              <a:buFont typeface="Wingdings" pitchFamily="2" charset="2"/>
              <a:buChar char="p"/>
            </a:pPr>
            <a:r>
              <a:rPr lang="zh-CN" altLang="en-US" sz="1400" dirty="0">
                <a:solidFill>
                  <a:srgbClr val="C00000"/>
                </a:solidFill>
                <a:latin typeface="+mn-lt"/>
                <a:ea typeface="+mn-ea"/>
              </a:rPr>
              <a:t>数据桥接：</a:t>
            </a:r>
            <a:r>
              <a:rPr lang="zh-CN" altLang="en-US" sz="1400" dirty="0">
                <a:latin typeface="+mn-lt"/>
                <a:ea typeface="+mn-ea"/>
              </a:rPr>
              <a:t>保证业务系统与前置交换信息库的信息同步，提供各类型数据库、多种文件及大数据的适配能力，支持多种增量数据采集方式；</a:t>
            </a:r>
            <a:endParaRPr lang="en-US" altLang="zh-CN" sz="1400" dirty="0">
              <a:latin typeface="+mn-lt"/>
              <a:ea typeface="+mn-ea"/>
            </a:endParaRPr>
          </a:p>
          <a:p>
            <a:pPr marL="285750" indent="-285750">
              <a:lnSpc>
                <a:spcPct val="150000"/>
              </a:lnSpc>
              <a:buFont typeface="Wingdings" pitchFamily="2" charset="2"/>
              <a:buChar char="p"/>
            </a:pPr>
            <a:r>
              <a:rPr lang="zh-CN" altLang="en-US" sz="1400" dirty="0">
                <a:solidFill>
                  <a:srgbClr val="C00000"/>
                </a:solidFill>
                <a:latin typeface="+mn-lt"/>
                <a:ea typeface="+mn-ea"/>
              </a:rPr>
              <a:t>数据传输：</a:t>
            </a:r>
            <a:r>
              <a:rPr lang="zh-CN" altLang="en-US" sz="1400" dirty="0">
                <a:latin typeface="+mn-lt"/>
                <a:ea typeface="+mn-ea"/>
              </a:rPr>
              <a:t>支持多种传输协议，保证数据安全可靠地传输；</a:t>
            </a:r>
            <a:endParaRPr lang="en-US" altLang="zh-CN" sz="1400" dirty="0">
              <a:latin typeface="+mn-lt"/>
              <a:ea typeface="+mn-ea"/>
            </a:endParaRPr>
          </a:p>
          <a:p>
            <a:pPr marL="285750" indent="-285750">
              <a:lnSpc>
                <a:spcPct val="150000"/>
              </a:lnSpc>
              <a:buFont typeface="Wingdings" pitchFamily="2" charset="2"/>
              <a:buChar char="p"/>
            </a:pPr>
            <a:r>
              <a:rPr lang="zh-CN" altLang="en-US" sz="1400" dirty="0">
                <a:solidFill>
                  <a:srgbClr val="C00000"/>
                </a:solidFill>
                <a:latin typeface="+mn-lt"/>
                <a:ea typeface="+mn-ea"/>
              </a:rPr>
              <a:t>数据处理：</a:t>
            </a:r>
            <a:r>
              <a:rPr lang="zh-CN" altLang="en-US" sz="1400" dirty="0">
                <a:latin typeface="+mn-lt"/>
                <a:ea typeface="+mn-ea"/>
              </a:rPr>
              <a:t>提供对数据清洗转换的功能，包括数据拆分、映射、合并、排序、过滤、比对等功能；</a:t>
            </a:r>
            <a:endParaRPr lang="en-US" altLang="zh-CN" sz="1400" dirty="0">
              <a:latin typeface="+mn-lt"/>
              <a:ea typeface="+mn-ea"/>
            </a:endParaRPr>
          </a:p>
          <a:p>
            <a:pPr marL="285750" indent="-285750">
              <a:lnSpc>
                <a:spcPct val="150000"/>
              </a:lnSpc>
              <a:buFont typeface="Wingdings" pitchFamily="2" charset="2"/>
              <a:buChar char="p"/>
            </a:pPr>
            <a:r>
              <a:rPr lang="zh-CN" altLang="en-US" sz="1400" dirty="0">
                <a:solidFill>
                  <a:srgbClr val="C00000"/>
                </a:solidFill>
                <a:latin typeface="+mn-lt"/>
                <a:ea typeface="+mn-ea"/>
              </a:rPr>
              <a:t>监控接口：</a:t>
            </a:r>
            <a:r>
              <a:rPr lang="zh-CN" altLang="zh-CN" sz="1400" dirty="0">
                <a:latin typeface="+mn-lt"/>
                <a:ea typeface="+mn-ea"/>
              </a:rPr>
              <a:t>提供管理监控接口，对交换前置环境进行监控。</a:t>
            </a:r>
            <a:endParaRPr lang="en-US" altLang="zh-CN" sz="1400" dirty="0">
              <a:latin typeface="+mn-lt"/>
              <a:ea typeface="+mn-ea"/>
            </a:endParaRPr>
          </a:p>
        </p:txBody>
      </p:sp>
    </p:spTree>
    <p:extLst>
      <p:ext uri="{BB962C8B-B14F-4D97-AF65-F5344CB8AC3E}">
        <p14:creationId xmlns:p14="http://schemas.microsoft.com/office/powerpoint/2010/main" val="3626685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中心交换节点逻辑结构</a:t>
            </a:r>
          </a:p>
        </p:txBody>
      </p:sp>
      <p:sp>
        <p:nvSpPr>
          <p:cNvPr id="4" name="灯片编号占位符 3"/>
          <p:cNvSpPr>
            <a:spLocks noGrp="1"/>
          </p:cNvSpPr>
          <p:nvPr>
            <p:ph type="sldNum" sz="quarter" idx="12"/>
          </p:nvPr>
        </p:nvSpPr>
        <p:spPr/>
        <p:txBody>
          <a:bodyPr/>
          <a:lstStyle/>
          <a:p>
            <a:fld id="{BD61978C-FD3D-4268-8D6C-034E9AD544A3}" type="slidenum">
              <a:rPr lang="en-US" altLang="zh-CN" smtClean="0"/>
              <a:pPr/>
              <a:t>15</a:t>
            </a:fld>
            <a:endParaRPr lang="en-US" altLang="zh-CN"/>
          </a:p>
        </p:txBody>
      </p:sp>
      <p:sp>
        <p:nvSpPr>
          <p:cNvPr id="28" name="标题 1"/>
          <p:cNvSpPr txBox="1">
            <a:spLocks/>
          </p:cNvSpPr>
          <p:nvPr/>
        </p:nvSpPr>
        <p:spPr bwMode="auto">
          <a:xfrm>
            <a:off x="304800" y="352425"/>
            <a:ext cx="8610600" cy="561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2800" b="1">
                <a:solidFill>
                  <a:srgbClr val="FF9933"/>
                </a:solidFill>
                <a:latin typeface="+mj-lt"/>
                <a:ea typeface="+mj-ea"/>
                <a:cs typeface="+mj-cs"/>
              </a:defRPr>
            </a:lvl1pPr>
            <a:lvl2pPr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2pPr>
            <a:lvl3pPr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3pPr>
            <a:lvl4pPr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4pPr>
            <a:lvl5pPr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5pPr>
            <a:lvl6pPr marL="457200"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6pPr>
            <a:lvl7pPr marL="914400"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7pPr>
            <a:lvl8pPr marL="1371600"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8pPr>
            <a:lvl9pPr marL="1828800" algn="l" rtl="0" eaLnBrk="1" fontAlgn="base" hangingPunct="1">
              <a:spcBef>
                <a:spcPct val="0"/>
              </a:spcBef>
              <a:spcAft>
                <a:spcPct val="0"/>
              </a:spcAft>
              <a:defRPr sz="2400" b="1">
                <a:solidFill>
                  <a:srgbClr val="FF9933"/>
                </a:solidFill>
                <a:latin typeface="Arial" charset="0"/>
                <a:ea typeface="微软雅黑" pitchFamily="34" charset="-122"/>
                <a:cs typeface="宋体" charset="-122"/>
              </a:defRPr>
            </a:lvl9pPr>
          </a:lstStyle>
          <a:p>
            <a:r>
              <a:rPr lang="zh-CN" altLang="en-US" dirty="0"/>
              <a:t>中心交换节点逻辑结构</a:t>
            </a:r>
          </a:p>
        </p:txBody>
      </p:sp>
      <p:sp>
        <p:nvSpPr>
          <p:cNvPr id="29" name="流程图: 过程 28"/>
          <p:cNvSpPr/>
          <p:nvPr/>
        </p:nvSpPr>
        <p:spPr>
          <a:xfrm>
            <a:off x="3429000" y="990600"/>
            <a:ext cx="4876800" cy="2919350"/>
          </a:xfrm>
          <a:prstGeom prst="flowChartProcess">
            <a:avLst/>
          </a:prstGeom>
          <a:solidFill>
            <a:srgbClr val="FFFFFF"/>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30" name="矩形 29"/>
          <p:cNvSpPr/>
          <p:nvPr/>
        </p:nvSpPr>
        <p:spPr>
          <a:xfrm>
            <a:off x="4953000" y="1454725"/>
            <a:ext cx="1386582" cy="2286000"/>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31" name="矩形 30"/>
          <p:cNvSpPr/>
          <p:nvPr/>
        </p:nvSpPr>
        <p:spPr>
          <a:xfrm>
            <a:off x="3752850" y="1459675"/>
            <a:ext cx="1109747" cy="2293752"/>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32" name="圆柱形 31"/>
          <p:cNvSpPr/>
          <p:nvPr/>
        </p:nvSpPr>
        <p:spPr>
          <a:xfrm>
            <a:off x="3961497" y="1926259"/>
            <a:ext cx="749208" cy="612404"/>
          </a:xfrm>
          <a:prstGeom prst="can">
            <a:avLst/>
          </a:prstGeom>
          <a:solidFill>
            <a:srgbClr val="6699FF"/>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交换信息库</a:t>
            </a:r>
          </a:p>
        </p:txBody>
      </p:sp>
      <p:sp>
        <p:nvSpPr>
          <p:cNvPr id="33" name="流程图: 多文档 32"/>
          <p:cNvSpPr/>
          <p:nvPr/>
        </p:nvSpPr>
        <p:spPr>
          <a:xfrm>
            <a:off x="4031168" y="2777676"/>
            <a:ext cx="609865" cy="722742"/>
          </a:xfrm>
          <a:prstGeom prst="flowChartMultidocument">
            <a:avLst/>
          </a:prstGeom>
          <a:solidFill>
            <a:srgbClr val="92D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文件</a:t>
            </a:r>
          </a:p>
        </p:txBody>
      </p:sp>
      <p:sp>
        <p:nvSpPr>
          <p:cNvPr id="34" name="流程图: 过程 33"/>
          <p:cNvSpPr/>
          <p:nvPr/>
        </p:nvSpPr>
        <p:spPr>
          <a:xfrm>
            <a:off x="5130278" y="2583875"/>
            <a:ext cx="1041922" cy="323621"/>
          </a:xfrm>
          <a:prstGeom prst="flowChartProcess">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35" name="流程图: 过程 34"/>
          <p:cNvSpPr/>
          <p:nvPr/>
        </p:nvSpPr>
        <p:spPr>
          <a:xfrm>
            <a:off x="5130278" y="1893125"/>
            <a:ext cx="1041922" cy="287522"/>
          </a:xfrm>
          <a:prstGeom prst="flowChartProcess">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数据处理</a:t>
            </a:r>
          </a:p>
        </p:txBody>
      </p:sp>
      <p:sp>
        <p:nvSpPr>
          <p:cNvPr id="36" name="流程图: 过程 35"/>
          <p:cNvSpPr/>
          <p:nvPr/>
        </p:nvSpPr>
        <p:spPr>
          <a:xfrm>
            <a:off x="5130278" y="2233550"/>
            <a:ext cx="1041922" cy="315866"/>
          </a:xfrm>
          <a:prstGeom prst="flowChartProcess">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数据传输</a:t>
            </a:r>
          </a:p>
        </p:txBody>
      </p:sp>
      <p:sp>
        <p:nvSpPr>
          <p:cNvPr id="37" name="流程图: 过程 36"/>
          <p:cNvSpPr/>
          <p:nvPr/>
        </p:nvSpPr>
        <p:spPr>
          <a:xfrm>
            <a:off x="5130278" y="1547750"/>
            <a:ext cx="1041922" cy="298036"/>
          </a:xfrm>
          <a:prstGeom prst="flowChartProcess">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数据核检</a:t>
            </a:r>
          </a:p>
        </p:txBody>
      </p:sp>
      <p:sp>
        <p:nvSpPr>
          <p:cNvPr id="38" name="流程图: 过程 37"/>
          <p:cNvSpPr/>
          <p:nvPr/>
        </p:nvSpPr>
        <p:spPr>
          <a:xfrm>
            <a:off x="5130278" y="2953000"/>
            <a:ext cx="1041922" cy="311220"/>
          </a:xfrm>
          <a:prstGeom prst="flowChartProcess">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监控调度</a:t>
            </a:r>
          </a:p>
        </p:txBody>
      </p:sp>
      <p:sp>
        <p:nvSpPr>
          <p:cNvPr id="39" name="矩形 38"/>
          <p:cNvSpPr/>
          <p:nvPr/>
        </p:nvSpPr>
        <p:spPr>
          <a:xfrm>
            <a:off x="5154142" y="1024962"/>
            <a:ext cx="1415773" cy="338554"/>
          </a:xfrm>
          <a:prstGeom prst="rect">
            <a:avLst/>
          </a:prstGeom>
        </p:spPr>
        <p:txBody>
          <a:bodyPr wrap="none">
            <a:spAutoFit/>
          </a:bodyPr>
          <a:lstStyle/>
          <a:p>
            <a:pPr algn="ctr"/>
            <a:r>
              <a:rPr lang="zh-CN" altLang="en-US" sz="1600" b="1" dirty="0">
                <a:latin typeface="+mn-ea"/>
                <a:ea typeface="+mn-ea"/>
              </a:rPr>
              <a:t>中心交换节点</a:t>
            </a:r>
          </a:p>
        </p:txBody>
      </p:sp>
      <p:sp>
        <p:nvSpPr>
          <p:cNvPr id="40" name="左右箭头 39"/>
          <p:cNvSpPr/>
          <p:nvPr/>
        </p:nvSpPr>
        <p:spPr>
          <a:xfrm>
            <a:off x="2676714" y="2129832"/>
            <a:ext cx="750307" cy="367725"/>
          </a:xfrm>
          <a:prstGeom prst="leftRightArrow">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41" name="流程图: 过程 40"/>
          <p:cNvSpPr/>
          <p:nvPr/>
        </p:nvSpPr>
        <p:spPr>
          <a:xfrm>
            <a:off x="457200" y="1633735"/>
            <a:ext cx="2219514" cy="1504092"/>
          </a:xfrm>
          <a:prstGeom prst="flowChartProcess">
            <a:avLst/>
          </a:prstGeom>
          <a:solidFill>
            <a:srgbClr val="FFFFFF"/>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42" name="矩形 41"/>
          <p:cNvSpPr/>
          <p:nvPr/>
        </p:nvSpPr>
        <p:spPr>
          <a:xfrm>
            <a:off x="934750" y="1677154"/>
            <a:ext cx="1210588" cy="338554"/>
          </a:xfrm>
          <a:prstGeom prst="rect">
            <a:avLst/>
          </a:prstGeom>
        </p:spPr>
        <p:txBody>
          <a:bodyPr wrap="none">
            <a:spAutoFit/>
          </a:bodyPr>
          <a:lstStyle/>
          <a:p>
            <a:pPr algn="ctr"/>
            <a:r>
              <a:rPr lang="zh-CN" altLang="en-US" sz="1600" b="1" dirty="0">
                <a:latin typeface="+mn-ea"/>
                <a:ea typeface="+mn-ea"/>
              </a:rPr>
              <a:t>前置交换区</a:t>
            </a:r>
          </a:p>
        </p:txBody>
      </p:sp>
      <p:sp>
        <p:nvSpPr>
          <p:cNvPr id="43" name="圆柱形 42"/>
          <p:cNvSpPr/>
          <p:nvPr/>
        </p:nvSpPr>
        <p:spPr>
          <a:xfrm>
            <a:off x="840478" y="2129832"/>
            <a:ext cx="1252811" cy="715140"/>
          </a:xfrm>
          <a:prstGeom prst="can">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ea typeface="+mn-ea"/>
              </a:rPr>
              <a:t>交换信息库</a:t>
            </a:r>
          </a:p>
        </p:txBody>
      </p:sp>
      <p:sp>
        <p:nvSpPr>
          <p:cNvPr id="44" name="矩形 43"/>
          <p:cNvSpPr/>
          <p:nvPr/>
        </p:nvSpPr>
        <p:spPr>
          <a:xfrm>
            <a:off x="6455093" y="1448171"/>
            <a:ext cx="1538982" cy="2277614"/>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45" name="矩形 44"/>
          <p:cNvSpPr/>
          <p:nvPr/>
        </p:nvSpPr>
        <p:spPr>
          <a:xfrm>
            <a:off x="6642108" y="1508010"/>
            <a:ext cx="1137217" cy="320275"/>
          </a:xfrm>
          <a:prstGeom prst="rect">
            <a:avLst/>
          </a:prstGeom>
        </p:spPr>
        <p:txBody>
          <a:bodyPr wrap="square">
            <a:spAutoFit/>
          </a:bodyPr>
          <a:lstStyle/>
          <a:p>
            <a:r>
              <a:rPr lang="zh-CN" altLang="en-US" sz="1400" b="1" dirty="0">
                <a:latin typeface="+mn-ea"/>
                <a:ea typeface="+mn-ea"/>
              </a:rPr>
              <a:t>共享信息库</a:t>
            </a:r>
          </a:p>
        </p:txBody>
      </p:sp>
      <p:sp>
        <p:nvSpPr>
          <p:cNvPr id="46" name="圆柱形 45"/>
          <p:cNvSpPr/>
          <p:nvPr/>
        </p:nvSpPr>
        <p:spPr>
          <a:xfrm>
            <a:off x="6640728" y="1833982"/>
            <a:ext cx="1186507" cy="443853"/>
          </a:xfrm>
          <a:prstGeom prst="can">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基础信息库</a:t>
            </a:r>
          </a:p>
        </p:txBody>
      </p:sp>
      <p:sp>
        <p:nvSpPr>
          <p:cNvPr id="47" name="圆柱形 46"/>
          <p:cNvSpPr/>
          <p:nvPr/>
        </p:nvSpPr>
        <p:spPr>
          <a:xfrm>
            <a:off x="6651110" y="2481439"/>
            <a:ext cx="1186507" cy="446624"/>
          </a:xfrm>
          <a:prstGeom prst="can">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业务信息库</a:t>
            </a:r>
          </a:p>
        </p:txBody>
      </p:sp>
      <p:sp>
        <p:nvSpPr>
          <p:cNvPr id="48" name="圆柱形 47"/>
          <p:cNvSpPr/>
          <p:nvPr/>
        </p:nvSpPr>
        <p:spPr>
          <a:xfrm>
            <a:off x="6650218" y="3051139"/>
            <a:ext cx="1186507" cy="474735"/>
          </a:xfrm>
          <a:prstGeom prst="can">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服务信息库</a:t>
            </a:r>
          </a:p>
        </p:txBody>
      </p:sp>
      <p:sp>
        <p:nvSpPr>
          <p:cNvPr id="49" name="矩形 48"/>
          <p:cNvSpPr/>
          <p:nvPr/>
        </p:nvSpPr>
        <p:spPr>
          <a:xfrm>
            <a:off x="3780324" y="1535875"/>
            <a:ext cx="1101426" cy="307777"/>
          </a:xfrm>
          <a:prstGeom prst="rect">
            <a:avLst/>
          </a:prstGeom>
        </p:spPr>
        <p:txBody>
          <a:bodyPr wrap="square">
            <a:spAutoFit/>
          </a:bodyPr>
          <a:lstStyle/>
          <a:p>
            <a:r>
              <a:rPr lang="zh-CN" altLang="en-US" sz="1400" b="1" dirty="0">
                <a:latin typeface="+mn-ea"/>
                <a:ea typeface="+mn-ea"/>
              </a:rPr>
              <a:t>交换缓冲区</a:t>
            </a:r>
          </a:p>
        </p:txBody>
      </p:sp>
      <p:sp>
        <p:nvSpPr>
          <p:cNvPr id="50" name="流程图: 过程 49"/>
          <p:cNvSpPr/>
          <p:nvPr/>
        </p:nvSpPr>
        <p:spPr>
          <a:xfrm>
            <a:off x="5130278" y="3330787"/>
            <a:ext cx="1041922" cy="311220"/>
          </a:xfrm>
          <a:prstGeom prst="flowChartProcess">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数据订阅</a:t>
            </a:r>
          </a:p>
        </p:txBody>
      </p:sp>
      <p:sp>
        <p:nvSpPr>
          <p:cNvPr id="51" name="AutoShape 20"/>
          <p:cNvSpPr>
            <a:spLocks noChangeArrowheads="1"/>
          </p:cNvSpPr>
          <p:nvPr/>
        </p:nvSpPr>
        <p:spPr bwMode="auto">
          <a:xfrm rot="10800000">
            <a:off x="304800" y="4027943"/>
            <a:ext cx="8001000" cy="2677656"/>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sz="1200" dirty="0"/>
          </a:p>
        </p:txBody>
      </p:sp>
      <p:sp>
        <p:nvSpPr>
          <p:cNvPr id="3" name="TextBox 2"/>
          <p:cNvSpPr txBox="1"/>
          <p:nvPr/>
        </p:nvSpPr>
        <p:spPr>
          <a:xfrm>
            <a:off x="381000" y="4027944"/>
            <a:ext cx="7924800" cy="2677656"/>
          </a:xfrm>
          <a:prstGeom prst="rect">
            <a:avLst/>
          </a:prstGeom>
          <a:noFill/>
        </p:spPr>
        <p:txBody>
          <a:bodyPr wrap="square" rtlCol="0">
            <a:spAutoFit/>
          </a:bodyPr>
          <a:lstStyle/>
          <a:p>
            <a:pPr>
              <a:lnSpc>
                <a:spcPct val="150000"/>
              </a:lnSpc>
            </a:pPr>
            <a:r>
              <a:rPr lang="zh-CN" altLang="en-US" sz="1400" b="1" dirty="0">
                <a:latin typeface="+mn-lt"/>
                <a:ea typeface="+mn-ea"/>
              </a:rPr>
              <a:t>中心交换节点为交换平台的核心，主要</a:t>
            </a:r>
            <a:r>
              <a:rPr lang="zh-CN" altLang="zh-CN" sz="1400" b="1" dirty="0">
                <a:latin typeface="+mn-lt"/>
                <a:ea typeface="+mn-ea"/>
              </a:rPr>
              <a:t>负责交换数据整合</a:t>
            </a:r>
            <a:r>
              <a:rPr lang="zh-CN" altLang="zh-CN" sz="1400" b="1" dirty="0"/>
              <a:t>、</a:t>
            </a:r>
            <a:r>
              <a:rPr lang="zh-CN" altLang="zh-CN" sz="1400" b="1" dirty="0">
                <a:latin typeface="+mn-lt"/>
                <a:ea typeface="+mn-ea"/>
              </a:rPr>
              <a:t>数据处理、数据订阅、</a:t>
            </a:r>
            <a:r>
              <a:rPr lang="zh-CN" altLang="en-US" sz="1400" b="1" dirty="0">
                <a:latin typeface="+mn-lt"/>
                <a:ea typeface="+mn-ea"/>
              </a:rPr>
              <a:t>监控调度等工作。</a:t>
            </a:r>
            <a:endParaRPr lang="en-US" altLang="zh-CN" sz="1400" b="1" dirty="0">
              <a:latin typeface="+mn-lt"/>
              <a:ea typeface="+mn-ea"/>
            </a:endParaRPr>
          </a:p>
          <a:p>
            <a:pPr marL="285750" indent="-285750">
              <a:lnSpc>
                <a:spcPct val="150000"/>
              </a:lnSpc>
              <a:buFont typeface="Wingdings" pitchFamily="2" charset="2"/>
              <a:buChar char="p"/>
            </a:pPr>
            <a:r>
              <a:rPr lang="zh-CN" altLang="en-US" sz="1400" dirty="0">
                <a:solidFill>
                  <a:srgbClr val="C00000"/>
                </a:solidFill>
                <a:latin typeface="+mn-lt"/>
                <a:ea typeface="+mn-ea"/>
              </a:rPr>
              <a:t>数据核检：</a:t>
            </a:r>
            <a:r>
              <a:rPr lang="zh-CN" altLang="en-US" sz="1400" dirty="0">
                <a:latin typeface="+mn-lt"/>
                <a:ea typeface="+mn-ea"/>
              </a:rPr>
              <a:t>提供对交换缓冲区的数据核功能，只有符合标准的数据才能进入共享信息库；</a:t>
            </a:r>
            <a:endParaRPr lang="en-US" altLang="zh-CN" sz="1400" dirty="0">
              <a:latin typeface="+mn-lt"/>
              <a:ea typeface="+mn-ea"/>
            </a:endParaRPr>
          </a:p>
          <a:p>
            <a:pPr marL="285750" indent="-285750">
              <a:lnSpc>
                <a:spcPct val="150000"/>
              </a:lnSpc>
              <a:buFont typeface="Wingdings" pitchFamily="2" charset="2"/>
              <a:buChar char="p"/>
            </a:pPr>
            <a:r>
              <a:rPr lang="zh-CN" altLang="en-US" sz="1400" dirty="0">
                <a:solidFill>
                  <a:srgbClr val="C00000"/>
                </a:solidFill>
                <a:latin typeface="+mn-lt"/>
                <a:ea typeface="+mn-ea"/>
              </a:rPr>
              <a:t>数据处理：</a:t>
            </a:r>
            <a:r>
              <a:rPr lang="zh-CN" altLang="en-US" sz="1400" dirty="0">
                <a:latin typeface="+mn-lt"/>
                <a:ea typeface="+mn-ea"/>
              </a:rPr>
              <a:t>提供对数据清洗转换功能，包括数据拆分、映射、合并、排序、过滤、比对等功能；</a:t>
            </a:r>
            <a:endParaRPr lang="en-US" altLang="zh-CN" sz="1400" dirty="0">
              <a:latin typeface="+mn-lt"/>
              <a:ea typeface="+mn-ea"/>
            </a:endParaRPr>
          </a:p>
          <a:p>
            <a:pPr marL="285750" indent="-285750">
              <a:lnSpc>
                <a:spcPct val="150000"/>
              </a:lnSpc>
              <a:buFont typeface="Wingdings" pitchFamily="2" charset="2"/>
              <a:buChar char="p"/>
            </a:pPr>
            <a:r>
              <a:rPr lang="zh-CN" altLang="en-US" sz="1400" dirty="0">
                <a:solidFill>
                  <a:srgbClr val="C00000"/>
                </a:solidFill>
                <a:latin typeface="+mn-lt"/>
                <a:ea typeface="+mn-ea"/>
              </a:rPr>
              <a:t>数据传输：</a:t>
            </a:r>
            <a:r>
              <a:rPr lang="zh-CN" altLang="en-US" sz="1400" dirty="0">
                <a:latin typeface="+mn-lt"/>
                <a:ea typeface="+mn-ea"/>
              </a:rPr>
              <a:t>支持多种传输协议，保证数据安全可靠地传输；</a:t>
            </a:r>
            <a:endParaRPr lang="en-US" altLang="zh-CN" sz="1400" dirty="0">
              <a:latin typeface="+mn-lt"/>
              <a:ea typeface="+mn-ea"/>
            </a:endParaRPr>
          </a:p>
          <a:p>
            <a:pPr marL="285750" indent="-285750">
              <a:lnSpc>
                <a:spcPct val="150000"/>
              </a:lnSpc>
              <a:buFont typeface="Wingdings" pitchFamily="2" charset="2"/>
              <a:buChar char="p"/>
            </a:pPr>
            <a:r>
              <a:rPr lang="zh-CN" altLang="en-US" sz="1400" dirty="0">
                <a:solidFill>
                  <a:srgbClr val="C00000"/>
                </a:solidFill>
                <a:latin typeface="+mn-lt"/>
                <a:ea typeface="+mn-ea"/>
              </a:rPr>
              <a:t>数据桥接：</a:t>
            </a:r>
            <a:r>
              <a:rPr lang="zh-CN" altLang="en-US" sz="1400" dirty="0">
                <a:latin typeface="+mn-lt"/>
                <a:ea typeface="+mn-ea"/>
              </a:rPr>
              <a:t>保证前置交换信息库与交换中心的信息同步，提供各类型数据库、多种文件及大数据的适配能力，支持多种增量数据采集方式；</a:t>
            </a:r>
            <a:endParaRPr lang="en-US" altLang="zh-CN" sz="1400" dirty="0">
              <a:latin typeface="+mn-lt"/>
              <a:ea typeface="+mn-ea"/>
            </a:endParaRPr>
          </a:p>
          <a:p>
            <a:pPr marL="285750" indent="-285750">
              <a:lnSpc>
                <a:spcPct val="150000"/>
              </a:lnSpc>
              <a:buFont typeface="Wingdings" pitchFamily="2" charset="2"/>
              <a:buChar char="p"/>
            </a:pPr>
            <a:r>
              <a:rPr lang="zh-CN" altLang="en-US" sz="1400" dirty="0">
                <a:solidFill>
                  <a:srgbClr val="C00000"/>
                </a:solidFill>
                <a:latin typeface="+mn-lt"/>
                <a:ea typeface="+mn-ea"/>
              </a:rPr>
              <a:t>监控调度：</a:t>
            </a:r>
            <a:r>
              <a:rPr lang="zh-CN" altLang="en-US" sz="1400" dirty="0">
                <a:latin typeface="+mn-lt"/>
                <a:ea typeface="+mn-ea"/>
              </a:rPr>
              <a:t>提供对抽取作业的多方位调度及监控功能；</a:t>
            </a:r>
            <a:endParaRPr lang="en-US" altLang="zh-CN" sz="1400" dirty="0">
              <a:latin typeface="+mn-lt"/>
              <a:ea typeface="+mn-ea"/>
            </a:endParaRPr>
          </a:p>
          <a:p>
            <a:pPr marL="285750" indent="-285750">
              <a:lnSpc>
                <a:spcPct val="150000"/>
              </a:lnSpc>
              <a:buFont typeface="Wingdings" pitchFamily="2" charset="2"/>
              <a:buChar char="p"/>
            </a:pPr>
            <a:r>
              <a:rPr lang="zh-CN" altLang="en-US" sz="1400" dirty="0">
                <a:solidFill>
                  <a:srgbClr val="C00000"/>
                </a:solidFill>
                <a:latin typeface="+mn-lt"/>
                <a:ea typeface="+mn-ea"/>
              </a:rPr>
              <a:t>数据订阅：</a:t>
            </a:r>
            <a:r>
              <a:rPr lang="zh-CN" altLang="en-US" sz="1400" dirty="0">
                <a:latin typeface="+mn-lt"/>
                <a:ea typeface="+mn-ea"/>
              </a:rPr>
              <a:t>对共享信息库中数据进行发布，供外部业务系统使用。</a:t>
            </a:r>
          </a:p>
        </p:txBody>
      </p:sp>
    </p:spTree>
    <p:extLst>
      <p:ext uri="{BB962C8B-B14F-4D97-AF65-F5344CB8AC3E}">
        <p14:creationId xmlns:p14="http://schemas.microsoft.com/office/powerpoint/2010/main" val="2681088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矩形 74"/>
          <p:cNvSpPr/>
          <p:nvPr/>
        </p:nvSpPr>
        <p:spPr>
          <a:xfrm>
            <a:off x="1281447" y="2403536"/>
            <a:ext cx="4410372" cy="3387664"/>
          </a:xfrm>
          <a:prstGeom prst="rect">
            <a:avLst/>
          </a:prstGeom>
          <a:solidFill>
            <a:schemeClr val="bg1">
              <a:lumMod val="95000"/>
            </a:schemeClr>
          </a:solidFill>
          <a:ln>
            <a:solidFill>
              <a:schemeClr val="bg1">
                <a:lumMod val="95000"/>
              </a:schemeClr>
            </a:solidFill>
          </a:ln>
        </p:spPr>
        <p:style>
          <a:lnRef idx="1">
            <a:schemeClr val="dk1"/>
          </a:lnRef>
          <a:fillRef idx="2">
            <a:schemeClr val="dk1"/>
          </a:fillRef>
          <a:effectRef idx="1">
            <a:schemeClr val="dk1"/>
          </a:effectRef>
          <a:fontRef idx="minor">
            <a:schemeClr val="dk1"/>
          </a:fontRef>
        </p:style>
        <p:txBody>
          <a:bodyPr lIns="0" rIns="0" rtlCol="0" anchor="ctr" anchorCtr="0"/>
          <a:lstStyle/>
          <a:p>
            <a:pPr algn="ctr"/>
            <a:endParaRPr lang="zh-CN" altLang="en-US" sz="1600" b="1">
              <a:solidFill>
                <a:schemeClr val="tx1"/>
              </a:solidFill>
              <a:latin typeface="+mn-ea"/>
            </a:endParaRPr>
          </a:p>
        </p:txBody>
      </p:sp>
      <p:sp>
        <p:nvSpPr>
          <p:cNvPr id="60" name="矩形 59"/>
          <p:cNvSpPr/>
          <p:nvPr/>
        </p:nvSpPr>
        <p:spPr>
          <a:xfrm>
            <a:off x="1701824" y="4876800"/>
            <a:ext cx="3881103" cy="817713"/>
          </a:xfrm>
          <a:prstGeom prst="rect">
            <a:avLst/>
          </a:prstGeom>
          <a:solidFill>
            <a:schemeClr val="accent5">
              <a:lumMod val="90000"/>
            </a:schemeClr>
          </a:solidFill>
          <a:ln>
            <a:solidFill>
              <a:schemeClr val="bg1"/>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solidFill>
                <a:schemeClr val="lt1"/>
              </a:solidFill>
              <a:latin typeface="+mn-ea"/>
            </a:endParaRPr>
          </a:p>
        </p:txBody>
      </p:sp>
      <p:sp>
        <p:nvSpPr>
          <p:cNvPr id="59" name="矩形 58"/>
          <p:cNvSpPr/>
          <p:nvPr/>
        </p:nvSpPr>
        <p:spPr>
          <a:xfrm>
            <a:off x="1704383" y="2444418"/>
            <a:ext cx="3881103" cy="817713"/>
          </a:xfrm>
          <a:prstGeom prst="rect">
            <a:avLst/>
          </a:prstGeom>
          <a:solidFill>
            <a:srgbClr val="FFE6CD"/>
          </a:solidFill>
          <a:ln>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latin typeface="+mn-ea"/>
            </a:endParaRPr>
          </a:p>
        </p:txBody>
      </p:sp>
      <p:sp>
        <p:nvSpPr>
          <p:cNvPr id="49" name="AutoShape 20"/>
          <p:cNvSpPr>
            <a:spLocks noChangeArrowheads="1"/>
          </p:cNvSpPr>
          <p:nvPr/>
        </p:nvSpPr>
        <p:spPr bwMode="auto">
          <a:xfrm rot="10800000">
            <a:off x="548995" y="1066799"/>
            <a:ext cx="7604405" cy="1142999"/>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sz="1400" dirty="0">
              <a:latin typeface="+mn-ea"/>
              <a:ea typeface="+mn-ea"/>
            </a:endParaRPr>
          </a:p>
        </p:txBody>
      </p:sp>
      <p:sp>
        <p:nvSpPr>
          <p:cNvPr id="2" name="标题 1"/>
          <p:cNvSpPr>
            <a:spLocks noGrp="1"/>
          </p:cNvSpPr>
          <p:nvPr>
            <p:ph type="title"/>
          </p:nvPr>
        </p:nvSpPr>
        <p:spPr/>
        <p:txBody>
          <a:bodyPr/>
          <a:lstStyle/>
          <a:p>
            <a:r>
              <a:rPr lang="zh-CN" altLang="en-US" dirty="0">
                <a:latin typeface="+mn-ea"/>
                <a:ea typeface="+mn-ea"/>
              </a:rPr>
              <a:t>信息资源目录</a:t>
            </a:r>
          </a:p>
        </p:txBody>
      </p:sp>
      <p:sp>
        <p:nvSpPr>
          <p:cNvPr id="5" name="TextBox 4"/>
          <p:cNvSpPr txBox="1"/>
          <p:nvPr/>
        </p:nvSpPr>
        <p:spPr>
          <a:xfrm>
            <a:off x="589532" y="1028257"/>
            <a:ext cx="8715436" cy="1569660"/>
          </a:xfrm>
          <a:prstGeom prst="rect">
            <a:avLst/>
          </a:prstGeom>
          <a:noFill/>
        </p:spPr>
        <p:txBody>
          <a:bodyPr wrap="square" rtlCol="0">
            <a:spAutoFit/>
          </a:bodyPr>
          <a:lstStyle/>
          <a:p>
            <a:pPr marL="285750" indent="-285750">
              <a:lnSpc>
                <a:spcPct val="150000"/>
              </a:lnSpc>
              <a:buFont typeface="Wingdings" pitchFamily="2" charset="2"/>
              <a:buChar char="p"/>
            </a:pPr>
            <a:r>
              <a:rPr lang="zh-CN" altLang="en-US" sz="1600" dirty="0">
                <a:solidFill>
                  <a:srgbClr val="002060"/>
                </a:solidFill>
                <a:latin typeface="+mn-ea"/>
                <a:ea typeface="+mn-ea"/>
              </a:rPr>
              <a:t>资源目录体系遵循一定的标准与规范建立。</a:t>
            </a:r>
            <a:endParaRPr lang="en-US" altLang="zh-CN" sz="1600" dirty="0">
              <a:solidFill>
                <a:srgbClr val="002060"/>
              </a:solidFill>
              <a:latin typeface="+mn-ea"/>
              <a:ea typeface="+mn-ea"/>
            </a:endParaRPr>
          </a:p>
          <a:p>
            <a:pPr marL="285750" indent="-285750">
              <a:lnSpc>
                <a:spcPct val="150000"/>
              </a:lnSpc>
              <a:buFont typeface="Wingdings" pitchFamily="2" charset="2"/>
              <a:buChar char="p"/>
            </a:pPr>
            <a:r>
              <a:rPr lang="zh-CN" altLang="en-US" sz="1600" dirty="0">
                <a:solidFill>
                  <a:srgbClr val="002060"/>
                </a:solidFill>
                <a:latin typeface="+mn-ea"/>
                <a:ea typeface="+mn-ea"/>
              </a:rPr>
              <a:t>能够提供信息资源的查询、检索和定位服务。</a:t>
            </a:r>
            <a:endParaRPr lang="en-US" altLang="zh-CN" sz="1600" dirty="0">
              <a:solidFill>
                <a:srgbClr val="002060"/>
              </a:solidFill>
              <a:latin typeface="+mn-ea"/>
              <a:ea typeface="+mn-ea"/>
            </a:endParaRPr>
          </a:p>
          <a:p>
            <a:pPr marL="285750" indent="-285750">
              <a:lnSpc>
                <a:spcPct val="150000"/>
              </a:lnSpc>
              <a:buFont typeface="Wingdings" pitchFamily="2" charset="2"/>
              <a:buChar char="p"/>
            </a:pPr>
            <a:r>
              <a:rPr lang="zh-CN" altLang="en-US" sz="1600" dirty="0">
                <a:solidFill>
                  <a:srgbClr val="002060"/>
                </a:solidFill>
                <a:latin typeface="+mn-ea"/>
                <a:ea typeface="+mn-ea"/>
              </a:rPr>
              <a:t>并能够调用交换平台的作业生成接口生成作业，启动并运行交换作业。       </a:t>
            </a:r>
          </a:p>
          <a:p>
            <a:pPr marL="285750" indent="-285750">
              <a:lnSpc>
                <a:spcPct val="150000"/>
              </a:lnSpc>
              <a:buFont typeface="Wingdings" pitchFamily="2" charset="2"/>
              <a:buChar char="p"/>
            </a:pPr>
            <a:endParaRPr lang="zh-CN" altLang="en-US" sz="1600" dirty="0">
              <a:solidFill>
                <a:srgbClr val="002060"/>
              </a:solidFill>
              <a:latin typeface="+mn-ea"/>
              <a:ea typeface="+mn-ea"/>
            </a:endParaRPr>
          </a:p>
        </p:txBody>
      </p:sp>
      <p:sp>
        <p:nvSpPr>
          <p:cNvPr id="81" name="TextBox 80"/>
          <p:cNvSpPr txBox="1"/>
          <p:nvPr/>
        </p:nvSpPr>
        <p:spPr>
          <a:xfrm>
            <a:off x="1810716" y="4955962"/>
            <a:ext cx="1169647" cy="338554"/>
          </a:xfrm>
          <a:prstGeom prst="rect">
            <a:avLst/>
          </a:prstGeom>
          <a:noFill/>
        </p:spPr>
        <p:txBody>
          <a:bodyPr wrap="square" rtlCol="0">
            <a:spAutoFit/>
          </a:bodyPr>
          <a:lstStyle/>
          <a:p>
            <a:r>
              <a:rPr lang="zh-CN" altLang="en-US" sz="1600" dirty="0">
                <a:latin typeface="+mn-ea"/>
                <a:ea typeface="+mn-ea"/>
              </a:rPr>
              <a:t>资源管理</a:t>
            </a:r>
          </a:p>
        </p:txBody>
      </p:sp>
      <p:sp>
        <p:nvSpPr>
          <p:cNvPr id="82" name="TextBox 81"/>
          <p:cNvSpPr txBox="1"/>
          <p:nvPr/>
        </p:nvSpPr>
        <p:spPr>
          <a:xfrm>
            <a:off x="3618353" y="5338983"/>
            <a:ext cx="907934" cy="286657"/>
          </a:xfrm>
          <a:prstGeom prst="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algn="ctr">
              <a:defRPr sz="1200">
                <a:latin typeface="+mn-ea"/>
                <a:ea typeface="+mn-ea"/>
              </a:defRPr>
            </a:lvl1pPr>
            <a:lvl2pPr>
              <a:defRPr>
                <a:solidFill>
                  <a:schemeClr val="dk1"/>
                </a:solidFill>
                <a:latin typeface="+mn-lt"/>
                <a:ea typeface="+mn-ea"/>
              </a:defRPr>
            </a:lvl2pPr>
            <a:lvl3pPr>
              <a:defRPr>
                <a:solidFill>
                  <a:schemeClr val="dk1"/>
                </a:solidFill>
                <a:latin typeface="+mn-lt"/>
                <a:ea typeface="+mn-ea"/>
              </a:defRPr>
            </a:lvl3pPr>
            <a:lvl4pPr>
              <a:defRPr>
                <a:solidFill>
                  <a:schemeClr val="dk1"/>
                </a:solidFill>
                <a:latin typeface="+mn-lt"/>
                <a:ea typeface="+mn-ea"/>
              </a:defRPr>
            </a:lvl4pPr>
            <a:lvl5pPr>
              <a:defRPr>
                <a:solidFill>
                  <a:schemeClr val="dk1"/>
                </a:solidFill>
                <a:latin typeface="+mn-lt"/>
                <a:ea typeface="+mn-ea"/>
              </a:defRPr>
            </a:lvl5pPr>
            <a:lvl6pPr>
              <a:defRPr>
                <a:solidFill>
                  <a:schemeClr val="dk1"/>
                </a:solidFill>
                <a:latin typeface="+mn-lt"/>
                <a:ea typeface="+mn-ea"/>
              </a:defRPr>
            </a:lvl6pPr>
            <a:lvl7pPr>
              <a:defRPr>
                <a:solidFill>
                  <a:schemeClr val="dk1"/>
                </a:solidFill>
                <a:latin typeface="+mn-lt"/>
                <a:ea typeface="+mn-ea"/>
              </a:defRPr>
            </a:lvl7pPr>
            <a:lvl8pPr>
              <a:defRPr>
                <a:solidFill>
                  <a:schemeClr val="dk1"/>
                </a:solidFill>
                <a:latin typeface="+mn-lt"/>
                <a:ea typeface="+mn-ea"/>
              </a:defRPr>
            </a:lvl8pPr>
            <a:lvl9pPr>
              <a:defRPr>
                <a:solidFill>
                  <a:schemeClr val="dk1"/>
                </a:solidFill>
                <a:latin typeface="+mn-lt"/>
                <a:ea typeface="+mn-ea"/>
              </a:defRPr>
            </a:lvl9pPr>
          </a:lstStyle>
          <a:p>
            <a:r>
              <a:rPr lang="zh-CN" altLang="en-US" dirty="0"/>
              <a:t>手工录入</a:t>
            </a:r>
          </a:p>
        </p:txBody>
      </p:sp>
      <p:sp>
        <p:nvSpPr>
          <p:cNvPr id="83" name="TextBox 82"/>
          <p:cNvSpPr txBox="1"/>
          <p:nvPr/>
        </p:nvSpPr>
        <p:spPr>
          <a:xfrm>
            <a:off x="2547371" y="5339443"/>
            <a:ext cx="939262" cy="286657"/>
          </a:xfrm>
          <a:prstGeom prst="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algn="ctr">
              <a:defRPr sz="1200">
                <a:latin typeface="+mn-ea"/>
                <a:ea typeface="+mn-ea"/>
              </a:defRPr>
            </a:lvl1pPr>
            <a:lvl2pPr>
              <a:defRPr>
                <a:solidFill>
                  <a:schemeClr val="dk1"/>
                </a:solidFill>
                <a:latin typeface="+mn-lt"/>
                <a:ea typeface="+mn-ea"/>
              </a:defRPr>
            </a:lvl2pPr>
            <a:lvl3pPr>
              <a:defRPr>
                <a:solidFill>
                  <a:schemeClr val="dk1"/>
                </a:solidFill>
                <a:latin typeface="+mn-lt"/>
                <a:ea typeface="+mn-ea"/>
              </a:defRPr>
            </a:lvl3pPr>
            <a:lvl4pPr>
              <a:defRPr>
                <a:solidFill>
                  <a:schemeClr val="dk1"/>
                </a:solidFill>
                <a:latin typeface="+mn-lt"/>
                <a:ea typeface="+mn-ea"/>
              </a:defRPr>
            </a:lvl4pPr>
            <a:lvl5pPr>
              <a:defRPr>
                <a:solidFill>
                  <a:schemeClr val="dk1"/>
                </a:solidFill>
                <a:latin typeface="+mn-lt"/>
                <a:ea typeface="+mn-ea"/>
              </a:defRPr>
            </a:lvl5pPr>
            <a:lvl6pPr>
              <a:defRPr>
                <a:solidFill>
                  <a:schemeClr val="dk1"/>
                </a:solidFill>
                <a:latin typeface="+mn-lt"/>
                <a:ea typeface="+mn-ea"/>
              </a:defRPr>
            </a:lvl6pPr>
            <a:lvl7pPr>
              <a:defRPr>
                <a:solidFill>
                  <a:schemeClr val="dk1"/>
                </a:solidFill>
                <a:latin typeface="+mn-lt"/>
                <a:ea typeface="+mn-ea"/>
              </a:defRPr>
            </a:lvl7pPr>
            <a:lvl8pPr>
              <a:defRPr>
                <a:solidFill>
                  <a:schemeClr val="dk1"/>
                </a:solidFill>
                <a:latin typeface="+mn-lt"/>
                <a:ea typeface="+mn-ea"/>
              </a:defRPr>
            </a:lvl8pPr>
            <a:lvl9pPr>
              <a:defRPr>
                <a:solidFill>
                  <a:schemeClr val="dk1"/>
                </a:solidFill>
                <a:latin typeface="+mn-lt"/>
                <a:ea typeface="+mn-ea"/>
              </a:defRPr>
            </a:lvl9pPr>
          </a:lstStyle>
          <a:p>
            <a:r>
              <a:rPr lang="zh-CN" altLang="en-US" dirty="0"/>
              <a:t>自动采集</a:t>
            </a:r>
          </a:p>
        </p:txBody>
      </p:sp>
      <p:sp>
        <p:nvSpPr>
          <p:cNvPr id="84" name="TextBox 83"/>
          <p:cNvSpPr txBox="1"/>
          <p:nvPr/>
        </p:nvSpPr>
        <p:spPr>
          <a:xfrm>
            <a:off x="4713912" y="5336511"/>
            <a:ext cx="859589" cy="286657"/>
          </a:xfrm>
          <a:prstGeom prst="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algn="ctr">
              <a:defRPr sz="1200">
                <a:latin typeface="+mn-ea"/>
                <a:ea typeface="+mn-ea"/>
              </a:defRPr>
            </a:lvl1pPr>
            <a:lvl2pPr>
              <a:defRPr>
                <a:solidFill>
                  <a:schemeClr val="dk1"/>
                </a:solidFill>
                <a:latin typeface="+mn-lt"/>
                <a:ea typeface="+mn-ea"/>
              </a:defRPr>
            </a:lvl2pPr>
            <a:lvl3pPr>
              <a:defRPr>
                <a:solidFill>
                  <a:schemeClr val="dk1"/>
                </a:solidFill>
                <a:latin typeface="+mn-lt"/>
                <a:ea typeface="+mn-ea"/>
              </a:defRPr>
            </a:lvl3pPr>
            <a:lvl4pPr>
              <a:defRPr>
                <a:solidFill>
                  <a:schemeClr val="dk1"/>
                </a:solidFill>
                <a:latin typeface="+mn-lt"/>
                <a:ea typeface="+mn-ea"/>
              </a:defRPr>
            </a:lvl4pPr>
            <a:lvl5pPr>
              <a:defRPr>
                <a:solidFill>
                  <a:schemeClr val="dk1"/>
                </a:solidFill>
                <a:latin typeface="+mn-lt"/>
                <a:ea typeface="+mn-ea"/>
              </a:defRPr>
            </a:lvl5pPr>
            <a:lvl6pPr>
              <a:defRPr>
                <a:solidFill>
                  <a:schemeClr val="dk1"/>
                </a:solidFill>
                <a:latin typeface="+mn-lt"/>
                <a:ea typeface="+mn-ea"/>
              </a:defRPr>
            </a:lvl6pPr>
            <a:lvl7pPr>
              <a:defRPr>
                <a:solidFill>
                  <a:schemeClr val="dk1"/>
                </a:solidFill>
                <a:latin typeface="+mn-lt"/>
                <a:ea typeface="+mn-ea"/>
              </a:defRPr>
            </a:lvl7pPr>
            <a:lvl8pPr>
              <a:defRPr>
                <a:solidFill>
                  <a:schemeClr val="dk1"/>
                </a:solidFill>
                <a:latin typeface="+mn-lt"/>
                <a:ea typeface="+mn-ea"/>
              </a:defRPr>
            </a:lvl8pPr>
            <a:lvl9pPr>
              <a:defRPr>
                <a:solidFill>
                  <a:schemeClr val="dk1"/>
                </a:solidFill>
                <a:latin typeface="+mn-lt"/>
                <a:ea typeface="+mn-ea"/>
              </a:defRPr>
            </a:lvl9pPr>
          </a:lstStyle>
          <a:p>
            <a:r>
              <a:rPr lang="zh-CN" altLang="en-US" dirty="0"/>
              <a:t>信息抓取</a:t>
            </a:r>
          </a:p>
        </p:txBody>
      </p:sp>
      <p:sp>
        <p:nvSpPr>
          <p:cNvPr id="85" name="TextBox 84"/>
          <p:cNvSpPr txBox="1"/>
          <p:nvPr/>
        </p:nvSpPr>
        <p:spPr>
          <a:xfrm>
            <a:off x="3962400" y="4955962"/>
            <a:ext cx="1006061" cy="276999"/>
          </a:xfrm>
          <a:prstGeom prst="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defPPr>
              <a:defRPr lang="en-US"/>
            </a:defPPr>
            <a:lvl1pPr algn="ctr">
              <a:defRPr sz="1200">
                <a:latin typeface="+mn-ea"/>
                <a:ea typeface="+mn-ea"/>
              </a:defRPr>
            </a:lvl1pPr>
            <a:lvl2pPr>
              <a:defRPr>
                <a:solidFill>
                  <a:schemeClr val="dk1"/>
                </a:solidFill>
                <a:latin typeface="+mn-lt"/>
                <a:ea typeface="+mn-ea"/>
              </a:defRPr>
            </a:lvl2pPr>
            <a:lvl3pPr>
              <a:defRPr>
                <a:solidFill>
                  <a:schemeClr val="dk1"/>
                </a:solidFill>
                <a:latin typeface="+mn-lt"/>
                <a:ea typeface="+mn-ea"/>
              </a:defRPr>
            </a:lvl3pPr>
            <a:lvl4pPr>
              <a:defRPr>
                <a:solidFill>
                  <a:schemeClr val="dk1"/>
                </a:solidFill>
                <a:latin typeface="+mn-lt"/>
                <a:ea typeface="+mn-ea"/>
              </a:defRPr>
            </a:lvl4pPr>
            <a:lvl5pPr>
              <a:defRPr>
                <a:solidFill>
                  <a:schemeClr val="dk1"/>
                </a:solidFill>
                <a:latin typeface="+mn-lt"/>
                <a:ea typeface="+mn-ea"/>
              </a:defRPr>
            </a:lvl5pPr>
            <a:lvl6pPr>
              <a:defRPr>
                <a:solidFill>
                  <a:schemeClr val="dk1"/>
                </a:solidFill>
                <a:latin typeface="+mn-lt"/>
                <a:ea typeface="+mn-ea"/>
              </a:defRPr>
            </a:lvl6pPr>
            <a:lvl7pPr>
              <a:defRPr>
                <a:solidFill>
                  <a:schemeClr val="dk1"/>
                </a:solidFill>
                <a:latin typeface="+mn-lt"/>
                <a:ea typeface="+mn-ea"/>
              </a:defRPr>
            </a:lvl7pPr>
            <a:lvl8pPr>
              <a:defRPr>
                <a:solidFill>
                  <a:schemeClr val="dk1"/>
                </a:solidFill>
                <a:latin typeface="+mn-lt"/>
                <a:ea typeface="+mn-ea"/>
              </a:defRPr>
            </a:lvl8pPr>
            <a:lvl9pPr>
              <a:defRPr>
                <a:solidFill>
                  <a:schemeClr val="dk1"/>
                </a:solidFill>
                <a:latin typeface="+mn-lt"/>
                <a:ea typeface="+mn-ea"/>
              </a:defRPr>
            </a:lvl9pPr>
          </a:lstStyle>
          <a:p>
            <a:r>
              <a:rPr lang="zh-CN" altLang="en-US" dirty="0"/>
              <a:t>目录采集</a:t>
            </a:r>
          </a:p>
        </p:txBody>
      </p:sp>
      <p:sp>
        <p:nvSpPr>
          <p:cNvPr id="86" name="矩形 85"/>
          <p:cNvSpPr/>
          <p:nvPr/>
        </p:nvSpPr>
        <p:spPr>
          <a:xfrm>
            <a:off x="1704384" y="3378945"/>
            <a:ext cx="3881103" cy="1331931"/>
          </a:xfrm>
          <a:prstGeom prst="rect">
            <a:avLst/>
          </a:prstGeom>
          <a:solidFill>
            <a:srgbClr val="CCFFCC"/>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a:latin typeface="+mn-ea"/>
            </a:endParaRPr>
          </a:p>
        </p:txBody>
      </p:sp>
      <p:sp>
        <p:nvSpPr>
          <p:cNvPr id="87" name="TextBox 86"/>
          <p:cNvSpPr txBox="1"/>
          <p:nvPr/>
        </p:nvSpPr>
        <p:spPr>
          <a:xfrm>
            <a:off x="1757551" y="3448806"/>
            <a:ext cx="318995" cy="1077218"/>
          </a:xfrm>
          <a:prstGeom prst="rect">
            <a:avLst/>
          </a:prstGeom>
          <a:noFill/>
        </p:spPr>
        <p:txBody>
          <a:bodyPr wrap="square" rtlCol="0">
            <a:spAutoFit/>
          </a:bodyPr>
          <a:lstStyle/>
          <a:p>
            <a:pPr algn="ctr"/>
            <a:r>
              <a:rPr lang="zh-CN" altLang="en-US" sz="1600" b="1" dirty="0">
                <a:latin typeface="+mn-ea"/>
                <a:ea typeface="+mn-ea"/>
              </a:rPr>
              <a:t>目录管理</a:t>
            </a:r>
          </a:p>
        </p:txBody>
      </p:sp>
      <p:sp>
        <p:nvSpPr>
          <p:cNvPr id="88" name="圆角矩形 87"/>
          <p:cNvSpPr/>
          <p:nvPr/>
        </p:nvSpPr>
        <p:spPr>
          <a:xfrm>
            <a:off x="2129710" y="3495762"/>
            <a:ext cx="1646423" cy="1086236"/>
          </a:xfrm>
          <a:prstGeom prst="roundRect">
            <a:avLst/>
          </a:prstGeom>
          <a:solidFill>
            <a:schemeClr val="bg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89" name="TextBox 88"/>
          <p:cNvSpPr txBox="1"/>
          <p:nvPr/>
        </p:nvSpPr>
        <p:spPr>
          <a:xfrm>
            <a:off x="2358972" y="3495762"/>
            <a:ext cx="1193657" cy="307777"/>
          </a:xfrm>
          <a:prstGeom prst="rect">
            <a:avLst/>
          </a:prstGeom>
          <a:noFill/>
        </p:spPr>
        <p:txBody>
          <a:bodyPr wrap="square" rtlCol="0">
            <a:spAutoFit/>
          </a:bodyPr>
          <a:lstStyle/>
          <a:p>
            <a:pPr algn="ctr"/>
            <a:r>
              <a:rPr lang="zh-CN" altLang="en-US" sz="1400" b="1" dirty="0">
                <a:latin typeface="+mn-ea"/>
                <a:ea typeface="+mn-ea"/>
              </a:rPr>
              <a:t>基础定义</a:t>
            </a:r>
          </a:p>
        </p:txBody>
      </p:sp>
      <p:sp>
        <p:nvSpPr>
          <p:cNvPr id="90" name="圆角矩形 89"/>
          <p:cNvSpPr/>
          <p:nvPr/>
        </p:nvSpPr>
        <p:spPr>
          <a:xfrm>
            <a:off x="2289208" y="3846210"/>
            <a:ext cx="1329145" cy="292039"/>
          </a:xfrm>
          <a:prstGeom prst="round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200" dirty="0">
                <a:solidFill>
                  <a:schemeClr val="tx1"/>
                </a:solidFill>
                <a:latin typeface="+mn-ea"/>
              </a:rPr>
              <a:t>核心元数据</a:t>
            </a:r>
          </a:p>
        </p:txBody>
      </p:sp>
      <p:sp>
        <p:nvSpPr>
          <p:cNvPr id="91" name="圆角矩形 90"/>
          <p:cNvSpPr/>
          <p:nvPr/>
        </p:nvSpPr>
        <p:spPr>
          <a:xfrm>
            <a:off x="2272094" y="4196657"/>
            <a:ext cx="699730" cy="295074"/>
          </a:xfrm>
          <a:prstGeom prst="round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200" dirty="0">
                <a:solidFill>
                  <a:schemeClr val="tx1"/>
                </a:solidFill>
                <a:latin typeface="+mn-ea"/>
              </a:rPr>
              <a:t>分类</a:t>
            </a:r>
          </a:p>
        </p:txBody>
      </p:sp>
      <p:sp>
        <p:nvSpPr>
          <p:cNvPr id="92" name="圆角矩形 91"/>
          <p:cNvSpPr/>
          <p:nvPr/>
        </p:nvSpPr>
        <p:spPr>
          <a:xfrm>
            <a:off x="3025230" y="4196657"/>
            <a:ext cx="699730" cy="295074"/>
          </a:xfrm>
          <a:prstGeom prst="round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200" dirty="0">
                <a:solidFill>
                  <a:schemeClr val="tx1"/>
                </a:solidFill>
                <a:latin typeface="+mn-ea"/>
              </a:rPr>
              <a:t>索引</a:t>
            </a:r>
          </a:p>
        </p:txBody>
      </p:sp>
      <p:sp>
        <p:nvSpPr>
          <p:cNvPr id="93" name="圆角矩形 92"/>
          <p:cNvSpPr/>
          <p:nvPr/>
        </p:nvSpPr>
        <p:spPr>
          <a:xfrm>
            <a:off x="3831016" y="3526819"/>
            <a:ext cx="1687584" cy="1051344"/>
          </a:xfrm>
          <a:prstGeom prst="roundRect">
            <a:avLst/>
          </a:prstGeom>
          <a:solidFill>
            <a:schemeClr val="bg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endParaRPr>
          </a:p>
        </p:txBody>
      </p:sp>
      <p:sp>
        <p:nvSpPr>
          <p:cNvPr id="94" name="TextBox 93"/>
          <p:cNvSpPr txBox="1"/>
          <p:nvPr/>
        </p:nvSpPr>
        <p:spPr>
          <a:xfrm>
            <a:off x="4203176" y="3545053"/>
            <a:ext cx="987854" cy="307777"/>
          </a:xfrm>
          <a:prstGeom prst="rect">
            <a:avLst/>
          </a:prstGeom>
          <a:noFill/>
        </p:spPr>
        <p:txBody>
          <a:bodyPr wrap="square" rtlCol="0">
            <a:spAutoFit/>
          </a:bodyPr>
          <a:lstStyle/>
          <a:p>
            <a:pPr algn="ctr"/>
            <a:r>
              <a:rPr lang="zh-CN" altLang="en-US" sz="1400" b="1" dirty="0">
                <a:latin typeface="+mn-ea"/>
                <a:ea typeface="+mn-ea"/>
              </a:rPr>
              <a:t>编目</a:t>
            </a:r>
          </a:p>
        </p:txBody>
      </p:sp>
      <p:sp>
        <p:nvSpPr>
          <p:cNvPr id="95" name="圆角矩形 94"/>
          <p:cNvSpPr/>
          <p:nvPr/>
        </p:nvSpPr>
        <p:spPr>
          <a:xfrm>
            <a:off x="4734835" y="4255066"/>
            <a:ext cx="658569" cy="235150"/>
          </a:xfrm>
          <a:prstGeom prst="round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200" dirty="0">
                <a:solidFill>
                  <a:schemeClr val="tx1"/>
                </a:solidFill>
                <a:latin typeface="+mn-ea"/>
              </a:rPr>
              <a:t>审核</a:t>
            </a:r>
          </a:p>
        </p:txBody>
      </p:sp>
      <p:sp>
        <p:nvSpPr>
          <p:cNvPr id="96" name="圆角矩形 95"/>
          <p:cNvSpPr/>
          <p:nvPr/>
        </p:nvSpPr>
        <p:spPr>
          <a:xfrm>
            <a:off x="4734835" y="3904617"/>
            <a:ext cx="658569" cy="235150"/>
          </a:xfrm>
          <a:prstGeom prst="round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200" dirty="0">
                <a:solidFill>
                  <a:schemeClr val="tx1"/>
                </a:solidFill>
                <a:latin typeface="+mn-ea"/>
              </a:rPr>
              <a:t>发布</a:t>
            </a:r>
          </a:p>
        </p:txBody>
      </p:sp>
      <p:sp>
        <p:nvSpPr>
          <p:cNvPr id="97" name="圆角矩形 96"/>
          <p:cNvSpPr/>
          <p:nvPr/>
        </p:nvSpPr>
        <p:spPr>
          <a:xfrm>
            <a:off x="3937347" y="3904617"/>
            <a:ext cx="658569" cy="235150"/>
          </a:xfrm>
          <a:prstGeom prst="round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200" dirty="0">
                <a:solidFill>
                  <a:schemeClr val="tx1"/>
                </a:solidFill>
                <a:latin typeface="+mn-ea"/>
              </a:rPr>
              <a:t>注册</a:t>
            </a:r>
          </a:p>
        </p:txBody>
      </p:sp>
      <p:sp>
        <p:nvSpPr>
          <p:cNvPr id="98" name="圆角矩形 97"/>
          <p:cNvSpPr/>
          <p:nvPr/>
        </p:nvSpPr>
        <p:spPr>
          <a:xfrm>
            <a:off x="3937347" y="4255066"/>
            <a:ext cx="658569" cy="235150"/>
          </a:xfrm>
          <a:prstGeom prst="round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200" dirty="0">
                <a:solidFill>
                  <a:schemeClr val="tx1"/>
                </a:solidFill>
                <a:latin typeface="+mn-ea"/>
              </a:rPr>
              <a:t>修改</a:t>
            </a:r>
          </a:p>
        </p:txBody>
      </p:sp>
      <p:sp>
        <p:nvSpPr>
          <p:cNvPr id="100" name="TextBox 99"/>
          <p:cNvSpPr txBox="1"/>
          <p:nvPr/>
        </p:nvSpPr>
        <p:spPr>
          <a:xfrm>
            <a:off x="1766894" y="2444418"/>
            <a:ext cx="1193657" cy="338554"/>
          </a:xfrm>
          <a:prstGeom prst="rect">
            <a:avLst/>
          </a:prstGeom>
          <a:noFill/>
        </p:spPr>
        <p:txBody>
          <a:bodyPr wrap="square" rtlCol="0">
            <a:spAutoFit/>
          </a:bodyPr>
          <a:lstStyle/>
          <a:p>
            <a:pPr algn="ctr"/>
            <a:r>
              <a:rPr lang="zh-CN" altLang="en-US" sz="1600" b="1" dirty="0">
                <a:latin typeface="+mn-ea"/>
                <a:ea typeface="+mn-ea"/>
              </a:rPr>
              <a:t>目录查询</a:t>
            </a:r>
          </a:p>
        </p:txBody>
      </p:sp>
      <p:sp>
        <p:nvSpPr>
          <p:cNvPr id="101" name="圆角矩形 100"/>
          <p:cNvSpPr/>
          <p:nvPr/>
        </p:nvSpPr>
        <p:spPr>
          <a:xfrm>
            <a:off x="1785729" y="2795735"/>
            <a:ext cx="900629" cy="282695"/>
          </a:xfrm>
          <a:prstGeom prst="round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200" dirty="0">
                <a:solidFill>
                  <a:schemeClr val="tx1"/>
                </a:solidFill>
                <a:latin typeface="+mn-ea"/>
              </a:rPr>
              <a:t>目录数据</a:t>
            </a:r>
          </a:p>
        </p:txBody>
      </p:sp>
      <p:sp>
        <p:nvSpPr>
          <p:cNvPr id="102" name="圆角矩形 101"/>
          <p:cNvSpPr/>
          <p:nvPr/>
        </p:nvSpPr>
        <p:spPr>
          <a:xfrm>
            <a:off x="2724991" y="2795735"/>
            <a:ext cx="900629" cy="282695"/>
          </a:xfrm>
          <a:prstGeom prst="round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200" dirty="0">
                <a:solidFill>
                  <a:schemeClr val="tx1"/>
                </a:solidFill>
                <a:latin typeface="+mn-ea"/>
              </a:rPr>
              <a:t>目录查询</a:t>
            </a:r>
          </a:p>
        </p:txBody>
      </p:sp>
      <p:sp>
        <p:nvSpPr>
          <p:cNvPr id="103" name="圆角矩形 102"/>
          <p:cNvSpPr/>
          <p:nvPr/>
        </p:nvSpPr>
        <p:spPr>
          <a:xfrm>
            <a:off x="3664252" y="2795735"/>
            <a:ext cx="900629" cy="282695"/>
          </a:xfrm>
          <a:prstGeom prst="round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200" dirty="0">
                <a:solidFill>
                  <a:schemeClr val="tx1"/>
                </a:solidFill>
                <a:latin typeface="+mn-ea"/>
              </a:rPr>
              <a:t>目录导出</a:t>
            </a:r>
          </a:p>
        </p:txBody>
      </p:sp>
      <p:sp>
        <p:nvSpPr>
          <p:cNvPr id="104" name="圆角矩形 103"/>
          <p:cNvSpPr/>
          <p:nvPr/>
        </p:nvSpPr>
        <p:spPr>
          <a:xfrm>
            <a:off x="4603516" y="2795735"/>
            <a:ext cx="900629" cy="282695"/>
          </a:xfrm>
          <a:prstGeom prst="roundRect">
            <a:avLst/>
          </a:prstGeom>
          <a:solidFill>
            <a:srgbClr val="FFC000"/>
          </a:solidFill>
          <a:ln>
            <a:solidFill>
              <a:schemeClr val="bg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200" dirty="0">
                <a:solidFill>
                  <a:schemeClr val="tx1"/>
                </a:solidFill>
                <a:latin typeface="+mn-ea"/>
              </a:rPr>
              <a:t>目录驱动</a:t>
            </a:r>
          </a:p>
        </p:txBody>
      </p:sp>
      <p:sp>
        <p:nvSpPr>
          <p:cNvPr id="105" name="矩形 104"/>
          <p:cNvSpPr/>
          <p:nvPr/>
        </p:nvSpPr>
        <p:spPr>
          <a:xfrm>
            <a:off x="6075130" y="2386010"/>
            <a:ext cx="1762237" cy="1535787"/>
          </a:xfrm>
          <a:prstGeom prst="rect">
            <a:avLst/>
          </a:prstGeom>
          <a:solidFill>
            <a:schemeClr val="accent2">
              <a:lumMod val="20000"/>
              <a:lumOff val="80000"/>
            </a:schemeClr>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latin typeface="+mn-ea"/>
            </a:endParaRPr>
          </a:p>
        </p:txBody>
      </p:sp>
      <p:sp>
        <p:nvSpPr>
          <p:cNvPr id="106" name="TextBox 105"/>
          <p:cNvSpPr txBox="1"/>
          <p:nvPr/>
        </p:nvSpPr>
        <p:spPr>
          <a:xfrm>
            <a:off x="6327215" y="2492899"/>
            <a:ext cx="1307095" cy="307777"/>
          </a:xfrm>
          <a:prstGeom prst="rect">
            <a:avLst/>
          </a:prstGeom>
          <a:noFill/>
        </p:spPr>
        <p:txBody>
          <a:bodyPr wrap="square" rtlCol="0">
            <a:spAutoFit/>
          </a:bodyPr>
          <a:lstStyle/>
          <a:p>
            <a:pPr algn="ctr"/>
            <a:r>
              <a:rPr lang="zh-CN" altLang="en-US" sz="1400" dirty="0">
                <a:latin typeface="+mn-ea"/>
                <a:ea typeface="+mn-ea"/>
              </a:rPr>
              <a:t>数据交换平台</a:t>
            </a:r>
          </a:p>
        </p:txBody>
      </p:sp>
      <p:sp>
        <p:nvSpPr>
          <p:cNvPr id="107" name="圆角矩形 106"/>
          <p:cNvSpPr/>
          <p:nvPr/>
        </p:nvSpPr>
        <p:spPr>
          <a:xfrm>
            <a:off x="6404280" y="2970090"/>
            <a:ext cx="1116481" cy="292040"/>
          </a:xfrm>
          <a:prstGeom prst="roundRect">
            <a:avLst/>
          </a:prstGeom>
          <a:solidFill>
            <a:srgbClr val="FFC000"/>
          </a:solidFill>
          <a:ln>
            <a:solidFill>
              <a:schemeClr val="bg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1200" dirty="0">
                <a:solidFill>
                  <a:schemeClr val="tx1"/>
                </a:solidFill>
                <a:latin typeface="+mn-ea"/>
              </a:rPr>
              <a:t>作业模型</a:t>
            </a:r>
          </a:p>
        </p:txBody>
      </p:sp>
      <p:sp>
        <p:nvSpPr>
          <p:cNvPr id="108" name="圆角矩形 107"/>
          <p:cNvSpPr/>
          <p:nvPr/>
        </p:nvSpPr>
        <p:spPr>
          <a:xfrm>
            <a:off x="6404280" y="3448806"/>
            <a:ext cx="1116481" cy="292040"/>
          </a:xfrm>
          <a:prstGeom prst="roundRect">
            <a:avLst/>
          </a:prstGeom>
          <a:solidFill>
            <a:srgbClr val="FFC000"/>
          </a:solidFill>
          <a:ln>
            <a:solidFill>
              <a:schemeClr val="bg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1200" dirty="0">
                <a:solidFill>
                  <a:schemeClr val="tx1"/>
                </a:solidFill>
                <a:latin typeface="+mn-ea"/>
              </a:rPr>
              <a:t>交换作业</a:t>
            </a:r>
          </a:p>
        </p:txBody>
      </p:sp>
      <p:graphicFrame>
        <p:nvGraphicFramePr>
          <p:cNvPr id="109" name="图示 108"/>
          <p:cNvGraphicFramePr/>
          <p:nvPr>
            <p:extLst>
              <p:ext uri="{D42A27DB-BD31-4B8C-83A1-F6EECF244321}">
                <p14:modId xmlns:p14="http://schemas.microsoft.com/office/powerpoint/2010/main" val="180647215"/>
              </p:ext>
            </p:extLst>
          </p:nvPr>
        </p:nvGraphicFramePr>
        <p:xfrm>
          <a:off x="1262365" y="5840098"/>
          <a:ext cx="6052859" cy="3321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0" name="矩形 109"/>
          <p:cNvSpPr/>
          <p:nvPr/>
        </p:nvSpPr>
        <p:spPr>
          <a:xfrm>
            <a:off x="762000" y="2386010"/>
            <a:ext cx="316605" cy="3387664"/>
          </a:xfrm>
          <a:prstGeom prst="rect">
            <a:avLst/>
          </a:prstGeom>
          <a:solidFill>
            <a:schemeClr val="bg1">
              <a:lumMod val="85000"/>
            </a:schemeClr>
          </a:solidFill>
          <a:ln>
            <a:solidFill>
              <a:schemeClr val="bg1">
                <a:lumMod val="85000"/>
              </a:schemeClr>
            </a:solidFill>
          </a:ln>
        </p:spPr>
        <p:style>
          <a:lnRef idx="1">
            <a:schemeClr val="dk1"/>
          </a:lnRef>
          <a:fillRef idx="2">
            <a:schemeClr val="dk1"/>
          </a:fillRef>
          <a:effectRef idx="1">
            <a:schemeClr val="dk1"/>
          </a:effectRef>
          <a:fontRef idx="minor">
            <a:schemeClr val="dk1"/>
          </a:fontRef>
        </p:style>
        <p:txBody>
          <a:bodyPr lIns="0" rIns="0" rtlCol="0" anchor="ctr" anchorCtr="0"/>
          <a:lstStyle/>
          <a:p>
            <a:pPr algn="ctr"/>
            <a:r>
              <a:rPr lang="zh-CN" altLang="en-US" sz="1600" b="1" dirty="0">
                <a:solidFill>
                  <a:schemeClr val="tx1"/>
                </a:solidFill>
                <a:latin typeface="+mn-ea"/>
              </a:rPr>
              <a:t>统一标准规范</a:t>
            </a:r>
          </a:p>
        </p:txBody>
      </p:sp>
      <p:sp>
        <p:nvSpPr>
          <p:cNvPr id="111" name="TextBox 110"/>
          <p:cNvSpPr txBox="1"/>
          <p:nvPr/>
        </p:nvSpPr>
        <p:spPr>
          <a:xfrm>
            <a:off x="1274454" y="2575258"/>
            <a:ext cx="492443" cy="3025462"/>
          </a:xfrm>
          <a:prstGeom prst="rect">
            <a:avLst/>
          </a:prstGeom>
          <a:noFill/>
        </p:spPr>
        <p:txBody>
          <a:bodyPr vert="eaVert" wrap="square" rtlCol="0">
            <a:spAutoFit/>
          </a:bodyPr>
          <a:lstStyle/>
          <a:p>
            <a:pPr algn="ctr"/>
            <a:r>
              <a:rPr lang="zh-CN" altLang="en-US" sz="2000" b="1" dirty="0">
                <a:latin typeface="+mn-ea"/>
                <a:ea typeface="+mn-ea"/>
              </a:rPr>
              <a:t>信   息   资  源  目  录</a:t>
            </a:r>
          </a:p>
        </p:txBody>
      </p:sp>
      <p:grpSp>
        <p:nvGrpSpPr>
          <p:cNvPr id="112" name="组合 111"/>
          <p:cNvGrpSpPr/>
          <p:nvPr/>
        </p:nvGrpSpPr>
        <p:grpSpPr>
          <a:xfrm>
            <a:off x="6570520" y="4419600"/>
            <a:ext cx="973280" cy="888606"/>
            <a:chOff x="6429388" y="4929198"/>
            <a:chExt cx="1098042" cy="955671"/>
          </a:xfrm>
        </p:grpSpPr>
        <p:sp>
          <p:nvSpPr>
            <p:cNvPr id="113" name="矩形 112"/>
            <p:cNvSpPr/>
            <p:nvPr/>
          </p:nvSpPr>
          <p:spPr>
            <a:xfrm>
              <a:off x="6429388" y="4929198"/>
              <a:ext cx="1098042" cy="955671"/>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114" name="流程图: 磁盘 113"/>
            <p:cNvSpPr/>
            <p:nvPr/>
          </p:nvSpPr>
          <p:spPr>
            <a:xfrm>
              <a:off x="6500826" y="5357826"/>
              <a:ext cx="956819" cy="454955"/>
            </a:xfrm>
            <a:prstGeom prst="flowChartMagneticDisk">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a:t>
              </a:r>
              <a:endParaRPr lang="en-US" altLang="zh-CN" sz="1200" b="1" dirty="0">
                <a:solidFill>
                  <a:schemeClr val="bg1"/>
                </a:solidFill>
                <a:latin typeface="+mn-ea"/>
              </a:endParaRPr>
            </a:p>
            <a:p>
              <a:pPr algn="ctr"/>
              <a:r>
                <a:rPr lang="zh-CN" altLang="en-US" sz="1200" b="1" dirty="0">
                  <a:solidFill>
                    <a:schemeClr val="bg1"/>
                  </a:solidFill>
                  <a:latin typeface="+mn-ea"/>
                </a:rPr>
                <a:t>信息库</a:t>
              </a:r>
            </a:p>
          </p:txBody>
        </p:sp>
        <p:sp>
          <p:nvSpPr>
            <p:cNvPr id="115" name="TextBox 114"/>
            <p:cNvSpPr txBox="1"/>
            <p:nvPr/>
          </p:nvSpPr>
          <p:spPr>
            <a:xfrm>
              <a:off x="6634445" y="5072074"/>
              <a:ext cx="795076" cy="297905"/>
            </a:xfrm>
            <a:prstGeom prst="rect">
              <a:avLst/>
            </a:prstGeom>
            <a:noFill/>
          </p:spPr>
          <p:txBody>
            <a:bodyPr wrap="square" rtlCol="0">
              <a:spAutoFit/>
            </a:bodyPr>
            <a:lstStyle/>
            <a:p>
              <a:r>
                <a:rPr lang="zh-CN" altLang="en-US" sz="1200" dirty="0">
                  <a:latin typeface="+mn-ea"/>
                  <a:ea typeface="+mn-ea"/>
                </a:rPr>
                <a:t>前置区</a:t>
              </a:r>
            </a:p>
          </p:txBody>
        </p:sp>
      </p:grpSp>
      <p:sp>
        <p:nvSpPr>
          <p:cNvPr id="116" name="矩形 115"/>
          <p:cNvSpPr/>
          <p:nvPr/>
        </p:nvSpPr>
        <p:spPr>
          <a:xfrm>
            <a:off x="6075634" y="4179479"/>
            <a:ext cx="1772990" cy="1594195"/>
          </a:xfrm>
          <a:prstGeom prst="rect">
            <a:avLst/>
          </a:prstGeom>
          <a:no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17" name="左右箭头 116"/>
          <p:cNvSpPr/>
          <p:nvPr/>
        </p:nvSpPr>
        <p:spPr>
          <a:xfrm rot="5400000">
            <a:off x="6746603" y="3845222"/>
            <a:ext cx="428628" cy="367725"/>
          </a:xfrm>
          <a:prstGeom prst="leftRightArrow">
            <a:avLst/>
          </a:prstGeom>
          <a:solidFill>
            <a:schemeClr val="accent1">
              <a:lumMod val="75000"/>
            </a:schemeClr>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18" name="上箭头 117"/>
          <p:cNvSpPr/>
          <p:nvPr/>
        </p:nvSpPr>
        <p:spPr>
          <a:xfrm>
            <a:off x="4338662" y="4672002"/>
            <a:ext cx="375250" cy="204782"/>
          </a:xfrm>
          <a:prstGeom prst="up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19" name="上箭头 118"/>
          <p:cNvSpPr/>
          <p:nvPr/>
        </p:nvSpPr>
        <p:spPr>
          <a:xfrm>
            <a:off x="4267224" y="3243242"/>
            <a:ext cx="375250" cy="204782"/>
          </a:xfrm>
          <a:prstGeom prst="up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20" name="上箭头 119"/>
          <p:cNvSpPr/>
          <p:nvPr/>
        </p:nvSpPr>
        <p:spPr>
          <a:xfrm rot="5400000">
            <a:off x="5749643" y="2648723"/>
            <a:ext cx="375250" cy="393688"/>
          </a:xfrm>
          <a:prstGeom prst="up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grpSp>
        <p:nvGrpSpPr>
          <p:cNvPr id="55" name="组合 54"/>
          <p:cNvGrpSpPr/>
          <p:nvPr/>
        </p:nvGrpSpPr>
        <p:grpSpPr>
          <a:xfrm>
            <a:off x="6418120" y="4546206"/>
            <a:ext cx="973280" cy="888606"/>
            <a:chOff x="6429388" y="4929198"/>
            <a:chExt cx="1098042" cy="955671"/>
          </a:xfrm>
        </p:grpSpPr>
        <p:sp>
          <p:nvSpPr>
            <p:cNvPr id="56" name="矩形 55"/>
            <p:cNvSpPr/>
            <p:nvPr/>
          </p:nvSpPr>
          <p:spPr>
            <a:xfrm>
              <a:off x="6429388" y="4929198"/>
              <a:ext cx="1098042" cy="955671"/>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57" name="流程图: 磁盘 56"/>
            <p:cNvSpPr/>
            <p:nvPr/>
          </p:nvSpPr>
          <p:spPr>
            <a:xfrm>
              <a:off x="6500826" y="5357826"/>
              <a:ext cx="956819" cy="454955"/>
            </a:xfrm>
            <a:prstGeom prst="flowChartMagneticDisk">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a:t>
              </a:r>
              <a:endParaRPr lang="en-US" altLang="zh-CN" sz="1200" b="1" dirty="0">
                <a:solidFill>
                  <a:schemeClr val="bg1"/>
                </a:solidFill>
                <a:latin typeface="+mn-ea"/>
              </a:endParaRPr>
            </a:p>
            <a:p>
              <a:pPr algn="ctr"/>
              <a:r>
                <a:rPr lang="zh-CN" altLang="en-US" sz="1200" b="1" dirty="0">
                  <a:solidFill>
                    <a:schemeClr val="bg1"/>
                  </a:solidFill>
                  <a:latin typeface="+mn-ea"/>
                </a:rPr>
                <a:t>信息库</a:t>
              </a:r>
            </a:p>
          </p:txBody>
        </p:sp>
        <p:sp>
          <p:nvSpPr>
            <p:cNvPr id="58" name="TextBox 57"/>
            <p:cNvSpPr txBox="1"/>
            <p:nvPr/>
          </p:nvSpPr>
          <p:spPr>
            <a:xfrm>
              <a:off x="6634445" y="5072074"/>
              <a:ext cx="795076" cy="297905"/>
            </a:xfrm>
            <a:prstGeom prst="rect">
              <a:avLst/>
            </a:prstGeom>
            <a:noFill/>
          </p:spPr>
          <p:txBody>
            <a:bodyPr wrap="square" rtlCol="0">
              <a:spAutoFit/>
            </a:bodyPr>
            <a:lstStyle/>
            <a:p>
              <a:r>
                <a:rPr lang="zh-CN" altLang="en-US" sz="1200" dirty="0">
                  <a:latin typeface="+mn-ea"/>
                  <a:ea typeface="+mn-ea"/>
                </a:rPr>
                <a:t>前置区</a:t>
              </a:r>
            </a:p>
          </p:txBody>
        </p:sp>
      </p:grpSp>
      <p:grpSp>
        <p:nvGrpSpPr>
          <p:cNvPr id="61" name="组合 60"/>
          <p:cNvGrpSpPr/>
          <p:nvPr/>
        </p:nvGrpSpPr>
        <p:grpSpPr>
          <a:xfrm>
            <a:off x="6265720" y="4685083"/>
            <a:ext cx="973280" cy="888606"/>
            <a:chOff x="6429388" y="4929198"/>
            <a:chExt cx="1098042" cy="955671"/>
          </a:xfrm>
        </p:grpSpPr>
        <p:sp>
          <p:nvSpPr>
            <p:cNvPr id="62" name="矩形 61"/>
            <p:cNvSpPr/>
            <p:nvPr/>
          </p:nvSpPr>
          <p:spPr>
            <a:xfrm>
              <a:off x="6429388" y="4929198"/>
              <a:ext cx="1098042" cy="955671"/>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63" name="流程图: 磁盘 62"/>
            <p:cNvSpPr/>
            <p:nvPr/>
          </p:nvSpPr>
          <p:spPr>
            <a:xfrm>
              <a:off x="6500826" y="5357826"/>
              <a:ext cx="956819" cy="454955"/>
            </a:xfrm>
            <a:prstGeom prst="flowChartMagneticDisk">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a:t>
              </a:r>
              <a:endParaRPr lang="en-US" altLang="zh-CN" sz="1200" b="1" dirty="0">
                <a:solidFill>
                  <a:schemeClr val="bg1"/>
                </a:solidFill>
                <a:latin typeface="+mn-ea"/>
              </a:endParaRPr>
            </a:p>
            <a:p>
              <a:pPr algn="ctr"/>
              <a:r>
                <a:rPr lang="zh-CN" altLang="en-US" sz="1200" b="1" dirty="0">
                  <a:solidFill>
                    <a:schemeClr val="bg1"/>
                  </a:solidFill>
                  <a:latin typeface="+mn-ea"/>
                </a:rPr>
                <a:t>信息库</a:t>
              </a:r>
            </a:p>
          </p:txBody>
        </p:sp>
        <p:sp>
          <p:nvSpPr>
            <p:cNvPr id="64" name="TextBox 63"/>
            <p:cNvSpPr txBox="1"/>
            <p:nvPr/>
          </p:nvSpPr>
          <p:spPr>
            <a:xfrm>
              <a:off x="6634445" y="5072074"/>
              <a:ext cx="795076" cy="297905"/>
            </a:xfrm>
            <a:prstGeom prst="rect">
              <a:avLst/>
            </a:prstGeom>
            <a:noFill/>
          </p:spPr>
          <p:txBody>
            <a:bodyPr wrap="square" rtlCol="0">
              <a:spAutoFit/>
            </a:bodyPr>
            <a:lstStyle/>
            <a:p>
              <a:r>
                <a:rPr lang="zh-CN" altLang="en-US" sz="1200" dirty="0">
                  <a:latin typeface="+mn-ea"/>
                  <a:ea typeface="+mn-ea"/>
                </a:rPr>
                <a:t>前置区</a:t>
              </a:r>
            </a:p>
          </p:txBody>
        </p:sp>
      </p:grpSp>
    </p:spTree>
    <p:extLst>
      <p:ext uri="{BB962C8B-B14F-4D97-AF65-F5344CB8AC3E}">
        <p14:creationId xmlns:p14="http://schemas.microsoft.com/office/powerpoint/2010/main" val="1833493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矩形 180"/>
          <p:cNvSpPr/>
          <p:nvPr/>
        </p:nvSpPr>
        <p:spPr>
          <a:xfrm>
            <a:off x="6819752" y="914400"/>
            <a:ext cx="1638448" cy="5361801"/>
          </a:xfrm>
          <a:prstGeom prst="rect">
            <a:avLst/>
          </a:prstGeom>
          <a:solidFill>
            <a:srgbClr val="FFFFFF">
              <a:alpha val="4000"/>
            </a:srgbClr>
          </a:solidFill>
          <a:ln>
            <a:solidFill>
              <a:schemeClr val="accent2">
                <a:shade val="95000"/>
                <a:satMod val="105000"/>
                <a:alpha val="54000"/>
              </a:schemeClr>
            </a:solidFill>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34" name="上箭头 133"/>
          <p:cNvSpPr/>
          <p:nvPr/>
        </p:nvSpPr>
        <p:spPr>
          <a:xfrm>
            <a:off x="2440451" y="5061000"/>
            <a:ext cx="180000" cy="180000"/>
          </a:xfrm>
          <a:prstGeom prst="up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33" name="矩形 132"/>
          <p:cNvSpPr/>
          <p:nvPr/>
        </p:nvSpPr>
        <p:spPr>
          <a:xfrm>
            <a:off x="881581" y="5232856"/>
            <a:ext cx="3309419" cy="1055287"/>
          </a:xfrm>
          <a:prstGeom prst="rect">
            <a:avLst/>
          </a:prstGeom>
          <a:solidFill>
            <a:srgbClr val="FFCC99">
              <a:alpha val="0"/>
            </a:srgbClr>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9" name="上箭头 8"/>
          <p:cNvSpPr/>
          <p:nvPr/>
        </p:nvSpPr>
        <p:spPr>
          <a:xfrm>
            <a:off x="1306800" y="5552192"/>
            <a:ext cx="180000" cy="239008"/>
          </a:xfrm>
          <a:prstGeom prst="up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5" name="标题 1"/>
          <p:cNvSpPr>
            <a:spLocks noGrp="1"/>
          </p:cNvSpPr>
          <p:nvPr>
            <p:ph type="title"/>
          </p:nvPr>
        </p:nvSpPr>
        <p:spPr>
          <a:xfrm>
            <a:off x="466628" y="200025"/>
            <a:ext cx="2047972" cy="561975"/>
          </a:xfrm>
        </p:spPr>
        <p:txBody>
          <a:bodyPr/>
          <a:lstStyle/>
          <a:p>
            <a:r>
              <a:rPr lang="zh-CN" altLang="en-US" dirty="0"/>
              <a:t>元数据管理</a:t>
            </a:r>
          </a:p>
        </p:txBody>
      </p:sp>
      <p:sp>
        <p:nvSpPr>
          <p:cNvPr id="11" name="圆柱形 10"/>
          <p:cNvSpPr/>
          <p:nvPr/>
        </p:nvSpPr>
        <p:spPr>
          <a:xfrm rot="5400000">
            <a:off x="2434961" y="1682817"/>
            <a:ext cx="316144" cy="3503711"/>
          </a:xfrm>
          <a:prstGeom prst="can">
            <a:avLst/>
          </a:prstGeom>
          <a:solidFill>
            <a:schemeClr val="accent2">
              <a:lumMod val="60000"/>
              <a:lumOff val="40000"/>
            </a:schemeClr>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400" b="1" dirty="0">
              <a:solidFill>
                <a:schemeClr val="bg1"/>
              </a:solidFill>
              <a:latin typeface="+mn-ea"/>
              <a:ea typeface="+mn-ea"/>
            </a:endParaRPr>
          </a:p>
        </p:txBody>
      </p:sp>
      <p:sp>
        <p:nvSpPr>
          <p:cNvPr id="29" name="TextBox 28"/>
          <p:cNvSpPr txBox="1"/>
          <p:nvPr/>
        </p:nvSpPr>
        <p:spPr>
          <a:xfrm>
            <a:off x="1088713" y="3276599"/>
            <a:ext cx="2750253" cy="276998"/>
          </a:xfrm>
          <a:prstGeom prst="rect">
            <a:avLst/>
          </a:prstGeom>
          <a:noFill/>
        </p:spPr>
        <p:txBody>
          <a:bodyPr wrap="square" rtlCol="0">
            <a:spAutoFit/>
          </a:bodyPr>
          <a:lstStyle/>
          <a:p>
            <a:pPr algn="ctr"/>
            <a:r>
              <a:rPr lang="zh-CN" altLang="en-US" sz="1200" b="1" dirty="0">
                <a:solidFill>
                  <a:schemeClr val="bg1"/>
                </a:solidFill>
                <a:latin typeface="+mn-ea"/>
                <a:ea typeface="+mn-ea"/>
              </a:rPr>
              <a:t>元数据传输</a:t>
            </a:r>
          </a:p>
        </p:txBody>
      </p:sp>
      <p:sp>
        <p:nvSpPr>
          <p:cNvPr id="31" name="TextBox 30"/>
          <p:cNvSpPr txBox="1"/>
          <p:nvPr/>
        </p:nvSpPr>
        <p:spPr>
          <a:xfrm>
            <a:off x="159603" y="1066800"/>
            <a:ext cx="830997" cy="1159025"/>
          </a:xfrm>
          <a:prstGeom prst="rect">
            <a:avLst/>
          </a:prstGeom>
          <a:noFill/>
        </p:spPr>
        <p:txBody>
          <a:bodyPr vert="eaVert" wrap="square" rtlCol="0">
            <a:spAutoFit/>
          </a:bodyPr>
          <a:lstStyle/>
          <a:p>
            <a:pPr algn="ctr"/>
            <a:endParaRPr lang="en-US" altLang="zh-CN" sz="1400" b="1" dirty="0">
              <a:latin typeface="+mj-ea"/>
              <a:ea typeface="+mj-ea"/>
            </a:endParaRPr>
          </a:p>
          <a:p>
            <a:pPr algn="ctr"/>
            <a:r>
              <a:rPr lang="zh-CN" altLang="en-US" sz="1400" b="1" dirty="0">
                <a:latin typeface="+mj-ea"/>
                <a:ea typeface="+mj-ea"/>
              </a:rPr>
              <a:t>元数据采集地中心节点</a:t>
            </a:r>
          </a:p>
        </p:txBody>
      </p:sp>
      <p:sp>
        <p:nvSpPr>
          <p:cNvPr id="12" name="矩形 11"/>
          <p:cNvSpPr/>
          <p:nvPr/>
        </p:nvSpPr>
        <p:spPr>
          <a:xfrm>
            <a:off x="940896" y="914400"/>
            <a:ext cx="3266054" cy="1524000"/>
          </a:xfrm>
          <a:prstGeom prst="rect">
            <a:avLst/>
          </a:prstGeom>
          <a:solidFill>
            <a:srgbClr val="FFFFFF"/>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33" name="矩形 32"/>
          <p:cNvSpPr/>
          <p:nvPr/>
        </p:nvSpPr>
        <p:spPr>
          <a:xfrm>
            <a:off x="1096215" y="990602"/>
            <a:ext cx="3012046" cy="720000"/>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34" name="流程图: 磁盘 33"/>
          <p:cNvSpPr/>
          <p:nvPr/>
        </p:nvSpPr>
        <p:spPr>
          <a:xfrm>
            <a:off x="2144008" y="1221830"/>
            <a:ext cx="675392" cy="401211"/>
          </a:xfrm>
          <a:prstGeom prst="flowChartMagneticDisk">
            <a:avLst/>
          </a:prstGeom>
          <a:solidFill>
            <a:schemeClr val="bg1">
              <a:lumMod val="65000"/>
            </a:schemeClr>
          </a:solidFill>
          <a:ln>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900" b="1" dirty="0">
                <a:solidFill>
                  <a:schemeClr val="bg1"/>
                </a:solidFill>
                <a:latin typeface="+mn-ea"/>
              </a:rPr>
              <a:t>业务</a:t>
            </a:r>
            <a:endParaRPr lang="en-US" altLang="zh-CN" sz="900" b="1" dirty="0">
              <a:solidFill>
                <a:schemeClr val="bg1"/>
              </a:solidFill>
              <a:latin typeface="+mn-ea"/>
            </a:endParaRPr>
          </a:p>
          <a:p>
            <a:pPr algn="ctr"/>
            <a:r>
              <a:rPr lang="zh-CN" altLang="en-US" sz="900" b="1" dirty="0">
                <a:solidFill>
                  <a:schemeClr val="bg1"/>
                </a:solidFill>
                <a:latin typeface="+mn-ea"/>
              </a:rPr>
              <a:t>信息库</a:t>
            </a:r>
          </a:p>
        </p:txBody>
      </p:sp>
      <p:sp>
        <p:nvSpPr>
          <p:cNvPr id="35" name="流程图: 磁盘 34"/>
          <p:cNvSpPr/>
          <p:nvPr/>
        </p:nvSpPr>
        <p:spPr>
          <a:xfrm>
            <a:off x="1219199" y="1219200"/>
            <a:ext cx="670857" cy="423098"/>
          </a:xfrm>
          <a:prstGeom prst="flowChartMagneticDisk">
            <a:avLst/>
          </a:prstGeom>
          <a:solidFill>
            <a:schemeClr val="bg1">
              <a:lumMod val="65000"/>
            </a:schemeClr>
          </a:solidFill>
          <a:ln>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900" b="1" dirty="0">
                <a:solidFill>
                  <a:schemeClr val="bg1"/>
                </a:solidFill>
                <a:latin typeface="+mn-ea"/>
                <a:ea typeface="+mn-ea"/>
              </a:rPr>
              <a:t>基础</a:t>
            </a:r>
            <a:endParaRPr lang="en-US" altLang="zh-CN" sz="900" b="1" dirty="0">
              <a:solidFill>
                <a:schemeClr val="bg1"/>
              </a:solidFill>
              <a:latin typeface="+mn-ea"/>
              <a:ea typeface="+mn-ea"/>
            </a:endParaRPr>
          </a:p>
          <a:p>
            <a:pPr algn="ctr"/>
            <a:r>
              <a:rPr lang="zh-CN" altLang="en-US" sz="900" b="1" dirty="0">
                <a:solidFill>
                  <a:schemeClr val="bg1"/>
                </a:solidFill>
                <a:latin typeface="+mn-ea"/>
                <a:ea typeface="+mn-ea"/>
              </a:rPr>
              <a:t>信息库</a:t>
            </a:r>
          </a:p>
        </p:txBody>
      </p:sp>
      <p:sp>
        <p:nvSpPr>
          <p:cNvPr id="36" name="流程图: 磁盘 35"/>
          <p:cNvSpPr/>
          <p:nvPr/>
        </p:nvSpPr>
        <p:spPr>
          <a:xfrm>
            <a:off x="3085492" y="1219203"/>
            <a:ext cx="724508" cy="417610"/>
          </a:xfrm>
          <a:prstGeom prst="flowChartMagneticDisk">
            <a:avLst/>
          </a:prstGeom>
          <a:solidFill>
            <a:schemeClr val="bg1">
              <a:lumMod val="65000"/>
            </a:schemeClr>
          </a:solidFill>
          <a:ln>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900" b="1" dirty="0">
                <a:solidFill>
                  <a:schemeClr val="bg1"/>
                </a:solidFill>
                <a:latin typeface="+mn-ea"/>
              </a:rPr>
              <a:t>服务</a:t>
            </a:r>
            <a:endParaRPr lang="en-US" altLang="zh-CN" sz="900" b="1" dirty="0">
              <a:solidFill>
                <a:schemeClr val="bg1"/>
              </a:solidFill>
              <a:latin typeface="+mn-ea"/>
            </a:endParaRPr>
          </a:p>
          <a:p>
            <a:pPr algn="ctr"/>
            <a:r>
              <a:rPr lang="zh-CN" altLang="en-US" sz="900" b="1" dirty="0">
                <a:solidFill>
                  <a:schemeClr val="bg1"/>
                </a:solidFill>
                <a:latin typeface="+mn-ea"/>
              </a:rPr>
              <a:t>信息库</a:t>
            </a:r>
          </a:p>
        </p:txBody>
      </p:sp>
      <p:sp>
        <p:nvSpPr>
          <p:cNvPr id="37" name="TextBox 36"/>
          <p:cNvSpPr txBox="1"/>
          <p:nvPr/>
        </p:nvSpPr>
        <p:spPr>
          <a:xfrm>
            <a:off x="2013261" y="972001"/>
            <a:ext cx="1018227" cy="292388"/>
          </a:xfrm>
          <a:prstGeom prst="rect">
            <a:avLst/>
          </a:prstGeom>
          <a:noFill/>
        </p:spPr>
        <p:txBody>
          <a:bodyPr wrap="none" rtlCol="0">
            <a:spAutoFit/>
          </a:bodyPr>
          <a:lstStyle/>
          <a:p>
            <a:pPr algn="ctr"/>
            <a:r>
              <a:rPr lang="zh-CN" altLang="en-US" sz="1300" b="1" dirty="0">
                <a:solidFill>
                  <a:schemeClr val="tx1">
                    <a:lumMod val="75000"/>
                    <a:lumOff val="25000"/>
                  </a:schemeClr>
                </a:solidFill>
                <a:latin typeface="+mn-ea"/>
                <a:ea typeface="+mn-ea"/>
              </a:rPr>
              <a:t>共享信息库</a:t>
            </a:r>
          </a:p>
        </p:txBody>
      </p:sp>
      <p:sp>
        <p:nvSpPr>
          <p:cNvPr id="38" name="流程图: 磁盘 37"/>
          <p:cNvSpPr/>
          <p:nvPr/>
        </p:nvSpPr>
        <p:spPr>
          <a:xfrm>
            <a:off x="1600200" y="2598036"/>
            <a:ext cx="1800000" cy="383328"/>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ea typeface="+mn-ea"/>
              </a:rPr>
              <a:t>元数据存储库</a:t>
            </a:r>
          </a:p>
        </p:txBody>
      </p:sp>
      <p:sp>
        <p:nvSpPr>
          <p:cNvPr id="10" name="流程图: 磁盘 9"/>
          <p:cNvSpPr/>
          <p:nvPr/>
        </p:nvSpPr>
        <p:spPr>
          <a:xfrm>
            <a:off x="1036800" y="5715000"/>
            <a:ext cx="720000" cy="360000"/>
          </a:xfrm>
          <a:prstGeom prst="flowChartMagneticDisk">
            <a:avLst/>
          </a:prstGeom>
          <a:solidFill>
            <a:schemeClr val="bg1">
              <a:lumMod val="65000"/>
            </a:schemeClr>
          </a:solidFill>
          <a:ln>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900" b="1" dirty="0">
                <a:solidFill>
                  <a:schemeClr val="bg1"/>
                </a:solidFill>
                <a:latin typeface="+mn-ea"/>
                <a:ea typeface="+mn-ea"/>
              </a:rPr>
              <a:t>业务</a:t>
            </a:r>
            <a:endParaRPr lang="en-US" altLang="zh-CN" sz="900" b="1" dirty="0">
              <a:solidFill>
                <a:schemeClr val="bg1"/>
              </a:solidFill>
              <a:latin typeface="+mn-ea"/>
              <a:ea typeface="+mn-ea"/>
            </a:endParaRPr>
          </a:p>
          <a:p>
            <a:pPr algn="ctr"/>
            <a:r>
              <a:rPr lang="zh-CN" altLang="en-US" sz="900" b="1" dirty="0">
                <a:solidFill>
                  <a:schemeClr val="bg1"/>
                </a:solidFill>
                <a:latin typeface="+mn-ea"/>
                <a:ea typeface="+mn-ea"/>
              </a:rPr>
              <a:t>信息库</a:t>
            </a:r>
          </a:p>
        </p:txBody>
      </p:sp>
      <p:sp>
        <p:nvSpPr>
          <p:cNvPr id="14" name="TextBox 13"/>
          <p:cNvSpPr txBox="1"/>
          <p:nvPr/>
        </p:nvSpPr>
        <p:spPr>
          <a:xfrm>
            <a:off x="1055894" y="6078379"/>
            <a:ext cx="696706" cy="246221"/>
          </a:xfrm>
          <a:prstGeom prst="rect">
            <a:avLst/>
          </a:prstGeom>
          <a:noFill/>
        </p:spPr>
        <p:txBody>
          <a:bodyPr wrap="square" rtlCol="0">
            <a:spAutoFit/>
          </a:bodyPr>
          <a:lstStyle/>
          <a:p>
            <a:pPr algn="ctr"/>
            <a:r>
              <a:rPr lang="zh-CN" altLang="en-US" sz="1000" b="1" dirty="0">
                <a:latin typeface="+mn-ea"/>
                <a:ea typeface="+mn-ea"/>
              </a:rPr>
              <a:t>委办局</a:t>
            </a:r>
            <a:r>
              <a:rPr lang="en-US" altLang="zh-CN" sz="1000" b="1" dirty="0">
                <a:latin typeface="+mn-ea"/>
                <a:ea typeface="+mn-ea"/>
              </a:rPr>
              <a:t>A</a:t>
            </a:r>
            <a:endParaRPr lang="zh-CN" altLang="en-US" sz="1000" b="1" dirty="0">
              <a:latin typeface="+mn-ea"/>
              <a:ea typeface="+mn-ea"/>
            </a:endParaRPr>
          </a:p>
        </p:txBody>
      </p:sp>
      <p:sp>
        <p:nvSpPr>
          <p:cNvPr id="15" name="TextBox 14"/>
          <p:cNvSpPr txBox="1"/>
          <p:nvPr/>
        </p:nvSpPr>
        <p:spPr>
          <a:xfrm>
            <a:off x="2133600" y="6078379"/>
            <a:ext cx="711962" cy="246221"/>
          </a:xfrm>
          <a:prstGeom prst="rect">
            <a:avLst/>
          </a:prstGeom>
          <a:noFill/>
        </p:spPr>
        <p:txBody>
          <a:bodyPr wrap="square" rtlCol="0">
            <a:spAutoFit/>
          </a:bodyPr>
          <a:lstStyle/>
          <a:p>
            <a:pPr algn="ctr"/>
            <a:r>
              <a:rPr lang="zh-CN" altLang="en-US" sz="1000" b="1" dirty="0">
                <a:latin typeface="+mn-ea"/>
                <a:ea typeface="+mn-ea"/>
              </a:rPr>
              <a:t>委办局</a:t>
            </a:r>
            <a:r>
              <a:rPr lang="en-US" altLang="zh-CN" sz="1000" b="1" dirty="0">
                <a:latin typeface="+mn-ea"/>
                <a:ea typeface="+mn-ea"/>
              </a:rPr>
              <a:t>B</a:t>
            </a:r>
            <a:endParaRPr lang="zh-CN" altLang="en-US" sz="1000" b="1" dirty="0">
              <a:latin typeface="+mn-ea"/>
              <a:ea typeface="+mn-ea"/>
            </a:endParaRPr>
          </a:p>
        </p:txBody>
      </p:sp>
      <p:sp>
        <p:nvSpPr>
          <p:cNvPr id="16" name="TextBox 15"/>
          <p:cNvSpPr txBox="1"/>
          <p:nvPr/>
        </p:nvSpPr>
        <p:spPr>
          <a:xfrm>
            <a:off x="3124200" y="6078379"/>
            <a:ext cx="917795" cy="246221"/>
          </a:xfrm>
          <a:prstGeom prst="rect">
            <a:avLst/>
          </a:prstGeom>
          <a:noFill/>
        </p:spPr>
        <p:txBody>
          <a:bodyPr wrap="square" rtlCol="0">
            <a:spAutoFit/>
          </a:bodyPr>
          <a:lstStyle/>
          <a:p>
            <a:pPr algn="ctr"/>
            <a:r>
              <a:rPr lang="zh-CN" altLang="en-US" sz="1000" b="1" dirty="0">
                <a:latin typeface="+mn-ea"/>
                <a:ea typeface="+mn-ea"/>
              </a:rPr>
              <a:t>委办局</a:t>
            </a:r>
            <a:r>
              <a:rPr lang="en-US" altLang="zh-CN" sz="1000" b="1" dirty="0">
                <a:latin typeface="+mn-ea"/>
                <a:ea typeface="+mn-ea"/>
              </a:rPr>
              <a:t>C</a:t>
            </a:r>
            <a:endParaRPr lang="zh-CN" altLang="en-US" sz="1000" b="1" dirty="0">
              <a:latin typeface="+mn-ea"/>
              <a:ea typeface="+mn-ea"/>
            </a:endParaRPr>
          </a:p>
        </p:txBody>
      </p:sp>
      <p:sp>
        <p:nvSpPr>
          <p:cNvPr id="17" name="流程图: 磁盘 16"/>
          <p:cNvSpPr/>
          <p:nvPr/>
        </p:nvSpPr>
        <p:spPr>
          <a:xfrm>
            <a:off x="2143855" y="5736000"/>
            <a:ext cx="720000" cy="360000"/>
          </a:xfrm>
          <a:prstGeom prst="flowChartMagneticDisk">
            <a:avLst/>
          </a:prstGeom>
          <a:solidFill>
            <a:schemeClr val="bg1">
              <a:lumMod val="65000"/>
            </a:schemeClr>
          </a:solidFill>
          <a:ln>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900" b="1" dirty="0">
                <a:solidFill>
                  <a:schemeClr val="bg1"/>
                </a:solidFill>
                <a:latin typeface="+mn-ea"/>
              </a:rPr>
              <a:t>业务</a:t>
            </a:r>
            <a:endParaRPr lang="en-US" altLang="zh-CN" sz="900" b="1" dirty="0">
              <a:solidFill>
                <a:schemeClr val="bg1"/>
              </a:solidFill>
              <a:latin typeface="+mn-ea"/>
            </a:endParaRPr>
          </a:p>
          <a:p>
            <a:pPr algn="ctr"/>
            <a:r>
              <a:rPr lang="zh-CN" altLang="en-US" sz="900" b="1" dirty="0">
                <a:solidFill>
                  <a:schemeClr val="bg1"/>
                </a:solidFill>
                <a:latin typeface="+mn-ea"/>
              </a:rPr>
              <a:t>信息库</a:t>
            </a:r>
          </a:p>
        </p:txBody>
      </p:sp>
      <p:sp>
        <p:nvSpPr>
          <p:cNvPr id="18" name="流程图: 磁盘 17"/>
          <p:cNvSpPr/>
          <p:nvPr/>
        </p:nvSpPr>
        <p:spPr>
          <a:xfrm>
            <a:off x="3200400" y="5736000"/>
            <a:ext cx="720000" cy="360000"/>
          </a:xfrm>
          <a:prstGeom prst="flowChartMagneticDisk">
            <a:avLst/>
          </a:prstGeom>
          <a:solidFill>
            <a:schemeClr val="bg1">
              <a:lumMod val="65000"/>
            </a:schemeClr>
          </a:solidFill>
          <a:ln>
            <a:solidFill>
              <a:schemeClr val="bg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900" b="1" dirty="0">
                <a:solidFill>
                  <a:schemeClr val="bg1"/>
                </a:solidFill>
                <a:latin typeface="+mn-ea"/>
              </a:rPr>
              <a:t>业务</a:t>
            </a:r>
            <a:endParaRPr lang="en-US" altLang="zh-CN" sz="900" b="1" dirty="0">
              <a:solidFill>
                <a:schemeClr val="bg1"/>
              </a:solidFill>
              <a:latin typeface="+mn-ea"/>
            </a:endParaRPr>
          </a:p>
          <a:p>
            <a:pPr algn="ctr"/>
            <a:r>
              <a:rPr lang="zh-CN" altLang="en-US" sz="900" b="1" dirty="0">
                <a:solidFill>
                  <a:schemeClr val="bg1"/>
                </a:solidFill>
                <a:latin typeface="+mn-ea"/>
              </a:rPr>
              <a:t>信息库</a:t>
            </a:r>
          </a:p>
        </p:txBody>
      </p:sp>
      <p:cxnSp>
        <p:nvCxnSpPr>
          <p:cNvPr id="80" name="直接连接符 79"/>
          <p:cNvCxnSpPr/>
          <p:nvPr/>
        </p:nvCxnSpPr>
        <p:spPr>
          <a:xfrm>
            <a:off x="4641600" y="1676399"/>
            <a:ext cx="650" cy="3962401"/>
          </a:xfrm>
          <a:prstGeom prst="line">
            <a:avLst/>
          </a:prstGeom>
          <a:ln w="15875">
            <a:solidFill>
              <a:schemeClr val="accent1">
                <a:lumMod val="50000"/>
              </a:schemeClr>
            </a:solidFill>
            <a:prstDash val="dash"/>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4" name="TextBox 93"/>
          <p:cNvSpPr txBox="1"/>
          <p:nvPr/>
        </p:nvSpPr>
        <p:spPr>
          <a:xfrm>
            <a:off x="1072899" y="5232856"/>
            <a:ext cx="2607645" cy="276999"/>
          </a:xfrm>
          <a:prstGeom prst="rect">
            <a:avLst/>
          </a:prstGeom>
          <a:noFill/>
        </p:spPr>
        <p:txBody>
          <a:bodyPr wrap="square" rtlCol="0">
            <a:spAutoFit/>
          </a:bodyPr>
          <a:lstStyle/>
          <a:p>
            <a:pPr algn="ctr"/>
            <a:r>
              <a:rPr lang="zh-CN" altLang="en-US" sz="1200" b="1" dirty="0">
                <a:solidFill>
                  <a:schemeClr val="bg1"/>
                </a:solidFill>
                <a:latin typeface="+mn-ea"/>
                <a:ea typeface="+mn-ea"/>
              </a:rPr>
              <a:t>元数据来源</a:t>
            </a:r>
          </a:p>
        </p:txBody>
      </p:sp>
      <p:sp>
        <p:nvSpPr>
          <p:cNvPr id="122" name="矩形 121"/>
          <p:cNvSpPr/>
          <p:nvPr/>
        </p:nvSpPr>
        <p:spPr>
          <a:xfrm>
            <a:off x="4344888" y="1170801"/>
            <a:ext cx="646331" cy="461665"/>
          </a:xfrm>
          <a:prstGeom prst="rect">
            <a:avLst/>
          </a:prstGeom>
        </p:spPr>
        <p:txBody>
          <a:bodyPr wrap="none">
            <a:spAutoFit/>
          </a:bodyPr>
          <a:lstStyle/>
          <a:p>
            <a:pPr algn="ctr">
              <a:defRPr/>
            </a:pPr>
            <a:r>
              <a:rPr lang="zh-CN" altLang="en-US" sz="1200" b="1" dirty="0">
                <a:solidFill>
                  <a:srgbClr val="1F497D"/>
                </a:solidFill>
                <a:latin typeface="微软雅黑"/>
                <a:ea typeface="微软雅黑"/>
              </a:rPr>
              <a:t>元数据</a:t>
            </a:r>
            <a:endParaRPr lang="en-US" altLang="zh-CN" sz="1200" b="1" dirty="0">
              <a:solidFill>
                <a:srgbClr val="1F497D"/>
              </a:solidFill>
              <a:latin typeface="微软雅黑"/>
              <a:ea typeface="微软雅黑"/>
            </a:endParaRPr>
          </a:p>
          <a:p>
            <a:pPr algn="ctr">
              <a:defRPr/>
            </a:pPr>
            <a:r>
              <a:rPr lang="zh-CN" altLang="en-US" sz="1200" b="1" dirty="0">
                <a:solidFill>
                  <a:srgbClr val="1F497D"/>
                </a:solidFill>
                <a:latin typeface="微软雅黑"/>
                <a:ea typeface="微软雅黑"/>
              </a:rPr>
              <a:t>类型</a:t>
            </a:r>
          </a:p>
        </p:txBody>
      </p:sp>
      <p:sp>
        <p:nvSpPr>
          <p:cNvPr id="56" name="矩形 55"/>
          <p:cNvSpPr/>
          <p:nvPr/>
        </p:nvSpPr>
        <p:spPr>
          <a:xfrm>
            <a:off x="5181600" y="914400"/>
            <a:ext cx="1298570" cy="5361801"/>
          </a:xfrm>
          <a:prstGeom prst="rect">
            <a:avLst/>
          </a:prstGeom>
          <a:solidFill>
            <a:srgbClr val="FFFFFF">
              <a:alpha val="4000"/>
            </a:srgbClr>
          </a:solidFill>
          <a:ln>
            <a:solidFill>
              <a:schemeClr val="accent2">
                <a:shade val="95000"/>
                <a:satMod val="105000"/>
                <a:alpha val="54000"/>
              </a:schemeClr>
            </a:solidFill>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70" name="圆角矩形 69"/>
          <p:cNvSpPr/>
          <p:nvPr/>
        </p:nvSpPr>
        <p:spPr>
          <a:xfrm>
            <a:off x="5313010" y="1623038"/>
            <a:ext cx="993770" cy="415652"/>
          </a:xfrm>
          <a:prstGeom prst="roundRect">
            <a:avLst/>
          </a:prstGeom>
          <a:solidFill>
            <a:srgbClr val="6296FF"/>
          </a:solidFill>
          <a:ln w="19050">
            <a:noFill/>
          </a:ln>
        </p:spPr>
        <p:style>
          <a:lnRef idx="3">
            <a:schemeClr val="lt1"/>
          </a:lnRef>
          <a:fillRef idx="1">
            <a:schemeClr val="accent5"/>
          </a:fillRef>
          <a:effectRef idx="1">
            <a:schemeClr val="accent5"/>
          </a:effectRef>
          <a:fontRef idx="minor">
            <a:schemeClr val="lt1"/>
          </a:fontRef>
        </p:style>
        <p:txBody>
          <a:bodyPr anchor="ctr"/>
          <a:lstStyle/>
          <a:p>
            <a:pPr algn="ctr"/>
            <a:r>
              <a:rPr lang="zh-CN" altLang="en-US" sz="1200" b="1" dirty="0">
                <a:solidFill>
                  <a:prstClr val="white"/>
                </a:solidFill>
                <a:latin typeface="微软雅黑"/>
              </a:rPr>
              <a:t>元数据采集</a:t>
            </a:r>
          </a:p>
        </p:txBody>
      </p:sp>
      <p:sp>
        <p:nvSpPr>
          <p:cNvPr id="124" name="圆角矩形 123"/>
          <p:cNvSpPr/>
          <p:nvPr/>
        </p:nvSpPr>
        <p:spPr>
          <a:xfrm>
            <a:off x="5313010" y="2121820"/>
            <a:ext cx="993770" cy="415652"/>
          </a:xfrm>
          <a:prstGeom prst="roundRect">
            <a:avLst/>
          </a:prstGeom>
          <a:solidFill>
            <a:srgbClr val="6296FF"/>
          </a:solidFill>
          <a:ln w="19050">
            <a:noFill/>
          </a:ln>
        </p:spPr>
        <p:style>
          <a:lnRef idx="3">
            <a:schemeClr val="lt1"/>
          </a:lnRef>
          <a:fillRef idx="1">
            <a:schemeClr val="accent5"/>
          </a:fillRef>
          <a:effectRef idx="1">
            <a:schemeClr val="accent5"/>
          </a:effectRef>
          <a:fontRef idx="minor">
            <a:schemeClr val="lt1"/>
          </a:fontRef>
        </p:style>
        <p:txBody>
          <a:bodyPr anchor="ctr"/>
          <a:lstStyle/>
          <a:p>
            <a:pPr algn="ctr"/>
            <a:r>
              <a:rPr lang="zh-CN" altLang="en-US" sz="1200" b="1" dirty="0">
                <a:solidFill>
                  <a:prstClr val="white"/>
                </a:solidFill>
                <a:latin typeface="微软雅黑"/>
              </a:rPr>
              <a:t>元数据模型</a:t>
            </a:r>
          </a:p>
        </p:txBody>
      </p:sp>
      <p:sp>
        <p:nvSpPr>
          <p:cNvPr id="125" name="圆角矩形 124"/>
          <p:cNvSpPr/>
          <p:nvPr/>
        </p:nvSpPr>
        <p:spPr>
          <a:xfrm>
            <a:off x="5313010" y="2620602"/>
            <a:ext cx="993770" cy="415652"/>
          </a:xfrm>
          <a:prstGeom prst="roundRect">
            <a:avLst/>
          </a:prstGeom>
          <a:solidFill>
            <a:srgbClr val="6296FF"/>
          </a:solidFill>
          <a:ln w="19050">
            <a:noFill/>
          </a:ln>
        </p:spPr>
        <p:style>
          <a:lnRef idx="3">
            <a:schemeClr val="lt1"/>
          </a:lnRef>
          <a:fillRef idx="1">
            <a:schemeClr val="accent5"/>
          </a:fillRef>
          <a:effectRef idx="1">
            <a:schemeClr val="accent5"/>
          </a:effectRef>
          <a:fontRef idx="minor">
            <a:schemeClr val="lt1"/>
          </a:fontRef>
        </p:style>
        <p:txBody>
          <a:bodyPr anchor="ctr"/>
          <a:lstStyle/>
          <a:p>
            <a:pPr algn="ctr"/>
            <a:r>
              <a:rPr lang="zh-CN" altLang="en-US" sz="1200" b="1" dirty="0">
                <a:solidFill>
                  <a:prstClr val="white"/>
                </a:solidFill>
                <a:latin typeface="微软雅黑"/>
              </a:rPr>
              <a:t>元数据检索</a:t>
            </a:r>
          </a:p>
        </p:txBody>
      </p:sp>
      <p:sp>
        <p:nvSpPr>
          <p:cNvPr id="126" name="圆角矩形 125"/>
          <p:cNvSpPr/>
          <p:nvPr/>
        </p:nvSpPr>
        <p:spPr>
          <a:xfrm>
            <a:off x="5289973" y="3119385"/>
            <a:ext cx="1016807" cy="415652"/>
          </a:xfrm>
          <a:prstGeom prst="roundRect">
            <a:avLst/>
          </a:prstGeom>
          <a:solidFill>
            <a:srgbClr val="6296FF"/>
          </a:solidFill>
          <a:ln w="19050">
            <a:noFill/>
          </a:ln>
        </p:spPr>
        <p:style>
          <a:lnRef idx="3">
            <a:schemeClr val="lt1"/>
          </a:lnRef>
          <a:fillRef idx="1">
            <a:schemeClr val="accent5"/>
          </a:fillRef>
          <a:effectRef idx="1">
            <a:schemeClr val="accent5"/>
          </a:effectRef>
          <a:fontRef idx="minor">
            <a:schemeClr val="lt1"/>
          </a:fontRef>
        </p:style>
        <p:txBody>
          <a:bodyPr anchor="ctr"/>
          <a:lstStyle/>
          <a:p>
            <a:pPr algn="ctr"/>
            <a:r>
              <a:rPr lang="zh-CN" altLang="en-US" sz="1200" b="1" dirty="0">
                <a:solidFill>
                  <a:prstClr val="white"/>
                </a:solidFill>
                <a:latin typeface="微软雅黑"/>
              </a:rPr>
              <a:t>元数据订阅</a:t>
            </a:r>
          </a:p>
        </p:txBody>
      </p:sp>
      <p:sp>
        <p:nvSpPr>
          <p:cNvPr id="127" name="圆角矩形 126"/>
          <p:cNvSpPr/>
          <p:nvPr/>
        </p:nvSpPr>
        <p:spPr>
          <a:xfrm>
            <a:off x="5313010" y="3618167"/>
            <a:ext cx="993770" cy="415652"/>
          </a:xfrm>
          <a:prstGeom prst="roundRect">
            <a:avLst/>
          </a:prstGeom>
          <a:solidFill>
            <a:srgbClr val="6296FF"/>
          </a:solidFill>
          <a:ln w="19050">
            <a:noFill/>
          </a:ln>
        </p:spPr>
        <p:style>
          <a:lnRef idx="3">
            <a:schemeClr val="lt1"/>
          </a:lnRef>
          <a:fillRef idx="1">
            <a:schemeClr val="accent5"/>
          </a:fillRef>
          <a:effectRef idx="1">
            <a:schemeClr val="accent5"/>
          </a:effectRef>
          <a:fontRef idx="minor">
            <a:schemeClr val="lt1"/>
          </a:fontRef>
        </p:style>
        <p:txBody>
          <a:bodyPr anchor="ctr"/>
          <a:lstStyle/>
          <a:p>
            <a:pPr algn="ctr"/>
            <a:r>
              <a:rPr lang="zh-CN" altLang="en-US" sz="1200" b="1" dirty="0">
                <a:solidFill>
                  <a:prstClr val="white"/>
                </a:solidFill>
                <a:latin typeface="微软雅黑"/>
              </a:rPr>
              <a:t>元数据变更</a:t>
            </a:r>
          </a:p>
        </p:txBody>
      </p:sp>
      <p:sp>
        <p:nvSpPr>
          <p:cNvPr id="128" name="圆角矩形 127"/>
          <p:cNvSpPr/>
          <p:nvPr/>
        </p:nvSpPr>
        <p:spPr>
          <a:xfrm>
            <a:off x="5289973" y="4116950"/>
            <a:ext cx="1016807" cy="415652"/>
          </a:xfrm>
          <a:prstGeom prst="roundRect">
            <a:avLst/>
          </a:prstGeom>
          <a:solidFill>
            <a:srgbClr val="6296FF"/>
          </a:solidFill>
          <a:ln w="19050">
            <a:noFill/>
          </a:ln>
        </p:spPr>
        <p:style>
          <a:lnRef idx="3">
            <a:schemeClr val="lt1"/>
          </a:lnRef>
          <a:fillRef idx="1">
            <a:schemeClr val="accent5"/>
          </a:fillRef>
          <a:effectRef idx="1">
            <a:schemeClr val="accent5"/>
          </a:effectRef>
          <a:fontRef idx="minor">
            <a:schemeClr val="lt1"/>
          </a:fontRef>
        </p:style>
        <p:txBody>
          <a:bodyPr anchor="ctr"/>
          <a:lstStyle/>
          <a:p>
            <a:pPr algn="ctr"/>
            <a:r>
              <a:rPr lang="zh-CN" altLang="en-US" sz="1200" b="1" dirty="0">
                <a:solidFill>
                  <a:prstClr val="white"/>
                </a:solidFill>
                <a:latin typeface="微软雅黑"/>
              </a:rPr>
              <a:t>元数据导出</a:t>
            </a:r>
          </a:p>
        </p:txBody>
      </p:sp>
      <p:sp>
        <p:nvSpPr>
          <p:cNvPr id="129" name="圆角矩形 128"/>
          <p:cNvSpPr/>
          <p:nvPr/>
        </p:nvSpPr>
        <p:spPr>
          <a:xfrm>
            <a:off x="5313010" y="4615732"/>
            <a:ext cx="993770" cy="415652"/>
          </a:xfrm>
          <a:prstGeom prst="roundRect">
            <a:avLst/>
          </a:prstGeom>
          <a:solidFill>
            <a:srgbClr val="6296FF"/>
          </a:solidFill>
          <a:ln w="19050">
            <a:noFill/>
          </a:ln>
        </p:spPr>
        <p:style>
          <a:lnRef idx="3">
            <a:schemeClr val="lt1"/>
          </a:lnRef>
          <a:fillRef idx="1">
            <a:schemeClr val="accent5"/>
          </a:fillRef>
          <a:effectRef idx="1">
            <a:schemeClr val="accent5"/>
          </a:effectRef>
          <a:fontRef idx="minor">
            <a:schemeClr val="lt1"/>
          </a:fontRef>
        </p:style>
        <p:txBody>
          <a:bodyPr anchor="ctr"/>
          <a:lstStyle/>
          <a:p>
            <a:pPr algn="ctr"/>
            <a:r>
              <a:rPr lang="zh-CN" altLang="en-US" sz="1200" b="1" dirty="0">
                <a:solidFill>
                  <a:prstClr val="white"/>
                </a:solidFill>
                <a:latin typeface="微软雅黑"/>
              </a:rPr>
              <a:t>元数据版本</a:t>
            </a:r>
          </a:p>
        </p:txBody>
      </p:sp>
      <p:sp>
        <p:nvSpPr>
          <p:cNvPr id="130" name="圆角矩形 129"/>
          <p:cNvSpPr/>
          <p:nvPr/>
        </p:nvSpPr>
        <p:spPr>
          <a:xfrm>
            <a:off x="5293517" y="5114515"/>
            <a:ext cx="1013263" cy="415652"/>
          </a:xfrm>
          <a:prstGeom prst="roundRect">
            <a:avLst/>
          </a:prstGeom>
          <a:solidFill>
            <a:srgbClr val="6296FF"/>
          </a:solidFill>
          <a:ln w="19050">
            <a:noFill/>
          </a:ln>
        </p:spPr>
        <p:style>
          <a:lnRef idx="3">
            <a:schemeClr val="lt1"/>
          </a:lnRef>
          <a:fillRef idx="1">
            <a:schemeClr val="accent5"/>
          </a:fillRef>
          <a:effectRef idx="1">
            <a:schemeClr val="accent5"/>
          </a:effectRef>
          <a:fontRef idx="minor">
            <a:schemeClr val="lt1"/>
          </a:fontRef>
        </p:style>
        <p:txBody>
          <a:bodyPr anchor="ctr"/>
          <a:lstStyle/>
          <a:p>
            <a:pPr algn="ctr"/>
            <a:r>
              <a:rPr lang="zh-CN" altLang="en-US" sz="1200" b="1" dirty="0">
                <a:solidFill>
                  <a:prstClr val="white"/>
                </a:solidFill>
                <a:latin typeface="微软雅黑"/>
              </a:rPr>
              <a:t>元数据维护</a:t>
            </a:r>
          </a:p>
        </p:txBody>
      </p:sp>
      <p:sp>
        <p:nvSpPr>
          <p:cNvPr id="131" name="圆角矩形 130"/>
          <p:cNvSpPr/>
          <p:nvPr/>
        </p:nvSpPr>
        <p:spPr>
          <a:xfrm>
            <a:off x="5293517" y="5613297"/>
            <a:ext cx="1013263" cy="415652"/>
          </a:xfrm>
          <a:prstGeom prst="roundRect">
            <a:avLst/>
          </a:prstGeom>
          <a:solidFill>
            <a:srgbClr val="6296FF"/>
          </a:solidFill>
          <a:ln w="19050">
            <a:noFill/>
          </a:ln>
        </p:spPr>
        <p:style>
          <a:lnRef idx="3">
            <a:schemeClr val="lt1"/>
          </a:lnRef>
          <a:fillRef idx="1">
            <a:schemeClr val="accent5"/>
          </a:fillRef>
          <a:effectRef idx="1">
            <a:schemeClr val="accent5"/>
          </a:effectRef>
          <a:fontRef idx="minor">
            <a:schemeClr val="lt1"/>
          </a:fontRef>
        </p:style>
        <p:txBody>
          <a:bodyPr anchor="ctr"/>
          <a:lstStyle/>
          <a:p>
            <a:pPr algn="ctr"/>
            <a:r>
              <a:rPr lang="zh-CN" altLang="en-US" sz="1200" b="1" dirty="0">
                <a:solidFill>
                  <a:prstClr val="white"/>
                </a:solidFill>
                <a:latin typeface="微软雅黑"/>
              </a:rPr>
              <a:t>元数据存储</a:t>
            </a:r>
          </a:p>
        </p:txBody>
      </p:sp>
      <p:sp>
        <p:nvSpPr>
          <p:cNvPr id="140" name="矩形 139"/>
          <p:cNvSpPr/>
          <p:nvPr/>
        </p:nvSpPr>
        <p:spPr>
          <a:xfrm>
            <a:off x="5184770" y="1140997"/>
            <a:ext cx="1210588" cy="369346"/>
          </a:xfrm>
          <a:prstGeom prst="rect">
            <a:avLst/>
          </a:prstGeom>
        </p:spPr>
        <p:txBody>
          <a:bodyPr wrap="none">
            <a:spAutoFit/>
          </a:bodyPr>
          <a:lstStyle/>
          <a:p>
            <a:pPr algn="ctr">
              <a:defRPr/>
            </a:pPr>
            <a:r>
              <a:rPr lang="zh-CN" altLang="en-US" sz="1600" b="1" dirty="0">
                <a:solidFill>
                  <a:srgbClr val="265A9A"/>
                </a:solidFill>
                <a:latin typeface="微软雅黑"/>
                <a:ea typeface="+mn-ea"/>
              </a:rPr>
              <a:t>元数据管理</a:t>
            </a:r>
          </a:p>
        </p:txBody>
      </p:sp>
      <p:sp>
        <p:nvSpPr>
          <p:cNvPr id="2" name="矩形 1"/>
          <p:cNvSpPr/>
          <p:nvPr/>
        </p:nvSpPr>
        <p:spPr>
          <a:xfrm>
            <a:off x="6819754" y="1601718"/>
            <a:ext cx="1638446" cy="4570481"/>
          </a:xfrm>
          <a:prstGeom prst="rect">
            <a:avLst/>
          </a:prstGeom>
        </p:spPr>
        <p:txBody>
          <a:bodyPr wrap="square">
            <a:spAutoFit/>
          </a:bodyPr>
          <a:lstStyle/>
          <a:p>
            <a:pPr marL="171450" indent="-171450">
              <a:buFont typeface="Wingdings" pitchFamily="2" charset="2"/>
              <a:buChar char="Ø"/>
            </a:pPr>
            <a:r>
              <a:rPr lang="zh-CN" altLang="en-US" sz="1300" b="1" dirty="0">
                <a:solidFill>
                  <a:schemeClr val="tx1">
                    <a:lumMod val="65000"/>
                    <a:lumOff val="35000"/>
                  </a:schemeClr>
                </a:solidFill>
                <a:latin typeface="+mn-ea"/>
                <a:ea typeface="+mn-ea"/>
              </a:rPr>
              <a:t>数据地图</a:t>
            </a:r>
            <a:endParaRPr lang="en-US" altLang="zh-CN" sz="1300" b="1" dirty="0">
              <a:solidFill>
                <a:schemeClr val="tx1">
                  <a:lumMod val="65000"/>
                  <a:lumOff val="35000"/>
                </a:schemeClr>
              </a:solidFill>
              <a:latin typeface="+mn-ea"/>
              <a:ea typeface="+mn-ea"/>
            </a:endParaRPr>
          </a:p>
          <a:p>
            <a:endParaRPr lang="en-US" altLang="zh-CN" sz="1200" b="1" dirty="0">
              <a:solidFill>
                <a:schemeClr val="tx1">
                  <a:lumMod val="85000"/>
                  <a:lumOff val="15000"/>
                </a:schemeClr>
              </a:solidFill>
              <a:latin typeface="+mn-ea"/>
              <a:ea typeface="+mn-ea"/>
            </a:endParaRPr>
          </a:p>
          <a:p>
            <a:endParaRPr lang="en-US" altLang="zh-CN" sz="1200" b="1" dirty="0">
              <a:solidFill>
                <a:schemeClr val="tx1">
                  <a:lumMod val="85000"/>
                  <a:lumOff val="15000"/>
                </a:schemeClr>
              </a:solidFill>
              <a:latin typeface="+mn-ea"/>
              <a:ea typeface="+mn-ea"/>
            </a:endParaRPr>
          </a:p>
          <a:p>
            <a:endParaRPr lang="en-US" altLang="zh-CN" sz="1200" b="1" dirty="0">
              <a:solidFill>
                <a:schemeClr val="tx1">
                  <a:lumMod val="85000"/>
                  <a:lumOff val="15000"/>
                </a:schemeClr>
              </a:solidFill>
              <a:latin typeface="+mn-ea"/>
              <a:ea typeface="+mn-ea"/>
            </a:endParaRPr>
          </a:p>
          <a:p>
            <a:endParaRPr lang="en-US" altLang="zh-CN" sz="1200" b="1" dirty="0">
              <a:solidFill>
                <a:schemeClr val="tx1">
                  <a:lumMod val="85000"/>
                  <a:lumOff val="15000"/>
                </a:schemeClr>
              </a:solidFill>
              <a:latin typeface="+mn-ea"/>
              <a:ea typeface="+mn-ea"/>
            </a:endParaRPr>
          </a:p>
          <a:p>
            <a:endParaRPr lang="en-US" altLang="zh-CN" sz="1200" b="1" dirty="0">
              <a:solidFill>
                <a:schemeClr val="tx1">
                  <a:lumMod val="85000"/>
                  <a:lumOff val="15000"/>
                </a:schemeClr>
              </a:solidFill>
              <a:latin typeface="+mn-ea"/>
              <a:ea typeface="+mn-ea"/>
            </a:endParaRPr>
          </a:p>
          <a:p>
            <a:pPr marL="171450" indent="-171450">
              <a:buFont typeface="Wingdings" pitchFamily="2" charset="2"/>
              <a:buChar char="Ø"/>
            </a:pPr>
            <a:r>
              <a:rPr lang="zh-CN" altLang="en-US" sz="1300" b="1" dirty="0">
                <a:solidFill>
                  <a:schemeClr val="tx1">
                    <a:lumMod val="65000"/>
                    <a:lumOff val="35000"/>
                  </a:schemeClr>
                </a:solidFill>
                <a:latin typeface="+mn-ea"/>
                <a:ea typeface="+mn-ea"/>
              </a:rPr>
              <a:t>影响分析</a:t>
            </a:r>
            <a:endParaRPr lang="en-US" altLang="zh-CN" sz="1300" b="1" dirty="0">
              <a:solidFill>
                <a:schemeClr val="tx1">
                  <a:lumMod val="65000"/>
                  <a:lumOff val="35000"/>
                </a:schemeClr>
              </a:solidFill>
              <a:latin typeface="+mn-ea"/>
              <a:ea typeface="+mn-ea"/>
            </a:endParaRPr>
          </a:p>
          <a:p>
            <a:endParaRPr lang="en-US" altLang="zh-CN" sz="1200" b="1" dirty="0">
              <a:solidFill>
                <a:schemeClr val="tx1">
                  <a:lumMod val="85000"/>
                  <a:lumOff val="15000"/>
                </a:schemeClr>
              </a:solidFill>
              <a:latin typeface="+mn-ea"/>
              <a:ea typeface="+mn-ea"/>
            </a:endParaRPr>
          </a:p>
          <a:p>
            <a:endParaRPr lang="en-US" altLang="zh-CN" sz="1200" b="1" dirty="0">
              <a:solidFill>
                <a:schemeClr val="tx1">
                  <a:lumMod val="85000"/>
                  <a:lumOff val="15000"/>
                </a:schemeClr>
              </a:solidFill>
              <a:latin typeface="+mn-ea"/>
              <a:ea typeface="+mn-ea"/>
            </a:endParaRPr>
          </a:p>
          <a:p>
            <a:endParaRPr lang="en-US" altLang="zh-CN" sz="1200" b="1" dirty="0">
              <a:solidFill>
                <a:schemeClr val="tx1">
                  <a:lumMod val="85000"/>
                  <a:lumOff val="15000"/>
                </a:schemeClr>
              </a:solidFill>
              <a:latin typeface="+mn-ea"/>
              <a:ea typeface="+mn-ea"/>
            </a:endParaRPr>
          </a:p>
          <a:p>
            <a:endParaRPr lang="en-US" altLang="zh-CN" sz="1200" b="1" dirty="0">
              <a:solidFill>
                <a:schemeClr val="tx1">
                  <a:lumMod val="85000"/>
                  <a:lumOff val="15000"/>
                </a:schemeClr>
              </a:solidFill>
              <a:latin typeface="+mn-ea"/>
              <a:ea typeface="+mn-ea"/>
            </a:endParaRPr>
          </a:p>
          <a:p>
            <a:endParaRPr lang="zh-CN" altLang="en-US" sz="1200" dirty="0">
              <a:solidFill>
                <a:schemeClr val="tx1">
                  <a:lumMod val="75000"/>
                  <a:lumOff val="25000"/>
                </a:schemeClr>
              </a:solidFill>
              <a:latin typeface="+mn-ea"/>
              <a:ea typeface="+mn-ea"/>
            </a:endParaRPr>
          </a:p>
          <a:p>
            <a:pPr marL="171450" indent="-171450">
              <a:buFont typeface="Wingdings" pitchFamily="2" charset="2"/>
              <a:buChar char="Ø"/>
            </a:pPr>
            <a:r>
              <a:rPr lang="zh-CN" altLang="en-US" sz="1300" b="1" dirty="0">
                <a:solidFill>
                  <a:schemeClr val="tx1">
                    <a:lumMod val="65000"/>
                    <a:lumOff val="35000"/>
                  </a:schemeClr>
                </a:solidFill>
                <a:latin typeface="+mn-ea"/>
                <a:ea typeface="+mn-ea"/>
              </a:rPr>
              <a:t>血缘分析</a:t>
            </a:r>
            <a:endParaRPr lang="en-US" altLang="zh-CN" sz="1300" b="1" dirty="0">
              <a:solidFill>
                <a:schemeClr val="tx1">
                  <a:lumMod val="65000"/>
                  <a:lumOff val="35000"/>
                </a:schemeClr>
              </a:solidFill>
              <a:latin typeface="+mn-ea"/>
              <a:ea typeface="+mn-ea"/>
            </a:endParaRPr>
          </a:p>
          <a:p>
            <a:pPr marL="171450" indent="-171450">
              <a:buFont typeface="Wingdings" pitchFamily="2" charset="2"/>
              <a:buChar char="Ø"/>
            </a:pPr>
            <a:endParaRPr lang="en-US" altLang="zh-CN" sz="1200" b="1" dirty="0">
              <a:solidFill>
                <a:schemeClr val="tx1">
                  <a:lumMod val="85000"/>
                  <a:lumOff val="15000"/>
                </a:schemeClr>
              </a:solidFill>
              <a:latin typeface="+mn-ea"/>
              <a:ea typeface="+mn-ea"/>
            </a:endParaRPr>
          </a:p>
          <a:p>
            <a:pPr marL="171450" indent="-171450">
              <a:buFont typeface="Wingdings" pitchFamily="2" charset="2"/>
              <a:buChar char="Ø"/>
            </a:pPr>
            <a:endParaRPr lang="en-US" altLang="zh-CN" sz="1200" b="1" dirty="0">
              <a:solidFill>
                <a:schemeClr val="tx1">
                  <a:lumMod val="85000"/>
                  <a:lumOff val="15000"/>
                </a:schemeClr>
              </a:solidFill>
              <a:latin typeface="+mn-ea"/>
              <a:ea typeface="+mn-ea"/>
            </a:endParaRPr>
          </a:p>
          <a:p>
            <a:endParaRPr lang="en-US" altLang="zh-CN" sz="1200" b="1" dirty="0">
              <a:solidFill>
                <a:schemeClr val="tx1">
                  <a:lumMod val="85000"/>
                  <a:lumOff val="15000"/>
                </a:schemeClr>
              </a:solidFill>
              <a:latin typeface="+mn-ea"/>
              <a:ea typeface="+mn-ea"/>
            </a:endParaRPr>
          </a:p>
          <a:p>
            <a:endParaRPr lang="en-US" altLang="zh-CN" sz="1200" b="1" dirty="0">
              <a:solidFill>
                <a:schemeClr val="tx1">
                  <a:lumMod val="85000"/>
                  <a:lumOff val="15000"/>
                </a:schemeClr>
              </a:solidFill>
              <a:latin typeface="+mn-ea"/>
              <a:ea typeface="+mn-ea"/>
            </a:endParaRPr>
          </a:p>
          <a:p>
            <a:endParaRPr lang="zh-CN" altLang="en-US" sz="1200" b="1" dirty="0">
              <a:solidFill>
                <a:schemeClr val="tx1">
                  <a:lumMod val="85000"/>
                  <a:lumOff val="15000"/>
                </a:schemeClr>
              </a:solidFill>
              <a:latin typeface="+mn-ea"/>
              <a:ea typeface="+mn-ea"/>
            </a:endParaRPr>
          </a:p>
          <a:p>
            <a:pPr marL="171450" indent="-171450">
              <a:buFont typeface="Wingdings" pitchFamily="2" charset="2"/>
              <a:buChar char="Ø"/>
            </a:pPr>
            <a:r>
              <a:rPr lang="zh-CN" altLang="en-US" sz="1300" b="1" dirty="0">
                <a:solidFill>
                  <a:schemeClr val="tx1">
                    <a:lumMod val="65000"/>
                    <a:lumOff val="35000"/>
                  </a:schemeClr>
                </a:solidFill>
                <a:latin typeface="+mn-ea"/>
                <a:ea typeface="+mn-ea"/>
              </a:rPr>
              <a:t>版本比对分析</a:t>
            </a:r>
            <a:endParaRPr lang="en-US" altLang="zh-CN" sz="1300" b="1" dirty="0">
              <a:solidFill>
                <a:schemeClr val="tx1">
                  <a:lumMod val="65000"/>
                  <a:lumOff val="35000"/>
                </a:schemeClr>
              </a:solidFill>
              <a:latin typeface="+mn-ea"/>
              <a:ea typeface="+mn-ea"/>
            </a:endParaRPr>
          </a:p>
          <a:p>
            <a:pPr marL="171450" indent="-171450">
              <a:buFont typeface="Wingdings" pitchFamily="2" charset="2"/>
              <a:buChar char="Ø"/>
            </a:pPr>
            <a:endParaRPr lang="en-US" altLang="zh-CN" sz="1200" b="1" dirty="0">
              <a:solidFill>
                <a:schemeClr val="tx1">
                  <a:lumMod val="85000"/>
                  <a:lumOff val="15000"/>
                </a:schemeClr>
              </a:solidFill>
              <a:latin typeface="+mn-ea"/>
              <a:ea typeface="+mn-ea"/>
            </a:endParaRPr>
          </a:p>
          <a:p>
            <a:pPr marL="171450" indent="-171450">
              <a:buFont typeface="Wingdings" pitchFamily="2" charset="2"/>
              <a:buChar char="Ø"/>
            </a:pPr>
            <a:endParaRPr lang="en-US" altLang="zh-CN" sz="1200" b="1" dirty="0">
              <a:solidFill>
                <a:schemeClr val="tx1">
                  <a:lumMod val="85000"/>
                  <a:lumOff val="15000"/>
                </a:schemeClr>
              </a:solidFill>
              <a:latin typeface="+mn-ea"/>
              <a:ea typeface="+mn-ea"/>
            </a:endParaRPr>
          </a:p>
          <a:p>
            <a:pPr marL="171450" indent="-171450">
              <a:buFont typeface="Wingdings" pitchFamily="2" charset="2"/>
              <a:buChar char="Ø"/>
            </a:pPr>
            <a:endParaRPr lang="en-US" altLang="zh-CN" sz="1200" b="1" dirty="0">
              <a:solidFill>
                <a:schemeClr val="tx1">
                  <a:lumMod val="85000"/>
                  <a:lumOff val="15000"/>
                </a:schemeClr>
              </a:solidFill>
              <a:latin typeface="+mn-ea"/>
              <a:ea typeface="+mn-ea"/>
            </a:endParaRPr>
          </a:p>
          <a:p>
            <a:pPr marL="171450" indent="-171450">
              <a:buFont typeface="Wingdings" pitchFamily="2" charset="2"/>
              <a:buChar char="Ø"/>
            </a:pPr>
            <a:endParaRPr lang="en-US" altLang="zh-CN" sz="1200" b="1" dirty="0">
              <a:solidFill>
                <a:schemeClr val="tx1">
                  <a:lumMod val="85000"/>
                  <a:lumOff val="15000"/>
                </a:schemeClr>
              </a:solidFill>
              <a:latin typeface="+mn-ea"/>
              <a:ea typeface="+mn-ea"/>
            </a:endParaRPr>
          </a:p>
          <a:p>
            <a:endParaRPr lang="en-US" altLang="zh-CN" sz="1200" b="1" dirty="0">
              <a:solidFill>
                <a:schemeClr val="tx1">
                  <a:lumMod val="85000"/>
                  <a:lumOff val="15000"/>
                </a:schemeClr>
              </a:solidFill>
              <a:latin typeface="+mn-ea"/>
              <a:ea typeface="+mn-ea"/>
            </a:endParaRPr>
          </a:p>
        </p:txBody>
      </p:sp>
      <p:sp>
        <p:nvSpPr>
          <p:cNvPr id="103" name="矩形 102"/>
          <p:cNvSpPr/>
          <p:nvPr/>
        </p:nvSpPr>
        <p:spPr>
          <a:xfrm>
            <a:off x="7278695" y="1142999"/>
            <a:ext cx="798505" cy="350984"/>
          </a:xfrm>
          <a:prstGeom prst="rect">
            <a:avLst/>
          </a:prstGeom>
        </p:spPr>
        <p:txBody>
          <a:bodyPr wrap="none">
            <a:spAutoFit/>
          </a:bodyPr>
          <a:lstStyle/>
          <a:p>
            <a:pPr algn="ctr">
              <a:defRPr/>
            </a:pPr>
            <a:r>
              <a:rPr lang="zh-CN" altLang="en-US" sz="1600" b="1" dirty="0">
                <a:solidFill>
                  <a:srgbClr val="265A9A"/>
                </a:solidFill>
                <a:latin typeface="微软雅黑"/>
                <a:ea typeface="+mn-ea"/>
              </a:rPr>
              <a:t>元数据服务</a:t>
            </a:r>
          </a:p>
        </p:txBody>
      </p:sp>
      <p:sp>
        <p:nvSpPr>
          <p:cNvPr id="39" name="圆角矩形 38"/>
          <p:cNvSpPr/>
          <p:nvPr/>
        </p:nvSpPr>
        <p:spPr>
          <a:xfrm>
            <a:off x="920353" y="4487853"/>
            <a:ext cx="3135022" cy="241314"/>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100" b="1" dirty="0">
                <a:solidFill>
                  <a:schemeClr val="bg1"/>
                </a:solidFill>
                <a:latin typeface="+mn-ea"/>
              </a:rPr>
              <a:t>元数据采集</a:t>
            </a:r>
          </a:p>
        </p:txBody>
      </p:sp>
      <p:sp>
        <p:nvSpPr>
          <p:cNvPr id="123" name="右箭头 122"/>
          <p:cNvSpPr/>
          <p:nvPr/>
        </p:nvSpPr>
        <p:spPr>
          <a:xfrm>
            <a:off x="6400800" y="3352800"/>
            <a:ext cx="432000" cy="504000"/>
          </a:xfrm>
          <a:prstGeom prst="rightArrow">
            <a:avLst>
              <a:gd name="adj1" fmla="val 46207"/>
              <a:gd name="adj2" fmla="val 40519"/>
            </a:avLst>
          </a:prstGeom>
          <a:gradFill>
            <a:gsLst>
              <a:gs pos="0">
                <a:schemeClr val="accent1">
                  <a:lumMod val="75000"/>
                </a:schemeClr>
              </a:gs>
              <a:gs pos="100000">
                <a:schemeClr val="bg1"/>
              </a:gs>
              <a:gs pos="100000">
                <a:srgbClr val="008000"/>
              </a:gs>
            </a:gsLst>
            <a:lin ang="0" scaled="1"/>
          </a:gradFill>
          <a:ln>
            <a:noFill/>
          </a:ln>
        </p:spPr>
        <p:style>
          <a:lnRef idx="2">
            <a:schemeClr val="accent3">
              <a:shade val="50000"/>
            </a:schemeClr>
          </a:lnRef>
          <a:fillRef idx="1">
            <a:schemeClr val="accent3"/>
          </a:fillRef>
          <a:effectRef idx="0">
            <a:schemeClr val="accent3"/>
          </a:effectRef>
          <a:fontRef idx="minor">
            <a:schemeClr val="lt1"/>
          </a:fontRef>
        </p:style>
        <p:txBody>
          <a:bodyPr lIns="36000" tIns="36000" rIns="36000" bIns="36000" anchor="b"/>
          <a:lstStyle/>
          <a:p>
            <a:pPr algn="ctr" fontAlgn="base">
              <a:spcBef>
                <a:spcPct val="0"/>
              </a:spcBef>
              <a:spcAft>
                <a:spcPct val="0"/>
              </a:spcAft>
            </a:pPr>
            <a:endParaRPr lang="zh-CN" altLang="en-US" sz="1000" dirty="0">
              <a:solidFill>
                <a:schemeClr val="bg1"/>
              </a:solidFill>
              <a:latin typeface="微软雅黑" pitchFamily="34" charset="-122"/>
              <a:ea typeface="微软雅黑" pitchFamily="34" charset="-122"/>
            </a:endParaRPr>
          </a:p>
        </p:txBody>
      </p:sp>
      <p:sp>
        <p:nvSpPr>
          <p:cNvPr id="8" name="矩形 7"/>
          <p:cNvSpPr/>
          <p:nvPr/>
        </p:nvSpPr>
        <p:spPr>
          <a:xfrm>
            <a:off x="920353" y="3815544"/>
            <a:ext cx="951154" cy="587256"/>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9" name="流程图: 磁盘 18"/>
          <p:cNvSpPr/>
          <p:nvPr/>
        </p:nvSpPr>
        <p:spPr>
          <a:xfrm>
            <a:off x="1028980" y="4028262"/>
            <a:ext cx="756000" cy="324000"/>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900" b="1" dirty="0">
                <a:solidFill>
                  <a:schemeClr val="bg1"/>
                </a:solidFill>
                <a:latin typeface="+mn-ea"/>
              </a:rPr>
              <a:t>元数据</a:t>
            </a:r>
            <a:endParaRPr lang="en-US" altLang="zh-CN" sz="900" b="1" dirty="0">
              <a:solidFill>
                <a:schemeClr val="bg1"/>
              </a:solidFill>
              <a:latin typeface="+mn-ea"/>
            </a:endParaRPr>
          </a:p>
          <a:p>
            <a:pPr algn="ctr"/>
            <a:r>
              <a:rPr lang="zh-CN" altLang="en-US" sz="900" b="1" dirty="0">
                <a:solidFill>
                  <a:schemeClr val="bg1"/>
                </a:solidFill>
                <a:latin typeface="+mn-ea"/>
              </a:rPr>
              <a:t>存储库</a:t>
            </a:r>
          </a:p>
        </p:txBody>
      </p:sp>
      <p:sp>
        <p:nvSpPr>
          <p:cNvPr id="20" name="TextBox 19"/>
          <p:cNvSpPr txBox="1"/>
          <p:nvPr/>
        </p:nvSpPr>
        <p:spPr>
          <a:xfrm>
            <a:off x="867849" y="3803773"/>
            <a:ext cx="1139283" cy="246221"/>
          </a:xfrm>
          <a:prstGeom prst="rect">
            <a:avLst/>
          </a:prstGeom>
          <a:noFill/>
        </p:spPr>
        <p:txBody>
          <a:bodyPr wrap="square" rtlCol="0">
            <a:spAutoFit/>
          </a:bodyPr>
          <a:lstStyle/>
          <a:p>
            <a:pPr algn="ctr"/>
            <a:r>
              <a:rPr lang="zh-CN" altLang="en-US" sz="1000" b="1" dirty="0">
                <a:solidFill>
                  <a:schemeClr val="tx1">
                    <a:lumMod val="65000"/>
                    <a:lumOff val="35000"/>
                  </a:schemeClr>
                </a:solidFill>
                <a:latin typeface="+mn-ea"/>
                <a:ea typeface="+mn-ea"/>
              </a:rPr>
              <a:t>前置交换区</a:t>
            </a:r>
          </a:p>
        </p:txBody>
      </p:sp>
      <p:sp>
        <p:nvSpPr>
          <p:cNvPr id="96" name="右箭头 95"/>
          <p:cNvSpPr/>
          <p:nvPr/>
        </p:nvSpPr>
        <p:spPr>
          <a:xfrm>
            <a:off x="3886200" y="2544000"/>
            <a:ext cx="432000" cy="504000"/>
          </a:xfrm>
          <a:prstGeom prst="rightArrow">
            <a:avLst>
              <a:gd name="adj1" fmla="val 46207"/>
              <a:gd name="adj2" fmla="val 40519"/>
            </a:avLst>
          </a:prstGeom>
          <a:gradFill>
            <a:gsLst>
              <a:gs pos="0">
                <a:schemeClr val="accent1">
                  <a:lumMod val="75000"/>
                </a:schemeClr>
              </a:gs>
              <a:gs pos="100000">
                <a:schemeClr val="bg1"/>
              </a:gs>
              <a:gs pos="100000">
                <a:srgbClr val="008000"/>
              </a:gs>
            </a:gsLst>
            <a:lin ang="0" scaled="1"/>
          </a:gradFill>
          <a:ln>
            <a:noFill/>
          </a:ln>
        </p:spPr>
        <p:style>
          <a:lnRef idx="2">
            <a:schemeClr val="accent3">
              <a:shade val="50000"/>
            </a:schemeClr>
          </a:lnRef>
          <a:fillRef idx="1">
            <a:schemeClr val="accent3"/>
          </a:fillRef>
          <a:effectRef idx="0">
            <a:schemeClr val="accent3"/>
          </a:effectRef>
          <a:fontRef idx="minor">
            <a:schemeClr val="lt1"/>
          </a:fontRef>
        </p:style>
        <p:txBody>
          <a:bodyPr lIns="36000" tIns="36000" rIns="36000" bIns="36000" anchor="b"/>
          <a:lstStyle/>
          <a:p>
            <a:pPr algn="ctr" fontAlgn="base">
              <a:spcBef>
                <a:spcPct val="0"/>
              </a:spcBef>
              <a:spcAft>
                <a:spcPct val="0"/>
              </a:spcAft>
            </a:pPr>
            <a:endParaRPr lang="zh-CN" altLang="en-US" sz="1000" dirty="0">
              <a:solidFill>
                <a:schemeClr val="bg1"/>
              </a:solidFill>
              <a:latin typeface="微软雅黑" pitchFamily="34" charset="-122"/>
              <a:ea typeface="微软雅黑" pitchFamily="34" charset="-122"/>
            </a:endParaRPr>
          </a:p>
        </p:txBody>
      </p:sp>
      <p:pic>
        <p:nvPicPr>
          <p:cNvPr id="102" name="Picture 444" descr="plans"/>
          <p:cNvPicPr>
            <a:picLocks noChangeAspect="1" noChangeArrowheads="1"/>
          </p:cNvPicPr>
          <p:nvPr/>
        </p:nvPicPr>
        <p:blipFill>
          <a:blip r:embed="rId3" cstate="print"/>
          <a:srcRect/>
          <a:stretch>
            <a:fillRect/>
          </a:stretch>
        </p:blipFill>
        <p:spPr bwMode="auto">
          <a:xfrm>
            <a:off x="1628433" y="4888081"/>
            <a:ext cx="434800" cy="180000"/>
          </a:xfrm>
          <a:prstGeom prst="rect">
            <a:avLst/>
          </a:prstGeom>
          <a:noFill/>
          <a:ln w="9525">
            <a:noFill/>
            <a:miter lim="800000"/>
            <a:headEnd/>
            <a:tailEnd/>
          </a:ln>
        </p:spPr>
      </p:pic>
      <p:pic>
        <p:nvPicPr>
          <p:cNvPr id="106" name="Picture 449" descr="app-window"/>
          <p:cNvPicPr>
            <a:picLocks noChangeAspect="1" noChangeArrowheads="1"/>
          </p:cNvPicPr>
          <p:nvPr/>
        </p:nvPicPr>
        <p:blipFill>
          <a:blip r:embed="rId4" cstate="print">
            <a:lum bright="-6000" contrast="18000"/>
          </a:blip>
          <a:srcRect/>
          <a:stretch>
            <a:fillRect/>
          </a:stretch>
        </p:blipFill>
        <p:spPr bwMode="auto">
          <a:xfrm>
            <a:off x="2084411" y="4888080"/>
            <a:ext cx="408281" cy="180000"/>
          </a:xfrm>
          <a:prstGeom prst="rect">
            <a:avLst/>
          </a:prstGeom>
          <a:noFill/>
          <a:ln w="9525">
            <a:noFill/>
            <a:miter lim="800000"/>
            <a:headEnd/>
            <a:tailEnd/>
          </a:ln>
        </p:spPr>
      </p:pic>
      <p:pic>
        <p:nvPicPr>
          <p:cNvPr id="107" name="Picture 456" descr="storage whitefill"/>
          <p:cNvPicPr>
            <a:picLocks noChangeAspect="1" noChangeArrowheads="1"/>
          </p:cNvPicPr>
          <p:nvPr/>
        </p:nvPicPr>
        <p:blipFill>
          <a:blip r:embed="rId5" cstate="print"/>
          <a:srcRect/>
          <a:stretch>
            <a:fillRect/>
          </a:stretch>
        </p:blipFill>
        <p:spPr bwMode="auto">
          <a:xfrm>
            <a:off x="2633641" y="4897896"/>
            <a:ext cx="316976" cy="180000"/>
          </a:xfrm>
          <a:prstGeom prst="rect">
            <a:avLst/>
          </a:prstGeom>
          <a:noFill/>
          <a:ln w="9525">
            <a:noFill/>
            <a:miter lim="800000"/>
            <a:headEnd/>
            <a:tailEnd/>
          </a:ln>
        </p:spPr>
      </p:pic>
      <p:sp>
        <p:nvSpPr>
          <p:cNvPr id="109" name="TextBox 108"/>
          <p:cNvSpPr txBox="1"/>
          <p:nvPr/>
        </p:nvSpPr>
        <p:spPr>
          <a:xfrm>
            <a:off x="2112417" y="5018053"/>
            <a:ext cx="637486" cy="215444"/>
          </a:xfrm>
          <a:prstGeom prst="rect">
            <a:avLst/>
          </a:prstGeom>
          <a:noFill/>
        </p:spPr>
        <p:txBody>
          <a:bodyPr wrap="square" rtlCol="0">
            <a:spAutoFit/>
          </a:bodyPr>
          <a:lstStyle/>
          <a:p>
            <a:r>
              <a:rPr lang="en-US" altLang="zh-CN" sz="800" dirty="0">
                <a:latin typeface="+mn-lt"/>
                <a:ea typeface="+mn-ea"/>
              </a:rPr>
              <a:t>XML</a:t>
            </a:r>
            <a:endParaRPr lang="zh-CN" altLang="en-US" sz="800" dirty="0">
              <a:latin typeface="+mn-lt"/>
              <a:ea typeface="+mn-ea"/>
            </a:endParaRPr>
          </a:p>
        </p:txBody>
      </p:sp>
      <p:sp>
        <p:nvSpPr>
          <p:cNvPr id="111" name="TextBox 110"/>
          <p:cNvSpPr txBox="1"/>
          <p:nvPr/>
        </p:nvSpPr>
        <p:spPr>
          <a:xfrm>
            <a:off x="2543197" y="5025556"/>
            <a:ext cx="636020" cy="215444"/>
          </a:xfrm>
          <a:prstGeom prst="rect">
            <a:avLst/>
          </a:prstGeom>
          <a:noFill/>
        </p:spPr>
        <p:txBody>
          <a:bodyPr wrap="square" rtlCol="0">
            <a:spAutoFit/>
          </a:bodyPr>
          <a:lstStyle/>
          <a:p>
            <a:r>
              <a:rPr lang="en-US" altLang="zh-CN" sz="800" dirty="0">
                <a:latin typeface="+mn-lt"/>
                <a:ea typeface="+mn-ea"/>
              </a:rPr>
              <a:t>DB</a:t>
            </a:r>
            <a:r>
              <a:rPr lang="zh-CN" altLang="en-US" sz="800" dirty="0">
                <a:latin typeface="+mn-lt"/>
                <a:ea typeface="+mn-ea"/>
              </a:rPr>
              <a:t>直连</a:t>
            </a:r>
          </a:p>
        </p:txBody>
      </p:sp>
      <p:sp>
        <p:nvSpPr>
          <p:cNvPr id="112" name="TextBox 111"/>
          <p:cNvSpPr txBox="1"/>
          <p:nvPr/>
        </p:nvSpPr>
        <p:spPr>
          <a:xfrm>
            <a:off x="1591496" y="5025556"/>
            <a:ext cx="575143" cy="215444"/>
          </a:xfrm>
          <a:prstGeom prst="rect">
            <a:avLst/>
          </a:prstGeom>
          <a:noFill/>
        </p:spPr>
        <p:txBody>
          <a:bodyPr wrap="square" rtlCol="0">
            <a:spAutoFit/>
          </a:bodyPr>
          <a:lstStyle/>
          <a:p>
            <a:r>
              <a:rPr lang="en-US" altLang="zh-CN" sz="800" dirty="0">
                <a:latin typeface="+mn-ea"/>
                <a:ea typeface="+mn-ea"/>
              </a:rPr>
              <a:t>EXCEL</a:t>
            </a:r>
            <a:endParaRPr lang="zh-CN" altLang="en-US" sz="800" dirty="0">
              <a:latin typeface="+mn-ea"/>
              <a:ea typeface="+mn-ea"/>
            </a:endParaRPr>
          </a:p>
        </p:txBody>
      </p:sp>
      <p:sp>
        <p:nvSpPr>
          <p:cNvPr id="113" name="TextBox 112"/>
          <p:cNvSpPr txBox="1"/>
          <p:nvPr/>
        </p:nvSpPr>
        <p:spPr>
          <a:xfrm>
            <a:off x="2995343" y="5025556"/>
            <a:ext cx="662257" cy="215444"/>
          </a:xfrm>
          <a:prstGeom prst="rect">
            <a:avLst/>
          </a:prstGeom>
          <a:noFill/>
        </p:spPr>
        <p:txBody>
          <a:bodyPr wrap="square" rtlCol="0">
            <a:spAutoFit/>
          </a:bodyPr>
          <a:lstStyle/>
          <a:p>
            <a:r>
              <a:rPr lang="en-US" altLang="zh-CN" sz="800" dirty="0">
                <a:latin typeface="+mn-lt"/>
                <a:ea typeface="+mn-ea"/>
              </a:rPr>
              <a:t>API</a:t>
            </a:r>
            <a:r>
              <a:rPr lang="zh-CN" altLang="en-US" sz="800" dirty="0">
                <a:latin typeface="+mn-lt"/>
                <a:ea typeface="+mn-ea"/>
              </a:rPr>
              <a:t>直连</a:t>
            </a:r>
          </a:p>
        </p:txBody>
      </p:sp>
      <p:pic>
        <p:nvPicPr>
          <p:cNvPr id="132" name="Picture 445" descr="clipboard"/>
          <p:cNvPicPr>
            <a:picLocks noChangeAspect="1" noChangeArrowheads="1"/>
          </p:cNvPicPr>
          <p:nvPr/>
        </p:nvPicPr>
        <p:blipFill>
          <a:blip r:embed="rId6" cstate="print"/>
          <a:srcRect/>
          <a:stretch>
            <a:fillRect/>
          </a:stretch>
        </p:blipFill>
        <p:spPr bwMode="auto">
          <a:xfrm>
            <a:off x="3145943" y="4901097"/>
            <a:ext cx="256102" cy="180000"/>
          </a:xfrm>
          <a:prstGeom prst="rect">
            <a:avLst/>
          </a:prstGeom>
          <a:noFill/>
          <a:ln w="9525">
            <a:noFill/>
            <a:miter lim="800000"/>
            <a:headEnd/>
            <a:tailEnd/>
          </a:ln>
        </p:spPr>
      </p:pic>
      <p:sp>
        <p:nvSpPr>
          <p:cNvPr id="104" name="上箭头 103"/>
          <p:cNvSpPr/>
          <p:nvPr/>
        </p:nvSpPr>
        <p:spPr>
          <a:xfrm>
            <a:off x="2422238" y="5562601"/>
            <a:ext cx="180000" cy="239008"/>
          </a:xfrm>
          <a:prstGeom prst="up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05" name="上箭头 104"/>
          <p:cNvSpPr/>
          <p:nvPr/>
        </p:nvSpPr>
        <p:spPr>
          <a:xfrm>
            <a:off x="3458904" y="5562601"/>
            <a:ext cx="180000" cy="239008"/>
          </a:xfrm>
          <a:prstGeom prst="up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36" name="上箭头 135"/>
          <p:cNvSpPr/>
          <p:nvPr/>
        </p:nvSpPr>
        <p:spPr>
          <a:xfrm>
            <a:off x="2438400" y="4707600"/>
            <a:ext cx="180000" cy="180000"/>
          </a:xfrm>
          <a:prstGeom prst="up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38" name="矩形 137"/>
          <p:cNvSpPr/>
          <p:nvPr/>
        </p:nvSpPr>
        <p:spPr>
          <a:xfrm>
            <a:off x="2033704" y="3811433"/>
            <a:ext cx="951154" cy="587256"/>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39" name="流程图: 磁盘 138"/>
          <p:cNvSpPr/>
          <p:nvPr/>
        </p:nvSpPr>
        <p:spPr>
          <a:xfrm>
            <a:off x="2142331" y="4024151"/>
            <a:ext cx="756000" cy="324000"/>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900" b="1" dirty="0">
                <a:solidFill>
                  <a:schemeClr val="bg1"/>
                </a:solidFill>
                <a:latin typeface="+mn-ea"/>
              </a:rPr>
              <a:t>元数据</a:t>
            </a:r>
            <a:endParaRPr lang="en-US" altLang="zh-CN" sz="900" b="1" dirty="0">
              <a:solidFill>
                <a:schemeClr val="bg1"/>
              </a:solidFill>
              <a:latin typeface="+mn-ea"/>
            </a:endParaRPr>
          </a:p>
          <a:p>
            <a:pPr algn="ctr"/>
            <a:r>
              <a:rPr lang="zh-CN" altLang="en-US" sz="900" b="1" dirty="0">
                <a:solidFill>
                  <a:schemeClr val="bg1"/>
                </a:solidFill>
                <a:latin typeface="+mn-ea"/>
              </a:rPr>
              <a:t>存储库</a:t>
            </a:r>
          </a:p>
        </p:txBody>
      </p:sp>
      <p:sp>
        <p:nvSpPr>
          <p:cNvPr id="141" name="TextBox 140"/>
          <p:cNvSpPr txBox="1"/>
          <p:nvPr/>
        </p:nvSpPr>
        <p:spPr>
          <a:xfrm>
            <a:off x="1981200" y="3799662"/>
            <a:ext cx="1139283" cy="246221"/>
          </a:xfrm>
          <a:prstGeom prst="rect">
            <a:avLst/>
          </a:prstGeom>
          <a:noFill/>
        </p:spPr>
        <p:txBody>
          <a:bodyPr wrap="square" rtlCol="0">
            <a:spAutoFit/>
          </a:bodyPr>
          <a:lstStyle/>
          <a:p>
            <a:pPr algn="ctr"/>
            <a:r>
              <a:rPr lang="zh-CN" altLang="en-US" sz="1000" b="1" dirty="0">
                <a:solidFill>
                  <a:schemeClr val="tx1">
                    <a:lumMod val="65000"/>
                    <a:lumOff val="35000"/>
                  </a:schemeClr>
                </a:solidFill>
                <a:latin typeface="+mn-ea"/>
                <a:ea typeface="+mn-ea"/>
              </a:rPr>
              <a:t>前置交换区</a:t>
            </a:r>
          </a:p>
        </p:txBody>
      </p:sp>
      <p:sp>
        <p:nvSpPr>
          <p:cNvPr id="143" name="矩形 142"/>
          <p:cNvSpPr/>
          <p:nvPr/>
        </p:nvSpPr>
        <p:spPr>
          <a:xfrm>
            <a:off x="3104221" y="3811433"/>
            <a:ext cx="951154" cy="587256"/>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44" name="流程图: 磁盘 143"/>
          <p:cNvSpPr/>
          <p:nvPr/>
        </p:nvSpPr>
        <p:spPr>
          <a:xfrm>
            <a:off x="3212848" y="4024151"/>
            <a:ext cx="756000" cy="324000"/>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900" b="1" dirty="0">
                <a:solidFill>
                  <a:schemeClr val="bg1"/>
                </a:solidFill>
                <a:latin typeface="+mn-ea"/>
              </a:rPr>
              <a:t>元数据</a:t>
            </a:r>
            <a:endParaRPr lang="en-US" altLang="zh-CN" sz="900" b="1" dirty="0">
              <a:solidFill>
                <a:schemeClr val="bg1"/>
              </a:solidFill>
              <a:latin typeface="+mn-ea"/>
            </a:endParaRPr>
          </a:p>
          <a:p>
            <a:pPr algn="ctr"/>
            <a:r>
              <a:rPr lang="zh-CN" altLang="en-US" sz="900" b="1" dirty="0">
                <a:solidFill>
                  <a:schemeClr val="bg1"/>
                </a:solidFill>
                <a:latin typeface="+mn-ea"/>
              </a:rPr>
              <a:t>存储库</a:t>
            </a:r>
          </a:p>
        </p:txBody>
      </p:sp>
      <p:sp>
        <p:nvSpPr>
          <p:cNvPr id="145" name="TextBox 144"/>
          <p:cNvSpPr txBox="1"/>
          <p:nvPr/>
        </p:nvSpPr>
        <p:spPr>
          <a:xfrm>
            <a:off x="3051717" y="3799662"/>
            <a:ext cx="1139283" cy="246221"/>
          </a:xfrm>
          <a:prstGeom prst="rect">
            <a:avLst/>
          </a:prstGeom>
          <a:noFill/>
        </p:spPr>
        <p:txBody>
          <a:bodyPr wrap="square" rtlCol="0">
            <a:spAutoFit/>
          </a:bodyPr>
          <a:lstStyle/>
          <a:p>
            <a:pPr algn="ctr"/>
            <a:r>
              <a:rPr lang="zh-CN" altLang="en-US" sz="1000" b="1" dirty="0">
                <a:solidFill>
                  <a:schemeClr val="tx1">
                    <a:lumMod val="65000"/>
                    <a:lumOff val="35000"/>
                  </a:schemeClr>
                </a:solidFill>
                <a:latin typeface="+mn-ea"/>
                <a:ea typeface="+mn-ea"/>
              </a:rPr>
              <a:t>前置交换区</a:t>
            </a:r>
          </a:p>
        </p:txBody>
      </p:sp>
      <p:sp>
        <p:nvSpPr>
          <p:cNvPr id="147" name="上下箭头 146"/>
          <p:cNvSpPr/>
          <p:nvPr/>
        </p:nvSpPr>
        <p:spPr>
          <a:xfrm>
            <a:off x="2409184" y="3511200"/>
            <a:ext cx="180000" cy="288000"/>
          </a:xfrm>
          <a:prstGeom prst="upDownArrow">
            <a:avLst/>
          </a:prstGeom>
          <a:solidFill>
            <a:srgbClr val="92D05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48" name="上下箭头 147"/>
          <p:cNvSpPr/>
          <p:nvPr/>
        </p:nvSpPr>
        <p:spPr>
          <a:xfrm>
            <a:off x="3503744" y="3511200"/>
            <a:ext cx="180000" cy="288000"/>
          </a:xfrm>
          <a:prstGeom prst="upDownArrow">
            <a:avLst/>
          </a:prstGeom>
          <a:solidFill>
            <a:srgbClr val="92D05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pic>
        <p:nvPicPr>
          <p:cNvPr id="150" name="Picture 444" descr="plans"/>
          <p:cNvPicPr>
            <a:picLocks noChangeAspect="1" noChangeArrowheads="1"/>
          </p:cNvPicPr>
          <p:nvPr/>
        </p:nvPicPr>
        <p:blipFill>
          <a:blip r:embed="rId3" cstate="print"/>
          <a:srcRect/>
          <a:stretch>
            <a:fillRect/>
          </a:stretch>
        </p:blipFill>
        <p:spPr bwMode="auto">
          <a:xfrm>
            <a:off x="1628433" y="1828801"/>
            <a:ext cx="434800" cy="180000"/>
          </a:xfrm>
          <a:prstGeom prst="rect">
            <a:avLst/>
          </a:prstGeom>
          <a:noFill/>
          <a:ln w="9525">
            <a:noFill/>
            <a:miter lim="800000"/>
            <a:headEnd/>
            <a:tailEnd/>
          </a:ln>
        </p:spPr>
      </p:pic>
      <p:pic>
        <p:nvPicPr>
          <p:cNvPr id="151" name="Picture 449" descr="app-window"/>
          <p:cNvPicPr>
            <a:picLocks noChangeAspect="1" noChangeArrowheads="1"/>
          </p:cNvPicPr>
          <p:nvPr/>
        </p:nvPicPr>
        <p:blipFill>
          <a:blip r:embed="rId4" cstate="print">
            <a:lum bright="-6000" contrast="18000"/>
          </a:blip>
          <a:srcRect/>
          <a:stretch>
            <a:fillRect/>
          </a:stretch>
        </p:blipFill>
        <p:spPr bwMode="auto">
          <a:xfrm>
            <a:off x="2084411" y="1828800"/>
            <a:ext cx="408281" cy="180000"/>
          </a:xfrm>
          <a:prstGeom prst="rect">
            <a:avLst/>
          </a:prstGeom>
          <a:noFill/>
          <a:ln w="9525">
            <a:noFill/>
            <a:miter lim="800000"/>
            <a:headEnd/>
            <a:tailEnd/>
          </a:ln>
        </p:spPr>
      </p:pic>
      <p:pic>
        <p:nvPicPr>
          <p:cNvPr id="157" name="Picture 456" descr="storage whitefill"/>
          <p:cNvPicPr>
            <a:picLocks noChangeAspect="1" noChangeArrowheads="1"/>
          </p:cNvPicPr>
          <p:nvPr/>
        </p:nvPicPr>
        <p:blipFill>
          <a:blip r:embed="rId5" cstate="print"/>
          <a:srcRect/>
          <a:stretch>
            <a:fillRect/>
          </a:stretch>
        </p:blipFill>
        <p:spPr bwMode="auto">
          <a:xfrm>
            <a:off x="2633641" y="1838616"/>
            <a:ext cx="316976" cy="180000"/>
          </a:xfrm>
          <a:prstGeom prst="rect">
            <a:avLst/>
          </a:prstGeom>
          <a:noFill/>
          <a:ln w="9525">
            <a:noFill/>
            <a:miter lim="800000"/>
            <a:headEnd/>
            <a:tailEnd/>
          </a:ln>
        </p:spPr>
      </p:pic>
      <p:sp>
        <p:nvSpPr>
          <p:cNvPr id="158" name="TextBox 157"/>
          <p:cNvSpPr txBox="1"/>
          <p:nvPr/>
        </p:nvSpPr>
        <p:spPr>
          <a:xfrm>
            <a:off x="2112417" y="1958773"/>
            <a:ext cx="637486" cy="215444"/>
          </a:xfrm>
          <a:prstGeom prst="rect">
            <a:avLst/>
          </a:prstGeom>
          <a:noFill/>
        </p:spPr>
        <p:txBody>
          <a:bodyPr wrap="square" rtlCol="0">
            <a:spAutoFit/>
          </a:bodyPr>
          <a:lstStyle/>
          <a:p>
            <a:r>
              <a:rPr lang="en-US" altLang="zh-CN" sz="800" dirty="0">
                <a:latin typeface="+mn-lt"/>
                <a:ea typeface="+mn-ea"/>
              </a:rPr>
              <a:t>XML</a:t>
            </a:r>
            <a:endParaRPr lang="zh-CN" altLang="en-US" sz="800" dirty="0">
              <a:latin typeface="+mn-lt"/>
              <a:ea typeface="+mn-ea"/>
            </a:endParaRPr>
          </a:p>
        </p:txBody>
      </p:sp>
      <p:sp>
        <p:nvSpPr>
          <p:cNvPr id="159" name="TextBox 158"/>
          <p:cNvSpPr txBox="1"/>
          <p:nvPr/>
        </p:nvSpPr>
        <p:spPr>
          <a:xfrm>
            <a:off x="2543197" y="1966276"/>
            <a:ext cx="636020" cy="215444"/>
          </a:xfrm>
          <a:prstGeom prst="rect">
            <a:avLst/>
          </a:prstGeom>
          <a:noFill/>
        </p:spPr>
        <p:txBody>
          <a:bodyPr wrap="square" rtlCol="0">
            <a:spAutoFit/>
          </a:bodyPr>
          <a:lstStyle/>
          <a:p>
            <a:r>
              <a:rPr lang="en-US" altLang="zh-CN" sz="800" dirty="0">
                <a:latin typeface="+mn-lt"/>
                <a:ea typeface="+mn-ea"/>
              </a:rPr>
              <a:t>DB</a:t>
            </a:r>
            <a:r>
              <a:rPr lang="zh-CN" altLang="en-US" sz="800" dirty="0">
                <a:latin typeface="+mn-lt"/>
                <a:ea typeface="+mn-ea"/>
              </a:rPr>
              <a:t>直连</a:t>
            </a:r>
          </a:p>
        </p:txBody>
      </p:sp>
      <p:sp>
        <p:nvSpPr>
          <p:cNvPr id="160" name="TextBox 159"/>
          <p:cNvSpPr txBox="1"/>
          <p:nvPr/>
        </p:nvSpPr>
        <p:spPr>
          <a:xfrm>
            <a:off x="1591496" y="1966276"/>
            <a:ext cx="575143" cy="215444"/>
          </a:xfrm>
          <a:prstGeom prst="rect">
            <a:avLst/>
          </a:prstGeom>
          <a:noFill/>
        </p:spPr>
        <p:txBody>
          <a:bodyPr wrap="square" rtlCol="0">
            <a:spAutoFit/>
          </a:bodyPr>
          <a:lstStyle/>
          <a:p>
            <a:r>
              <a:rPr lang="en-US" altLang="zh-CN" sz="800" dirty="0">
                <a:latin typeface="+mn-ea"/>
                <a:ea typeface="+mn-ea"/>
              </a:rPr>
              <a:t>EXCEL</a:t>
            </a:r>
            <a:endParaRPr lang="zh-CN" altLang="en-US" sz="800" dirty="0">
              <a:latin typeface="+mn-ea"/>
              <a:ea typeface="+mn-ea"/>
            </a:endParaRPr>
          </a:p>
        </p:txBody>
      </p:sp>
      <p:sp>
        <p:nvSpPr>
          <p:cNvPr id="161" name="TextBox 160"/>
          <p:cNvSpPr txBox="1"/>
          <p:nvPr/>
        </p:nvSpPr>
        <p:spPr>
          <a:xfrm>
            <a:off x="2995343" y="1966276"/>
            <a:ext cx="662257" cy="215444"/>
          </a:xfrm>
          <a:prstGeom prst="rect">
            <a:avLst/>
          </a:prstGeom>
          <a:noFill/>
        </p:spPr>
        <p:txBody>
          <a:bodyPr wrap="square" rtlCol="0">
            <a:spAutoFit/>
          </a:bodyPr>
          <a:lstStyle/>
          <a:p>
            <a:r>
              <a:rPr lang="en-US" altLang="zh-CN" sz="800" dirty="0">
                <a:latin typeface="+mn-lt"/>
                <a:ea typeface="+mn-ea"/>
              </a:rPr>
              <a:t>API</a:t>
            </a:r>
            <a:r>
              <a:rPr lang="zh-CN" altLang="en-US" sz="800" dirty="0">
                <a:latin typeface="+mn-lt"/>
                <a:ea typeface="+mn-ea"/>
              </a:rPr>
              <a:t>直连</a:t>
            </a:r>
          </a:p>
        </p:txBody>
      </p:sp>
      <p:pic>
        <p:nvPicPr>
          <p:cNvPr id="162" name="Picture 445" descr="clipboard"/>
          <p:cNvPicPr>
            <a:picLocks noChangeAspect="1" noChangeArrowheads="1"/>
          </p:cNvPicPr>
          <p:nvPr/>
        </p:nvPicPr>
        <p:blipFill>
          <a:blip r:embed="rId6" cstate="print"/>
          <a:srcRect/>
          <a:stretch>
            <a:fillRect/>
          </a:stretch>
        </p:blipFill>
        <p:spPr bwMode="auto">
          <a:xfrm>
            <a:off x="3145943" y="1841817"/>
            <a:ext cx="256102" cy="180000"/>
          </a:xfrm>
          <a:prstGeom prst="rect">
            <a:avLst/>
          </a:prstGeom>
          <a:noFill/>
          <a:ln w="9525">
            <a:noFill/>
            <a:miter lim="800000"/>
            <a:headEnd/>
            <a:tailEnd/>
          </a:ln>
        </p:spPr>
      </p:pic>
      <p:sp>
        <p:nvSpPr>
          <p:cNvPr id="163" name="圆角矩形 162"/>
          <p:cNvSpPr/>
          <p:nvPr/>
        </p:nvSpPr>
        <p:spPr>
          <a:xfrm>
            <a:off x="1256066" y="2140039"/>
            <a:ext cx="2477734" cy="222161"/>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100" b="1" dirty="0">
                <a:solidFill>
                  <a:schemeClr val="bg1"/>
                </a:solidFill>
                <a:latin typeface="+mn-ea"/>
              </a:rPr>
              <a:t>元数据采集</a:t>
            </a:r>
          </a:p>
        </p:txBody>
      </p:sp>
      <p:sp>
        <p:nvSpPr>
          <p:cNvPr id="165" name="上箭头 164"/>
          <p:cNvSpPr/>
          <p:nvPr/>
        </p:nvSpPr>
        <p:spPr>
          <a:xfrm flipV="1">
            <a:off x="2410800" y="1676400"/>
            <a:ext cx="180000" cy="180000"/>
          </a:xfrm>
          <a:prstGeom prst="up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cxnSp>
        <p:nvCxnSpPr>
          <p:cNvPr id="166" name="直接连接符 165"/>
          <p:cNvCxnSpPr/>
          <p:nvPr/>
        </p:nvCxnSpPr>
        <p:spPr>
          <a:xfrm>
            <a:off x="1363066" y="2038691"/>
            <a:ext cx="2446934" cy="18709"/>
          </a:xfrm>
          <a:prstGeom prst="line">
            <a:avLst/>
          </a:prstGeom>
          <a:ln w="9525">
            <a:solidFill>
              <a:srgbClr val="FFC000">
                <a:alpha val="45000"/>
              </a:srgbClr>
            </a:solidFill>
            <a:prstDash val="dash"/>
          </a:ln>
          <a:effectLst/>
        </p:spPr>
        <p:style>
          <a:lnRef idx="1">
            <a:schemeClr val="accent1"/>
          </a:lnRef>
          <a:fillRef idx="0">
            <a:schemeClr val="accent1"/>
          </a:fillRef>
          <a:effectRef idx="0">
            <a:schemeClr val="accent1"/>
          </a:effectRef>
          <a:fontRef idx="minor">
            <a:schemeClr val="tx1"/>
          </a:fontRef>
        </p:style>
      </p:cxnSp>
      <p:sp>
        <p:nvSpPr>
          <p:cNvPr id="167" name="上箭头 166"/>
          <p:cNvSpPr/>
          <p:nvPr/>
        </p:nvSpPr>
        <p:spPr>
          <a:xfrm flipV="1">
            <a:off x="2410800" y="2438400"/>
            <a:ext cx="180000" cy="180000"/>
          </a:xfrm>
          <a:prstGeom prst="up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70" name="TextBox 169"/>
          <p:cNvSpPr txBox="1"/>
          <p:nvPr/>
        </p:nvSpPr>
        <p:spPr>
          <a:xfrm>
            <a:off x="298847" y="4149655"/>
            <a:ext cx="615553" cy="1159025"/>
          </a:xfrm>
          <a:prstGeom prst="rect">
            <a:avLst/>
          </a:prstGeom>
          <a:noFill/>
        </p:spPr>
        <p:txBody>
          <a:bodyPr vert="eaVert" wrap="square" rtlCol="0">
            <a:spAutoFit/>
          </a:bodyPr>
          <a:lstStyle/>
          <a:p>
            <a:pPr algn="ctr"/>
            <a:r>
              <a:rPr lang="zh-CN" altLang="en-US" sz="1400" b="1" dirty="0">
                <a:latin typeface="+mj-ea"/>
                <a:ea typeface="+mj-ea"/>
              </a:rPr>
              <a:t>元数据采集</a:t>
            </a:r>
            <a:endParaRPr lang="en-US" altLang="zh-CN" sz="1400" b="1" dirty="0">
              <a:latin typeface="+mj-ea"/>
              <a:ea typeface="+mj-ea"/>
            </a:endParaRPr>
          </a:p>
          <a:p>
            <a:pPr algn="ctr"/>
            <a:r>
              <a:rPr lang="zh-CN" altLang="en-US" sz="1400" b="1" dirty="0">
                <a:latin typeface="+mj-ea"/>
                <a:ea typeface="+mj-ea"/>
              </a:rPr>
              <a:t>前置节点</a:t>
            </a:r>
            <a:endParaRPr lang="en-US" altLang="zh-CN" sz="1400" b="1" dirty="0">
              <a:latin typeface="+mj-ea"/>
              <a:ea typeface="+mj-ea"/>
            </a:endParaRPr>
          </a:p>
        </p:txBody>
      </p:sp>
      <p:cxnSp>
        <p:nvCxnSpPr>
          <p:cNvPr id="171" name="直接连接符 170"/>
          <p:cNvCxnSpPr/>
          <p:nvPr/>
        </p:nvCxnSpPr>
        <p:spPr>
          <a:xfrm>
            <a:off x="533400" y="3200400"/>
            <a:ext cx="3886199" cy="0"/>
          </a:xfrm>
          <a:prstGeom prst="line">
            <a:avLst/>
          </a:prstGeom>
          <a:ln w="9525">
            <a:solidFill>
              <a:schemeClr val="accent6">
                <a:lumMod val="75000"/>
                <a:alpha val="66000"/>
              </a:schemeClr>
            </a:solidFill>
            <a:prstDash val="dash"/>
          </a:ln>
          <a:effectLst/>
        </p:spPr>
        <p:style>
          <a:lnRef idx="1">
            <a:schemeClr val="accent1"/>
          </a:lnRef>
          <a:fillRef idx="0">
            <a:schemeClr val="accent1"/>
          </a:fillRef>
          <a:effectRef idx="0">
            <a:schemeClr val="accent1"/>
          </a:effectRef>
          <a:fontRef idx="minor">
            <a:schemeClr val="tx1"/>
          </a:fontRef>
        </p:style>
      </p:cxnSp>
      <p:sp>
        <p:nvSpPr>
          <p:cNvPr id="174" name="上下箭头 173"/>
          <p:cNvSpPr/>
          <p:nvPr/>
        </p:nvSpPr>
        <p:spPr>
          <a:xfrm>
            <a:off x="1631351" y="2920763"/>
            <a:ext cx="180000" cy="288000"/>
          </a:xfrm>
          <a:prstGeom prst="upDownArrow">
            <a:avLst/>
          </a:prstGeom>
          <a:solidFill>
            <a:srgbClr val="92D05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75" name="上下箭头 174"/>
          <p:cNvSpPr/>
          <p:nvPr/>
        </p:nvSpPr>
        <p:spPr>
          <a:xfrm>
            <a:off x="2422238" y="2920763"/>
            <a:ext cx="180000" cy="288000"/>
          </a:xfrm>
          <a:prstGeom prst="upDownArrow">
            <a:avLst/>
          </a:prstGeom>
          <a:solidFill>
            <a:srgbClr val="92D05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76" name="上下箭头 175"/>
          <p:cNvSpPr/>
          <p:nvPr/>
        </p:nvSpPr>
        <p:spPr>
          <a:xfrm>
            <a:off x="3172800" y="2912400"/>
            <a:ext cx="180000" cy="288000"/>
          </a:xfrm>
          <a:prstGeom prst="upDownArrow">
            <a:avLst/>
          </a:prstGeom>
          <a:solidFill>
            <a:srgbClr val="92D05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cxnSp>
        <p:nvCxnSpPr>
          <p:cNvPr id="177" name="直接连接符 176"/>
          <p:cNvCxnSpPr/>
          <p:nvPr/>
        </p:nvCxnSpPr>
        <p:spPr>
          <a:xfrm>
            <a:off x="1295400" y="5086691"/>
            <a:ext cx="2446934" cy="18709"/>
          </a:xfrm>
          <a:prstGeom prst="line">
            <a:avLst/>
          </a:prstGeom>
          <a:ln w="9525">
            <a:solidFill>
              <a:srgbClr val="FFC000">
                <a:alpha val="45000"/>
              </a:srgbClr>
            </a:solidFill>
            <a:prstDash val="dash"/>
          </a:ln>
          <a:effectLst/>
        </p:spPr>
        <p:style>
          <a:lnRef idx="1">
            <a:schemeClr val="accent1"/>
          </a:lnRef>
          <a:fillRef idx="0">
            <a:schemeClr val="accent1"/>
          </a:fillRef>
          <a:effectRef idx="0">
            <a:schemeClr val="accent1"/>
          </a:effectRef>
          <a:fontRef idx="minor">
            <a:schemeClr val="tx1"/>
          </a:fontRef>
        </p:style>
      </p:cxnSp>
      <p:pic>
        <p:nvPicPr>
          <p:cNvPr id="182" name="Picture 2"/>
          <p:cNvPicPr>
            <a:picLocks noChangeAspect="1" noChangeArrowheads="1"/>
          </p:cNvPicPr>
          <p:nvPr/>
        </p:nvPicPr>
        <p:blipFill>
          <a:blip r:embed="rId7" cstate="print"/>
          <a:srcRect/>
          <a:stretch>
            <a:fillRect/>
          </a:stretch>
        </p:blipFill>
        <p:spPr bwMode="auto">
          <a:xfrm>
            <a:off x="7066404" y="4197000"/>
            <a:ext cx="1137310" cy="679800"/>
          </a:xfrm>
          <a:prstGeom prst="rect">
            <a:avLst/>
          </a:prstGeom>
          <a:noFill/>
          <a:ln w="9525">
            <a:noFill/>
            <a:miter lim="800000"/>
            <a:headEnd/>
            <a:tailEnd/>
          </a:ln>
          <a:effectLst>
            <a:outerShdw blurRad="50800" dist="38100" dir="2700000" sx="101000" sy="101000" algn="tl" rotWithShape="0">
              <a:prstClr val="black">
                <a:alpha val="40000"/>
              </a:prstClr>
            </a:outerShdw>
          </a:effectLst>
        </p:spPr>
      </p:pic>
      <p:pic>
        <p:nvPicPr>
          <p:cNvPr id="184" name="Picture 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068479" y="1967400"/>
            <a:ext cx="1135235" cy="623400"/>
          </a:xfrm>
          <a:prstGeom prst="rect">
            <a:avLst/>
          </a:prstGeom>
          <a:noFill/>
          <a:ln>
            <a:noFill/>
          </a:ln>
          <a:effectLst>
            <a:outerShdw dist="35921" dir="2700000" sx="101000" sy="101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5" name="Picture 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103785" y="3124200"/>
            <a:ext cx="1099929" cy="588739"/>
          </a:xfrm>
          <a:prstGeom prst="rect">
            <a:avLst/>
          </a:prstGeom>
          <a:noFill/>
          <a:ln>
            <a:noFill/>
          </a:ln>
          <a:effectLst>
            <a:outerShdw dist="35921" dir="2700000" sx="101000" sy="101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0" name="Picture 2"/>
          <p:cNvPicPr>
            <a:picLocks noChangeAspect="1" noChangeArrowheads="1"/>
          </p:cNvPicPr>
          <p:nvPr/>
        </p:nvPicPr>
        <p:blipFill>
          <a:blip r:embed="rId10" cstate="print"/>
          <a:srcRect/>
          <a:stretch>
            <a:fillRect/>
          </a:stretch>
        </p:blipFill>
        <p:spPr bwMode="auto">
          <a:xfrm>
            <a:off x="7103787" y="5335800"/>
            <a:ext cx="1099927" cy="684000"/>
          </a:xfrm>
          <a:prstGeom prst="rect">
            <a:avLst/>
          </a:prstGeom>
          <a:noFill/>
          <a:ln w="9525">
            <a:noFill/>
            <a:miter lim="800000"/>
            <a:headEnd/>
            <a:tailEnd/>
          </a:ln>
          <a:effectLst>
            <a:outerShdw blurRad="50800" dist="38100" dir="2700000" sx="101000" sy="101000" algn="tl" rotWithShape="0">
              <a:prstClr val="black">
                <a:alpha val="40000"/>
              </a:prstClr>
            </a:outerShdw>
          </a:effectLst>
        </p:spPr>
      </p:pic>
      <p:sp>
        <p:nvSpPr>
          <p:cNvPr id="6" name="TextBox 5"/>
          <p:cNvSpPr txBox="1"/>
          <p:nvPr/>
        </p:nvSpPr>
        <p:spPr>
          <a:xfrm>
            <a:off x="1968500" y="5267980"/>
            <a:ext cx="1104900" cy="523220"/>
          </a:xfrm>
          <a:prstGeom prst="rect">
            <a:avLst/>
          </a:prstGeom>
          <a:noFill/>
        </p:spPr>
        <p:txBody>
          <a:bodyPr wrap="square" rtlCol="0">
            <a:spAutoFit/>
          </a:bodyPr>
          <a:lstStyle/>
          <a:p>
            <a:r>
              <a:rPr lang="zh-CN" altLang="en-US" sz="1400" b="1" dirty="0">
                <a:solidFill>
                  <a:srgbClr val="FF0000"/>
                </a:solidFill>
                <a:latin typeface="+mn-ea"/>
                <a:ea typeface="+mn-ea"/>
              </a:rPr>
              <a:t>元数据来源</a:t>
            </a:r>
          </a:p>
          <a:p>
            <a:endParaRPr lang="zh-CN" altLang="en-US" sz="1400" dirty="0">
              <a:latin typeface="+mn-ea"/>
              <a:ea typeface="+mn-ea"/>
            </a:endParaRPr>
          </a:p>
        </p:txBody>
      </p:sp>
      <p:sp>
        <p:nvSpPr>
          <p:cNvPr id="21" name="圆角矩形 20"/>
          <p:cNvSpPr/>
          <p:nvPr/>
        </p:nvSpPr>
        <p:spPr>
          <a:xfrm>
            <a:off x="4315061" y="2040348"/>
            <a:ext cx="818677" cy="321852"/>
          </a:xfrm>
          <a:prstGeom prst="roundRect">
            <a:avLst/>
          </a:prstGeom>
          <a:solidFill>
            <a:srgbClr val="CCFFCC"/>
          </a:solidFill>
          <a:ln/>
        </p:spPr>
        <p:style>
          <a:lnRef idx="3">
            <a:schemeClr val="lt1"/>
          </a:lnRef>
          <a:fillRef idx="1">
            <a:schemeClr val="accent1"/>
          </a:fillRef>
          <a:effectRef idx="1">
            <a:schemeClr val="accent1"/>
          </a:effectRef>
          <a:fontRef idx="minor">
            <a:schemeClr val="lt1"/>
          </a:fontRef>
        </p:style>
        <p:txBody>
          <a:bodyPr lIns="0" rIns="0" rtlCol="0" anchor="t" anchorCtr="0"/>
          <a:lstStyle/>
          <a:p>
            <a:pPr algn="ctr"/>
            <a:r>
              <a:rPr lang="zh-CN" altLang="en-US" sz="1100" b="1" dirty="0">
                <a:solidFill>
                  <a:srgbClr val="FF0000"/>
                </a:solidFill>
              </a:rPr>
              <a:t>目录元数据</a:t>
            </a:r>
          </a:p>
        </p:txBody>
      </p:sp>
      <p:sp>
        <p:nvSpPr>
          <p:cNvPr id="108" name="圆角矩形 107"/>
          <p:cNvSpPr/>
          <p:nvPr/>
        </p:nvSpPr>
        <p:spPr>
          <a:xfrm>
            <a:off x="4315061" y="2497548"/>
            <a:ext cx="818677" cy="321852"/>
          </a:xfrm>
          <a:prstGeom prst="roundRect">
            <a:avLst/>
          </a:prstGeom>
          <a:solidFill>
            <a:srgbClr val="CCFFCC"/>
          </a:solidFill>
          <a:ln/>
        </p:spPr>
        <p:style>
          <a:lnRef idx="3">
            <a:schemeClr val="lt1"/>
          </a:lnRef>
          <a:fillRef idx="1">
            <a:schemeClr val="accent1"/>
          </a:fillRef>
          <a:effectRef idx="1">
            <a:schemeClr val="accent1"/>
          </a:effectRef>
          <a:fontRef idx="minor">
            <a:schemeClr val="lt1"/>
          </a:fontRef>
        </p:style>
        <p:txBody>
          <a:bodyPr lIns="0" rIns="0" rtlCol="0" anchor="t" anchorCtr="0"/>
          <a:lstStyle/>
          <a:p>
            <a:pPr algn="ctr"/>
            <a:r>
              <a:rPr lang="zh-CN" altLang="en-US" sz="1100" b="1" dirty="0">
                <a:solidFill>
                  <a:srgbClr val="FF0000"/>
                </a:solidFill>
              </a:rPr>
              <a:t>共享元数据</a:t>
            </a:r>
          </a:p>
        </p:txBody>
      </p:sp>
      <p:sp>
        <p:nvSpPr>
          <p:cNvPr id="110" name="圆角矩形 109"/>
          <p:cNvSpPr/>
          <p:nvPr/>
        </p:nvSpPr>
        <p:spPr>
          <a:xfrm>
            <a:off x="4302361" y="2971800"/>
            <a:ext cx="818677" cy="321852"/>
          </a:xfrm>
          <a:prstGeom prst="roundRect">
            <a:avLst/>
          </a:prstGeom>
          <a:solidFill>
            <a:srgbClr val="CCFFCC"/>
          </a:solidFill>
          <a:ln/>
        </p:spPr>
        <p:style>
          <a:lnRef idx="3">
            <a:schemeClr val="lt1"/>
          </a:lnRef>
          <a:fillRef idx="1">
            <a:schemeClr val="accent1"/>
          </a:fillRef>
          <a:effectRef idx="1">
            <a:schemeClr val="accent1"/>
          </a:effectRef>
          <a:fontRef idx="minor">
            <a:schemeClr val="lt1"/>
          </a:fontRef>
        </p:style>
        <p:txBody>
          <a:bodyPr lIns="0" rIns="0" rtlCol="0" anchor="t" anchorCtr="0"/>
          <a:lstStyle/>
          <a:p>
            <a:pPr algn="ctr"/>
            <a:r>
              <a:rPr lang="zh-CN" altLang="en-US" sz="1100" b="1" dirty="0">
                <a:solidFill>
                  <a:srgbClr val="FF0000"/>
                </a:solidFill>
              </a:rPr>
              <a:t>交换元数据</a:t>
            </a:r>
          </a:p>
        </p:txBody>
      </p:sp>
      <p:sp>
        <p:nvSpPr>
          <p:cNvPr id="48" name="上下箭头 47"/>
          <p:cNvSpPr/>
          <p:nvPr/>
        </p:nvSpPr>
        <p:spPr>
          <a:xfrm>
            <a:off x="1295400" y="3505200"/>
            <a:ext cx="180000" cy="288000"/>
          </a:xfrm>
          <a:prstGeom prst="upDownArrow">
            <a:avLst/>
          </a:prstGeom>
          <a:solidFill>
            <a:srgbClr val="92D05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Tree>
    <p:extLst>
      <p:ext uri="{BB962C8B-B14F-4D97-AF65-F5344CB8AC3E}">
        <p14:creationId xmlns:p14="http://schemas.microsoft.com/office/powerpoint/2010/main" val="1566363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7647" y="228600"/>
            <a:ext cx="8610600" cy="561975"/>
          </a:xfrm>
        </p:spPr>
        <p:txBody>
          <a:bodyPr/>
          <a:lstStyle/>
          <a:p>
            <a:r>
              <a:rPr lang="zh-CN" altLang="en-US" dirty="0">
                <a:latin typeface="+mn-ea"/>
                <a:ea typeface="+mn-ea"/>
              </a:rPr>
              <a:t>统一调度</a:t>
            </a:r>
          </a:p>
        </p:txBody>
      </p:sp>
      <p:sp>
        <p:nvSpPr>
          <p:cNvPr id="65" name="AutoShape 20"/>
          <p:cNvSpPr>
            <a:spLocks noChangeArrowheads="1"/>
          </p:cNvSpPr>
          <p:nvPr/>
        </p:nvSpPr>
        <p:spPr bwMode="auto">
          <a:xfrm rot="10800000">
            <a:off x="5486399" y="1193503"/>
            <a:ext cx="3371847" cy="5057930"/>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sz="1200" dirty="0">
              <a:latin typeface="+mn-ea"/>
              <a:ea typeface="+mn-ea"/>
            </a:endParaRPr>
          </a:p>
        </p:txBody>
      </p:sp>
      <p:sp>
        <p:nvSpPr>
          <p:cNvPr id="64" name="TextBox 63"/>
          <p:cNvSpPr txBox="1"/>
          <p:nvPr/>
        </p:nvSpPr>
        <p:spPr>
          <a:xfrm>
            <a:off x="5562600" y="1572174"/>
            <a:ext cx="3367086" cy="4616648"/>
          </a:xfrm>
          <a:prstGeom prst="rect">
            <a:avLst/>
          </a:prstGeom>
          <a:noFill/>
        </p:spPr>
        <p:txBody>
          <a:bodyPr wrap="square" rtlCol="0">
            <a:spAutoFit/>
          </a:bodyPr>
          <a:lstStyle/>
          <a:p>
            <a:pPr marL="342900" indent="-342900">
              <a:lnSpc>
                <a:spcPct val="150000"/>
              </a:lnSpc>
              <a:buFont typeface="+mj-ea"/>
              <a:buAutoNum type="circleNumDbPlain"/>
            </a:pPr>
            <a:r>
              <a:rPr lang="zh-CN" altLang="en-US" sz="1400" b="1" dirty="0">
                <a:solidFill>
                  <a:srgbClr val="C00000"/>
                </a:solidFill>
                <a:latin typeface="+mn-ea"/>
                <a:ea typeface="+mn-ea"/>
              </a:rPr>
              <a:t>触发方式：</a:t>
            </a:r>
            <a:r>
              <a:rPr lang="zh-CN" altLang="en-US" sz="1400" b="1" dirty="0">
                <a:latin typeface="+mn-ea"/>
                <a:ea typeface="+mn-ea"/>
              </a:rPr>
              <a:t>在调度管理中支持两种形式的计划任务触发一种是事件方式另一种是手动方式。</a:t>
            </a:r>
            <a:endParaRPr lang="en-US" altLang="zh-CN" sz="1400" b="1" dirty="0">
              <a:latin typeface="+mn-ea"/>
              <a:ea typeface="+mn-ea"/>
            </a:endParaRPr>
          </a:p>
          <a:p>
            <a:pPr marL="342900" indent="-342900">
              <a:lnSpc>
                <a:spcPct val="150000"/>
              </a:lnSpc>
              <a:buFont typeface="+mj-ea"/>
              <a:buAutoNum type="circleNumDbPlain"/>
            </a:pPr>
            <a:r>
              <a:rPr lang="zh-CN" altLang="en-US" sz="1400" b="1" dirty="0">
                <a:solidFill>
                  <a:srgbClr val="C00000"/>
                </a:solidFill>
                <a:latin typeface="+mn-ea"/>
                <a:ea typeface="+mn-ea"/>
              </a:rPr>
              <a:t>作业次序：</a:t>
            </a:r>
            <a:r>
              <a:rPr lang="zh-CN" altLang="en-US" sz="1400" b="1" dirty="0">
                <a:latin typeface="+mn-ea"/>
                <a:ea typeface="+mn-ea"/>
              </a:rPr>
              <a:t>触发后作业会根据之前设定好的数据性进行作业排序调整作业次序。</a:t>
            </a:r>
            <a:endParaRPr lang="en-US" altLang="zh-CN" sz="1400" b="1" dirty="0">
              <a:latin typeface="+mn-ea"/>
              <a:ea typeface="+mn-ea"/>
            </a:endParaRPr>
          </a:p>
          <a:p>
            <a:pPr marL="342900" indent="-342900">
              <a:lnSpc>
                <a:spcPct val="150000"/>
              </a:lnSpc>
              <a:buFont typeface="+mj-ea"/>
              <a:buAutoNum type="circleNumDbPlain"/>
            </a:pPr>
            <a:r>
              <a:rPr lang="zh-CN" altLang="en-US" sz="1400" b="1" dirty="0">
                <a:solidFill>
                  <a:srgbClr val="C00000"/>
                </a:solidFill>
                <a:latin typeface="+mn-ea"/>
                <a:ea typeface="+mn-ea"/>
              </a:rPr>
              <a:t>任务计划：</a:t>
            </a:r>
            <a:r>
              <a:rPr lang="zh-CN" altLang="en-US" sz="1400" b="1" dirty="0">
                <a:latin typeface="+mn-ea"/>
                <a:ea typeface="+mn-ea"/>
              </a:rPr>
              <a:t>任务计划会按照配置好的任务执行周期来进行任务调度。</a:t>
            </a:r>
            <a:endParaRPr lang="en-US" altLang="zh-CN" sz="1400" b="1" dirty="0">
              <a:latin typeface="+mn-ea"/>
              <a:ea typeface="+mn-ea"/>
            </a:endParaRPr>
          </a:p>
          <a:p>
            <a:pPr marL="342900" indent="-342900">
              <a:lnSpc>
                <a:spcPct val="150000"/>
              </a:lnSpc>
              <a:buFont typeface="+mj-ea"/>
              <a:buAutoNum type="circleNumDbPlain"/>
            </a:pPr>
            <a:r>
              <a:rPr lang="zh-CN" altLang="en-US" sz="1400" b="1" dirty="0">
                <a:solidFill>
                  <a:srgbClr val="C00000"/>
                </a:solidFill>
                <a:latin typeface="+mn-ea"/>
                <a:ea typeface="+mn-ea"/>
              </a:rPr>
              <a:t>资源调配：</a:t>
            </a:r>
            <a:r>
              <a:rPr lang="zh-CN" altLang="en-US" sz="1400" b="1" dirty="0">
                <a:latin typeface="+mn-ea"/>
                <a:ea typeface="+mn-ea"/>
              </a:rPr>
              <a:t>在执行调度的时候会根据注册的作业服务器的状况进行资源分配执行传输任务。</a:t>
            </a:r>
            <a:endParaRPr lang="en-US" altLang="zh-CN" sz="1400" b="1" dirty="0">
              <a:latin typeface="+mn-ea"/>
              <a:ea typeface="+mn-ea"/>
            </a:endParaRPr>
          </a:p>
          <a:p>
            <a:pPr marL="342900" indent="-342900">
              <a:lnSpc>
                <a:spcPct val="150000"/>
              </a:lnSpc>
              <a:buFont typeface="+mj-ea"/>
              <a:buAutoNum type="circleNumDbPlain"/>
            </a:pPr>
            <a:r>
              <a:rPr lang="zh-CN" altLang="en-US" sz="1400" b="1" dirty="0">
                <a:solidFill>
                  <a:srgbClr val="C00000"/>
                </a:solidFill>
                <a:latin typeface="+mn-ea"/>
                <a:ea typeface="+mn-ea"/>
              </a:rPr>
              <a:t>故障恢复：</a:t>
            </a:r>
            <a:r>
              <a:rPr lang="zh-CN" altLang="en-US" sz="1400" b="1" dirty="0">
                <a:latin typeface="+mn-ea"/>
                <a:ea typeface="+mn-ea"/>
              </a:rPr>
              <a:t>监控管理会监控到传输过程中出现的故障，用户可根据监控到的故障类型进行故障恢复操作。</a:t>
            </a:r>
          </a:p>
        </p:txBody>
      </p:sp>
      <p:sp>
        <p:nvSpPr>
          <p:cNvPr id="88" name="右箭头 87"/>
          <p:cNvSpPr/>
          <p:nvPr/>
        </p:nvSpPr>
        <p:spPr>
          <a:xfrm rot="16200000" flipV="1">
            <a:off x="3940475" y="2482446"/>
            <a:ext cx="1535917" cy="285752"/>
          </a:xfrm>
          <a:prstGeom prst="rightArrow">
            <a:avLst/>
          </a:prstGeom>
          <a:solidFill>
            <a:srgbClr val="FF000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89" name="矩形 88"/>
          <p:cNvSpPr/>
          <p:nvPr/>
        </p:nvSpPr>
        <p:spPr>
          <a:xfrm>
            <a:off x="381000" y="1008837"/>
            <a:ext cx="4998525" cy="2991667"/>
          </a:xfrm>
          <a:prstGeom prst="rect">
            <a:avLst/>
          </a:prstGeom>
          <a:no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90" name="TextBox 89"/>
          <p:cNvSpPr txBox="1"/>
          <p:nvPr/>
        </p:nvSpPr>
        <p:spPr>
          <a:xfrm>
            <a:off x="1790840" y="1008837"/>
            <a:ext cx="2138792" cy="369332"/>
          </a:xfrm>
          <a:prstGeom prst="rect">
            <a:avLst/>
          </a:prstGeom>
          <a:noFill/>
        </p:spPr>
        <p:txBody>
          <a:bodyPr wrap="square" rtlCol="0">
            <a:spAutoFit/>
          </a:bodyPr>
          <a:lstStyle/>
          <a:p>
            <a:pPr algn="ctr"/>
            <a:r>
              <a:rPr lang="zh-CN" altLang="en-US" b="1" dirty="0">
                <a:latin typeface="+mn-ea"/>
                <a:ea typeface="+mn-ea"/>
              </a:rPr>
              <a:t>中心节点</a:t>
            </a:r>
          </a:p>
        </p:txBody>
      </p:sp>
      <p:sp>
        <p:nvSpPr>
          <p:cNvPr id="91" name="TextBox 90"/>
          <p:cNvSpPr txBox="1"/>
          <p:nvPr/>
        </p:nvSpPr>
        <p:spPr>
          <a:xfrm>
            <a:off x="1854924" y="5882103"/>
            <a:ext cx="1858426" cy="369332"/>
          </a:xfrm>
          <a:prstGeom prst="rect">
            <a:avLst/>
          </a:prstGeom>
          <a:noFill/>
        </p:spPr>
        <p:txBody>
          <a:bodyPr wrap="square" rtlCol="0">
            <a:spAutoFit/>
          </a:bodyPr>
          <a:lstStyle/>
          <a:p>
            <a:pPr algn="ctr"/>
            <a:r>
              <a:rPr lang="zh-CN" altLang="en-US" dirty="0">
                <a:latin typeface="+mn-ea"/>
                <a:ea typeface="+mn-ea"/>
              </a:rPr>
              <a:t>前置区</a:t>
            </a:r>
          </a:p>
        </p:txBody>
      </p:sp>
      <p:sp>
        <p:nvSpPr>
          <p:cNvPr id="92" name="矩形 91"/>
          <p:cNvSpPr/>
          <p:nvPr/>
        </p:nvSpPr>
        <p:spPr>
          <a:xfrm>
            <a:off x="573251" y="1970666"/>
            <a:ext cx="3734704" cy="1218317"/>
          </a:xfrm>
          <a:prstGeom prst="rect">
            <a:avLst/>
          </a:prstGeom>
          <a:solidFill>
            <a:srgbClr val="00B0F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bg1"/>
              </a:solidFill>
              <a:latin typeface="+mn-ea"/>
            </a:endParaRPr>
          </a:p>
        </p:txBody>
      </p:sp>
      <p:sp>
        <p:nvSpPr>
          <p:cNvPr id="95" name="矩形 94"/>
          <p:cNvSpPr/>
          <p:nvPr/>
        </p:nvSpPr>
        <p:spPr>
          <a:xfrm>
            <a:off x="3328848" y="2788768"/>
            <a:ext cx="712203" cy="282629"/>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资源调配</a:t>
            </a:r>
          </a:p>
        </p:txBody>
      </p:sp>
      <p:sp>
        <p:nvSpPr>
          <p:cNvPr id="96" name="矩形 95"/>
          <p:cNvSpPr/>
          <p:nvPr/>
        </p:nvSpPr>
        <p:spPr>
          <a:xfrm>
            <a:off x="3328848" y="2355397"/>
            <a:ext cx="712203" cy="248593"/>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故障恢复</a:t>
            </a:r>
          </a:p>
        </p:txBody>
      </p:sp>
      <p:sp>
        <p:nvSpPr>
          <p:cNvPr id="97" name="矩形 96"/>
          <p:cNvSpPr/>
          <p:nvPr/>
        </p:nvSpPr>
        <p:spPr>
          <a:xfrm>
            <a:off x="2111258" y="2355397"/>
            <a:ext cx="712203" cy="276389"/>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作业次序</a:t>
            </a:r>
          </a:p>
        </p:txBody>
      </p:sp>
      <p:sp>
        <p:nvSpPr>
          <p:cNvPr id="98" name="矩形 97"/>
          <p:cNvSpPr/>
          <p:nvPr/>
        </p:nvSpPr>
        <p:spPr>
          <a:xfrm>
            <a:off x="2111258" y="2804251"/>
            <a:ext cx="712203" cy="248593"/>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任务计划</a:t>
            </a:r>
          </a:p>
        </p:txBody>
      </p:sp>
      <p:sp>
        <p:nvSpPr>
          <p:cNvPr id="99" name="TextBox 98"/>
          <p:cNvSpPr txBox="1"/>
          <p:nvPr/>
        </p:nvSpPr>
        <p:spPr>
          <a:xfrm>
            <a:off x="637334" y="1970666"/>
            <a:ext cx="1281673" cy="369332"/>
          </a:xfrm>
          <a:prstGeom prst="rect">
            <a:avLst/>
          </a:prstGeom>
          <a:noFill/>
        </p:spPr>
        <p:txBody>
          <a:bodyPr wrap="square" rtlCol="0">
            <a:spAutoFit/>
          </a:bodyPr>
          <a:lstStyle/>
          <a:p>
            <a:r>
              <a:rPr lang="zh-CN" altLang="en-US" b="1" dirty="0">
                <a:solidFill>
                  <a:schemeClr val="bg1"/>
                </a:solidFill>
                <a:latin typeface="+mn-ea"/>
                <a:ea typeface="+mn-ea"/>
              </a:rPr>
              <a:t>统一调度</a:t>
            </a:r>
          </a:p>
        </p:txBody>
      </p:sp>
      <p:sp>
        <p:nvSpPr>
          <p:cNvPr id="100" name="矩形 99"/>
          <p:cNvSpPr/>
          <p:nvPr/>
        </p:nvSpPr>
        <p:spPr>
          <a:xfrm>
            <a:off x="573251" y="1432519"/>
            <a:ext cx="4591960" cy="370953"/>
          </a:xfrm>
          <a:prstGeom prst="rect">
            <a:avLst/>
          </a:prstGeom>
          <a:solidFill>
            <a:schemeClr val="bg1">
              <a:lumMod val="75000"/>
            </a:schemeClr>
          </a:solidFill>
          <a:ln>
            <a:solidFill>
              <a:schemeClr val="bg1">
                <a:lumMod val="75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vert="horz" lIns="0" rIns="0" rtlCol="0" anchor="ctr" anchorCtr="0"/>
          <a:lstStyle/>
          <a:p>
            <a:pPr algn="ctr"/>
            <a:r>
              <a:rPr lang="zh-CN" altLang="en-US" sz="1600" b="1" dirty="0">
                <a:solidFill>
                  <a:schemeClr val="bg1"/>
                </a:solidFill>
                <a:latin typeface="+mn-ea"/>
              </a:rPr>
              <a:t>监控管理</a:t>
            </a:r>
          </a:p>
        </p:txBody>
      </p:sp>
      <p:sp>
        <p:nvSpPr>
          <p:cNvPr id="101" name="矩形 100"/>
          <p:cNvSpPr/>
          <p:nvPr/>
        </p:nvSpPr>
        <p:spPr>
          <a:xfrm>
            <a:off x="573251" y="3462820"/>
            <a:ext cx="4591960" cy="350368"/>
          </a:xfrm>
          <a:prstGeom prst="rect">
            <a:avLst/>
          </a:prstGeom>
          <a:solidFill>
            <a:schemeClr val="bg1">
              <a:lumMod val="75000"/>
            </a:schemeClr>
          </a:solidFill>
          <a:ln>
            <a:solidFill>
              <a:schemeClr val="bg1">
                <a:lumMod val="75000"/>
              </a:schemeClr>
            </a:solidFill>
          </a:ln>
        </p:spPr>
        <p:style>
          <a:lnRef idx="1">
            <a:schemeClr val="accent6"/>
          </a:lnRef>
          <a:fillRef idx="2">
            <a:schemeClr val="accent6"/>
          </a:fillRef>
          <a:effectRef idx="1">
            <a:schemeClr val="accent6"/>
          </a:effectRef>
          <a:fontRef idx="minor">
            <a:schemeClr val="dk1"/>
          </a:fontRef>
        </p:style>
        <p:txBody>
          <a:bodyPr lIns="0" rIns="0" rtlCol="0" anchor="t" anchorCtr="0"/>
          <a:lstStyle/>
          <a:p>
            <a:pPr algn="ctr"/>
            <a:r>
              <a:rPr lang="zh-CN" altLang="en-US" sz="1400" b="1" dirty="0">
                <a:solidFill>
                  <a:schemeClr val="bg1"/>
                </a:solidFill>
                <a:latin typeface="+mn-ea"/>
              </a:rPr>
              <a:t>传输任务（结构化</a:t>
            </a:r>
            <a:r>
              <a:rPr lang="en-US" altLang="zh-CN" sz="1400" b="1" dirty="0">
                <a:solidFill>
                  <a:schemeClr val="bg1"/>
                </a:solidFill>
                <a:latin typeface="+mn-ea"/>
              </a:rPr>
              <a:t>/</a:t>
            </a:r>
            <a:r>
              <a:rPr lang="zh-CN" altLang="en-US" sz="1400" b="1" dirty="0">
                <a:solidFill>
                  <a:schemeClr val="bg1"/>
                </a:solidFill>
                <a:latin typeface="+mn-ea"/>
              </a:rPr>
              <a:t>非结构化）</a:t>
            </a:r>
          </a:p>
        </p:txBody>
      </p:sp>
      <p:sp>
        <p:nvSpPr>
          <p:cNvPr id="103" name="矩形 102"/>
          <p:cNvSpPr/>
          <p:nvPr/>
        </p:nvSpPr>
        <p:spPr>
          <a:xfrm>
            <a:off x="3710175" y="4546474"/>
            <a:ext cx="1166402" cy="1038715"/>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104" name="矩形 103"/>
          <p:cNvSpPr/>
          <p:nvPr/>
        </p:nvSpPr>
        <p:spPr>
          <a:xfrm>
            <a:off x="2190781" y="4542255"/>
            <a:ext cx="1166402" cy="1042933"/>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105" name="矩形 104"/>
          <p:cNvSpPr/>
          <p:nvPr/>
        </p:nvSpPr>
        <p:spPr>
          <a:xfrm>
            <a:off x="637334" y="4564415"/>
            <a:ext cx="1166402" cy="1020774"/>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106" name="流程图: 磁盘 105"/>
          <p:cNvSpPr/>
          <p:nvPr/>
        </p:nvSpPr>
        <p:spPr>
          <a:xfrm>
            <a:off x="726327" y="5869432"/>
            <a:ext cx="940691" cy="453013"/>
          </a:xfrm>
          <a:prstGeom prst="flowChartMagneticDisk">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业务信息库</a:t>
            </a:r>
          </a:p>
        </p:txBody>
      </p:sp>
      <p:sp>
        <p:nvSpPr>
          <p:cNvPr id="110" name="流程图: 磁盘 109"/>
          <p:cNvSpPr/>
          <p:nvPr/>
        </p:nvSpPr>
        <p:spPr>
          <a:xfrm>
            <a:off x="2343777" y="5906694"/>
            <a:ext cx="940691" cy="453013"/>
          </a:xfrm>
          <a:prstGeom prst="flowChartMagneticDisk">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业务信息库</a:t>
            </a:r>
          </a:p>
        </p:txBody>
      </p:sp>
      <p:sp>
        <p:nvSpPr>
          <p:cNvPr id="111" name="流程图: 磁盘 110"/>
          <p:cNvSpPr/>
          <p:nvPr/>
        </p:nvSpPr>
        <p:spPr>
          <a:xfrm>
            <a:off x="3915952" y="5906694"/>
            <a:ext cx="940691" cy="453013"/>
          </a:xfrm>
          <a:prstGeom prst="flowChartMagneticDisk">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业务信息库</a:t>
            </a:r>
          </a:p>
        </p:txBody>
      </p:sp>
      <p:sp>
        <p:nvSpPr>
          <p:cNvPr id="112" name="流程图: 磁盘 111"/>
          <p:cNvSpPr/>
          <p:nvPr/>
        </p:nvSpPr>
        <p:spPr>
          <a:xfrm>
            <a:off x="823672" y="4870912"/>
            <a:ext cx="877968" cy="423702"/>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a:t>
            </a:r>
            <a:endParaRPr lang="en-US" altLang="zh-CN" sz="1200" b="1" dirty="0">
              <a:solidFill>
                <a:schemeClr val="bg1"/>
              </a:solidFill>
              <a:latin typeface="+mn-ea"/>
            </a:endParaRPr>
          </a:p>
          <a:p>
            <a:pPr algn="ctr"/>
            <a:r>
              <a:rPr lang="zh-CN" altLang="en-US" sz="1200" b="1" dirty="0">
                <a:solidFill>
                  <a:schemeClr val="bg1"/>
                </a:solidFill>
                <a:latin typeface="+mn-ea"/>
              </a:rPr>
              <a:t>信息库</a:t>
            </a:r>
          </a:p>
        </p:txBody>
      </p:sp>
      <p:sp>
        <p:nvSpPr>
          <p:cNvPr id="113" name="TextBox 112"/>
          <p:cNvSpPr txBox="1"/>
          <p:nvPr/>
        </p:nvSpPr>
        <p:spPr>
          <a:xfrm>
            <a:off x="811245" y="4635605"/>
            <a:ext cx="969404" cy="276999"/>
          </a:xfrm>
          <a:prstGeom prst="rect">
            <a:avLst/>
          </a:prstGeom>
          <a:noFill/>
        </p:spPr>
        <p:txBody>
          <a:bodyPr wrap="square" rtlCol="0">
            <a:spAutoFit/>
          </a:bodyPr>
          <a:lstStyle/>
          <a:p>
            <a:pPr algn="ctr"/>
            <a:r>
              <a:rPr lang="zh-CN" altLang="en-US" sz="1200" b="1" dirty="0">
                <a:latin typeface="+mn-ea"/>
                <a:ea typeface="+mn-ea"/>
              </a:rPr>
              <a:t>前置交换区</a:t>
            </a:r>
          </a:p>
        </p:txBody>
      </p:sp>
      <p:sp>
        <p:nvSpPr>
          <p:cNvPr id="114" name="流程图: 磁盘 113"/>
          <p:cNvSpPr/>
          <p:nvPr/>
        </p:nvSpPr>
        <p:spPr>
          <a:xfrm>
            <a:off x="2319020" y="4870912"/>
            <a:ext cx="908011" cy="423702"/>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a:t>
            </a:r>
            <a:endParaRPr lang="en-US" altLang="zh-CN" sz="1200" b="1" dirty="0">
              <a:solidFill>
                <a:schemeClr val="bg1"/>
              </a:solidFill>
              <a:latin typeface="+mn-ea"/>
            </a:endParaRPr>
          </a:p>
          <a:p>
            <a:pPr algn="ctr"/>
            <a:r>
              <a:rPr lang="zh-CN" altLang="en-US" sz="1200" b="1" dirty="0">
                <a:solidFill>
                  <a:schemeClr val="bg1"/>
                </a:solidFill>
                <a:latin typeface="+mn-ea"/>
              </a:rPr>
              <a:t>信息库</a:t>
            </a:r>
          </a:p>
        </p:txBody>
      </p:sp>
      <p:sp>
        <p:nvSpPr>
          <p:cNvPr id="115" name="TextBox 114"/>
          <p:cNvSpPr txBox="1"/>
          <p:nvPr/>
        </p:nvSpPr>
        <p:spPr>
          <a:xfrm>
            <a:off x="2317244" y="4635605"/>
            <a:ext cx="969404" cy="276999"/>
          </a:xfrm>
          <a:prstGeom prst="rect">
            <a:avLst/>
          </a:prstGeom>
          <a:noFill/>
        </p:spPr>
        <p:txBody>
          <a:bodyPr wrap="square" rtlCol="0">
            <a:spAutoFit/>
          </a:bodyPr>
          <a:lstStyle/>
          <a:p>
            <a:pPr algn="ctr"/>
            <a:r>
              <a:rPr lang="zh-CN" altLang="en-US" sz="1200" b="1" dirty="0">
                <a:latin typeface="+mn-ea"/>
                <a:ea typeface="+mn-ea"/>
              </a:rPr>
              <a:t>前置交换区</a:t>
            </a:r>
          </a:p>
        </p:txBody>
      </p:sp>
      <p:sp>
        <p:nvSpPr>
          <p:cNvPr id="116" name="流程图: 磁盘 115"/>
          <p:cNvSpPr/>
          <p:nvPr/>
        </p:nvSpPr>
        <p:spPr>
          <a:xfrm>
            <a:off x="3870370" y="4870912"/>
            <a:ext cx="877968" cy="423702"/>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a:t>
            </a:r>
            <a:endParaRPr lang="en-US" altLang="zh-CN" sz="1200" b="1" dirty="0">
              <a:solidFill>
                <a:schemeClr val="bg1"/>
              </a:solidFill>
              <a:latin typeface="+mn-ea"/>
            </a:endParaRPr>
          </a:p>
          <a:p>
            <a:pPr algn="ctr"/>
            <a:r>
              <a:rPr lang="zh-CN" altLang="en-US" sz="1200" b="1" dirty="0">
                <a:solidFill>
                  <a:schemeClr val="bg1"/>
                </a:solidFill>
                <a:latin typeface="+mn-ea"/>
              </a:rPr>
              <a:t>信息库</a:t>
            </a:r>
          </a:p>
        </p:txBody>
      </p:sp>
      <p:sp>
        <p:nvSpPr>
          <p:cNvPr id="117" name="TextBox 116"/>
          <p:cNvSpPr txBox="1"/>
          <p:nvPr/>
        </p:nvSpPr>
        <p:spPr>
          <a:xfrm>
            <a:off x="3836638" y="4639824"/>
            <a:ext cx="969404" cy="276999"/>
          </a:xfrm>
          <a:prstGeom prst="rect">
            <a:avLst/>
          </a:prstGeom>
          <a:noFill/>
        </p:spPr>
        <p:txBody>
          <a:bodyPr wrap="square" rtlCol="0">
            <a:spAutoFit/>
          </a:bodyPr>
          <a:lstStyle/>
          <a:p>
            <a:pPr algn="ctr"/>
            <a:r>
              <a:rPr lang="zh-CN" altLang="en-US" sz="1200" b="1" dirty="0">
                <a:latin typeface="+mn-ea"/>
                <a:ea typeface="+mn-ea"/>
              </a:rPr>
              <a:t>前置交换区</a:t>
            </a:r>
          </a:p>
        </p:txBody>
      </p:sp>
      <p:sp>
        <p:nvSpPr>
          <p:cNvPr id="118" name="上下箭头 117"/>
          <p:cNvSpPr/>
          <p:nvPr/>
        </p:nvSpPr>
        <p:spPr>
          <a:xfrm>
            <a:off x="2669269" y="5568383"/>
            <a:ext cx="222770" cy="331547"/>
          </a:xfrm>
          <a:prstGeom prst="upDown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19" name="上下箭头 118"/>
          <p:cNvSpPr/>
          <p:nvPr/>
        </p:nvSpPr>
        <p:spPr>
          <a:xfrm>
            <a:off x="4241444" y="5568383"/>
            <a:ext cx="222770" cy="331547"/>
          </a:xfrm>
          <a:prstGeom prst="upDown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20" name="圆角矩形 119"/>
          <p:cNvSpPr/>
          <p:nvPr/>
        </p:nvSpPr>
        <p:spPr>
          <a:xfrm>
            <a:off x="842400" y="5311603"/>
            <a:ext cx="859239" cy="226506"/>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121" name="圆角矩形 120"/>
          <p:cNvSpPr/>
          <p:nvPr/>
        </p:nvSpPr>
        <p:spPr>
          <a:xfrm>
            <a:off x="2346220" y="5311603"/>
            <a:ext cx="859239" cy="226506"/>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122" name="圆角矩形 121"/>
          <p:cNvSpPr/>
          <p:nvPr/>
        </p:nvSpPr>
        <p:spPr>
          <a:xfrm>
            <a:off x="3879420" y="5311603"/>
            <a:ext cx="859239" cy="226506"/>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123" name="矩形 122"/>
          <p:cNvSpPr/>
          <p:nvPr/>
        </p:nvSpPr>
        <p:spPr>
          <a:xfrm>
            <a:off x="381000" y="4407299"/>
            <a:ext cx="4678107" cy="1282439"/>
          </a:xfrm>
          <a:prstGeom prst="rect">
            <a:avLst/>
          </a:prstGeom>
          <a:no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24" name="上下箭头 123"/>
          <p:cNvSpPr/>
          <p:nvPr/>
        </p:nvSpPr>
        <p:spPr>
          <a:xfrm>
            <a:off x="1085920" y="5561494"/>
            <a:ext cx="222770" cy="331547"/>
          </a:xfrm>
          <a:prstGeom prst="upDown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grpSp>
        <p:nvGrpSpPr>
          <p:cNvPr id="129" name="组合 68"/>
          <p:cNvGrpSpPr/>
          <p:nvPr/>
        </p:nvGrpSpPr>
        <p:grpSpPr>
          <a:xfrm>
            <a:off x="1790207" y="2081552"/>
            <a:ext cx="322824" cy="369332"/>
            <a:chOff x="6096000" y="2021699"/>
            <a:chExt cx="346959" cy="392742"/>
          </a:xfrm>
        </p:grpSpPr>
        <p:sp>
          <p:nvSpPr>
            <p:cNvPr id="130" name="椭圆 129"/>
            <p:cNvSpPr/>
            <p:nvPr/>
          </p:nvSpPr>
          <p:spPr>
            <a:xfrm>
              <a:off x="6096000" y="2087169"/>
              <a:ext cx="304800"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31" name="TextBox 130"/>
            <p:cNvSpPr txBox="1"/>
            <p:nvPr/>
          </p:nvSpPr>
          <p:spPr>
            <a:xfrm>
              <a:off x="6099769" y="2021699"/>
              <a:ext cx="343190" cy="392742"/>
            </a:xfrm>
            <a:prstGeom prst="rect">
              <a:avLst/>
            </a:prstGeom>
            <a:noFill/>
          </p:spPr>
          <p:txBody>
            <a:bodyPr wrap="none" rtlCol="0">
              <a:spAutoFit/>
            </a:bodyPr>
            <a:lstStyle/>
            <a:p>
              <a:r>
                <a:rPr lang="en-US" altLang="zh-CN" dirty="0">
                  <a:latin typeface="+mn-ea"/>
                  <a:ea typeface="+mn-ea"/>
                </a:rPr>
                <a:t>2</a:t>
              </a:r>
              <a:endParaRPr lang="zh-CN" altLang="en-US" dirty="0">
                <a:latin typeface="+mn-ea"/>
                <a:ea typeface="+mn-ea"/>
              </a:endParaRPr>
            </a:p>
          </p:txBody>
        </p:sp>
      </p:grpSp>
      <p:cxnSp>
        <p:nvCxnSpPr>
          <p:cNvPr id="133" name="直接箭头连接符 132"/>
          <p:cNvCxnSpPr>
            <a:stCxn id="97" idx="2"/>
            <a:endCxn id="98" idx="0"/>
          </p:cNvCxnSpPr>
          <p:nvPr/>
        </p:nvCxnSpPr>
        <p:spPr bwMode="auto">
          <a:xfrm rot="5400000">
            <a:off x="2381128" y="2718019"/>
            <a:ext cx="172464" cy="1425"/>
          </a:xfrm>
          <a:prstGeom prst="straightConnector1">
            <a:avLst/>
          </a:prstGeom>
          <a:ln>
            <a:solidFill>
              <a:srgbClr val="FF0000"/>
            </a:solidFill>
            <a:headEnd type="none" w="med" len="med"/>
            <a:tailEnd type="triangle"/>
          </a:ln>
        </p:spPr>
        <p:style>
          <a:lnRef idx="2">
            <a:schemeClr val="accent4"/>
          </a:lnRef>
          <a:fillRef idx="0">
            <a:schemeClr val="accent4"/>
          </a:fillRef>
          <a:effectRef idx="1">
            <a:schemeClr val="accent4"/>
          </a:effectRef>
          <a:fontRef idx="minor">
            <a:schemeClr val="tx1"/>
          </a:fontRef>
        </p:style>
      </p:cxnSp>
      <p:cxnSp>
        <p:nvCxnSpPr>
          <p:cNvPr id="134" name="直接箭头连接符 133"/>
          <p:cNvCxnSpPr>
            <a:stCxn id="98" idx="3"/>
            <a:endCxn id="95" idx="1"/>
          </p:cNvCxnSpPr>
          <p:nvPr/>
        </p:nvCxnSpPr>
        <p:spPr bwMode="auto">
          <a:xfrm>
            <a:off x="2823461" y="2928548"/>
            <a:ext cx="505387" cy="1535"/>
          </a:xfrm>
          <a:prstGeom prst="straightConnector1">
            <a:avLst/>
          </a:prstGeom>
          <a:ln>
            <a:solidFill>
              <a:srgbClr val="FF0000"/>
            </a:solidFill>
            <a:headEnd type="none" w="med" len="med"/>
            <a:tailEnd type="triangle"/>
          </a:ln>
        </p:spPr>
        <p:style>
          <a:lnRef idx="2">
            <a:schemeClr val="accent4"/>
          </a:lnRef>
          <a:fillRef idx="0">
            <a:schemeClr val="accent4"/>
          </a:fillRef>
          <a:effectRef idx="1">
            <a:schemeClr val="accent4"/>
          </a:effectRef>
          <a:fontRef idx="minor">
            <a:schemeClr val="tx1"/>
          </a:fontRef>
        </p:style>
      </p:cxnSp>
      <p:grpSp>
        <p:nvGrpSpPr>
          <p:cNvPr id="135" name="组合 71"/>
          <p:cNvGrpSpPr/>
          <p:nvPr/>
        </p:nvGrpSpPr>
        <p:grpSpPr>
          <a:xfrm>
            <a:off x="2920175" y="2419615"/>
            <a:ext cx="322824" cy="369332"/>
            <a:chOff x="6096000" y="2309750"/>
            <a:chExt cx="346959" cy="392742"/>
          </a:xfrm>
        </p:grpSpPr>
        <p:sp>
          <p:nvSpPr>
            <p:cNvPr id="136" name="椭圆 135"/>
            <p:cNvSpPr/>
            <p:nvPr/>
          </p:nvSpPr>
          <p:spPr>
            <a:xfrm>
              <a:off x="6096000" y="2355483"/>
              <a:ext cx="304800"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37" name="TextBox 136"/>
            <p:cNvSpPr txBox="1"/>
            <p:nvPr/>
          </p:nvSpPr>
          <p:spPr>
            <a:xfrm>
              <a:off x="6099769" y="2309750"/>
              <a:ext cx="343190" cy="392742"/>
            </a:xfrm>
            <a:prstGeom prst="rect">
              <a:avLst/>
            </a:prstGeom>
            <a:noFill/>
          </p:spPr>
          <p:txBody>
            <a:bodyPr wrap="none" rtlCol="0">
              <a:spAutoFit/>
            </a:bodyPr>
            <a:lstStyle/>
            <a:p>
              <a:r>
                <a:rPr lang="en-US" altLang="zh-CN" dirty="0">
                  <a:latin typeface="+mn-ea"/>
                  <a:ea typeface="+mn-ea"/>
                </a:rPr>
                <a:t>3</a:t>
              </a:r>
              <a:endParaRPr lang="zh-CN" altLang="en-US" dirty="0">
                <a:latin typeface="+mn-ea"/>
                <a:ea typeface="+mn-ea"/>
              </a:endParaRPr>
            </a:p>
          </p:txBody>
        </p:sp>
      </p:grpSp>
      <p:sp>
        <p:nvSpPr>
          <p:cNvPr id="139" name="椭圆 138"/>
          <p:cNvSpPr/>
          <p:nvPr/>
        </p:nvSpPr>
        <p:spPr>
          <a:xfrm>
            <a:off x="4249549" y="3055822"/>
            <a:ext cx="283598" cy="26062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40" name="TextBox 139"/>
          <p:cNvSpPr txBox="1"/>
          <p:nvPr/>
        </p:nvSpPr>
        <p:spPr>
          <a:xfrm>
            <a:off x="4253056" y="3012815"/>
            <a:ext cx="319317" cy="369332"/>
          </a:xfrm>
          <a:prstGeom prst="rect">
            <a:avLst/>
          </a:prstGeom>
          <a:noFill/>
        </p:spPr>
        <p:txBody>
          <a:bodyPr wrap="none" rtlCol="0">
            <a:spAutoFit/>
          </a:bodyPr>
          <a:lstStyle/>
          <a:p>
            <a:r>
              <a:rPr lang="en-US" altLang="zh-CN" dirty="0">
                <a:latin typeface="+mn-ea"/>
                <a:ea typeface="+mn-ea"/>
              </a:rPr>
              <a:t>4</a:t>
            </a:r>
            <a:endParaRPr lang="zh-CN" altLang="en-US" dirty="0">
              <a:latin typeface="+mn-ea"/>
              <a:ea typeface="+mn-ea"/>
            </a:endParaRPr>
          </a:p>
        </p:txBody>
      </p:sp>
      <p:cxnSp>
        <p:nvCxnSpPr>
          <p:cNvPr id="143" name="肘形连接符 142"/>
          <p:cNvCxnSpPr>
            <a:endCxn id="95" idx="3"/>
          </p:cNvCxnSpPr>
          <p:nvPr/>
        </p:nvCxnSpPr>
        <p:spPr bwMode="auto">
          <a:xfrm rot="16200000" flipV="1">
            <a:off x="3558910" y="3412225"/>
            <a:ext cx="2181521" cy="1217238"/>
          </a:xfrm>
          <a:prstGeom prst="bentConnector2">
            <a:avLst/>
          </a:prstGeom>
          <a:solidFill>
            <a:schemeClr val="accent1"/>
          </a:solidFill>
          <a:ln w="73025" cap="flat" cmpd="sng" algn="ctr">
            <a:solidFill>
              <a:srgbClr val="6699FF"/>
            </a:solidFill>
            <a:prstDash val="solid"/>
            <a:round/>
            <a:headEnd type="none" w="med" len="med"/>
            <a:tailEnd type="triangle"/>
          </a:ln>
          <a:effectLst/>
        </p:spPr>
      </p:cxnSp>
      <p:sp>
        <p:nvSpPr>
          <p:cNvPr id="144" name="TextBox 143"/>
          <p:cNvSpPr txBox="1"/>
          <p:nvPr/>
        </p:nvSpPr>
        <p:spPr>
          <a:xfrm>
            <a:off x="4724400" y="2362200"/>
            <a:ext cx="1014841" cy="253916"/>
          </a:xfrm>
          <a:prstGeom prst="rect">
            <a:avLst/>
          </a:prstGeom>
          <a:noFill/>
        </p:spPr>
        <p:txBody>
          <a:bodyPr wrap="square" rtlCol="0">
            <a:spAutoFit/>
          </a:bodyPr>
          <a:lstStyle/>
          <a:p>
            <a:pPr algn="ctr"/>
            <a:r>
              <a:rPr lang="zh-CN" altLang="en-US" sz="1050" b="1" dirty="0">
                <a:solidFill>
                  <a:srgbClr val="FF0000"/>
                </a:solidFill>
                <a:latin typeface="+mn-ea"/>
                <a:ea typeface="+mn-ea"/>
              </a:rPr>
              <a:t>资源状态信息</a:t>
            </a:r>
          </a:p>
        </p:txBody>
      </p:sp>
      <p:sp>
        <p:nvSpPr>
          <p:cNvPr id="145" name="TextBox 144"/>
          <p:cNvSpPr txBox="1"/>
          <p:nvPr/>
        </p:nvSpPr>
        <p:spPr>
          <a:xfrm>
            <a:off x="4190256" y="1571612"/>
            <a:ext cx="1067544" cy="253916"/>
          </a:xfrm>
          <a:prstGeom prst="rect">
            <a:avLst/>
          </a:prstGeom>
          <a:noFill/>
        </p:spPr>
        <p:txBody>
          <a:bodyPr wrap="square" rtlCol="0">
            <a:spAutoFit/>
          </a:bodyPr>
          <a:lstStyle/>
          <a:p>
            <a:pPr algn="ctr"/>
            <a:r>
              <a:rPr lang="zh-CN" altLang="en-US" sz="1050" b="1" dirty="0">
                <a:solidFill>
                  <a:srgbClr val="FF0000"/>
                </a:solidFill>
                <a:latin typeface="+mn-ea"/>
                <a:ea typeface="+mn-ea"/>
              </a:rPr>
              <a:t>异常任务扑捉</a:t>
            </a:r>
          </a:p>
        </p:txBody>
      </p:sp>
      <p:grpSp>
        <p:nvGrpSpPr>
          <p:cNvPr id="146" name="组合 77"/>
          <p:cNvGrpSpPr/>
          <p:nvPr/>
        </p:nvGrpSpPr>
        <p:grpSpPr>
          <a:xfrm>
            <a:off x="3093513" y="1736399"/>
            <a:ext cx="319331" cy="369332"/>
            <a:chOff x="5639325" y="2309750"/>
            <a:chExt cx="343203" cy="392742"/>
          </a:xfrm>
        </p:grpSpPr>
        <p:sp>
          <p:nvSpPr>
            <p:cNvPr id="147" name="椭圆 146"/>
            <p:cNvSpPr/>
            <p:nvPr/>
          </p:nvSpPr>
          <p:spPr>
            <a:xfrm>
              <a:off x="5639325" y="2355483"/>
              <a:ext cx="304799"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48" name="TextBox 147"/>
            <p:cNvSpPr txBox="1"/>
            <p:nvPr/>
          </p:nvSpPr>
          <p:spPr>
            <a:xfrm>
              <a:off x="5639338" y="2309750"/>
              <a:ext cx="343190" cy="392742"/>
            </a:xfrm>
            <a:prstGeom prst="rect">
              <a:avLst/>
            </a:prstGeom>
            <a:noFill/>
          </p:spPr>
          <p:txBody>
            <a:bodyPr wrap="none" rtlCol="0">
              <a:spAutoFit/>
            </a:bodyPr>
            <a:lstStyle/>
            <a:p>
              <a:r>
                <a:rPr lang="en-US" altLang="zh-CN" dirty="0">
                  <a:latin typeface="+mn-ea"/>
                  <a:ea typeface="+mn-ea"/>
                </a:rPr>
                <a:t>5</a:t>
              </a:r>
              <a:endParaRPr lang="zh-CN" altLang="en-US" dirty="0">
                <a:latin typeface="+mn-ea"/>
                <a:ea typeface="+mn-ea"/>
              </a:endParaRPr>
            </a:p>
          </p:txBody>
        </p:sp>
      </p:grpSp>
      <p:sp>
        <p:nvSpPr>
          <p:cNvPr id="149" name="左右箭头 148"/>
          <p:cNvSpPr/>
          <p:nvPr/>
        </p:nvSpPr>
        <p:spPr>
          <a:xfrm rot="5400000">
            <a:off x="4124092" y="4030956"/>
            <a:ext cx="428628" cy="367725"/>
          </a:xfrm>
          <a:prstGeom prst="leftRightArrow">
            <a:avLst/>
          </a:prstGeom>
          <a:solidFill>
            <a:schemeClr val="accent1">
              <a:lumMod val="75000"/>
            </a:schemeClr>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52" name="椭圆 151"/>
          <p:cNvSpPr/>
          <p:nvPr/>
        </p:nvSpPr>
        <p:spPr>
          <a:xfrm>
            <a:off x="450295" y="2257563"/>
            <a:ext cx="283598" cy="26062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53" name="TextBox 152"/>
          <p:cNvSpPr txBox="1"/>
          <p:nvPr/>
        </p:nvSpPr>
        <p:spPr>
          <a:xfrm>
            <a:off x="453802" y="2214556"/>
            <a:ext cx="319317" cy="369332"/>
          </a:xfrm>
          <a:prstGeom prst="rect">
            <a:avLst/>
          </a:prstGeom>
          <a:noFill/>
        </p:spPr>
        <p:txBody>
          <a:bodyPr wrap="none" rtlCol="0">
            <a:spAutoFit/>
          </a:bodyPr>
          <a:lstStyle/>
          <a:p>
            <a:r>
              <a:rPr lang="en-US" altLang="zh-CN" dirty="0">
                <a:latin typeface="+mn-ea"/>
                <a:ea typeface="+mn-ea"/>
              </a:rPr>
              <a:t>1</a:t>
            </a:r>
            <a:endParaRPr lang="zh-CN" altLang="en-US" dirty="0">
              <a:latin typeface="+mn-ea"/>
              <a:ea typeface="+mn-ea"/>
            </a:endParaRPr>
          </a:p>
        </p:txBody>
      </p:sp>
      <p:sp>
        <p:nvSpPr>
          <p:cNvPr id="154" name="左右箭头 153"/>
          <p:cNvSpPr/>
          <p:nvPr/>
        </p:nvSpPr>
        <p:spPr>
          <a:xfrm rot="5400000">
            <a:off x="2552456" y="4030955"/>
            <a:ext cx="428628" cy="367725"/>
          </a:xfrm>
          <a:prstGeom prst="leftRightArrow">
            <a:avLst/>
          </a:prstGeom>
          <a:solidFill>
            <a:schemeClr val="accent1">
              <a:lumMod val="75000"/>
            </a:schemeClr>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55" name="左右箭头 154"/>
          <p:cNvSpPr/>
          <p:nvPr/>
        </p:nvSpPr>
        <p:spPr>
          <a:xfrm rot="5400000">
            <a:off x="991355" y="4030955"/>
            <a:ext cx="428628" cy="367725"/>
          </a:xfrm>
          <a:prstGeom prst="leftRightArrow">
            <a:avLst/>
          </a:prstGeom>
          <a:solidFill>
            <a:schemeClr val="accent1">
              <a:lumMod val="75000"/>
            </a:schemeClr>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56" name="右箭头 155"/>
          <p:cNvSpPr/>
          <p:nvPr/>
        </p:nvSpPr>
        <p:spPr>
          <a:xfrm rot="5400000">
            <a:off x="3609053" y="3066651"/>
            <a:ext cx="250033" cy="357190"/>
          </a:xfrm>
          <a:prstGeom prst="rightArrow">
            <a:avLst/>
          </a:prstGeom>
          <a:solidFill>
            <a:srgbClr val="00B0F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57" name="右箭头 156"/>
          <p:cNvSpPr/>
          <p:nvPr/>
        </p:nvSpPr>
        <p:spPr>
          <a:xfrm rot="5400000">
            <a:off x="3494753" y="1884748"/>
            <a:ext cx="402433" cy="347666"/>
          </a:xfrm>
          <a:prstGeom prst="rightArrow">
            <a:avLst/>
          </a:prstGeom>
          <a:solidFill>
            <a:srgbClr val="FF000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cxnSp>
        <p:nvCxnSpPr>
          <p:cNvPr id="4" name="直接连接符 3"/>
          <p:cNvCxnSpPr/>
          <p:nvPr/>
        </p:nvCxnSpPr>
        <p:spPr bwMode="auto">
          <a:xfrm>
            <a:off x="1656115" y="2514600"/>
            <a:ext cx="248885" cy="0"/>
          </a:xfrm>
          <a:prstGeom prst="line">
            <a:avLst/>
          </a:prstGeom>
          <a:ln>
            <a:solidFill>
              <a:srgbClr val="FF0000"/>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81" name="直接连接符 80"/>
          <p:cNvCxnSpPr/>
          <p:nvPr/>
        </p:nvCxnSpPr>
        <p:spPr bwMode="auto">
          <a:xfrm>
            <a:off x="1663700" y="2895600"/>
            <a:ext cx="248885" cy="0"/>
          </a:xfrm>
          <a:prstGeom prst="line">
            <a:avLst/>
          </a:prstGeom>
          <a:ln>
            <a:solidFill>
              <a:srgbClr val="FF0000"/>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sp>
        <p:nvSpPr>
          <p:cNvPr id="93" name="矩形 92"/>
          <p:cNvSpPr/>
          <p:nvPr/>
        </p:nvSpPr>
        <p:spPr>
          <a:xfrm>
            <a:off x="957753" y="2355397"/>
            <a:ext cx="712203" cy="282629"/>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事件触发</a:t>
            </a:r>
          </a:p>
        </p:txBody>
      </p:sp>
      <p:sp>
        <p:nvSpPr>
          <p:cNvPr id="94" name="矩形 93"/>
          <p:cNvSpPr/>
          <p:nvPr/>
        </p:nvSpPr>
        <p:spPr>
          <a:xfrm>
            <a:off x="957753" y="2804251"/>
            <a:ext cx="712203" cy="256936"/>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手工触发</a:t>
            </a:r>
          </a:p>
        </p:txBody>
      </p:sp>
      <p:cxnSp>
        <p:nvCxnSpPr>
          <p:cNvPr id="83" name="直接连接符 82"/>
          <p:cNvCxnSpPr/>
          <p:nvPr/>
        </p:nvCxnSpPr>
        <p:spPr bwMode="auto">
          <a:xfrm flipV="1">
            <a:off x="1905000" y="2514600"/>
            <a:ext cx="0" cy="381000"/>
          </a:xfrm>
          <a:prstGeom prst="line">
            <a:avLst/>
          </a:prstGeom>
          <a:ln>
            <a:solidFill>
              <a:srgbClr val="FF0000"/>
            </a:solidFill>
            <a:headEnd type="none"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85" name="直接箭头连接符 84"/>
          <p:cNvCxnSpPr/>
          <p:nvPr/>
        </p:nvCxnSpPr>
        <p:spPr bwMode="auto">
          <a:xfrm>
            <a:off x="1905000" y="2590800"/>
            <a:ext cx="237493" cy="0"/>
          </a:xfrm>
          <a:prstGeom prst="straightConnector1">
            <a:avLst/>
          </a:prstGeom>
          <a:ln>
            <a:solidFill>
              <a:srgbClr val="FF0000"/>
            </a:solidFill>
            <a:headEnd type="none" w="med" len="med"/>
            <a:tailEnd type="triangle"/>
          </a:ln>
        </p:spPr>
        <p:style>
          <a:lnRef idx="2">
            <a:schemeClr val="accent4"/>
          </a:lnRef>
          <a:fillRef idx="0">
            <a:schemeClr val="accent4"/>
          </a:fillRef>
          <a:effectRef idx="1">
            <a:schemeClr val="accent4"/>
          </a:effectRef>
          <a:fontRef idx="minor">
            <a:schemeClr val="tx1"/>
          </a:fontRef>
        </p:style>
      </p:cxnSp>
      <p:cxnSp>
        <p:nvCxnSpPr>
          <p:cNvPr id="158" name="肘形连接符 157"/>
          <p:cNvCxnSpPr/>
          <p:nvPr/>
        </p:nvCxnSpPr>
        <p:spPr bwMode="auto">
          <a:xfrm flipH="1">
            <a:off x="5010003" y="5092700"/>
            <a:ext cx="273197" cy="0"/>
          </a:xfrm>
          <a:prstGeom prst="straightConnector1">
            <a:avLst/>
          </a:prstGeom>
          <a:solidFill>
            <a:schemeClr val="accent1"/>
          </a:solidFill>
          <a:ln w="73025" cap="flat" cmpd="sng" algn="ctr">
            <a:solidFill>
              <a:srgbClr val="6699FF"/>
            </a:solidFill>
            <a:prstDash val="solid"/>
            <a:round/>
            <a:headEnd type="none" w="med" len="med"/>
            <a:tailEnd type="none"/>
          </a:ln>
          <a:effectLst/>
        </p:spPr>
      </p:cxnSp>
    </p:spTree>
    <p:extLst>
      <p:ext uri="{BB962C8B-B14F-4D97-AF65-F5344CB8AC3E}">
        <p14:creationId xmlns:p14="http://schemas.microsoft.com/office/powerpoint/2010/main" val="2125819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梯形 109"/>
          <p:cNvSpPr/>
          <p:nvPr/>
        </p:nvSpPr>
        <p:spPr>
          <a:xfrm rot="5400000">
            <a:off x="396485" y="2701860"/>
            <a:ext cx="4864758" cy="1579705"/>
          </a:xfrm>
          <a:prstGeom prst="trapezoid">
            <a:avLst>
              <a:gd name="adj" fmla="val 110219"/>
            </a:avLst>
          </a:prstGeom>
          <a:solidFill>
            <a:schemeClr val="bg1">
              <a:lumMod val="85000"/>
            </a:schemeClr>
          </a:solidFill>
          <a:ln>
            <a:solidFill>
              <a:schemeClr val="bg1">
                <a:lumMod val="85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09" name="矩形 108"/>
          <p:cNvSpPr/>
          <p:nvPr/>
        </p:nvSpPr>
        <p:spPr>
          <a:xfrm>
            <a:off x="2971800" y="838200"/>
            <a:ext cx="6096000" cy="5791200"/>
          </a:xfrm>
          <a:prstGeom prst="rect">
            <a:avLst/>
          </a:prstGeom>
          <a:solidFill>
            <a:schemeClr val="bg1"/>
          </a:solidFill>
          <a:ln>
            <a:solidFill>
              <a:schemeClr val="bg1">
                <a:lumMod val="85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bg1"/>
              </a:solidFill>
            </a:endParaRPr>
          </a:p>
        </p:txBody>
      </p:sp>
      <p:sp>
        <p:nvSpPr>
          <p:cNvPr id="108" name="矩形 107"/>
          <p:cNvSpPr/>
          <p:nvPr/>
        </p:nvSpPr>
        <p:spPr>
          <a:xfrm>
            <a:off x="987137" y="938898"/>
            <a:ext cx="1454727" cy="5449714"/>
          </a:xfrm>
          <a:prstGeom prst="rect">
            <a:avLst/>
          </a:prstGeom>
          <a:solidFill>
            <a:srgbClr val="99CCFF"/>
          </a:solidFill>
          <a:ln>
            <a:solidFill>
              <a:srgbClr val="99CCFF"/>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vert="eaVert" lIns="0" rIns="0" rtlCol="0" anchor="ctr" anchorCtr="0"/>
          <a:lstStyle/>
          <a:p>
            <a:pPr algn="ctr"/>
            <a:endParaRPr lang="zh-CN" altLang="en-US" sz="1600" b="1" dirty="0">
              <a:solidFill>
                <a:srgbClr val="002060"/>
              </a:solidFill>
              <a:latin typeface="+mn-ea"/>
            </a:endParaRPr>
          </a:p>
        </p:txBody>
      </p:sp>
      <p:sp>
        <p:nvSpPr>
          <p:cNvPr id="11" name="矩形 10"/>
          <p:cNvSpPr/>
          <p:nvPr/>
        </p:nvSpPr>
        <p:spPr>
          <a:xfrm>
            <a:off x="3332756" y="1276148"/>
            <a:ext cx="5262897" cy="1124171"/>
          </a:xfrm>
          <a:prstGeom prst="rect">
            <a:avLst/>
          </a:prstGeom>
          <a:solidFill>
            <a:schemeClr val="bg2">
              <a:lumMod val="20000"/>
              <a:lumOff val="80000"/>
            </a:schemeClr>
          </a:solidFill>
          <a:ln>
            <a:solidFill>
              <a:schemeClr val="bg2">
                <a:lumMod val="20000"/>
                <a:lumOff val="80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vert="eaVert" lIns="0" rIns="0" rtlCol="0" anchor="ctr" anchorCtr="0"/>
          <a:lstStyle/>
          <a:p>
            <a:pPr algn="ctr"/>
            <a:endParaRPr lang="zh-CN" altLang="en-US" sz="1600" b="1" dirty="0">
              <a:solidFill>
                <a:schemeClr val="tx1"/>
              </a:solidFill>
              <a:latin typeface="+mn-ea"/>
            </a:endParaRPr>
          </a:p>
        </p:txBody>
      </p:sp>
      <p:cxnSp>
        <p:nvCxnSpPr>
          <p:cNvPr id="26" name="形状 25"/>
          <p:cNvCxnSpPr/>
          <p:nvPr/>
        </p:nvCxnSpPr>
        <p:spPr bwMode="auto">
          <a:xfrm>
            <a:off x="3808529" y="1897459"/>
            <a:ext cx="0" cy="1307449"/>
          </a:xfrm>
          <a:prstGeom prst="straightConnector1">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2" name="标题 1"/>
          <p:cNvSpPr>
            <a:spLocks noGrp="1"/>
          </p:cNvSpPr>
          <p:nvPr>
            <p:ph type="title"/>
          </p:nvPr>
        </p:nvSpPr>
        <p:spPr>
          <a:xfrm>
            <a:off x="342900" y="228600"/>
            <a:ext cx="8610600" cy="561975"/>
          </a:xfrm>
        </p:spPr>
        <p:txBody>
          <a:bodyPr/>
          <a:lstStyle/>
          <a:p>
            <a:r>
              <a:rPr lang="zh-CN" altLang="en-US" dirty="0">
                <a:latin typeface="+mn-ea"/>
                <a:ea typeface="+mn-ea"/>
              </a:rPr>
              <a:t>管理与监控</a:t>
            </a:r>
          </a:p>
        </p:txBody>
      </p:sp>
      <p:sp>
        <p:nvSpPr>
          <p:cNvPr id="8" name="矩形 7"/>
          <p:cNvSpPr/>
          <p:nvPr/>
        </p:nvSpPr>
        <p:spPr>
          <a:xfrm>
            <a:off x="3048000" y="938898"/>
            <a:ext cx="5932856" cy="2687133"/>
          </a:xfrm>
          <a:prstGeom prst="rect">
            <a:avLst/>
          </a:prstGeom>
          <a:no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9" name="TextBox 8"/>
          <p:cNvSpPr txBox="1"/>
          <p:nvPr/>
        </p:nvSpPr>
        <p:spPr>
          <a:xfrm>
            <a:off x="4292899" y="914400"/>
            <a:ext cx="3061423" cy="369332"/>
          </a:xfrm>
          <a:prstGeom prst="rect">
            <a:avLst/>
          </a:prstGeom>
          <a:noFill/>
        </p:spPr>
        <p:txBody>
          <a:bodyPr wrap="square" rtlCol="0">
            <a:spAutoFit/>
          </a:bodyPr>
          <a:lstStyle/>
          <a:p>
            <a:pPr algn="ctr"/>
            <a:r>
              <a:rPr lang="zh-CN" altLang="en-US" b="1" dirty="0">
                <a:latin typeface="+mn-ea"/>
                <a:ea typeface="+mn-ea"/>
              </a:rPr>
              <a:t>中心节点</a:t>
            </a:r>
          </a:p>
        </p:txBody>
      </p:sp>
      <p:sp>
        <p:nvSpPr>
          <p:cNvPr id="10" name="矩形 9"/>
          <p:cNvSpPr/>
          <p:nvPr/>
        </p:nvSpPr>
        <p:spPr>
          <a:xfrm>
            <a:off x="3405078" y="2611482"/>
            <a:ext cx="2418533" cy="337251"/>
          </a:xfrm>
          <a:prstGeom prst="rect">
            <a:avLst/>
          </a:prstGeom>
          <a:solidFill>
            <a:srgbClr val="0070C0"/>
          </a:solidFill>
          <a:ln>
            <a:solidFill>
              <a:srgbClr val="0070C0"/>
            </a:solidFill>
          </a:ln>
        </p:spPr>
        <p:style>
          <a:lnRef idx="1">
            <a:schemeClr val="accent2"/>
          </a:lnRef>
          <a:fillRef idx="2">
            <a:schemeClr val="accent2"/>
          </a:fillRef>
          <a:effectRef idx="1">
            <a:schemeClr val="accent2"/>
          </a:effectRef>
          <a:fontRef idx="minor">
            <a:schemeClr val="dk1"/>
          </a:fontRef>
        </p:style>
        <p:txBody>
          <a:bodyPr lIns="0" rIns="0" rtlCol="0" anchor="t" anchorCtr="0"/>
          <a:lstStyle/>
          <a:p>
            <a:pPr algn="ctr"/>
            <a:r>
              <a:rPr lang="zh-CN" altLang="en-US" sz="1600" b="1" dirty="0">
                <a:solidFill>
                  <a:schemeClr val="bg1"/>
                </a:solidFill>
                <a:latin typeface="+mn-ea"/>
              </a:rPr>
              <a:t>调度</a:t>
            </a:r>
          </a:p>
        </p:txBody>
      </p:sp>
      <p:sp>
        <p:nvSpPr>
          <p:cNvPr id="12" name="矩形 11"/>
          <p:cNvSpPr/>
          <p:nvPr/>
        </p:nvSpPr>
        <p:spPr>
          <a:xfrm>
            <a:off x="3388098" y="3187242"/>
            <a:ext cx="2435513" cy="337251"/>
          </a:xfrm>
          <a:prstGeom prst="rect">
            <a:avLst/>
          </a:prstGeom>
          <a:solidFill>
            <a:srgbClr val="0070C0"/>
          </a:solidFill>
          <a:ln>
            <a:solidFill>
              <a:srgbClr val="0070C0"/>
            </a:solidFill>
          </a:ln>
        </p:spPr>
        <p:style>
          <a:lnRef idx="1">
            <a:schemeClr val="accent2"/>
          </a:lnRef>
          <a:fillRef idx="2">
            <a:schemeClr val="accent2"/>
          </a:fillRef>
          <a:effectRef idx="1">
            <a:schemeClr val="accent2"/>
          </a:effectRef>
          <a:fontRef idx="minor">
            <a:schemeClr val="dk1"/>
          </a:fontRef>
        </p:style>
        <p:txBody>
          <a:bodyPr lIns="0" rIns="0" rtlCol="0" anchor="t" anchorCtr="0"/>
          <a:lstStyle/>
          <a:p>
            <a:pPr algn="ctr"/>
            <a:r>
              <a:rPr lang="zh-CN" altLang="en-US" sz="1600" b="1" dirty="0">
                <a:solidFill>
                  <a:schemeClr val="bg1"/>
                </a:solidFill>
                <a:latin typeface="+mn-ea"/>
              </a:rPr>
              <a:t>数据传输任务</a:t>
            </a:r>
          </a:p>
        </p:txBody>
      </p:sp>
      <p:sp>
        <p:nvSpPr>
          <p:cNvPr id="13" name="TextBox 12"/>
          <p:cNvSpPr txBox="1"/>
          <p:nvPr/>
        </p:nvSpPr>
        <p:spPr>
          <a:xfrm>
            <a:off x="3199119" y="1237408"/>
            <a:ext cx="1837207" cy="338554"/>
          </a:xfrm>
          <a:prstGeom prst="rect">
            <a:avLst/>
          </a:prstGeom>
          <a:noFill/>
        </p:spPr>
        <p:txBody>
          <a:bodyPr wrap="square" rtlCol="0">
            <a:spAutoFit/>
          </a:bodyPr>
          <a:lstStyle/>
          <a:p>
            <a:r>
              <a:rPr lang="zh-CN" altLang="en-US" sz="1600" b="1" dirty="0">
                <a:latin typeface="+mn-ea"/>
                <a:ea typeface="+mn-ea"/>
              </a:rPr>
              <a:t>管理与监控</a:t>
            </a:r>
          </a:p>
        </p:txBody>
      </p:sp>
      <p:sp>
        <p:nvSpPr>
          <p:cNvPr id="14" name="矩形 13"/>
          <p:cNvSpPr/>
          <p:nvPr/>
        </p:nvSpPr>
        <p:spPr>
          <a:xfrm>
            <a:off x="6846332" y="2006861"/>
            <a:ext cx="791692" cy="275604"/>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查询统计</a:t>
            </a:r>
          </a:p>
        </p:txBody>
      </p:sp>
      <p:sp>
        <p:nvSpPr>
          <p:cNvPr id="15" name="矩形 14"/>
          <p:cNvSpPr/>
          <p:nvPr/>
        </p:nvSpPr>
        <p:spPr>
          <a:xfrm>
            <a:off x="5805959" y="1614634"/>
            <a:ext cx="799169" cy="290366"/>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系统管理</a:t>
            </a:r>
          </a:p>
        </p:txBody>
      </p:sp>
      <p:sp>
        <p:nvSpPr>
          <p:cNvPr id="16" name="矩形 15"/>
          <p:cNvSpPr/>
          <p:nvPr/>
        </p:nvSpPr>
        <p:spPr>
          <a:xfrm>
            <a:off x="3388099" y="1613400"/>
            <a:ext cx="791692" cy="291600"/>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交换管理</a:t>
            </a:r>
          </a:p>
        </p:txBody>
      </p:sp>
      <p:sp>
        <p:nvSpPr>
          <p:cNvPr id="17" name="矩形 16"/>
          <p:cNvSpPr/>
          <p:nvPr/>
        </p:nvSpPr>
        <p:spPr>
          <a:xfrm>
            <a:off x="7764165" y="2006861"/>
            <a:ext cx="791692" cy="275602"/>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资源管理</a:t>
            </a:r>
          </a:p>
        </p:txBody>
      </p:sp>
      <p:sp>
        <p:nvSpPr>
          <p:cNvPr id="18" name="矩形 17"/>
          <p:cNvSpPr/>
          <p:nvPr/>
        </p:nvSpPr>
        <p:spPr>
          <a:xfrm>
            <a:off x="5813436" y="2006861"/>
            <a:ext cx="791692" cy="275604"/>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日志维护</a:t>
            </a:r>
          </a:p>
        </p:txBody>
      </p:sp>
      <p:sp>
        <p:nvSpPr>
          <p:cNvPr id="19" name="矩形 18"/>
          <p:cNvSpPr/>
          <p:nvPr/>
        </p:nvSpPr>
        <p:spPr>
          <a:xfrm>
            <a:off x="3388099" y="2006861"/>
            <a:ext cx="791692" cy="275603"/>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交换监控</a:t>
            </a:r>
          </a:p>
        </p:txBody>
      </p:sp>
      <p:sp>
        <p:nvSpPr>
          <p:cNvPr id="20" name="矩形 19"/>
          <p:cNvSpPr/>
          <p:nvPr/>
        </p:nvSpPr>
        <p:spPr>
          <a:xfrm>
            <a:off x="7776799" y="1613400"/>
            <a:ext cx="791692" cy="291600"/>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资源监控</a:t>
            </a:r>
          </a:p>
        </p:txBody>
      </p:sp>
      <p:sp>
        <p:nvSpPr>
          <p:cNvPr id="21" name="矩形 20"/>
          <p:cNvSpPr/>
          <p:nvPr/>
        </p:nvSpPr>
        <p:spPr>
          <a:xfrm>
            <a:off x="6834849" y="1626100"/>
            <a:ext cx="791692" cy="278900"/>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权限管理</a:t>
            </a:r>
          </a:p>
        </p:txBody>
      </p:sp>
      <p:sp>
        <p:nvSpPr>
          <p:cNvPr id="22" name="矩形 21"/>
          <p:cNvSpPr/>
          <p:nvPr/>
        </p:nvSpPr>
        <p:spPr>
          <a:xfrm>
            <a:off x="4471891" y="1613400"/>
            <a:ext cx="936838" cy="291600"/>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接口信息管理</a:t>
            </a:r>
          </a:p>
        </p:txBody>
      </p:sp>
      <p:sp>
        <p:nvSpPr>
          <p:cNvPr id="23" name="矩形 22"/>
          <p:cNvSpPr/>
          <p:nvPr/>
        </p:nvSpPr>
        <p:spPr>
          <a:xfrm>
            <a:off x="4443654" y="2020350"/>
            <a:ext cx="965075" cy="291600"/>
          </a:xfrm>
          <a:prstGeom prst="rect">
            <a:avLst/>
          </a:prstGeom>
          <a:solidFill>
            <a:srgbClr val="FFC000"/>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050" b="1" dirty="0">
                <a:solidFill>
                  <a:schemeClr val="tx1"/>
                </a:solidFill>
                <a:latin typeface="+mn-ea"/>
              </a:rPr>
              <a:t>订阅信息管理</a:t>
            </a:r>
          </a:p>
        </p:txBody>
      </p:sp>
      <p:sp>
        <p:nvSpPr>
          <p:cNvPr id="24" name="流程图: 磁盘 23"/>
          <p:cNvSpPr/>
          <p:nvPr/>
        </p:nvSpPr>
        <p:spPr>
          <a:xfrm>
            <a:off x="6236732" y="2681364"/>
            <a:ext cx="2304218" cy="786920"/>
          </a:xfrm>
          <a:prstGeom prst="flowChartMagneticDisk">
            <a:avLst/>
          </a:prstGeom>
          <a:solidFill>
            <a:schemeClr val="bg1">
              <a:lumMod val="75000"/>
            </a:schemeClr>
          </a:solidFill>
          <a:ln w="9525">
            <a:solidFill>
              <a:schemeClr val="bg1"/>
            </a:solidFill>
            <a:prstDash val="solid"/>
          </a:ln>
        </p:spPr>
        <p:style>
          <a:lnRef idx="1">
            <a:schemeClr val="accent4"/>
          </a:lnRef>
          <a:fillRef idx="2">
            <a:schemeClr val="accent4"/>
          </a:fillRef>
          <a:effectRef idx="1">
            <a:schemeClr val="accent4"/>
          </a:effectRef>
          <a:fontRef idx="minor">
            <a:schemeClr val="dk1"/>
          </a:fontRef>
        </p:style>
        <p:txBody>
          <a:bodyPr lIns="0" rIns="0" rtlCol="0" anchor="ctr" anchorCtr="0"/>
          <a:lstStyle/>
          <a:p>
            <a:pPr algn="ctr"/>
            <a:r>
              <a:rPr lang="zh-CN" altLang="en-US" sz="1600" b="1" dirty="0">
                <a:solidFill>
                  <a:schemeClr val="tx1"/>
                </a:solidFill>
                <a:latin typeface="+mn-ea"/>
              </a:rPr>
              <a:t>交换平台数据库</a:t>
            </a:r>
          </a:p>
        </p:txBody>
      </p:sp>
      <p:cxnSp>
        <p:nvCxnSpPr>
          <p:cNvPr id="35" name="形状 34"/>
          <p:cNvCxnSpPr/>
          <p:nvPr/>
        </p:nvCxnSpPr>
        <p:spPr bwMode="auto">
          <a:xfrm>
            <a:off x="5714965" y="3350427"/>
            <a:ext cx="836764" cy="0"/>
          </a:xfrm>
          <a:prstGeom prst="straightConnector1">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36" name="TextBox 35"/>
          <p:cNvSpPr txBox="1"/>
          <p:nvPr/>
        </p:nvSpPr>
        <p:spPr>
          <a:xfrm>
            <a:off x="5333436" y="3417938"/>
            <a:ext cx="1751693" cy="276999"/>
          </a:xfrm>
          <a:prstGeom prst="rect">
            <a:avLst/>
          </a:prstGeom>
          <a:noFill/>
        </p:spPr>
        <p:txBody>
          <a:bodyPr wrap="square" rtlCol="0">
            <a:spAutoFit/>
          </a:bodyPr>
          <a:lstStyle/>
          <a:p>
            <a:pPr algn="ctr"/>
            <a:r>
              <a:rPr lang="zh-CN" altLang="en-US" sz="1200" b="1" dirty="0">
                <a:solidFill>
                  <a:srgbClr val="FF0000"/>
                </a:solidFill>
                <a:latin typeface="+mn-ea"/>
                <a:ea typeface="+mn-ea"/>
              </a:rPr>
              <a:t>执行日志</a:t>
            </a:r>
            <a:r>
              <a:rPr lang="en-US" altLang="zh-CN" sz="1200" b="1" dirty="0">
                <a:solidFill>
                  <a:srgbClr val="FF0000"/>
                </a:solidFill>
                <a:latin typeface="+mn-ea"/>
                <a:ea typeface="+mn-ea"/>
              </a:rPr>
              <a:t>/</a:t>
            </a:r>
            <a:r>
              <a:rPr lang="zh-CN" altLang="en-US" sz="1200" b="1" dirty="0">
                <a:solidFill>
                  <a:srgbClr val="FF0000"/>
                </a:solidFill>
                <a:latin typeface="+mn-ea"/>
                <a:ea typeface="+mn-ea"/>
              </a:rPr>
              <a:t>执行结果</a:t>
            </a:r>
          </a:p>
        </p:txBody>
      </p:sp>
      <p:cxnSp>
        <p:nvCxnSpPr>
          <p:cNvPr id="30" name="肘形连接符 73"/>
          <p:cNvCxnSpPr>
            <a:stCxn id="18" idx="2"/>
          </p:cNvCxnSpPr>
          <p:nvPr/>
        </p:nvCxnSpPr>
        <p:spPr bwMode="auto">
          <a:xfrm>
            <a:off x="6209282" y="2282465"/>
            <a:ext cx="0" cy="497642"/>
          </a:xfrm>
          <a:prstGeom prst="straightConnector1">
            <a:avLst/>
          </a:prstGeom>
          <a:ln>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cxnSp>
        <p:nvCxnSpPr>
          <p:cNvPr id="28" name="肘形连接符 27"/>
          <p:cNvCxnSpPr>
            <a:stCxn id="19" idx="1"/>
          </p:cNvCxnSpPr>
          <p:nvPr/>
        </p:nvCxnSpPr>
        <p:spPr bwMode="auto">
          <a:xfrm rot="10800000" flipH="1" flipV="1">
            <a:off x="3388099" y="2144663"/>
            <a:ext cx="230618" cy="1969424"/>
          </a:xfrm>
          <a:prstGeom prst="bentConnector3">
            <a:avLst>
              <a:gd name="adj1" fmla="val -99125"/>
            </a:avLst>
          </a:prstGeom>
          <a:ln>
            <a:headEnd type="triangle" w="med" len="med"/>
            <a:tailEnd type="none" w="med" len="med"/>
          </a:ln>
        </p:spPr>
        <p:style>
          <a:lnRef idx="3">
            <a:schemeClr val="accent2"/>
          </a:lnRef>
          <a:fillRef idx="0">
            <a:schemeClr val="accent2"/>
          </a:fillRef>
          <a:effectRef idx="2">
            <a:schemeClr val="accent2"/>
          </a:effectRef>
          <a:fontRef idx="minor">
            <a:schemeClr val="tx1"/>
          </a:fontRef>
        </p:style>
      </p:cxnSp>
      <p:sp>
        <p:nvSpPr>
          <p:cNvPr id="43" name="TextBox 42"/>
          <p:cNvSpPr txBox="1"/>
          <p:nvPr/>
        </p:nvSpPr>
        <p:spPr>
          <a:xfrm>
            <a:off x="3124200" y="2247476"/>
            <a:ext cx="369332" cy="1584719"/>
          </a:xfrm>
          <a:prstGeom prst="rect">
            <a:avLst/>
          </a:prstGeom>
          <a:noFill/>
        </p:spPr>
        <p:txBody>
          <a:bodyPr vert="eaVert" wrap="square" rtlCol="0">
            <a:spAutoFit/>
          </a:bodyPr>
          <a:lstStyle/>
          <a:p>
            <a:pPr algn="ctr"/>
            <a:r>
              <a:rPr lang="zh-CN" altLang="en-US" sz="1200" b="1" dirty="0">
                <a:solidFill>
                  <a:srgbClr val="FF0000"/>
                </a:solidFill>
                <a:latin typeface="+mn-ea"/>
                <a:ea typeface="+mn-ea"/>
              </a:rPr>
              <a:t>交换过程监控</a:t>
            </a:r>
          </a:p>
        </p:txBody>
      </p:sp>
      <p:sp>
        <p:nvSpPr>
          <p:cNvPr id="44" name="TextBox 43"/>
          <p:cNvSpPr txBox="1"/>
          <p:nvPr/>
        </p:nvSpPr>
        <p:spPr>
          <a:xfrm>
            <a:off x="4160216" y="2948732"/>
            <a:ext cx="1870359" cy="276999"/>
          </a:xfrm>
          <a:prstGeom prst="rect">
            <a:avLst/>
          </a:prstGeom>
          <a:noFill/>
        </p:spPr>
        <p:txBody>
          <a:bodyPr wrap="square" rtlCol="0">
            <a:spAutoFit/>
          </a:bodyPr>
          <a:lstStyle/>
          <a:p>
            <a:pPr algn="ctr"/>
            <a:r>
              <a:rPr lang="zh-CN" altLang="en-US" sz="1200" b="1" dirty="0">
                <a:solidFill>
                  <a:srgbClr val="FF0000"/>
                </a:solidFill>
                <a:latin typeface="+mn-ea"/>
                <a:ea typeface="+mn-ea"/>
              </a:rPr>
              <a:t>创建并执行交换任务</a:t>
            </a:r>
          </a:p>
        </p:txBody>
      </p:sp>
      <p:sp>
        <p:nvSpPr>
          <p:cNvPr id="45" name="TextBox 44"/>
          <p:cNvSpPr txBox="1"/>
          <p:nvPr/>
        </p:nvSpPr>
        <p:spPr>
          <a:xfrm>
            <a:off x="3665895" y="2309435"/>
            <a:ext cx="1742834" cy="276999"/>
          </a:xfrm>
          <a:prstGeom prst="rect">
            <a:avLst/>
          </a:prstGeom>
          <a:noFill/>
        </p:spPr>
        <p:txBody>
          <a:bodyPr wrap="square" rtlCol="0">
            <a:spAutoFit/>
          </a:bodyPr>
          <a:lstStyle/>
          <a:p>
            <a:pPr algn="ctr"/>
            <a:r>
              <a:rPr lang="zh-CN" altLang="en-US" sz="1200" b="1" dirty="0">
                <a:solidFill>
                  <a:srgbClr val="FF0000"/>
                </a:solidFill>
                <a:latin typeface="+mn-ea"/>
                <a:ea typeface="+mn-ea"/>
              </a:rPr>
              <a:t>配置、执行交换任务</a:t>
            </a:r>
          </a:p>
        </p:txBody>
      </p:sp>
      <p:sp>
        <p:nvSpPr>
          <p:cNvPr id="47" name="矩形 46"/>
          <p:cNvSpPr/>
          <p:nvPr/>
        </p:nvSpPr>
        <p:spPr>
          <a:xfrm>
            <a:off x="7263116" y="4480281"/>
            <a:ext cx="1669566" cy="1116129"/>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48" name="矩形 47"/>
          <p:cNvSpPr/>
          <p:nvPr/>
        </p:nvSpPr>
        <p:spPr>
          <a:xfrm>
            <a:off x="5375147" y="4475747"/>
            <a:ext cx="1669566" cy="1120662"/>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49" name="矩形 48"/>
          <p:cNvSpPr/>
          <p:nvPr/>
        </p:nvSpPr>
        <p:spPr>
          <a:xfrm>
            <a:off x="3453116" y="4499557"/>
            <a:ext cx="1669566" cy="1096850"/>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50" name="流程图: 磁盘 49"/>
          <p:cNvSpPr/>
          <p:nvPr/>
        </p:nvSpPr>
        <p:spPr>
          <a:xfrm>
            <a:off x="3588992" y="5901836"/>
            <a:ext cx="1346487" cy="486776"/>
          </a:xfrm>
          <a:prstGeom prst="flowChartMagneticDisk">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tx1"/>
                </a:solidFill>
                <a:latin typeface="+mn-ea"/>
              </a:rPr>
              <a:t>业务信息库</a:t>
            </a:r>
          </a:p>
        </p:txBody>
      </p:sp>
      <p:sp>
        <p:nvSpPr>
          <p:cNvPr id="54" name="流程图: 磁盘 53"/>
          <p:cNvSpPr/>
          <p:nvPr/>
        </p:nvSpPr>
        <p:spPr>
          <a:xfrm>
            <a:off x="5579857" y="5941874"/>
            <a:ext cx="1346487" cy="486775"/>
          </a:xfrm>
          <a:prstGeom prst="flowChartMagneticDisk">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tx1"/>
                </a:solidFill>
                <a:latin typeface="+mn-ea"/>
              </a:rPr>
              <a:t>业务信息库</a:t>
            </a:r>
          </a:p>
        </p:txBody>
      </p:sp>
      <p:sp>
        <p:nvSpPr>
          <p:cNvPr id="55" name="流程图: 磁盘 54"/>
          <p:cNvSpPr/>
          <p:nvPr/>
        </p:nvSpPr>
        <p:spPr>
          <a:xfrm>
            <a:off x="7524586" y="5941874"/>
            <a:ext cx="1346487" cy="486775"/>
          </a:xfrm>
          <a:prstGeom prst="flowChartMagneticDisk">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tx1"/>
                </a:solidFill>
                <a:latin typeface="+mn-ea"/>
              </a:rPr>
              <a:t>业务信息库</a:t>
            </a:r>
          </a:p>
        </p:txBody>
      </p:sp>
      <p:sp>
        <p:nvSpPr>
          <p:cNvPr id="56" name="流程图: 磁盘 55"/>
          <p:cNvSpPr/>
          <p:nvPr/>
        </p:nvSpPr>
        <p:spPr>
          <a:xfrm>
            <a:off x="3704842" y="4828896"/>
            <a:ext cx="1256706" cy="455280"/>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a:t>
            </a:r>
            <a:endParaRPr lang="en-US" altLang="zh-CN" sz="1200" b="1" dirty="0">
              <a:solidFill>
                <a:schemeClr val="bg1"/>
              </a:solidFill>
              <a:latin typeface="+mn-ea"/>
            </a:endParaRPr>
          </a:p>
          <a:p>
            <a:pPr algn="ctr"/>
            <a:r>
              <a:rPr lang="zh-CN" altLang="en-US" sz="1200" b="1" dirty="0">
                <a:solidFill>
                  <a:schemeClr val="bg1"/>
                </a:solidFill>
                <a:latin typeface="+mn-ea"/>
              </a:rPr>
              <a:t>信息库</a:t>
            </a:r>
          </a:p>
        </p:txBody>
      </p:sp>
      <p:sp>
        <p:nvSpPr>
          <p:cNvPr id="57" name="TextBox 56"/>
          <p:cNvSpPr txBox="1"/>
          <p:nvPr/>
        </p:nvSpPr>
        <p:spPr>
          <a:xfrm>
            <a:off x="3675204" y="4576053"/>
            <a:ext cx="1387584" cy="276999"/>
          </a:xfrm>
          <a:prstGeom prst="rect">
            <a:avLst/>
          </a:prstGeom>
          <a:noFill/>
        </p:spPr>
        <p:txBody>
          <a:bodyPr wrap="square" rtlCol="0">
            <a:spAutoFit/>
          </a:bodyPr>
          <a:lstStyle/>
          <a:p>
            <a:pPr algn="ctr"/>
            <a:r>
              <a:rPr lang="zh-CN" altLang="en-US" sz="1200" b="1" dirty="0">
                <a:latin typeface="+mn-ea"/>
                <a:ea typeface="+mn-ea"/>
              </a:rPr>
              <a:t>前置交换区</a:t>
            </a:r>
          </a:p>
        </p:txBody>
      </p:sp>
      <p:sp>
        <p:nvSpPr>
          <p:cNvPr id="58" name="流程图: 磁盘 57"/>
          <p:cNvSpPr/>
          <p:nvPr/>
        </p:nvSpPr>
        <p:spPr>
          <a:xfrm>
            <a:off x="5570504" y="4828896"/>
            <a:ext cx="1299709" cy="455280"/>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a:t>
            </a:r>
            <a:endParaRPr lang="en-US" altLang="zh-CN" sz="1200" b="1" dirty="0">
              <a:solidFill>
                <a:schemeClr val="bg1"/>
              </a:solidFill>
              <a:latin typeface="+mn-ea"/>
            </a:endParaRPr>
          </a:p>
          <a:p>
            <a:pPr algn="ctr"/>
            <a:r>
              <a:rPr lang="zh-CN" altLang="en-US" sz="1200" b="1" dirty="0">
                <a:solidFill>
                  <a:schemeClr val="bg1"/>
                </a:solidFill>
                <a:latin typeface="+mn-ea"/>
              </a:rPr>
              <a:t>信息库</a:t>
            </a:r>
          </a:p>
        </p:txBody>
      </p:sp>
      <p:sp>
        <p:nvSpPr>
          <p:cNvPr id="59" name="TextBox 58"/>
          <p:cNvSpPr txBox="1"/>
          <p:nvPr/>
        </p:nvSpPr>
        <p:spPr>
          <a:xfrm>
            <a:off x="5546212" y="4576053"/>
            <a:ext cx="1387584" cy="276999"/>
          </a:xfrm>
          <a:prstGeom prst="rect">
            <a:avLst/>
          </a:prstGeom>
          <a:noFill/>
        </p:spPr>
        <p:txBody>
          <a:bodyPr wrap="square" rtlCol="0">
            <a:spAutoFit/>
          </a:bodyPr>
          <a:lstStyle/>
          <a:p>
            <a:pPr algn="ctr"/>
            <a:r>
              <a:rPr lang="zh-CN" altLang="en-US" sz="1200" b="1" dirty="0">
                <a:latin typeface="+mn-ea"/>
                <a:ea typeface="+mn-ea"/>
              </a:rPr>
              <a:t>前置交换区</a:t>
            </a:r>
          </a:p>
        </p:txBody>
      </p:sp>
      <p:sp>
        <p:nvSpPr>
          <p:cNvPr id="60" name="流程图: 磁盘 59"/>
          <p:cNvSpPr/>
          <p:nvPr/>
        </p:nvSpPr>
        <p:spPr>
          <a:xfrm>
            <a:off x="7463819" y="4828896"/>
            <a:ext cx="1256706" cy="455280"/>
          </a:xfrm>
          <a:prstGeom prst="flowChartMagneticDisk">
            <a:avLst/>
          </a:prstGeom>
          <a:solidFill>
            <a:srgbClr val="00B05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a:t>
            </a:r>
            <a:endParaRPr lang="en-US" altLang="zh-CN" sz="1200" b="1" dirty="0">
              <a:solidFill>
                <a:schemeClr val="bg1"/>
              </a:solidFill>
              <a:latin typeface="+mn-ea"/>
            </a:endParaRPr>
          </a:p>
          <a:p>
            <a:pPr algn="ctr"/>
            <a:r>
              <a:rPr lang="zh-CN" altLang="en-US" sz="1200" b="1" dirty="0">
                <a:solidFill>
                  <a:schemeClr val="bg1"/>
                </a:solidFill>
                <a:latin typeface="+mn-ea"/>
              </a:rPr>
              <a:t>信息库</a:t>
            </a:r>
          </a:p>
        </p:txBody>
      </p:sp>
      <p:sp>
        <p:nvSpPr>
          <p:cNvPr id="61" name="TextBox 60"/>
          <p:cNvSpPr txBox="1"/>
          <p:nvPr/>
        </p:nvSpPr>
        <p:spPr>
          <a:xfrm>
            <a:off x="7434181" y="4580586"/>
            <a:ext cx="1387584" cy="276999"/>
          </a:xfrm>
          <a:prstGeom prst="rect">
            <a:avLst/>
          </a:prstGeom>
          <a:noFill/>
        </p:spPr>
        <p:txBody>
          <a:bodyPr wrap="square" rtlCol="0">
            <a:spAutoFit/>
          </a:bodyPr>
          <a:lstStyle/>
          <a:p>
            <a:pPr algn="ctr"/>
            <a:r>
              <a:rPr lang="zh-CN" altLang="en-US" sz="1200" b="1" dirty="0">
                <a:latin typeface="+mn-ea"/>
                <a:ea typeface="+mn-ea"/>
              </a:rPr>
              <a:t>前置交换区</a:t>
            </a:r>
          </a:p>
        </p:txBody>
      </p:sp>
      <p:sp>
        <p:nvSpPr>
          <p:cNvPr id="62" name="上下箭头 61"/>
          <p:cNvSpPr/>
          <p:nvPr/>
        </p:nvSpPr>
        <p:spPr>
          <a:xfrm>
            <a:off x="4119757" y="5559818"/>
            <a:ext cx="284633" cy="369620"/>
          </a:xfrm>
          <a:prstGeom prst="upDown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63" name="上下箭头 62"/>
          <p:cNvSpPr/>
          <p:nvPr/>
        </p:nvSpPr>
        <p:spPr>
          <a:xfrm>
            <a:off x="6057672" y="5578348"/>
            <a:ext cx="318868" cy="356256"/>
          </a:xfrm>
          <a:prstGeom prst="upDown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64" name="上下箭头 63"/>
          <p:cNvSpPr/>
          <p:nvPr/>
        </p:nvSpPr>
        <p:spPr>
          <a:xfrm>
            <a:off x="8002403" y="5578347"/>
            <a:ext cx="318868" cy="356256"/>
          </a:xfrm>
          <a:prstGeom prst="upDown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65" name="圆角矩形 64"/>
          <p:cNvSpPr/>
          <p:nvPr/>
        </p:nvSpPr>
        <p:spPr>
          <a:xfrm>
            <a:off x="3728315" y="5302434"/>
            <a:ext cx="1229899" cy="243387"/>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66" name="圆角矩形 65"/>
          <p:cNvSpPr/>
          <p:nvPr/>
        </p:nvSpPr>
        <p:spPr>
          <a:xfrm>
            <a:off x="5596978" y="5302438"/>
            <a:ext cx="1229899" cy="243387"/>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67" name="圆角矩形 66"/>
          <p:cNvSpPr/>
          <p:nvPr/>
        </p:nvSpPr>
        <p:spPr>
          <a:xfrm>
            <a:off x="7499798" y="5302444"/>
            <a:ext cx="1229899" cy="243387"/>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pic>
        <p:nvPicPr>
          <p:cNvPr id="7" name="Picture 4"/>
          <p:cNvPicPr>
            <a:picLocks noChangeAspect="1" noChangeArrowheads="1"/>
          </p:cNvPicPr>
          <p:nvPr/>
        </p:nvPicPr>
        <p:blipFill>
          <a:blip r:embed="rId3" cstate="print"/>
          <a:srcRect/>
          <a:stretch>
            <a:fillRect/>
          </a:stretch>
        </p:blipFill>
        <p:spPr bwMode="auto">
          <a:xfrm>
            <a:off x="59992" y="1077647"/>
            <a:ext cx="754987" cy="498315"/>
          </a:xfrm>
          <a:prstGeom prst="rect">
            <a:avLst/>
          </a:prstGeom>
          <a:noFill/>
          <a:ln w="9525">
            <a:noFill/>
            <a:miter lim="800000"/>
            <a:headEnd/>
            <a:tailEnd/>
          </a:ln>
          <a:effectLst/>
        </p:spPr>
      </p:pic>
      <p:cxnSp>
        <p:nvCxnSpPr>
          <p:cNvPr id="71" name="肘形连接符 70"/>
          <p:cNvCxnSpPr/>
          <p:nvPr/>
        </p:nvCxnSpPr>
        <p:spPr bwMode="auto">
          <a:xfrm>
            <a:off x="8187491" y="2315060"/>
            <a:ext cx="1" cy="428140"/>
          </a:xfrm>
          <a:prstGeom prst="straightConnector1">
            <a:avLst/>
          </a:prstGeom>
          <a:ln>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74" name="圆柱形 73"/>
          <p:cNvSpPr/>
          <p:nvPr/>
        </p:nvSpPr>
        <p:spPr>
          <a:xfrm rot="5400000">
            <a:off x="6024636" y="1364113"/>
            <a:ext cx="316144" cy="5499947"/>
          </a:xfrm>
          <a:prstGeom prst="can">
            <a:avLst/>
          </a:prstGeom>
          <a:solidFill>
            <a:schemeClr val="accent2">
              <a:lumMod val="60000"/>
              <a:lumOff val="40000"/>
            </a:schemeClr>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400" b="1" dirty="0">
              <a:solidFill>
                <a:schemeClr val="bg1"/>
              </a:solidFill>
              <a:latin typeface="+mn-ea"/>
              <a:ea typeface="+mn-ea"/>
            </a:endParaRPr>
          </a:p>
        </p:txBody>
      </p:sp>
      <p:sp>
        <p:nvSpPr>
          <p:cNvPr id="75" name="TextBox 74"/>
          <p:cNvSpPr txBox="1"/>
          <p:nvPr/>
        </p:nvSpPr>
        <p:spPr>
          <a:xfrm>
            <a:off x="3836603" y="3956013"/>
            <a:ext cx="4487191" cy="307777"/>
          </a:xfrm>
          <a:prstGeom prst="rect">
            <a:avLst/>
          </a:prstGeom>
          <a:noFill/>
        </p:spPr>
        <p:txBody>
          <a:bodyPr wrap="square" rtlCol="0">
            <a:spAutoFit/>
          </a:bodyPr>
          <a:lstStyle/>
          <a:p>
            <a:pPr algn="ctr"/>
            <a:r>
              <a:rPr lang="zh-CN" altLang="en-US" sz="1400" b="1" dirty="0">
                <a:solidFill>
                  <a:schemeClr val="bg1"/>
                </a:solidFill>
                <a:latin typeface="+mn-ea"/>
                <a:ea typeface="+mn-ea"/>
              </a:rPr>
              <a:t>数据传输链路</a:t>
            </a:r>
          </a:p>
        </p:txBody>
      </p:sp>
      <p:cxnSp>
        <p:nvCxnSpPr>
          <p:cNvPr id="83" name="肘形连接符 73"/>
          <p:cNvCxnSpPr/>
          <p:nvPr/>
        </p:nvCxnSpPr>
        <p:spPr bwMode="auto">
          <a:xfrm flipH="1">
            <a:off x="7085129" y="2331542"/>
            <a:ext cx="1305" cy="411658"/>
          </a:xfrm>
          <a:prstGeom prst="straightConnector1">
            <a:avLst/>
          </a:prstGeom>
          <a:ln>
            <a:headEnd type="triangle" w="med" len="med"/>
            <a:tailEnd type="triangle" w="med" len="med"/>
          </a:ln>
        </p:spPr>
        <p:style>
          <a:lnRef idx="2">
            <a:schemeClr val="accent2"/>
          </a:lnRef>
          <a:fillRef idx="0">
            <a:schemeClr val="accent2"/>
          </a:fillRef>
          <a:effectRef idx="1">
            <a:schemeClr val="accent2"/>
          </a:effectRef>
          <a:fontRef idx="minor">
            <a:schemeClr val="tx1"/>
          </a:fontRef>
        </p:style>
      </p:cxnSp>
      <p:sp>
        <p:nvSpPr>
          <p:cNvPr id="40" name="TextBox 39"/>
          <p:cNvSpPr txBox="1"/>
          <p:nvPr/>
        </p:nvSpPr>
        <p:spPr>
          <a:xfrm>
            <a:off x="7862332" y="2387600"/>
            <a:ext cx="1467650" cy="276999"/>
          </a:xfrm>
          <a:prstGeom prst="rect">
            <a:avLst/>
          </a:prstGeom>
          <a:noFill/>
        </p:spPr>
        <p:txBody>
          <a:bodyPr wrap="square" rtlCol="0">
            <a:spAutoFit/>
          </a:bodyPr>
          <a:lstStyle/>
          <a:p>
            <a:pPr algn="ctr"/>
            <a:r>
              <a:rPr lang="zh-CN" altLang="en-US" sz="1200" b="1" dirty="0">
                <a:solidFill>
                  <a:srgbClr val="FF0000"/>
                </a:solidFill>
                <a:latin typeface="+mn-ea"/>
                <a:ea typeface="+mn-ea"/>
              </a:rPr>
              <a:t>交换结果数据</a:t>
            </a:r>
          </a:p>
        </p:txBody>
      </p:sp>
      <p:sp>
        <p:nvSpPr>
          <p:cNvPr id="41" name="TextBox 40"/>
          <p:cNvSpPr txBox="1"/>
          <p:nvPr/>
        </p:nvSpPr>
        <p:spPr>
          <a:xfrm>
            <a:off x="5550932" y="2397525"/>
            <a:ext cx="1467650" cy="276999"/>
          </a:xfrm>
          <a:prstGeom prst="rect">
            <a:avLst/>
          </a:prstGeom>
          <a:noFill/>
        </p:spPr>
        <p:txBody>
          <a:bodyPr wrap="square" rtlCol="0">
            <a:spAutoFit/>
          </a:bodyPr>
          <a:lstStyle/>
          <a:p>
            <a:pPr algn="ctr"/>
            <a:r>
              <a:rPr lang="zh-CN" altLang="en-US" sz="1200" b="1" dirty="0">
                <a:solidFill>
                  <a:srgbClr val="FF0000"/>
                </a:solidFill>
                <a:latin typeface="+mn-ea"/>
                <a:ea typeface="+mn-ea"/>
              </a:rPr>
              <a:t>交换日志数据</a:t>
            </a:r>
          </a:p>
        </p:txBody>
      </p:sp>
      <p:sp>
        <p:nvSpPr>
          <p:cNvPr id="42" name="TextBox 41"/>
          <p:cNvSpPr txBox="1"/>
          <p:nvPr/>
        </p:nvSpPr>
        <p:spPr>
          <a:xfrm>
            <a:off x="6610174" y="2395379"/>
            <a:ext cx="1683958" cy="276999"/>
          </a:xfrm>
          <a:prstGeom prst="rect">
            <a:avLst/>
          </a:prstGeom>
          <a:noFill/>
        </p:spPr>
        <p:txBody>
          <a:bodyPr wrap="square" rtlCol="0">
            <a:spAutoFit/>
          </a:bodyPr>
          <a:lstStyle/>
          <a:p>
            <a:pPr algn="ctr"/>
            <a:r>
              <a:rPr lang="zh-CN" altLang="en-US" sz="1200" b="1" dirty="0">
                <a:solidFill>
                  <a:srgbClr val="FF0000"/>
                </a:solidFill>
                <a:latin typeface="+mn-ea"/>
                <a:ea typeface="+mn-ea"/>
              </a:rPr>
              <a:t>交换结果数据统计</a:t>
            </a:r>
          </a:p>
        </p:txBody>
      </p:sp>
      <p:pic>
        <p:nvPicPr>
          <p:cNvPr id="98" name="Picture 5" descr="C:\Users\Administrator\Documents\Tencent Files\184737331\Image\I$9MO9YF3SHS(51WWHU]@YB.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24610" y="3923556"/>
            <a:ext cx="1061389" cy="728697"/>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24609" y="2971800"/>
            <a:ext cx="1061390" cy="708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1" name="Picture 1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24610" y="4938634"/>
            <a:ext cx="1061389" cy="776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 name="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224608" y="2057400"/>
            <a:ext cx="1061391" cy="603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224609" y="1099317"/>
            <a:ext cx="1061391" cy="666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 name="TextBox 111"/>
          <p:cNvSpPr txBox="1"/>
          <p:nvPr/>
        </p:nvSpPr>
        <p:spPr>
          <a:xfrm>
            <a:off x="1295400" y="1752600"/>
            <a:ext cx="1295400" cy="307777"/>
          </a:xfrm>
          <a:prstGeom prst="rect">
            <a:avLst/>
          </a:prstGeom>
          <a:noFill/>
        </p:spPr>
        <p:txBody>
          <a:bodyPr wrap="square" rtlCol="0">
            <a:spAutoFit/>
          </a:bodyPr>
          <a:lstStyle/>
          <a:p>
            <a:r>
              <a:rPr lang="zh-CN" altLang="en-US" sz="1400" b="1" dirty="0">
                <a:solidFill>
                  <a:srgbClr val="002060"/>
                </a:solidFill>
                <a:latin typeface="+mn-ea"/>
                <a:ea typeface="+mn-ea"/>
              </a:rPr>
              <a:t>查询统计</a:t>
            </a:r>
          </a:p>
        </p:txBody>
      </p:sp>
      <p:sp>
        <p:nvSpPr>
          <p:cNvPr id="114" name="TextBox 113"/>
          <p:cNvSpPr txBox="1"/>
          <p:nvPr/>
        </p:nvSpPr>
        <p:spPr>
          <a:xfrm>
            <a:off x="1295400" y="2631492"/>
            <a:ext cx="1295400" cy="307777"/>
          </a:xfrm>
          <a:prstGeom prst="rect">
            <a:avLst/>
          </a:prstGeom>
          <a:noFill/>
        </p:spPr>
        <p:txBody>
          <a:bodyPr wrap="square" rtlCol="0">
            <a:spAutoFit/>
          </a:bodyPr>
          <a:lstStyle/>
          <a:p>
            <a:r>
              <a:rPr lang="zh-CN" altLang="en-US" sz="1400" b="1" dirty="0">
                <a:solidFill>
                  <a:srgbClr val="002060"/>
                </a:solidFill>
                <a:latin typeface="+mn-ea"/>
                <a:ea typeface="+mn-ea"/>
              </a:rPr>
              <a:t>权限管理</a:t>
            </a:r>
          </a:p>
        </p:txBody>
      </p:sp>
      <p:sp>
        <p:nvSpPr>
          <p:cNvPr id="115" name="TextBox 114"/>
          <p:cNvSpPr txBox="1"/>
          <p:nvPr/>
        </p:nvSpPr>
        <p:spPr>
          <a:xfrm>
            <a:off x="1295400" y="3654623"/>
            <a:ext cx="1295400" cy="307777"/>
          </a:xfrm>
          <a:prstGeom prst="rect">
            <a:avLst/>
          </a:prstGeom>
          <a:noFill/>
        </p:spPr>
        <p:txBody>
          <a:bodyPr wrap="square" rtlCol="0">
            <a:spAutoFit/>
          </a:bodyPr>
          <a:lstStyle/>
          <a:p>
            <a:r>
              <a:rPr lang="zh-CN" altLang="en-US" sz="1400" b="1" dirty="0">
                <a:solidFill>
                  <a:srgbClr val="002060"/>
                </a:solidFill>
                <a:latin typeface="+mn-ea"/>
                <a:ea typeface="+mn-ea"/>
              </a:rPr>
              <a:t>系统管理</a:t>
            </a:r>
          </a:p>
        </p:txBody>
      </p:sp>
      <p:sp>
        <p:nvSpPr>
          <p:cNvPr id="116" name="TextBox 115"/>
          <p:cNvSpPr txBox="1"/>
          <p:nvPr/>
        </p:nvSpPr>
        <p:spPr>
          <a:xfrm>
            <a:off x="1295400" y="4610100"/>
            <a:ext cx="1295400" cy="307777"/>
          </a:xfrm>
          <a:prstGeom prst="rect">
            <a:avLst/>
          </a:prstGeom>
          <a:noFill/>
        </p:spPr>
        <p:txBody>
          <a:bodyPr wrap="square" rtlCol="0">
            <a:spAutoFit/>
          </a:bodyPr>
          <a:lstStyle/>
          <a:p>
            <a:r>
              <a:rPr lang="zh-CN" altLang="en-US" sz="1400" b="1" dirty="0">
                <a:solidFill>
                  <a:srgbClr val="002060"/>
                </a:solidFill>
                <a:latin typeface="+mn-ea"/>
                <a:ea typeface="+mn-ea"/>
              </a:rPr>
              <a:t>交换管理</a:t>
            </a:r>
          </a:p>
        </p:txBody>
      </p:sp>
      <p:sp>
        <p:nvSpPr>
          <p:cNvPr id="117" name="TextBox 116"/>
          <p:cNvSpPr txBox="1"/>
          <p:nvPr/>
        </p:nvSpPr>
        <p:spPr>
          <a:xfrm>
            <a:off x="1295400" y="5788223"/>
            <a:ext cx="1295400" cy="307777"/>
          </a:xfrm>
          <a:prstGeom prst="rect">
            <a:avLst/>
          </a:prstGeom>
          <a:noFill/>
        </p:spPr>
        <p:txBody>
          <a:bodyPr wrap="square" rtlCol="0">
            <a:spAutoFit/>
          </a:bodyPr>
          <a:lstStyle/>
          <a:p>
            <a:r>
              <a:rPr lang="zh-CN" altLang="en-US" sz="1400" b="1" dirty="0">
                <a:solidFill>
                  <a:srgbClr val="002060"/>
                </a:solidFill>
                <a:latin typeface="+mn-ea"/>
                <a:ea typeface="+mn-ea"/>
              </a:rPr>
              <a:t>交换监控</a:t>
            </a:r>
          </a:p>
        </p:txBody>
      </p:sp>
      <p:sp>
        <p:nvSpPr>
          <p:cNvPr id="118" name="TextBox 117"/>
          <p:cNvSpPr txBox="1"/>
          <p:nvPr/>
        </p:nvSpPr>
        <p:spPr>
          <a:xfrm>
            <a:off x="0" y="1639061"/>
            <a:ext cx="1295400" cy="307777"/>
          </a:xfrm>
          <a:prstGeom prst="rect">
            <a:avLst/>
          </a:prstGeom>
          <a:noFill/>
        </p:spPr>
        <p:txBody>
          <a:bodyPr wrap="square" rtlCol="0">
            <a:spAutoFit/>
          </a:bodyPr>
          <a:lstStyle/>
          <a:p>
            <a:r>
              <a:rPr lang="zh-CN" altLang="en-US" sz="1400" b="1" dirty="0">
                <a:solidFill>
                  <a:srgbClr val="002060"/>
                </a:solidFill>
                <a:latin typeface="+mn-ea"/>
                <a:ea typeface="+mn-ea"/>
              </a:rPr>
              <a:t>系统管理员</a:t>
            </a:r>
          </a:p>
        </p:txBody>
      </p:sp>
      <p:sp>
        <p:nvSpPr>
          <p:cNvPr id="119" name="TextBox 118"/>
          <p:cNvSpPr txBox="1"/>
          <p:nvPr/>
        </p:nvSpPr>
        <p:spPr>
          <a:xfrm>
            <a:off x="1143000" y="6016823"/>
            <a:ext cx="1295400" cy="307777"/>
          </a:xfrm>
          <a:prstGeom prst="rect">
            <a:avLst/>
          </a:prstGeom>
          <a:noFill/>
        </p:spPr>
        <p:txBody>
          <a:bodyPr wrap="square" rtlCol="0">
            <a:spAutoFit/>
          </a:bodyPr>
          <a:lstStyle/>
          <a:p>
            <a:r>
              <a:rPr lang="en-US" altLang="zh-CN" sz="1400" b="1" dirty="0">
                <a:solidFill>
                  <a:srgbClr val="002060"/>
                </a:solidFill>
                <a:latin typeface="+mn-ea"/>
                <a:ea typeface="+mn-ea"/>
              </a:rPr>
              <a:t>………………</a:t>
            </a:r>
            <a:endParaRPr lang="zh-CN" altLang="en-US" sz="1400" b="1" dirty="0">
              <a:solidFill>
                <a:srgbClr val="002060"/>
              </a:solidFill>
              <a:latin typeface="+mn-ea"/>
              <a:ea typeface="+mn-ea"/>
            </a:endParaRPr>
          </a:p>
        </p:txBody>
      </p:sp>
    </p:spTree>
    <p:extLst>
      <p:ext uri="{BB962C8B-B14F-4D97-AF65-F5344CB8AC3E}">
        <p14:creationId xmlns:p14="http://schemas.microsoft.com/office/powerpoint/2010/main" val="1729828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ea typeface="+mn-ea"/>
              </a:rPr>
              <a:t>信息共享与数据发布</a:t>
            </a:r>
          </a:p>
        </p:txBody>
      </p:sp>
      <p:sp>
        <p:nvSpPr>
          <p:cNvPr id="4" name="灯片编号占位符 3"/>
          <p:cNvSpPr>
            <a:spLocks noGrp="1"/>
          </p:cNvSpPr>
          <p:nvPr>
            <p:ph type="sldNum" sz="quarter" idx="12"/>
          </p:nvPr>
        </p:nvSpPr>
        <p:spPr/>
        <p:txBody>
          <a:bodyPr/>
          <a:lstStyle/>
          <a:p>
            <a:fld id="{BD61978C-FD3D-4268-8D6C-034E9AD544A3}" type="slidenum">
              <a:rPr lang="en-US" altLang="zh-CN" smtClean="0">
                <a:latin typeface="+mn-ea"/>
                <a:ea typeface="+mn-ea"/>
              </a:rPr>
              <a:pPr/>
              <a:t>20</a:t>
            </a:fld>
            <a:endParaRPr lang="en-US" altLang="zh-CN">
              <a:latin typeface="+mn-ea"/>
              <a:ea typeface="+mn-ea"/>
            </a:endParaRPr>
          </a:p>
        </p:txBody>
      </p:sp>
      <p:sp>
        <p:nvSpPr>
          <p:cNvPr id="5" name="矩形 4"/>
          <p:cNvSpPr/>
          <p:nvPr/>
        </p:nvSpPr>
        <p:spPr>
          <a:xfrm>
            <a:off x="428596" y="3214686"/>
            <a:ext cx="4714908" cy="3000396"/>
          </a:xfrm>
          <a:prstGeom prst="rect">
            <a:avLst/>
          </a:prstGeom>
          <a:no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6" name="圆柱形 5"/>
          <p:cNvSpPr/>
          <p:nvPr/>
        </p:nvSpPr>
        <p:spPr>
          <a:xfrm>
            <a:off x="785786" y="4992237"/>
            <a:ext cx="1285884" cy="579903"/>
          </a:xfrm>
          <a:prstGeom prst="can">
            <a:avLst/>
          </a:prstGeom>
          <a:solidFill>
            <a:schemeClr val="bg1">
              <a:lumMod val="7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共享信息库</a:t>
            </a:r>
          </a:p>
        </p:txBody>
      </p:sp>
      <p:sp>
        <p:nvSpPr>
          <p:cNvPr id="7" name="矩形 6"/>
          <p:cNvSpPr/>
          <p:nvPr/>
        </p:nvSpPr>
        <p:spPr>
          <a:xfrm>
            <a:off x="500034" y="3286124"/>
            <a:ext cx="4572032" cy="785818"/>
          </a:xfrm>
          <a:prstGeom prst="rect">
            <a:avLst/>
          </a:prstGeom>
          <a:solidFill>
            <a:schemeClr val="bg2">
              <a:lumMod val="20000"/>
              <a:lumOff val="80000"/>
            </a:schemeClr>
          </a:solidFill>
          <a:ln>
            <a:solidFill>
              <a:schemeClr val="bg2">
                <a:lumMod val="20000"/>
                <a:lumOff val="80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r>
              <a:rPr lang="zh-CN" altLang="en-US" sz="1400" b="1" dirty="0">
                <a:solidFill>
                  <a:schemeClr val="tx1"/>
                </a:solidFill>
                <a:latin typeface="+mn-ea"/>
              </a:rPr>
              <a:t>信息共享与数据发布平台</a:t>
            </a:r>
          </a:p>
        </p:txBody>
      </p:sp>
      <p:sp>
        <p:nvSpPr>
          <p:cNvPr id="8" name="矩形 7"/>
          <p:cNvSpPr/>
          <p:nvPr/>
        </p:nvSpPr>
        <p:spPr>
          <a:xfrm>
            <a:off x="604838" y="3664099"/>
            <a:ext cx="837587" cy="277585"/>
          </a:xfrm>
          <a:prstGeom prst="rect">
            <a:avLst/>
          </a:prstGeom>
          <a:solidFill>
            <a:srgbClr val="FFC000"/>
          </a:solidFill>
          <a:ln>
            <a:solidFill>
              <a:srgbClr val="FFFFFF"/>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en-US" altLang="zh-CN" sz="1200" b="1" dirty="0">
                <a:solidFill>
                  <a:schemeClr val="bg1"/>
                </a:solidFill>
                <a:latin typeface="+mn-ea"/>
              </a:rPr>
              <a:t>Web</a:t>
            </a:r>
            <a:r>
              <a:rPr lang="zh-CN" altLang="en-US" sz="1200" b="1" dirty="0">
                <a:solidFill>
                  <a:schemeClr val="bg1"/>
                </a:solidFill>
                <a:latin typeface="+mn-ea"/>
              </a:rPr>
              <a:t>服务</a:t>
            </a:r>
          </a:p>
        </p:txBody>
      </p:sp>
      <p:sp>
        <p:nvSpPr>
          <p:cNvPr id="9" name="矩形 8"/>
          <p:cNvSpPr/>
          <p:nvPr/>
        </p:nvSpPr>
        <p:spPr>
          <a:xfrm>
            <a:off x="4105300" y="3664099"/>
            <a:ext cx="837587" cy="277585"/>
          </a:xfrm>
          <a:prstGeom prst="rect">
            <a:avLst/>
          </a:prstGeom>
          <a:solidFill>
            <a:srgbClr val="FFC000"/>
          </a:solidFill>
          <a:ln>
            <a:solidFill>
              <a:srgbClr val="FFFFFF"/>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200" b="1" dirty="0">
                <a:solidFill>
                  <a:schemeClr val="bg1"/>
                </a:solidFill>
                <a:latin typeface="+mn-ea"/>
              </a:rPr>
              <a:t>文件服务</a:t>
            </a:r>
          </a:p>
        </p:txBody>
      </p:sp>
      <p:sp>
        <p:nvSpPr>
          <p:cNvPr id="10" name="矩形 9"/>
          <p:cNvSpPr/>
          <p:nvPr/>
        </p:nvSpPr>
        <p:spPr>
          <a:xfrm>
            <a:off x="1771659" y="3664099"/>
            <a:ext cx="837587" cy="277585"/>
          </a:xfrm>
          <a:prstGeom prst="rect">
            <a:avLst/>
          </a:prstGeom>
          <a:solidFill>
            <a:srgbClr val="FFC000"/>
          </a:solidFill>
          <a:ln>
            <a:solidFill>
              <a:srgbClr val="FFFFFF"/>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200" b="1" dirty="0">
                <a:solidFill>
                  <a:schemeClr val="bg1"/>
                </a:solidFill>
                <a:latin typeface="+mn-ea"/>
              </a:rPr>
              <a:t>目录服务</a:t>
            </a:r>
          </a:p>
        </p:txBody>
      </p:sp>
      <p:sp>
        <p:nvSpPr>
          <p:cNvPr id="11" name="矩形 10"/>
          <p:cNvSpPr/>
          <p:nvPr/>
        </p:nvSpPr>
        <p:spPr>
          <a:xfrm>
            <a:off x="2938480" y="3664099"/>
            <a:ext cx="837587" cy="277585"/>
          </a:xfrm>
          <a:prstGeom prst="rect">
            <a:avLst/>
          </a:prstGeom>
          <a:solidFill>
            <a:srgbClr val="FFC000"/>
          </a:solidFill>
          <a:ln>
            <a:solidFill>
              <a:srgbClr val="FFFFFF"/>
            </a:solidFill>
          </a:ln>
        </p:spPr>
        <p:style>
          <a:lnRef idx="1">
            <a:schemeClr val="accent3"/>
          </a:lnRef>
          <a:fillRef idx="2">
            <a:schemeClr val="accent3"/>
          </a:fillRef>
          <a:effectRef idx="1">
            <a:schemeClr val="accent3"/>
          </a:effectRef>
          <a:fontRef idx="minor">
            <a:schemeClr val="dk1"/>
          </a:fontRef>
        </p:style>
        <p:txBody>
          <a:bodyPr lIns="0" rIns="0" rtlCol="0" anchor="t" anchorCtr="0"/>
          <a:lstStyle/>
          <a:p>
            <a:pPr algn="ctr"/>
            <a:r>
              <a:rPr lang="zh-CN" altLang="en-US" sz="1200" b="1" dirty="0">
                <a:solidFill>
                  <a:schemeClr val="bg1"/>
                </a:solidFill>
                <a:latin typeface="+mn-ea"/>
              </a:rPr>
              <a:t>报表服务</a:t>
            </a:r>
          </a:p>
        </p:txBody>
      </p:sp>
      <p:sp>
        <p:nvSpPr>
          <p:cNvPr id="12" name="流程图: 多文档 11"/>
          <p:cNvSpPr/>
          <p:nvPr/>
        </p:nvSpPr>
        <p:spPr>
          <a:xfrm>
            <a:off x="3786182" y="5026036"/>
            <a:ext cx="1000132" cy="571504"/>
          </a:xfrm>
          <a:prstGeom prst="flowChartMultidocument">
            <a:avLst/>
          </a:prstGeom>
          <a:solidFill>
            <a:schemeClr val="bg1">
              <a:lumMod val="7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文件</a:t>
            </a:r>
          </a:p>
        </p:txBody>
      </p:sp>
      <p:sp>
        <p:nvSpPr>
          <p:cNvPr id="13" name="圆柱形 12"/>
          <p:cNvSpPr/>
          <p:nvPr/>
        </p:nvSpPr>
        <p:spPr>
          <a:xfrm>
            <a:off x="2214546" y="5000636"/>
            <a:ext cx="1285884" cy="579903"/>
          </a:xfrm>
          <a:prstGeom prst="can">
            <a:avLst/>
          </a:prstGeom>
          <a:solidFill>
            <a:schemeClr val="bg1">
              <a:lumMod val="7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资源目录</a:t>
            </a:r>
          </a:p>
        </p:txBody>
      </p:sp>
      <p:sp>
        <p:nvSpPr>
          <p:cNvPr id="14" name="流程图: 过程 13"/>
          <p:cNvSpPr/>
          <p:nvPr/>
        </p:nvSpPr>
        <p:spPr>
          <a:xfrm>
            <a:off x="571472" y="4786322"/>
            <a:ext cx="4429156" cy="928694"/>
          </a:xfrm>
          <a:prstGeom prst="flowChartProcess">
            <a:avLst/>
          </a:prstGeom>
          <a:no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5" name="右箭头 14"/>
          <p:cNvSpPr/>
          <p:nvPr/>
        </p:nvSpPr>
        <p:spPr>
          <a:xfrm rot="16200000">
            <a:off x="1337512" y="4235670"/>
            <a:ext cx="601515" cy="334210"/>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6" name="右箭头 15"/>
          <p:cNvSpPr/>
          <p:nvPr/>
        </p:nvSpPr>
        <p:spPr>
          <a:xfrm rot="16200000">
            <a:off x="2480519" y="4235671"/>
            <a:ext cx="601515" cy="334210"/>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7" name="右箭头 16"/>
          <p:cNvSpPr/>
          <p:nvPr/>
        </p:nvSpPr>
        <p:spPr>
          <a:xfrm rot="16200000">
            <a:off x="3623528" y="4235672"/>
            <a:ext cx="601515" cy="334210"/>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grpSp>
        <p:nvGrpSpPr>
          <p:cNvPr id="36" name="组合 35"/>
          <p:cNvGrpSpPr/>
          <p:nvPr/>
        </p:nvGrpSpPr>
        <p:grpSpPr>
          <a:xfrm>
            <a:off x="382558" y="1500174"/>
            <a:ext cx="4832383" cy="1093177"/>
            <a:chOff x="426535" y="1734695"/>
            <a:chExt cx="7026898" cy="1468441"/>
          </a:xfrm>
        </p:grpSpPr>
        <p:pic>
          <p:nvPicPr>
            <p:cNvPr id="18" name="Picture 13" descr="C:\Users\ZYC\Desktop\数据交换\图片\智慧环保.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79047" y="1734695"/>
              <a:ext cx="888642" cy="66567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4" descr="C:\Users\ZYC\Desktop\数据交换\图片\智慧交通.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428596" y="1749495"/>
              <a:ext cx="807451" cy="66252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5" descr="C:\Users\ZYC\Desktop\数据交换\图片\智慧农业.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63350" y="1734695"/>
              <a:ext cx="942898" cy="66567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6" descr="C:\Users\ZYC\Desktop\数据交换\图片\智慧社区.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4558648" y="1734695"/>
              <a:ext cx="926387" cy="69417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7" descr="C:\Users\ZYC\Desktop\数据交换\图片\智慧医疗.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426197" y="1742661"/>
              <a:ext cx="800450" cy="67619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8" descr="C:\Users\ZYC\Desktop\数据交换\图片\智能分析.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655647" y="1734695"/>
              <a:ext cx="734435" cy="66567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9" descr="C:\Users\ZYC\Desktop\数据交换\图片\移动终端.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77540" y="1742661"/>
              <a:ext cx="685800" cy="686207"/>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426535" y="2489175"/>
              <a:ext cx="1143000" cy="702830"/>
            </a:xfrm>
            <a:prstGeom prst="rect">
              <a:avLst/>
            </a:prstGeom>
            <a:noFill/>
          </p:spPr>
          <p:txBody>
            <a:bodyPr wrap="square" rtlCol="0">
              <a:spAutoFit/>
            </a:bodyPr>
            <a:lstStyle/>
            <a:p>
              <a:r>
                <a:rPr lang="zh-CN" altLang="en-US" sz="1400" dirty="0">
                  <a:latin typeface="+mn-ea"/>
                  <a:ea typeface="+mn-ea"/>
                </a:rPr>
                <a:t>智慧</a:t>
              </a:r>
              <a:endParaRPr lang="en-US" altLang="zh-CN" sz="1400" dirty="0">
                <a:latin typeface="+mn-ea"/>
                <a:ea typeface="+mn-ea"/>
              </a:endParaRPr>
            </a:p>
            <a:p>
              <a:r>
                <a:rPr lang="zh-CN" altLang="en-US" sz="1400" dirty="0">
                  <a:latin typeface="+mn-ea"/>
                  <a:ea typeface="+mn-ea"/>
                </a:rPr>
                <a:t>交通</a:t>
              </a:r>
            </a:p>
          </p:txBody>
        </p:sp>
        <p:sp>
          <p:nvSpPr>
            <p:cNvPr id="28" name="TextBox 27"/>
            <p:cNvSpPr txBox="1"/>
            <p:nvPr/>
          </p:nvSpPr>
          <p:spPr>
            <a:xfrm>
              <a:off x="1495023" y="2481915"/>
              <a:ext cx="1143000" cy="702830"/>
            </a:xfrm>
            <a:prstGeom prst="rect">
              <a:avLst/>
            </a:prstGeom>
            <a:noFill/>
          </p:spPr>
          <p:txBody>
            <a:bodyPr wrap="square" rtlCol="0">
              <a:spAutoFit/>
            </a:bodyPr>
            <a:lstStyle/>
            <a:p>
              <a:r>
                <a:rPr lang="zh-CN" altLang="en-US" sz="1400" dirty="0">
                  <a:latin typeface="+mn-ea"/>
                  <a:ea typeface="+mn-ea"/>
                </a:rPr>
                <a:t>智慧</a:t>
              </a:r>
              <a:endParaRPr lang="en-US" altLang="zh-CN" sz="1400" dirty="0">
                <a:latin typeface="+mn-ea"/>
                <a:ea typeface="+mn-ea"/>
              </a:endParaRPr>
            </a:p>
            <a:p>
              <a:r>
                <a:rPr lang="zh-CN" altLang="en-US" sz="1400" dirty="0">
                  <a:latin typeface="+mn-ea"/>
                  <a:ea typeface="+mn-ea"/>
                </a:rPr>
                <a:t>医疗</a:t>
              </a:r>
            </a:p>
          </p:txBody>
        </p:sp>
        <p:sp>
          <p:nvSpPr>
            <p:cNvPr id="29" name="TextBox 28"/>
            <p:cNvSpPr txBox="1"/>
            <p:nvPr/>
          </p:nvSpPr>
          <p:spPr>
            <a:xfrm>
              <a:off x="5569968" y="2497329"/>
              <a:ext cx="921893" cy="702830"/>
            </a:xfrm>
            <a:prstGeom prst="rect">
              <a:avLst/>
            </a:prstGeom>
            <a:noFill/>
          </p:spPr>
          <p:txBody>
            <a:bodyPr wrap="square" rtlCol="0">
              <a:spAutoFit/>
            </a:bodyPr>
            <a:lstStyle/>
            <a:p>
              <a:r>
                <a:rPr lang="zh-CN" altLang="en-US" sz="1400" dirty="0">
                  <a:latin typeface="+mn-ea"/>
                  <a:ea typeface="+mn-ea"/>
                </a:rPr>
                <a:t>决策支持</a:t>
              </a:r>
            </a:p>
          </p:txBody>
        </p:sp>
        <p:sp>
          <p:nvSpPr>
            <p:cNvPr id="30" name="TextBox 29"/>
            <p:cNvSpPr txBox="1"/>
            <p:nvPr/>
          </p:nvSpPr>
          <p:spPr>
            <a:xfrm>
              <a:off x="2416741" y="2486658"/>
              <a:ext cx="1143000" cy="702830"/>
            </a:xfrm>
            <a:prstGeom prst="rect">
              <a:avLst/>
            </a:prstGeom>
            <a:noFill/>
          </p:spPr>
          <p:txBody>
            <a:bodyPr wrap="square" rtlCol="0">
              <a:spAutoFit/>
            </a:bodyPr>
            <a:lstStyle/>
            <a:p>
              <a:r>
                <a:rPr lang="zh-CN" altLang="en-US" sz="1400" dirty="0">
                  <a:latin typeface="+mn-ea"/>
                  <a:ea typeface="+mn-ea"/>
                </a:rPr>
                <a:t>智慧</a:t>
              </a:r>
              <a:endParaRPr lang="en-US" altLang="zh-CN" sz="1400" dirty="0">
                <a:latin typeface="+mn-ea"/>
                <a:ea typeface="+mn-ea"/>
              </a:endParaRPr>
            </a:p>
            <a:p>
              <a:r>
                <a:rPr lang="zh-CN" altLang="en-US" sz="1400" dirty="0">
                  <a:latin typeface="+mn-ea"/>
                  <a:ea typeface="+mn-ea"/>
                </a:rPr>
                <a:t>环保</a:t>
              </a:r>
            </a:p>
          </p:txBody>
        </p:sp>
        <p:sp>
          <p:nvSpPr>
            <p:cNvPr id="31" name="TextBox 30"/>
            <p:cNvSpPr txBox="1"/>
            <p:nvPr/>
          </p:nvSpPr>
          <p:spPr>
            <a:xfrm>
              <a:off x="4596341" y="2490287"/>
              <a:ext cx="1143000" cy="702830"/>
            </a:xfrm>
            <a:prstGeom prst="rect">
              <a:avLst/>
            </a:prstGeom>
            <a:noFill/>
          </p:spPr>
          <p:txBody>
            <a:bodyPr wrap="square" rtlCol="0">
              <a:spAutoFit/>
            </a:bodyPr>
            <a:lstStyle/>
            <a:p>
              <a:r>
                <a:rPr lang="zh-CN" altLang="en-US" sz="1400" dirty="0">
                  <a:latin typeface="+mn-ea"/>
                  <a:ea typeface="+mn-ea"/>
                </a:rPr>
                <a:t>智慧</a:t>
              </a:r>
              <a:endParaRPr lang="en-US" altLang="zh-CN" sz="1400" dirty="0">
                <a:latin typeface="+mn-ea"/>
                <a:ea typeface="+mn-ea"/>
              </a:endParaRPr>
            </a:p>
            <a:p>
              <a:r>
                <a:rPr lang="zh-CN" altLang="en-US" sz="1400" dirty="0">
                  <a:latin typeface="+mn-ea"/>
                  <a:ea typeface="+mn-ea"/>
                </a:rPr>
                <a:t>社区</a:t>
              </a:r>
            </a:p>
          </p:txBody>
        </p:sp>
        <p:sp>
          <p:nvSpPr>
            <p:cNvPr id="32" name="TextBox 31"/>
            <p:cNvSpPr txBox="1"/>
            <p:nvPr/>
          </p:nvSpPr>
          <p:spPr>
            <a:xfrm>
              <a:off x="3535687" y="2480746"/>
              <a:ext cx="1143000" cy="702830"/>
            </a:xfrm>
            <a:prstGeom prst="rect">
              <a:avLst/>
            </a:prstGeom>
            <a:noFill/>
          </p:spPr>
          <p:txBody>
            <a:bodyPr wrap="square" rtlCol="0">
              <a:spAutoFit/>
            </a:bodyPr>
            <a:lstStyle/>
            <a:p>
              <a:r>
                <a:rPr lang="zh-CN" altLang="en-US" sz="1400" dirty="0">
                  <a:latin typeface="+mn-ea"/>
                  <a:ea typeface="+mn-ea"/>
                </a:rPr>
                <a:t>智慧</a:t>
              </a:r>
              <a:endParaRPr lang="en-US" altLang="zh-CN" sz="1400" dirty="0">
                <a:latin typeface="+mn-ea"/>
                <a:ea typeface="+mn-ea"/>
              </a:endParaRPr>
            </a:p>
            <a:p>
              <a:r>
                <a:rPr lang="zh-CN" altLang="en-US" sz="1400" dirty="0">
                  <a:latin typeface="+mn-ea"/>
                  <a:ea typeface="+mn-ea"/>
                </a:rPr>
                <a:t>农业</a:t>
              </a:r>
            </a:p>
          </p:txBody>
        </p:sp>
        <p:sp>
          <p:nvSpPr>
            <p:cNvPr id="33" name="TextBox 32"/>
            <p:cNvSpPr txBox="1"/>
            <p:nvPr/>
          </p:nvSpPr>
          <p:spPr>
            <a:xfrm>
              <a:off x="6531540" y="2500306"/>
              <a:ext cx="921893" cy="702830"/>
            </a:xfrm>
            <a:prstGeom prst="rect">
              <a:avLst/>
            </a:prstGeom>
            <a:noFill/>
          </p:spPr>
          <p:txBody>
            <a:bodyPr wrap="square" rtlCol="0">
              <a:spAutoFit/>
            </a:bodyPr>
            <a:lstStyle/>
            <a:p>
              <a:r>
                <a:rPr lang="zh-CN" altLang="en-US" sz="1400" dirty="0">
                  <a:latin typeface="+mn-ea"/>
                  <a:ea typeface="+mn-ea"/>
                </a:rPr>
                <a:t>移动终端</a:t>
              </a:r>
            </a:p>
          </p:txBody>
        </p:sp>
      </p:grpSp>
      <p:cxnSp>
        <p:nvCxnSpPr>
          <p:cNvPr id="37" name="直接连接符 36"/>
          <p:cNvCxnSpPr/>
          <p:nvPr/>
        </p:nvCxnSpPr>
        <p:spPr bwMode="auto">
          <a:xfrm>
            <a:off x="428596" y="2998784"/>
            <a:ext cx="4714908" cy="1588"/>
          </a:xfrm>
          <a:prstGeom prst="line">
            <a:avLst/>
          </a:prstGeom>
          <a:ln>
            <a:solidFill>
              <a:srgbClr val="0070C0"/>
            </a:solidFill>
            <a:prstDash val="dash"/>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40" name="TextBox 39"/>
          <p:cNvSpPr txBox="1"/>
          <p:nvPr/>
        </p:nvSpPr>
        <p:spPr>
          <a:xfrm>
            <a:off x="1571604" y="5786454"/>
            <a:ext cx="2214578" cy="369332"/>
          </a:xfrm>
          <a:prstGeom prst="rect">
            <a:avLst/>
          </a:prstGeom>
          <a:noFill/>
        </p:spPr>
        <p:txBody>
          <a:bodyPr wrap="square" rtlCol="0">
            <a:spAutoFit/>
          </a:bodyPr>
          <a:lstStyle/>
          <a:p>
            <a:pPr algn="ctr"/>
            <a:r>
              <a:rPr lang="zh-CN" altLang="en-US" b="1" dirty="0">
                <a:latin typeface="+mn-ea"/>
                <a:ea typeface="+mn-ea"/>
              </a:rPr>
              <a:t>基础数据中心</a:t>
            </a:r>
          </a:p>
        </p:txBody>
      </p:sp>
      <p:sp>
        <p:nvSpPr>
          <p:cNvPr id="41" name="右箭头 40"/>
          <p:cNvSpPr/>
          <p:nvPr/>
        </p:nvSpPr>
        <p:spPr>
          <a:xfrm rot="16200000">
            <a:off x="2419498" y="2425531"/>
            <a:ext cx="590229" cy="857257"/>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43" name="AutoShape 20"/>
          <p:cNvSpPr>
            <a:spLocks noChangeArrowheads="1"/>
          </p:cNvSpPr>
          <p:nvPr/>
        </p:nvSpPr>
        <p:spPr bwMode="auto">
          <a:xfrm rot="10800000">
            <a:off x="5656269" y="1500174"/>
            <a:ext cx="2987664" cy="4470946"/>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marL="342900" indent="-342900">
              <a:buFont typeface="Wingdings" pitchFamily="2" charset="2"/>
              <a:buChar char="p"/>
            </a:pPr>
            <a:endParaRPr lang="zh-CN" altLang="en-US" sz="1200" dirty="0">
              <a:latin typeface="+mn-ea"/>
            </a:endParaRPr>
          </a:p>
        </p:txBody>
      </p:sp>
      <p:sp>
        <p:nvSpPr>
          <p:cNvPr id="3" name="矩形 2"/>
          <p:cNvSpPr/>
          <p:nvPr/>
        </p:nvSpPr>
        <p:spPr>
          <a:xfrm>
            <a:off x="5668969" y="1922390"/>
            <a:ext cx="2974964" cy="3831818"/>
          </a:xfrm>
          <a:prstGeom prst="rect">
            <a:avLst/>
          </a:prstGeom>
        </p:spPr>
        <p:txBody>
          <a:bodyPr wrap="square">
            <a:spAutoFit/>
          </a:bodyPr>
          <a:lstStyle/>
          <a:p>
            <a:pPr marL="342900" indent="-342900">
              <a:lnSpc>
                <a:spcPct val="150000"/>
              </a:lnSpc>
              <a:buFont typeface="Wingdings" pitchFamily="2" charset="2"/>
              <a:buChar char="p"/>
            </a:pPr>
            <a:r>
              <a:rPr lang="zh-CN" altLang="en-US" dirty="0">
                <a:solidFill>
                  <a:srgbClr val="002060"/>
                </a:solidFill>
                <a:latin typeface="+mn-ea"/>
                <a:ea typeface="+mn-ea"/>
              </a:rPr>
              <a:t>数据中心通过数据交换平台把不同层次、不同部门信息系统间，信息和信息产品的数据交换到了数据中心。</a:t>
            </a:r>
            <a:endParaRPr lang="en-US" altLang="zh-CN" dirty="0">
              <a:solidFill>
                <a:srgbClr val="002060"/>
              </a:solidFill>
              <a:latin typeface="+mn-ea"/>
              <a:ea typeface="+mn-ea"/>
            </a:endParaRPr>
          </a:p>
          <a:p>
            <a:pPr marL="342900" indent="-342900">
              <a:lnSpc>
                <a:spcPct val="150000"/>
              </a:lnSpc>
              <a:buFont typeface="Wingdings" pitchFamily="2" charset="2"/>
              <a:buChar char="p"/>
            </a:pPr>
            <a:r>
              <a:rPr lang="zh-CN" altLang="en-US" dirty="0">
                <a:solidFill>
                  <a:srgbClr val="002060"/>
                </a:solidFill>
                <a:latin typeface="+mn-ea"/>
                <a:ea typeface="+mn-ea"/>
              </a:rPr>
              <a:t>信息共享平台将不同类型不同分类的数据通过各种方式发布出来共享数据给其它应用使用。</a:t>
            </a:r>
          </a:p>
        </p:txBody>
      </p:sp>
    </p:spTree>
    <p:extLst>
      <p:ext uri="{BB962C8B-B14F-4D97-AF65-F5344CB8AC3E}">
        <p14:creationId xmlns:p14="http://schemas.microsoft.com/office/powerpoint/2010/main" val="3932383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7408" y="304800"/>
            <a:ext cx="8610600" cy="561975"/>
          </a:xfrm>
          <a:noFill/>
          <a:ln w="9525">
            <a:noFill/>
            <a:miter lim="800000"/>
            <a:headEnd/>
            <a:tailEnd/>
          </a:ln>
          <a:effectLst/>
        </p:spPr>
        <p:txBody>
          <a:bodyPr vert="horz" wrap="square" lIns="91440" tIns="45720" rIns="91440" bIns="45720" numCol="1" anchor="ctr" anchorCtr="0" compatLnSpc="1">
            <a:prstTxWarp prst="textNoShape">
              <a:avLst/>
            </a:prstTxWarp>
          </a:bodyPr>
          <a:lstStyle/>
          <a:p>
            <a:r>
              <a:rPr lang="zh-CN" altLang="en-US" dirty="0">
                <a:latin typeface="+mn-ea"/>
                <a:ea typeface="+mn-ea"/>
              </a:rPr>
              <a:t>数据分析与信息展现</a:t>
            </a:r>
          </a:p>
        </p:txBody>
      </p:sp>
      <p:sp>
        <p:nvSpPr>
          <p:cNvPr id="4" name="灯片编号占位符 3"/>
          <p:cNvSpPr>
            <a:spLocks noGrp="1"/>
          </p:cNvSpPr>
          <p:nvPr>
            <p:ph type="sldNum" sz="quarter" idx="12"/>
          </p:nvPr>
        </p:nvSpPr>
        <p:spPr/>
        <p:txBody>
          <a:bodyPr/>
          <a:lstStyle/>
          <a:p>
            <a:fld id="{BD61978C-FD3D-4268-8D6C-034E9AD544A3}" type="slidenum">
              <a:rPr lang="en-US" altLang="zh-CN" smtClean="0">
                <a:latin typeface="+mn-ea"/>
                <a:ea typeface="+mn-ea"/>
              </a:rPr>
              <a:pPr/>
              <a:t>21</a:t>
            </a:fld>
            <a:endParaRPr lang="en-US" altLang="zh-CN">
              <a:latin typeface="+mn-ea"/>
              <a:ea typeface="+mn-ea"/>
            </a:endParaRPr>
          </a:p>
        </p:txBody>
      </p:sp>
      <p:sp>
        <p:nvSpPr>
          <p:cNvPr id="5" name="AutoShape 3"/>
          <p:cNvSpPr>
            <a:spLocks noChangeArrowheads="1"/>
          </p:cNvSpPr>
          <p:nvPr/>
        </p:nvSpPr>
        <p:spPr bwMode="blackWhite">
          <a:xfrm>
            <a:off x="1496536" y="5080482"/>
            <a:ext cx="5563553" cy="645149"/>
          </a:xfrm>
          <a:prstGeom prst="triangle">
            <a:avLst>
              <a:gd name="adj" fmla="val 50000"/>
            </a:avLst>
          </a:prstGeom>
          <a:solidFill>
            <a:srgbClr val="66CCFF"/>
          </a:solidFill>
          <a:ln w="12700" algn="ctr">
            <a:noFill/>
            <a:miter lim="800000"/>
            <a:headEnd/>
            <a:tailEnd/>
          </a:ln>
        </p:spPr>
        <p:txBody>
          <a:bodyPr wrap="none" lIns="82294" tIns="41147" rIns="82294" bIns="41147" anchor="ctr"/>
          <a:lstStyle/>
          <a:p>
            <a:pPr marL="225425" indent="-225425" algn="ctr">
              <a:lnSpc>
                <a:spcPct val="90000"/>
              </a:lnSpc>
              <a:spcBef>
                <a:spcPct val="40000"/>
              </a:spcBef>
            </a:pPr>
            <a:endParaRPr lang="zh-CN" altLang="en-US" sz="1400" b="1">
              <a:solidFill>
                <a:srgbClr val="003366"/>
              </a:solidFill>
              <a:latin typeface="+mn-ea"/>
              <a:ea typeface="+mn-ea"/>
            </a:endParaRPr>
          </a:p>
        </p:txBody>
      </p:sp>
      <p:sp>
        <p:nvSpPr>
          <p:cNvPr id="6" name="Rectangle 4"/>
          <p:cNvSpPr>
            <a:spLocks noChangeArrowheads="1"/>
          </p:cNvSpPr>
          <p:nvPr/>
        </p:nvSpPr>
        <p:spPr bwMode="auto">
          <a:xfrm>
            <a:off x="4371101" y="4246562"/>
            <a:ext cx="962184" cy="366713"/>
          </a:xfrm>
          <a:prstGeom prst="rect">
            <a:avLst/>
          </a:prstGeom>
          <a:noFill/>
          <a:ln w="12700">
            <a:noFill/>
            <a:miter lim="800000"/>
            <a:headEnd/>
            <a:tailEnd/>
          </a:ln>
        </p:spPr>
        <p:txBody>
          <a:bodyPr wrap="none" anchorCtr="1">
            <a:spAutoFit/>
          </a:bodyPr>
          <a:lstStyle/>
          <a:p>
            <a:pPr algn="ctr"/>
            <a:r>
              <a:rPr lang="zh-CN" altLang="en-US" b="1">
                <a:solidFill>
                  <a:schemeClr val="tx2"/>
                </a:solidFill>
                <a:latin typeface="+mn-ea"/>
                <a:ea typeface="+mn-ea"/>
              </a:rPr>
              <a:t>。。。</a:t>
            </a:r>
          </a:p>
        </p:txBody>
      </p:sp>
      <p:sp>
        <p:nvSpPr>
          <p:cNvPr id="7" name="AutoShape 5"/>
          <p:cNvSpPr>
            <a:spLocks noChangeArrowheads="1"/>
          </p:cNvSpPr>
          <p:nvPr/>
        </p:nvSpPr>
        <p:spPr bwMode="auto">
          <a:xfrm>
            <a:off x="573563" y="2102282"/>
            <a:ext cx="7044373" cy="554182"/>
          </a:xfrm>
          <a:prstGeom prst="roundRect">
            <a:avLst>
              <a:gd name="adj" fmla="val 16667"/>
            </a:avLst>
          </a:prstGeom>
          <a:solidFill>
            <a:schemeClr val="accent5"/>
          </a:solidFill>
          <a:ln w="12700">
            <a:solidFill>
              <a:schemeClr val="accent5"/>
            </a:solidFill>
            <a:round/>
            <a:headEnd/>
            <a:tailEnd/>
          </a:ln>
        </p:spPr>
        <p:txBody>
          <a:bodyPr wrap="none" anchor="ctr"/>
          <a:lstStyle/>
          <a:p>
            <a:endParaRPr lang="zh-CN" altLang="en-US" b="1" dirty="0">
              <a:solidFill>
                <a:schemeClr val="tx2">
                  <a:lumMod val="95000"/>
                  <a:lumOff val="5000"/>
                </a:schemeClr>
              </a:solidFill>
              <a:latin typeface="+mn-ea"/>
              <a:ea typeface="+mn-ea"/>
            </a:endParaRPr>
          </a:p>
        </p:txBody>
      </p:sp>
      <p:sp>
        <p:nvSpPr>
          <p:cNvPr id="8" name="AutoShape 6"/>
          <p:cNvSpPr>
            <a:spLocks noChangeArrowheads="1"/>
          </p:cNvSpPr>
          <p:nvPr/>
        </p:nvSpPr>
        <p:spPr bwMode="auto">
          <a:xfrm>
            <a:off x="880268" y="3370334"/>
            <a:ext cx="6723063" cy="699943"/>
          </a:xfrm>
          <a:prstGeom prst="roundRect">
            <a:avLst>
              <a:gd name="adj" fmla="val 16667"/>
            </a:avLst>
          </a:prstGeom>
          <a:solidFill>
            <a:schemeClr val="accent5">
              <a:lumMod val="90000"/>
            </a:schemeClr>
          </a:solidFill>
          <a:ln w="12700">
            <a:solidFill>
              <a:schemeClr val="accent5">
                <a:lumMod val="90000"/>
              </a:schemeClr>
            </a:solidFill>
            <a:round/>
            <a:headEnd/>
            <a:tailEnd/>
          </a:ln>
        </p:spPr>
        <p:txBody>
          <a:bodyPr wrap="none" anchor="ctr"/>
          <a:lstStyle/>
          <a:p>
            <a:endParaRPr lang="zh-CN" altLang="en-US">
              <a:latin typeface="+mn-ea"/>
              <a:ea typeface="+mn-ea"/>
            </a:endParaRPr>
          </a:p>
        </p:txBody>
      </p:sp>
      <p:sp>
        <p:nvSpPr>
          <p:cNvPr id="9" name="Rectangle 7"/>
          <p:cNvSpPr>
            <a:spLocks noChangeArrowheads="1"/>
          </p:cNvSpPr>
          <p:nvPr/>
        </p:nvSpPr>
        <p:spPr bwMode="auto">
          <a:xfrm>
            <a:off x="4241165" y="2166792"/>
            <a:ext cx="712470" cy="415636"/>
          </a:xfrm>
          <a:prstGeom prst="rect">
            <a:avLst/>
          </a:prstGeom>
          <a:solidFill>
            <a:srgbClr val="00B0F0"/>
          </a:solidFill>
          <a:ln>
            <a:solidFill>
              <a:srgbClr val="00B0F0"/>
            </a:solidFill>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spcBef>
                <a:spcPct val="50000"/>
              </a:spcBef>
              <a:defRPr/>
            </a:pPr>
            <a:endParaRPr lang="zh-CN" altLang="en-US" sz="1100" b="1">
              <a:solidFill>
                <a:schemeClr val="bg1"/>
              </a:solidFill>
              <a:latin typeface="+mn-ea"/>
              <a:ea typeface="+mn-ea"/>
            </a:endParaRPr>
          </a:p>
        </p:txBody>
      </p:sp>
      <p:sp>
        <p:nvSpPr>
          <p:cNvPr id="10" name="Rectangle 8"/>
          <p:cNvSpPr>
            <a:spLocks noChangeArrowheads="1"/>
          </p:cNvSpPr>
          <p:nvPr/>
        </p:nvSpPr>
        <p:spPr bwMode="auto">
          <a:xfrm>
            <a:off x="4295738" y="2248111"/>
            <a:ext cx="633888" cy="307776"/>
          </a:xfrm>
          <a:prstGeom prst="rect">
            <a:avLst/>
          </a:prstGeom>
          <a:noFill/>
          <a:ln w="9525">
            <a:noFill/>
            <a:miter lim="800000"/>
            <a:headEnd/>
            <a:tailEnd/>
          </a:ln>
        </p:spPr>
        <p:txBody>
          <a:bodyPr lIns="0" tIns="0" rIns="0" bIns="0">
            <a:spAutoFit/>
          </a:bodyPr>
          <a:lstStyle/>
          <a:p>
            <a:pPr algn="ctr"/>
            <a:r>
              <a:rPr lang="zh-CN" altLang="en-US" sz="1100" b="1" dirty="0">
                <a:solidFill>
                  <a:schemeClr val="bg1"/>
                </a:solidFill>
                <a:latin typeface="+mn-ea"/>
                <a:ea typeface="+mn-ea"/>
              </a:rPr>
              <a:t>风险</a:t>
            </a:r>
            <a:br>
              <a:rPr lang="en-US" altLang="zh-CN" sz="1100" b="1" dirty="0">
                <a:solidFill>
                  <a:schemeClr val="bg1"/>
                </a:solidFill>
                <a:latin typeface="+mn-ea"/>
                <a:ea typeface="+mn-ea"/>
              </a:rPr>
            </a:br>
            <a:r>
              <a:rPr lang="zh-CN" altLang="en-US" sz="1100" b="1" dirty="0">
                <a:solidFill>
                  <a:schemeClr val="bg1"/>
                </a:solidFill>
                <a:latin typeface="+mn-ea"/>
                <a:ea typeface="+mn-ea"/>
              </a:rPr>
              <a:t>分析</a:t>
            </a:r>
          </a:p>
        </p:txBody>
      </p:sp>
      <p:sp>
        <p:nvSpPr>
          <p:cNvPr id="11" name="Rectangle 9"/>
          <p:cNvSpPr>
            <a:spLocks noChangeArrowheads="1"/>
          </p:cNvSpPr>
          <p:nvPr/>
        </p:nvSpPr>
        <p:spPr bwMode="auto">
          <a:xfrm>
            <a:off x="1326515" y="2166792"/>
            <a:ext cx="712470" cy="415636"/>
          </a:xfrm>
          <a:prstGeom prst="rect">
            <a:avLst/>
          </a:prstGeom>
          <a:solidFill>
            <a:srgbClr val="00B0F0"/>
          </a:solidFill>
          <a:ln>
            <a:solidFill>
              <a:srgbClr val="00B0F0"/>
            </a:solidFill>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spcBef>
                <a:spcPct val="50000"/>
              </a:spcBef>
              <a:defRPr/>
            </a:pPr>
            <a:endParaRPr lang="zh-CN" altLang="en-US" sz="1100" b="1">
              <a:solidFill>
                <a:schemeClr val="bg1"/>
              </a:solidFill>
              <a:latin typeface="+mn-ea"/>
              <a:ea typeface="+mn-ea"/>
            </a:endParaRPr>
          </a:p>
        </p:txBody>
      </p:sp>
      <p:sp>
        <p:nvSpPr>
          <p:cNvPr id="12" name="Rectangle 10"/>
          <p:cNvSpPr>
            <a:spLocks noChangeArrowheads="1"/>
          </p:cNvSpPr>
          <p:nvPr/>
        </p:nvSpPr>
        <p:spPr bwMode="auto">
          <a:xfrm>
            <a:off x="1367298" y="2249022"/>
            <a:ext cx="633889" cy="305955"/>
          </a:xfrm>
          <a:prstGeom prst="rect">
            <a:avLst/>
          </a:prstGeom>
          <a:noFill/>
          <a:ln w="9525">
            <a:noFill/>
            <a:miter lim="800000"/>
            <a:headEnd/>
            <a:tailEnd/>
          </a:ln>
        </p:spPr>
        <p:txBody>
          <a:bodyPr lIns="0" tIns="0" rIns="0" bIns="0">
            <a:spAutoFit/>
          </a:bodyPr>
          <a:lstStyle/>
          <a:p>
            <a:pPr algn="ctr"/>
            <a:r>
              <a:rPr lang="zh-CN" altLang="en-US" sz="1100" b="1" dirty="0">
                <a:solidFill>
                  <a:schemeClr val="bg1"/>
                </a:solidFill>
                <a:latin typeface="+mn-ea"/>
                <a:ea typeface="+mn-ea"/>
              </a:rPr>
              <a:t>统一报表平台</a:t>
            </a:r>
          </a:p>
        </p:txBody>
      </p:sp>
      <p:sp>
        <p:nvSpPr>
          <p:cNvPr id="13" name="Rectangle 11"/>
          <p:cNvSpPr>
            <a:spLocks noChangeArrowheads="1"/>
          </p:cNvSpPr>
          <p:nvPr/>
        </p:nvSpPr>
        <p:spPr bwMode="auto">
          <a:xfrm>
            <a:off x="2056765" y="2166792"/>
            <a:ext cx="712470" cy="415636"/>
          </a:xfrm>
          <a:prstGeom prst="rect">
            <a:avLst/>
          </a:prstGeom>
          <a:solidFill>
            <a:srgbClr val="00B0F0"/>
          </a:solidFill>
          <a:ln>
            <a:solidFill>
              <a:srgbClr val="00B0F0"/>
            </a:solidFill>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spcBef>
                <a:spcPct val="50000"/>
              </a:spcBef>
              <a:defRPr/>
            </a:pPr>
            <a:endParaRPr lang="zh-CN" altLang="en-US" sz="1100" b="1">
              <a:solidFill>
                <a:schemeClr val="bg1"/>
              </a:solidFill>
              <a:latin typeface="+mn-ea"/>
              <a:ea typeface="+mn-ea"/>
            </a:endParaRPr>
          </a:p>
        </p:txBody>
      </p:sp>
      <p:sp>
        <p:nvSpPr>
          <p:cNvPr id="14" name="Rectangle 12"/>
          <p:cNvSpPr>
            <a:spLocks noChangeArrowheads="1"/>
          </p:cNvSpPr>
          <p:nvPr/>
        </p:nvSpPr>
        <p:spPr bwMode="auto">
          <a:xfrm>
            <a:off x="2097548" y="2249022"/>
            <a:ext cx="633889" cy="305955"/>
          </a:xfrm>
          <a:prstGeom prst="rect">
            <a:avLst/>
          </a:prstGeom>
          <a:noFill/>
          <a:ln w="9525">
            <a:noFill/>
            <a:miter lim="800000"/>
            <a:headEnd/>
            <a:tailEnd/>
          </a:ln>
        </p:spPr>
        <p:txBody>
          <a:bodyPr lIns="0" tIns="0" rIns="0" bIns="0">
            <a:spAutoFit/>
          </a:bodyPr>
          <a:lstStyle/>
          <a:p>
            <a:pPr algn="ctr"/>
            <a:r>
              <a:rPr lang="zh-CN" altLang="en-US" sz="1100" b="1" dirty="0">
                <a:solidFill>
                  <a:schemeClr val="bg1"/>
                </a:solidFill>
                <a:latin typeface="+mn-ea"/>
                <a:ea typeface="+mn-ea"/>
              </a:rPr>
              <a:t>统一查询系统</a:t>
            </a:r>
          </a:p>
        </p:txBody>
      </p:sp>
      <p:sp>
        <p:nvSpPr>
          <p:cNvPr id="15" name="Rectangle 13"/>
          <p:cNvSpPr>
            <a:spLocks noChangeArrowheads="1"/>
          </p:cNvSpPr>
          <p:nvPr/>
        </p:nvSpPr>
        <p:spPr bwMode="auto">
          <a:xfrm>
            <a:off x="3514090" y="2166792"/>
            <a:ext cx="712470" cy="415636"/>
          </a:xfrm>
          <a:prstGeom prst="rect">
            <a:avLst/>
          </a:prstGeom>
          <a:solidFill>
            <a:srgbClr val="00B0F0"/>
          </a:solidFill>
          <a:ln>
            <a:solidFill>
              <a:srgbClr val="00B0F0"/>
            </a:solidFill>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spcBef>
                <a:spcPct val="50000"/>
              </a:spcBef>
              <a:defRPr/>
            </a:pPr>
            <a:endParaRPr lang="zh-CN" altLang="en-US" sz="1100" b="1">
              <a:solidFill>
                <a:schemeClr val="bg1"/>
              </a:solidFill>
              <a:latin typeface="+mn-ea"/>
              <a:ea typeface="+mn-ea"/>
            </a:endParaRPr>
          </a:p>
        </p:txBody>
      </p:sp>
      <p:sp>
        <p:nvSpPr>
          <p:cNvPr id="16" name="Rectangle 14"/>
          <p:cNvSpPr>
            <a:spLocks noChangeArrowheads="1"/>
          </p:cNvSpPr>
          <p:nvPr/>
        </p:nvSpPr>
        <p:spPr bwMode="auto">
          <a:xfrm>
            <a:off x="3607106" y="2266174"/>
            <a:ext cx="526594" cy="307776"/>
          </a:xfrm>
          <a:prstGeom prst="rect">
            <a:avLst/>
          </a:prstGeom>
          <a:noFill/>
          <a:ln w="9525">
            <a:noFill/>
            <a:miter lim="800000"/>
            <a:headEnd/>
            <a:tailEnd/>
          </a:ln>
        </p:spPr>
        <p:txBody>
          <a:bodyPr wrap="square" lIns="0" tIns="0" rIns="0" bIns="0">
            <a:spAutoFit/>
          </a:bodyPr>
          <a:lstStyle/>
          <a:p>
            <a:pPr algn="ctr"/>
            <a:r>
              <a:rPr lang="zh-CN" altLang="en-US" sz="1100" b="1" dirty="0">
                <a:solidFill>
                  <a:schemeClr val="bg1"/>
                </a:solidFill>
                <a:latin typeface="+mn-ea"/>
                <a:ea typeface="+mn-ea"/>
              </a:rPr>
              <a:t>趋势</a:t>
            </a:r>
            <a:endParaRPr lang="en-US" altLang="zh-CN" sz="1100" b="1" dirty="0">
              <a:solidFill>
                <a:schemeClr val="bg1"/>
              </a:solidFill>
              <a:latin typeface="+mn-ea"/>
              <a:ea typeface="+mn-ea"/>
            </a:endParaRPr>
          </a:p>
          <a:p>
            <a:pPr algn="ctr"/>
            <a:r>
              <a:rPr lang="zh-CN" altLang="en-US" sz="1100" b="1" dirty="0">
                <a:solidFill>
                  <a:schemeClr val="bg1"/>
                </a:solidFill>
                <a:latin typeface="+mn-ea"/>
                <a:ea typeface="+mn-ea"/>
              </a:rPr>
              <a:t>分析</a:t>
            </a:r>
            <a:endParaRPr lang="en-US" altLang="zh-CN" sz="1100" b="1" dirty="0">
              <a:solidFill>
                <a:schemeClr val="bg1"/>
              </a:solidFill>
              <a:latin typeface="+mn-ea"/>
              <a:ea typeface="+mn-ea"/>
            </a:endParaRPr>
          </a:p>
        </p:txBody>
      </p:sp>
      <p:sp>
        <p:nvSpPr>
          <p:cNvPr id="19" name="Rectangle 17"/>
          <p:cNvSpPr>
            <a:spLocks noChangeArrowheads="1"/>
          </p:cNvSpPr>
          <p:nvPr/>
        </p:nvSpPr>
        <p:spPr bwMode="auto">
          <a:xfrm>
            <a:off x="2783840" y="2166792"/>
            <a:ext cx="712470" cy="415636"/>
          </a:xfrm>
          <a:prstGeom prst="rect">
            <a:avLst/>
          </a:prstGeom>
          <a:solidFill>
            <a:srgbClr val="00B0F0"/>
          </a:solidFill>
          <a:ln>
            <a:solidFill>
              <a:srgbClr val="00B0F0"/>
            </a:solidFill>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spcBef>
                <a:spcPct val="50000"/>
              </a:spcBef>
              <a:defRPr/>
            </a:pPr>
            <a:endParaRPr lang="zh-CN" altLang="en-US" sz="1100" b="1">
              <a:solidFill>
                <a:schemeClr val="bg1"/>
              </a:solidFill>
              <a:latin typeface="+mn-ea"/>
              <a:ea typeface="+mn-ea"/>
            </a:endParaRPr>
          </a:p>
        </p:txBody>
      </p:sp>
      <p:sp>
        <p:nvSpPr>
          <p:cNvPr id="20" name="Rectangle 18"/>
          <p:cNvSpPr>
            <a:spLocks noChangeArrowheads="1"/>
          </p:cNvSpPr>
          <p:nvPr/>
        </p:nvSpPr>
        <p:spPr bwMode="auto">
          <a:xfrm>
            <a:off x="2805813" y="2248111"/>
            <a:ext cx="671529" cy="307776"/>
          </a:xfrm>
          <a:prstGeom prst="rect">
            <a:avLst/>
          </a:prstGeom>
          <a:noFill/>
          <a:ln w="9525">
            <a:noFill/>
            <a:miter lim="800000"/>
            <a:headEnd/>
            <a:tailEnd/>
          </a:ln>
        </p:spPr>
        <p:txBody>
          <a:bodyPr wrap="square" lIns="0" tIns="0" rIns="0" bIns="0">
            <a:spAutoFit/>
          </a:bodyPr>
          <a:lstStyle/>
          <a:p>
            <a:pPr algn="ctr"/>
            <a:r>
              <a:rPr lang="zh-CN" altLang="en-US" sz="1100" b="1" dirty="0">
                <a:solidFill>
                  <a:schemeClr val="bg1"/>
                </a:solidFill>
                <a:latin typeface="+mn-ea"/>
                <a:ea typeface="+mn-ea"/>
              </a:rPr>
              <a:t>企业信用评级</a:t>
            </a:r>
          </a:p>
        </p:txBody>
      </p:sp>
      <p:sp>
        <p:nvSpPr>
          <p:cNvPr id="21" name="Rectangle 19"/>
          <p:cNvSpPr>
            <a:spLocks noChangeArrowheads="1"/>
          </p:cNvSpPr>
          <p:nvPr/>
        </p:nvSpPr>
        <p:spPr bwMode="auto">
          <a:xfrm>
            <a:off x="6414453" y="2176317"/>
            <a:ext cx="712470" cy="415636"/>
          </a:xfrm>
          <a:prstGeom prst="rect">
            <a:avLst/>
          </a:prstGeom>
          <a:solidFill>
            <a:srgbClr val="00B0F0"/>
          </a:solidFill>
          <a:ln>
            <a:solidFill>
              <a:srgbClr val="00B0F0"/>
            </a:solidFill>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spcBef>
                <a:spcPct val="50000"/>
              </a:spcBef>
              <a:defRPr/>
            </a:pPr>
            <a:endParaRPr lang="zh-CN" altLang="en-US" sz="1300" b="1">
              <a:solidFill>
                <a:schemeClr val="bg1"/>
              </a:solidFill>
              <a:latin typeface="+mn-ea"/>
              <a:ea typeface="+mn-ea"/>
            </a:endParaRPr>
          </a:p>
        </p:txBody>
      </p:sp>
      <p:sp>
        <p:nvSpPr>
          <p:cNvPr id="22" name="Rectangle 20"/>
          <p:cNvSpPr>
            <a:spLocks noChangeArrowheads="1"/>
          </p:cNvSpPr>
          <p:nvPr/>
        </p:nvSpPr>
        <p:spPr bwMode="auto">
          <a:xfrm>
            <a:off x="6455962" y="2324789"/>
            <a:ext cx="633889" cy="154421"/>
          </a:xfrm>
          <a:prstGeom prst="rect">
            <a:avLst/>
          </a:prstGeom>
          <a:noFill/>
          <a:ln w="9525">
            <a:noFill/>
            <a:miter lim="800000"/>
            <a:headEnd/>
            <a:tailEnd/>
          </a:ln>
        </p:spPr>
        <p:txBody>
          <a:bodyPr lIns="0" tIns="0" rIns="0" bIns="0">
            <a:spAutoFit/>
          </a:bodyPr>
          <a:lstStyle/>
          <a:p>
            <a:pPr algn="ctr"/>
            <a:r>
              <a:rPr lang="en-US" altLang="zh-CN" sz="1100" b="1" dirty="0">
                <a:solidFill>
                  <a:schemeClr val="bg1"/>
                </a:solidFill>
                <a:latin typeface="+mn-ea"/>
                <a:ea typeface="+mn-ea"/>
              </a:rPr>
              <a:t>…………</a:t>
            </a:r>
          </a:p>
        </p:txBody>
      </p:sp>
      <p:sp>
        <p:nvSpPr>
          <p:cNvPr id="23" name="Rectangle 21"/>
          <p:cNvSpPr>
            <a:spLocks noChangeArrowheads="1"/>
          </p:cNvSpPr>
          <p:nvPr/>
        </p:nvSpPr>
        <p:spPr bwMode="auto">
          <a:xfrm>
            <a:off x="5696903" y="2166792"/>
            <a:ext cx="712470" cy="415636"/>
          </a:xfrm>
          <a:prstGeom prst="rect">
            <a:avLst/>
          </a:prstGeom>
          <a:solidFill>
            <a:srgbClr val="00B0F0"/>
          </a:solidFill>
          <a:ln>
            <a:solidFill>
              <a:srgbClr val="00B0F0"/>
            </a:solidFill>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spcBef>
                <a:spcPct val="50000"/>
              </a:spcBef>
              <a:defRPr/>
            </a:pPr>
            <a:endParaRPr lang="zh-CN" altLang="en-US" sz="1100" b="1">
              <a:solidFill>
                <a:schemeClr val="bg1"/>
              </a:solidFill>
              <a:latin typeface="+mn-ea"/>
              <a:ea typeface="+mn-ea"/>
            </a:endParaRPr>
          </a:p>
        </p:txBody>
      </p:sp>
      <p:sp>
        <p:nvSpPr>
          <p:cNvPr id="24" name="Rectangle 22"/>
          <p:cNvSpPr>
            <a:spLocks noChangeArrowheads="1"/>
          </p:cNvSpPr>
          <p:nvPr/>
        </p:nvSpPr>
        <p:spPr bwMode="auto">
          <a:xfrm>
            <a:off x="5036900" y="2247322"/>
            <a:ext cx="633888" cy="152977"/>
          </a:xfrm>
          <a:prstGeom prst="rect">
            <a:avLst/>
          </a:prstGeom>
          <a:noFill/>
          <a:ln w="9525">
            <a:noFill/>
            <a:miter lim="800000"/>
            <a:headEnd/>
            <a:tailEnd/>
          </a:ln>
        </p:spPr>
        <p:txBody>
          <a:bodyPr lIns="0" tIns="0" rIns="0" bIns="0">
            <a:spAutoFit/>
          </a:bodyPr>
          <a:lstStyle/>
          <a:p>
            <a:pPr algn="ctr"/>
            <a:r>
              <a:rPr lang="zh-CN" altLang="en-US" sz="1100" b="1">
                <a:solidFill>
                  <a:schemeClr val="bg1"/>
                </a:solidFill>
                <a:latin typeface="+mn-ea"/>
                <a:ea typeface="+mn-ea"/>
              </a:rPr>
              <a:t>物流分析</a:t>
            </a:r>
            <a:endParaRPr lang="zh-CN" altLang="en-US" sz="1000" b="1">
              <a:solidFill>
                <a:schemeClr val="bg1"/>
              </a:solidFill>
              <a:latin typeface="+mn-ea"/>
              <a:ea typeface="+mn-ea"/>
            </a:endParaRPr>
          </a:p>
        </p:txBody>
      </p:sp>
      <p:sp>
        <p:nvSpPr>
          <p:cNvPr id="25" name="Rectangle 23"/>
          <p:cNvSpPr>
            <a:spLocks noChangeArrowheads="1"/>
          </p:cNvSpPr>
          <p:nvPr/>
        </p:nvSpPr>
        <p:spPr bwMode="auto">
          <a:xfrm>
            <a:off x="939246" y="5649912"/>
            <a:ext cx="6647973" cy="576263"/>
          </a:xfrm>
          <a:prstGeom prst="rect">
            <a:avLst/>
          </a:prstGeom>
          <a:solidFill>
            <a:schemeClr val="accent2">
              <a:lumMod val="20000"/>
              <a:lumOff val="80000"/>
            </a:schemeClr>
          </a:solidFill>
          <a:ln w="9525">
            <a:solidFill>
              <a:schemeClr val="accent2">
                <a:lumMod val="20000"/>
                <a:lumOff val="80000"/>
              </a:schemeClr>
            </a:solidFill>
            <a:miter lim="800000"/>
            <a:headEnd/>
            <a:tailEnd/>
          </a:ln>
        </p:spPr>
        <p:txBody>
          <a:bodyPr wrap="none" anchor="ctr"/>
          <a:lstStyle/>
          <a:p>
            <a:endParaRPr lang="zh-CN" altLang="en-US">
              <a:latin typeface="+mn-ea"/>
              <a:ea typeface="+mn-ea"/>
            </a:endParaRPr>
          </a:p>
        </p:txBody>
      </p:sp>
      <p:sp>
        <p:nvSpPr>
          <p:cNvPr id="26" name="Line 24"/>
          <p:cNvSpPr>
            <a:spLocks noChangeShapeType="1"/>
          </p:cNvSpPr>
          <p:nvPr/>
        </p:nvSpPr>
        <p:spPr bwMode="auto">
          <a:xfrm>
            <a:off x="804148" y="5311775"/>
            <a:ext cx="6895941" cy="0"/>
          </a:xfrm>
          <a:prstGeom prst="line">
            <a:avLst/>
          </a:prstGeom>
          <a:noFill/>
          <a:ln w="15875">
            <a:solidFill>
              <a:srgbClr val="FF0000"/>
            </a:solidFill>
            <a:prstDash val="dash"/>
            <a:round/>
            <a:headEnd/>
            <a:tailEnd/>
          </a:ln>
        </p:spPr>
        <p:txBody>
          <a:bodyPr wrap="none" lIns="18000" tIns="10800" rIns="18000" bIns="10800" anchor="ctr"/>
          <a:lstStyle/>
          <a:p>
            <a:endParaRPr lang="zh-CN" altLang="en-US">
              <a:latin typeface="+mn-ea"/>
              <a:ea typeface="+mn-ea"/>
            </a:endParaRPr>
          </a:p>
        </p:txBody>
      </p:sp>
      <p:sp>
        <p:nvSpPr>
          <p:cNvPr id="27" name="AutoShape 25"/>
          <p:cNvSpPr>
            <a:spLocks noChangeArrowheads="1"/>
          </p:cNvSpPr>
          <p:nvPr/>
        </p:nvSpPr>
        <p:spPr bwMode="auto">
          <a:xfrm>
            <a:off x="3005773" y="4556125"/>
            <a:ext cx="2535555" cy="720725"/>
          </a:xfrm>
          <a:prstGeom prst="can">
            <a:avLst>
              <a:gd name="adj" fmla="val 7574"/>
            </a:avLst>
          </a:prstGeom>
          <a:gradFill rotWithShape="1">
            <a:gsLst>
              <a:gs pos="0">
                <a:srgbClr val="FFFFFF"/>
              </a:gs>
              <a:gs pos="100000">
                <a:srgbClr val="F38C00"/>
              </a:gs>
            </a:gsLst>
            <a:path path="rect">
              <a:fillToRect l="50000" t="50000" r="50000" b="50000"/>
            </a:path>
          </a:gradFill>
          <a:ln w="9525">
            <a:solidFill>
              <a:srgbClr val="CC3300"/>
            </a:solidFill>
            <a:round/>
            <a:headEnd/>
            <a:tailEnd/>
          </a:ln>
        </p:spPr>
        <p:txBody>
          <a:bodyPr wrap="none" anchor="ctr"/>
          <a:lstStyle/>
          <a:p>
            <a:pPr algn="ctr"/>
            <a:endParaRPr kumimoji="1" lang="zh-CN" altLang="en-US" sz="1100" b="1" dirty="0">
              <a:latin typeface="+mn-ea"/>
              <a:ea typeface="+mn-ea"/>
            </a:endParaRPr>
          </a:p>
        </p:txBody>
      </p:sp>
      <p:sp>
        <p:nvSpPr>
          <p:cNvPr id="28" name="Line 26"/>
          <p:cNvSpPr>
            <a:spLocks noChangeShapeType="1"/>
          </p:cNvSpPr>
          <p:nvPr/>
        </p:nvSpPr>
        <p:spPr bwMode="auto">
          <a:xfrm>
            <a:off x="804862" y="4341812"/>
            <a:ext cx="6916738" cy="0"/>
          </a:xfrm>
          <a:prstGeom prst="line">
            <a:avLst/>
          </a:prstGeom>
          <a:noFill/>
          <a:ln w="15875">
            <a:solidFill>
              <a:srgbClr val="FF0000"/>
            </a:solidFill>
            <a:prstDash val="dash"/>
            <a:round/>
            <a:headEnd/>
            <a:tailEnd/>
          </a:ln>
        </p:spPr>
        <p:txBody>
          <a:bodyPr wrap="none" lIns="18000" tIns="10800" rIns="18000" bIns="10800" anchor="ctr"/>
          <a:lstStyle/>
          <a:p>
            <a:endParaRPr lang="zh-CN" altLang="en-US">
              <a:latin typeface="+mn-ea"/>
              <a:ea typeface="+mn-ea"/>
            </a:endParaRPr>
          </a:p>
        </p:txBody>
      </p:sp>
      <p:pic>
        <p:nvPicPr>
          <p:cNvPr id="29" name="Picture 32" descr="manage"/>
          <p:cNvPicPr>
            <a:picLocks noChangeAspect="1" noChangeArrowheads="1"/>
          </p:cNvPicPr>
          <p:nvPr/>
        </p:nvPicPr>
        <p:blipFill>
          <a:blip r:embed="rId3" cstate="print"/>
          <a:srcRect/>
          <a:stretch>
            <a:fillRect/>
          </a:stretch>
        </p:blipFill>
        <p:spPr bwMode="auto">
          <a:xfrm>
            <a:off x="3246120" y="4156393"/>
            <a:ext cx="600710" cy="621665"/>
          </a:xfrm>
          <a:prstGeom prst="rect">
            <a:avLst/>
          </a:prstGeom>
          <a:noFill/>
          <a:ln w="9525">
            <a:noFill/>
            <a:miter lim="800000"/>
            <a:headEnd/>
            <a:tailEnd/>
          </a:ln>
        </p:spPr>
      </p:pic>
      <p:pic>
        <p:nvPicPr>
          <p:cNvPr id="30" name="Picture 31" descr="manage"/>
          <p:cNvPicPr>
            <a:picLocks noChangeAspect="1" noChangeArrowheads="1"/>
          </p:cNvPicPr>
          <p:nvPr/>
        </p:nvPicPr>
        <p:blipFill>
          <a:blip r:embed="rId3" cstate="print"/>
          <a:srcRect/>
          <a:stretch>
            <a:fillRect/>
          </a:stretch>
        </p:blipFill>
        <p:spPr bwMode="auto">
          <a:xfrm>
            <a:off x="3896995" y="4167505"/>
            <a:ext cx="600710" cy="621665"/>
          </a:xfrm>
          <a:prstGeom prst="rect">
            <a:avLst/>
          </a:prstGeom>
          <a:noFill/>
          <a:ln w="9525">
            <a:noFill/>
            <a:miter lim="800000"/>
            <a:headEnd/>
            <a:tailEnd/>
          </a:ln>
        </p:spPr>
      </p:pic>
      <p:pic>
        <p:nvPicPr>
          <p:cNvPr id="31" name="Picture 31" descr="manage"/>
          <p:cNvPicPr>
            <a:picLocks noChangeAspect="1" noChangeArrowheads="1"/>
          </p:cNvPicPr>
          <p:nvPr/>
        </p:nvPicPr>
        <p:blipFill>
          <a:blip r:embed="rId3" cstate="print"/>
          <a:srcRect/>
          <a:stretch>
            <a:fillRect/>
          </a:stretch>
        </p:blipFill>
        <p:spPr bwMode="auto">
          <a:xfrm>
            <a:off x="4830445" y="4157980"/>
            <a:ext cx="600710" cy="621665"/>
          </a:xfrm>
          <a:prstGeom prst="rect">
            <a:avLst/>
          </a:prstGeom>
          <a:noFill/>
          <a:ln w="9525">
            <a:noFill/>
            <a:miter lim="800000"/>
            <a:headEnd/>
            <a:tailEnd/>
          </a:ln>
        </p:spPr>
      </p:pic>
      <p:pic>
        <p:nvPicPr>
          <p:cNvPr id="32" name="Picture 30" descr="32x32"/>
          <p:cNvPicPr>
            <a:picLocks noChangeAspect="1" noChangeArrowheads="1"/>
          </p:cNvPicPr>
          <p:nvPr/>
        </p:nvPicPr>
        <p:blipFill>
          <a:blip r:embed="rId4" cstate="print"/>
          <a:srcRect/>
          <a:stretch>
            <a:fillRect/>
          </a:stretch>
        </p:blipFill>
        <p:spPr bwMode="auto">
          <a:xfrm>
            <a:off x="2187020" y="3428365"/>
            <a:ext cx="501173" cy="328295"/>
          </a:xfrm>
          <a:prstGeom prst="rect">
            <a:avLst/>
          </a:prstGeom>
          <a:noFill/>
          <a:ln w="9525">
            <a:noFill/>
            <a:miter lim="800000"/>
            <a:headEnd/>
            <a:tailEnd/>
          </a:ln>
        </p:spPr>
      </p:pic>
      <p:sp>
        <p:nvSpPr>
          <p:cNvPr id="33" name="Text Box 20"/>
          <p:cNvSpPr txBox="1">
            <a:spLocks noChangeArrowheads="1"/>
          </p:cNvSpPr>
          <p:nvPr/>
        </p:nvSpPr>
        <p:spPr bwMode="auto">
          <a:xfrm>
            <a:off x="2130107" y="3681412"/>
            <a:ext cx="949960" cy="290512"/>
          </a:xfrm>
          <a:prstGeom prst="rect">
            <a:avLst/>
          </a:prstGeom>
          <a:noFill/>
          <a:ln w="9525">
            <a:noFill/>
            <a:miter lim="800000"/>
            <a:headEnd/>
            <a:tailEnd/>
          </a:ln>
        </p:spPr>
        <p:txBody>
          <a:bodyPr>
            <a:spAutoFit/>
          </a:bodyPr>
          <a:lstStyle/>
          <a:p>
            <a:r>
              <a:rPr lang="zh-CN" altLang="en-US" sz="1300" b="1" dirty="0">
                <a:solidFill>
                  <a:schemeClr val="tx2">
                    <a:lumMod val="95000"/>
                    <a:lumOff val="5000"/>
                  </a:schemeClr>
                </a:solidFill>
                <a:latin typeface="+mn-ea"/>
                <a:ea typeface="+mn-ea"/>
              </a:rPr>
              <a:t>查询</a:t>
            </a:r>
          </a:p>
        </p:txBody>
      </p:sp>
      <p:sp>
        <p:nvSpPr>
          <p:cNvPr id="34" name="Text Box 20"/>
          <p:cNvSpPr txBox="1">
            <a:spLocks noChangeArrowheads="1"/>
          </p:cNvSpPr>
          <p:nvPr/>
        </p:nvSpPr>
        <p:spPr bwMode="auto">
          <a:xfrm>
            <a:off x="4145438" y="3668712"/>
            <a:ext cx="1002348" cy="292100"/>
          </a:xfrm>
          <a:prstGeom prst="rect">
            <a:avLst/>
          </a:prstGeom>
          <a:noFill/>
          <a:ln w="9525">
            <a:noFill/>
            <a:miter lim="800000"/>
            <a:headEnd/>
            <a:tailEnd/>
          </a:ln>
        </p:spPr>
        <p:txBody>
          <a:bodyPr>
            <a:spAutoFit/>
          </a:bodyPr>
          <a:lstStyle/>
          <a:p>
            <a:r>
              <a:rPr lang="zh-CN" altLang="en-US" sz="1300" b="1">
                <a:solidFill>
                  <a:schemeClr val="tx2">
                    <a:lumMod val="95000"/>
                    <a:lumOff val="5000"/>
                  </a:schemeClr>
                </a:solidFill>
                <a:latin typeface="+mn-ea"/>
                <a:ea typeface="+mn-ea"/>
              </a:rPr>
              <a:t>分析</a:t>
            </a:r>
          </a:p>
        </p:txBody>
      </p:sp>
      <p:sp>
        <p:nvSpPr>
          <p:cNvPr id="35" name="Text Box 20"/>
          <p:cNvSpPr txBox="1">
            <a:spLocks noChangeArrowheads="1"/>
          </p:cNvSpPr>
          <p:nvPr/>
        </p:nvSpPr>
        <p:spPr bwMode="auto">
          <a:xfrm>
            <a:off x="3233817" y="3668712"/>
            <a:ext cx="871379" cy="290512"/>
          </a:xfrm>
          <a:prstGeom prst="rect">
            <a:avLst/>
          </a:prstGeom>
          <a:noFill/>
          <a:ln w="9525">
            <a:noFill/>
            <a:miter lim="800000"/>
            <a:headEnd/>
            <a:tailEnd/>
          </a:ln>
        </p:spPr>
        <p:txBody>
          <a:bodyPr>
            <a:spAutoFit/>
          </a:bodyPr>
          <a:lstStyle/>
          <a:p>
            <a:r>
              <a:rPr lang="zh-CN" altLang="en-US" sz="1300" b="1">
                <a:solidFill>
                  <a:schemeClr val="tx2">
                    <a:lumMod val="95000"/>
                    <a:lumOff val="5000"/>
                  </a:schemeClr>
                </a:solidFill>
                <a:latin typeface="+mn-ea"/>
                <a:ea typeface="+mn-ea"/>
              </a:rPr>
              <a:t>报表</a:t>
            </a:r>
          </a:p>
        </p:txBody>
      </p:sp>
      <p:sp>
        <p:nvSpPr>
          <p:cNvPr id="36" name="Text Box 20"/>
          <p:cNvSpPr txBox="1">
            <a:spLocks noChangeArrowheads="1"/>
          </p:cNvSpPr>
          <p:nvPr/>
        </p:nvSpPr>
        <p:spPr bwMode="auto">
          <a:xfrm>
            <a:off x="6089015" y="3662362"/>
            <a:ext cx="677545" cy="290512"/>
          </a:xfrm>
          <a:prstGeom prst="rect">
            <a:avLst/>
          </a:prstGeom>
          <a:noFill/>
          <a:ln w="9525">
            <a:noFill/>
            <a:miter lim="800000"/>
            <a:headEnd/>
            <a:tailEnd/>
          </a:ln>
        </p:spPr>
        <p:txBody>
          <a:bodyPr>
            <a:spAutoFit/>
          </a:bodyPr>
          <a:lstStyle/>
          <a:p>
            <a:r>
              <a:rPr lang="zh-CN" altLang="en-US" sz="1300" b="1">
                <a:solidFill>
                  <a:schemeClr val="tx2">
                    <a:lumMod val="95000"/>
                    <a:lumOff val="5000"/>
                  </a:schemeClr>
                </a:solidFill>
                <a:latin typeface="+mn-ea"/>
                <a:ea typeface="+mn-ea"/>
              </a:rPr>
              <a:t>预警</a:t>
            </a:r>
          </a:p>
        </p:txBody>
      </p:sp>
      <p:pic>
        <p:nvPicPr>
          <p:cNvPr id="37" name="Picture 35" descr="32x32"/>
          <p:cNvPicPr>
            <a:picLocks noChangeAspect="1" noChangeArrowheads="1"/>
          </p:cNvPicPr>
          <p:nvPr/>
        </p:nvPicPr>
        <p:blipFill>
          <a:blip r:embed="rId4" cstate="print"/>
          <a:srcRect/>
          <a:stretch>
            <a:fillRect/>
          </a:stretch>
        </p:blipFill>
        <p:spPr bwMode="auto">
          <a:xfrm>
            <a:off x="3252233" y="3428365"/>
            <a:ext cx="501173" cy="328295"/>
          </a:xfrm>
          <a:prstGeom prst="rect">
            <a:avLst/>
          </a:prstGeom>
          <a:noFill/>
          <a:ln w="9525">
            <a:noFill/>
            <a:miter lim="800000"/>
            <a:headEnd/>
            <a:tailEnd/>
          </a:ln>
        </p:spPr>
      </p:pic>
      <p:pic>
        <p:nvPicPr>
          <p:cNvPr id="38" name="Picture 36" descr="32x32"/>
          <p:cNvPicPr>
            <a:picLocks noChangeAspect="1" noChangeArrowheads="1"/>
          </p:cNvPicPr>
          <p:nvPr/>
        </p:nvPicPr>
        <p:blipFill>
          <a:blip r:embed="rId4" cstate="print"/>
          <a:srcRect/>
          <a:stretch>
            <a:fillRect/>
          </a:stretch>
        </p:blipFill>
        <p:spPr bwMode="auto">
          <a:xfrm>
            <a:off x="4187269" y="3428365"/>
            <a:ext cx="501174" cy="328295"/>
          </a:xfrm>
          <a:prstGeom prst="rect">
            <a:avLst/>
          </a:prstGeom>
          <a:noFill/>
          <a:ln w="9525">
            <a:noFill/>
            <a:miter lim="800000"/>
            <a:headEnd/>
            <a:tailEnd/>
          </a:ln>
        </p:spPr>
      </p:pic>
      <p:grpSp>
        <p:nvGrpSpPr>
          <p:cNvPr id="39" name="Group 37"/>
          <p:cNvGrpSpPr>
            <a:grpSpLocks/>
          </p:cNvGrpSpPr>
          <p:nvPr/>
        </p:nvGrpSpPr>
        <p:grpSpPr bwMode="auto">
          <a:xfrm>
            <a:off x="5214461" y="3441699"/>
            <a:ext cx="464503" cy="296863"/>
            <a:chOff x="1824" y="633"/>
            <a:chExt cx="2834" cy="2849"/>
          </a:xfrm>
        </p:grpSpPr>
        <p:sp>
          <p:nvSpPr>
            <p:cNvPr id="40" name="Puzzle3"/>
            <p:cNvSpPr>
              <a:spLocks noEditPoints="1" noChangeArrowheads="1"/>
            </p:cNvSpPr>
            <p:nvPr/>
          </p:nvSpPr>
          <p:spPr bwMode="auto">
            <a:xfrm>
              <a:off x="3204" y="633"/>
              <a:ext cx="1114" cy="151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2269 w 21600"/>
                <a:gd name="T25" fmla="*/ 7718 h 21600"/>
                <a:gd name="T26" fmla="*/ 19157 w 21600"/>
                <a:gd name="T27" fmla="*/ 2023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6625" y="20892"/>
                  </a:moveTo>
                  <a:lnTo>
                    <a:pt x="7105" y="21023"/>
                  </a:lnTo>
                  <a:lnTo>
                    <a:pt x="7513" y="21088"/>
                  </a:lnTo>
                  <a:lnTo>
                    <a:pt x="7922" y="21115"/>
                  </a:lnTo>
                  <a:lnTo>
                    <a:pt x="8242" y="21115"/>
                  </a:lnTo>
                  <a:lnTo>
                    <a:pt x="8544" y="21062"/>
                  </a:lnTo>
                  <a:lnTo>
                    <a:pt x="8810" y="20997"/>
                  </a:lnTo>
                  <a:lnTo>
                    <a:pt x="9023" y="20892"/>
                  </a:lnTo>
                  <a:lnTo>
                    <a:pt x="9148" y="20761"/>
                  </a:lnTo>
                  <a:lnTo>
                    <a:pt x="9290" y="20616"/>
                  </a:lnTo>
                  <a:lnTo>
                    <a:pt x="9361" y="20459"/>
                  </a:lnTo>
                  <a:lnTo>
                    <a:pt x="9396" y="20289"/>
                  </a:lnTo>
                  <a:lnTo>
                    <a:pt x="9396" y="20092"/>
                  </a:lnTo>
                  <a:lnTo>
                    <a:pt x="9325" y="19909"/>
                  </a:lnTo>
                  <a:lnTo>
                    <a:pt x="9219" y="19738"/>
                  </a:lnTo>
                  <a:lnTo>
                    <a:pt x="9094" y="19555"/>
                  </a:lnTo>
                  <a:lnTo>
                    <a:pt x="8917" y="19384"/>
                  </a:lnTo>
                  <a:lnTo>
                    <a:pt x="8650" y="19162"/>
                  </a:lnTo>
                  <a:lnTo>
                    <a:pt x="8437" y="18900"/>
                  </a:lnTo>
                  <a:lnTo>
                    <a:pt x="8277" y="18624"/>
                  </a:lnTo>
                  <a:lnTo>
                    <a:pt x="8135" y="18349"/>
                  </a:lnTo>
                  <a:lnTo>
                    <a:pt x="8028" y="18048"/>
                  </a:lnTo>
                  <a:lnTo>
                    <a:pt x="7993" y="17746"/>
                  </a:lnTo>
                  <a:lnTo>
                    <a:pt x="7993" y="17471"/>
                  </a:lnTo>
                  <a:lnTo>
                    <a:pt x="8028" y="17169"/>
                  </a:lnTo>
                  <a:lnTo>
                    <a:pt x="8135" y="16920"/>
                  </a:lnTo>
                  <a:lnTo>
                    <a:pt x="8277" y="16671"/>
                  </a:lnTo>
                  <a:lnTo>
                    <a:pt x="8366" y="16540"/>
                  </a:lnTo>
                  <a:lnTo>
                    <a:pt x="8473" y="16409"/>
                  </a:lnTo>
                  <a:lnTo>
                    <a:pt x="8615" y="16317"/>
                  </a:lnTo>
                  <a:lnTo>
                    <a:pt x="8739" y="16213"/>
                  </a:lnTo>
                  <a:lnTo>
                    <a:pt x="8881" y="16134"/>
                  </a:lnTo>
                  <a:lnTo>
                    <a:pt x="9059" y="16055"/>
                  </a:lnTo>
                  <a:lnTo>
                    <a:pt x="9254" y="15990"/>
                  </a:lnTo>
                  <a:lnTo>
                    <a:pt x="9432" y="15911"/>
                  </a:lnTo>
                  <a:lnTo>
                    <a:pt x="9663" y="15885"/>
                  </a:lnTo>
                  <a:lnTo>
                    <a:pt x="9876" y="15833"/>
                  </a:lnTo>
                  <a:lnTo>
                    <a:pt x="10142" y="15806"/>
                  </a:lnTo>
                  <a:lnTo>
                    <a:pt x="10391" y="15806"/>
                  </a:lnTo>
                  <a:lnTo>
                    <a:pt x="10728" y="15806"/>
                  </a:lnTo>
                  <a:lnTo>
                    <a:pt x="10995" y="15806"/>
                  </a:lnTo>
                  <a:lnTo>
                    <a:pt x="11279" y="15833"/>
                  </a:lnTo>
                  <a:lnTo>
                    <a:pt x="11546" y="15885"/>
                  </a:lnTo>
                  <a:lnTo>
                    <a:pt x="11776" y="15937"/>
                  </a:lnTo>
                  <a:lnTo>
                    <a:pt x="12025" y="15990"/>
                  </a:lnTo>
                  <a:lnTo>
                    <a:pt x="12221" y="16055"/>
                  </a:lnTo>
                  <a:lnTo>
                    <a:pt x="12434" y="16134"/>
                  </a:lnTo>
                  <a:lnTo>
                    <a:pt x="12611" y="16213"/>
                  </a:lnTo>
                  <a:lnTo>
                    <a:pt x="12771" y="16317"/>
                  </a:lnTo>
                  <a:lnTo>
                    <a:pt x="12913" y="16409"/>
                  </a:lnTo>
                  <a:lnTo>
                    <a:pt x="13038" y="16514"/>
                  </a:lnTo>
                  <a:lnTo>
                    <a:pt x="13251" y="16737"/>
                  </a:lnTo>
                  <a:lnTo>
                    <a:pt x="13428" y="16986"/>
                  </a:lnTo>
                  <a:lnTo>
                    <a:pt x="13517" y="17248"/>
                  </a:lnTo>
                  <a:lnTo>
                    <a:pt x="13588" y="17523"/>
                  </a:lnTo>
                  <a:lnTo>
                    <a:pt x="13588" y="17799"/>
                  </a:lnTo>
                  <a:lnTo>
                    <a:pt x="13517" y="18074"/>
                  </a:lnTo>
                  <a:lnTo>
                    <a:pt x="13428" y="18323"/>
                  </a:lnTo>
                  <a:lnTo>
                    <a:pt x="13286" y="18572"/>
                  </a:lnTo>
                  <a:lnTo>
                    <a:pt x="13109" y="18808"/>
                  </a:lnTo>
                  <a:lnTo>
                    <a:pt x="12878" y="19031"/>
                  </a:lnTo>
                  <a:lnTo>
                    <a:pt x="12434" y="19411"/>
                  </a:lnTo>
                  <a:lnTo>
                    <a:pt x="12132" y="19738"/>
                  </a:lnTo>
                  <a:lnTo>
                    <a:pt x="12025" y="19856"/>
                  </a:lnTo>
                  <a:lnTo>
                    <a:pt x="11919" y="20014"/>
                  </a:lnTo>
                  <a:lnTo>
                    <a:pt x="11883" y="20132"/>
                  </a:lnTo>
                  <a:lnTo>
                    <a:pt x="11883" y="20263"/>
                  </a:lnTo>
                  <a:lnTo>
                    <a:pt x="11883" y="20394"/>
                  </a:lnTo>
                  <a:lnTo>
                    <a:pt x="11954" y="20485"/>
                  </a:lnTo>
                  <a:lnTo>
                    <a:pt x="12061" y="20590"/>
                  </a:lnTo>
                  <a:lnTo>
                    <a:pt x="12185" y="20695"/>
                  </a:lnTo>
                  <a:lnTo>
                    <a:pt x="12327" y="20787"/>
                  </a:lnTo>
                  <a:lnTo>
                    <a:pt x="12540" y="20892"/>
                  </a:lnTo>
                  <a:lnTo>
                    <a:pt x="12771" y="20997"/>
                  </a:lnTo>
                  <a:lnTo>
                    <a:pt x="13073" y="21088"/>
                  </a:lnTo>
                  <a:lnTo>
                    <a:pt x="13428" y="21193"/>
                  </a:lnTo>
                  <a:lnTo>
                    <a:pt x="13873" y="21298"/>
                  </a:lnTo>
                  <a:lnTo>
                    <a:pt x="14317" y="21390"/>
                  </a:lnTo>
                  <a:lnTo>
                    <a:pt x="14778" y="21468"/>
                  </a:lnTo>
                  <a:lnTo>
                    <a:pt x="15294" y="21547"/>
                  </a:lnTo>
                  <a:lnTo>
                    <a:pt x="15809" y="21600"/>
                  </a:lnTo>
                  <a:lnTo>
                    <a:pt x="16359" y="21652"/>
                  </a:lnTo>
                  <a:lnTo>
                    <a:pt x="16875" y="21678"/>
                  </a:lnTo>
                  <a:lnTo>
                    <a:pt x="17407" y="21678"/>
                  </a:lnTo>
                  <a:lnTo>
                    <a:pt x="17958" y="21678"/>
                  </a:lnTo>
                  <a:lnTo>
                    <a:pt x="18473" y="21652"/>
                  </a:lnTo>
                  <a:lnTo>
                    <a:pt x="18953" y="21573"/>
                  </a:lnTo>
                  <a:lnTo>
                    <a:pt x="19397" y="21495"/>
                  </a:lnTo>
                  <a:lnTo>
                    <a:pt x="19841" y="21390"/>
                  </a:lnTo>
                  <a:lnTo>
                    <a:pt x="20214" y="21272"/>
                  </a:lnTo>
                  <a:lnTo>
                    <a:pt x="20551" y="21088"/>
                  </a:lnTo>
                  <a:lnTo>
                    <a:pt x="20480" y="20787"/>
                  </a:lnTo>
                  <a:lnTo>
                    <a:pt x="20409" y="20485"/>
                  </a:lnTo>
                  <a:lnTo>
                    <a:pt x="20356" y="20158"/>
                  </a:lnTo>
                  <a:lnTo>
                    <a:pt x="20356" y="19804"/>
                  </a:lnTo>
                  <a:lnTo>
                    <a:pt x="20321" y="19083"/>
                  </a:lnTo>
                  <a:lnTo>
                    <a:pt x="20356" y="18349"/>
                  </a:lnTo>
                  <a:lnTo>
                    <a:pt x="20409" y="17641"/>
                  </a:lnTo>
                  <a:lnTo>
                    <a:pt x="20480" y="17012"/>
                  </a:lnTo>
                  <a:lnTo>
                    <a:pt x="20551" y="16488"/>
                  </a:lnTo>
                  <a:lnTo>
                    <a:pt x="20551" y="16055"/>
                  </a:lnTo>
                  <a:lnTo>
                    <a:pt x="20551" y="15911"/>
                  </a:lnTo>
                  <a:lnTo>
                    <a:pt x="20445" y="15754"/>
                  </a:lnTo>
                  <a:lnTo>
                    <a:pt x="20356" y="15610"/>
                  </a:lnTo>
                  <a:lnTo>
                    <a:pt x="20178" y="15452"/>
                  </a:lnTo>
                  <a:lnTo>
                    <a:pt x="20001" y="15334"/>
                  </a:lnTo>
                  <a:lnTo>
                    <a:pt x="19770" y="15230"/>
                  </a:lnTo>
                  <a:lnTo>
                    <a:pt x="19521" y="15125"/>
                  </a:lnTo>
                  <a:lnTo>
                    <a:pt x="19290" y="15059"/>
                  </a:lnTo>
                  <a:lnTo>
                    <a:pt x="19024" y="15007"/>
                  </a:lnTo>
                  <a:lnTo>
                    <a:pt x="18740" y="14954"/>
                  </a:lnTo>
                  <a:lnTo>
                    <a:pt x="18509" y="14954"/>
                  </a:lnTo>
                  <a:lnTo>
                    <a:pt x="18225" y="14954"/>
                  </a:lnTo>
                  <a:lnTo>
                    <a:pt x="17994" y="15007"/>
                  </a:lnTo>
                  <a:lnTo>
                    <a:pt x="17763" y="15085"/>
                  </a:lnTo>
                  <a:lnTo>
                    <a:pt x="17550" y="15177"/>
                  </a:lnTo>
                  <a:lnTo>
                    <a:pt x="17372" y="15308"/>
                  </a:lnTo>
                  <a:lnTo>
                    <a:pt x="17176" y="15426"/>
                  </a:lnTo>
                  <a:lnTo>
                    <a:pt x="16928" y="15557"/>
                  </a:lnTo>
                  <a:lnTo>
                    <a:pt x="16661" y="15636"/>
                  </a:lnTo>
                  <a:lnTo>
                    <a:pt x="16359" y="15688"/>
                  </a:lnTo>
                  <a:lnTo>
                    <a:pt x="16022" y="15715"/>
                  </a:lnTo>
                  <a:lnTo>
                    <a:pt x="15667" y="15688"/>
                  </a:lnTo>
                  <a:lnTo>
                    <a:pt x="15294" y="15662"/>
                  </a:lnTo>
                  <a:lnTo>
                    <a:pt x="14956" y="15583"/>
                  </a:lnTo>
                  <a:lnTo>
                    <a:pt x="14619" y="15479"/>
                  </a:lnTo>
                  <a:lnTo>
                    <a:pt x="14281" y="15334"/>
                  </a:lnTo>
                  <a:lnTo>
                    <a:pt x="13961" y="15177"/>
                  </a:lnTo>
                  <a:lnTo>
                    <a:pt x="13695" y="14981"/>
                  </a:lnTo>
                  <a:lnTo>
                    <a:pt x="13588" y="14850"/>
                  </a:lnTo>
                  <a:lnTo>
                    <a:pt x="13482" y="14732"/>
                  </a:lnTo>
                  <a:lnTo>
                    <a:pt x="13393" y="14600"/>
                  </a:lnTo>
                  <a:lnTo>
                    <a:pt x="13322" y="14456"/>
                  </a:lnTo>
                  <a:lnTo>
                    <a:pt x="13251" y="14299"/>
                  </a:lnTo>
                  <a:lnTo>
                    <a:pt x="13215" y="14155"/>
                  </a:lnTo>
                  <a:lnTo>
                    <a:pt x="13180" y="13971"/>
                  </a:lnTo>
                  <a:lnTo>
                    <a:pt x="13180" y="13801"/>
                  </a:lnTo>
                  <a:lnTo>
                    <a:pt x="13180" y="13591"/>
                  </a:lnTo>
                  <a:lnTo>
                    <a:pt x="13215" y="13395"/>
                  </a:lnTo>
                  <a:lnTo>
                    <a:pt x="13251" y="13198"/>
                  </a:lnTo>
                  <a:lnTo>
                    <a:pt x="13322" y="13015"/>
                  </a:lnTo>
                  <a:lnTo>
                    <a:pt x="13393" y="12870"/>
                  </a:lnTo>
                  <a:lnTo>
                    <a:pt x="13482" y="12713"/>
                  </a:lnTo>
                  <a:lnTo>
                    <a:pt x="13588" y="12569"/>
                  </a:lnTo>
                  <a:lnTo>
                    <a:pt x="13730" y="12438"/>
                  </a:lnTo>
                  <a:lnTo>
                    <a:pt x="13997" y="12215"/>
                  </a:lnTo>
                  <a:lnTo>
                    <a:pt x="14334" y="12005"/>
                  </a:lnTo>
                  <a:lnTo>
                    <a:pt x="14690" y="11861"/>
                  </a:lnTo>
                  <a:lnTo>
                    <a:pt x="15063" y="11756"/>
                  </a:lnTo>
                  <a:lnTo>
                    <a:pt x="15436" y="11678"/>
                  </a:lnTo>
                  <a:lnTo>
                    <a:pt x="15809" y="11638"/>
                  </a:lnTo>
                  <a:lnTo>
                    <a:pt x="16182" y="11638"/>
                  </a:lnTo>
                  <a:lnTo>
                    <a:pt x="16555" y="11678"/>
                  </a:lnTo>
                  <a:lnTo>
                    <a:pt x="16910" y="11730"/>
                  </a:lnTo>
                  <a:lnTo>
                    <a:pt x="17248" y="11835"/>
                  </a:lnTo>
                  <a:lnTo>
                    <a:pt x="17514" y="11966"/>
                  </a:lnTo>
                  <a:lnTo>
                    <a:pt x="17763" y="12110"/>
                  </a:lnTo>
                  <a:lnTo>
                    <a:pt x="17887" y="12215"/>
                  </a:lnTo>
                  <a:lnTo>
                    <a:pt x="18065" y="12307"/>
                  </a:lnTo>
                  <a:lnTo>
                    <a:pt x="18260" y="12412"/>
                  </a:lnTo>
                  <a:lnTo>
                    <a:pt x="18438" y="12464"/>
                  </a:lnTo>
                  <a:lnTo>
                    <a:pt x="18669" y="12543"/>
                  </a:lnTo>
                  <a:lnTo>
                    <a:pt x="18882" y="12569"/>
                  </a:lnTo>
                  <a:lnTo>
                    <a:pt x="19113" y="12595"/>
                  </a:lnTo>
                  <a:lnTo>
                    <a:pt x="19361" y="12608"/>
                  </a:lnTo>
                  <a:lnTo>
                    <a:pt x="19592" y="12608"/>
                  </a:lnTo>
                  <a:lnTo>
                    <a:pt x="19841" y="12595"/>
                  </a:lnTo>
                  <a:lnTo>
                    <a:pt x="20072" y="12543"/>
                  </a:lnTo>
                  <a:lnTo>
                    <a:pt x="20321" y="12490"/>
                  </a:lnTo>
                  <a:lnTo>
                    <a:pt x="20551" y="12438"/>
                  </a:lnTo>
                  <a:lnTo>
                    <a:pt x="20800" y="12333"/>
                  </a:lnTo>
                  <a:lnTo>
                    <a:pt x="20996" y="12241"/>
                  </a:lnTo>
                  <a:lnTo>
                    <a:pt x="21244" y="12110"/>
                  </a:lnTo>
                  <a:lnTo>
                    <a:pt x="21298" y="12032"/>
                  </a:lnTo>
                  <a:lnTo>
                    <a:pt x="21404" y="11966"/>
                  </a:lnTo>
                  <a:lnTo>
                    <a:pt x="21475" y="11861"/>
                  </a:lnTo>
                  <a:lnTo>
                    <a:pt x="21511" y="11730"/>
                  </a:lnTo>
                  <a:lnTo>
                    <a:pt x="21617" y="11481"/>
                  </a:lnTo>
                  <a:lnTo>
                    <a:pt x="21653" y="11180"/>
                  </a:lnTo>
                  <a:lnTo>
                    <a:pt x="21653" y="10826"/>
                  </a:lnTo>
                  <a:lnTo>
                    <a:pt x="21653" y="10472"/>
                  </a:lnTo>
                  <a:lnTo>
                    <a:pt x="21582" y="10092"/>
                  </a:lnTo>
                  <a:lnTo>
                    <a:pt x="21511" y="9725"/>
                  </a:lnTo>
                  <a:lnTo>
                    <a:pt x="21298" y="8912"/>
                  </a:lnTo>
                  <a:lnTo>
                    <a:pt x="21067" y="8191"/>
                  </a:lnTo>
                  <a:lnTo>
                    <a:pt x="20800" y="7536"/>
                  </a:lnTo>
                  <a:lnTo>
                    <a:pt x="20551" y="7025"/>
                  </a:lnTo>
                  <a:lnTo>
                    <a:pt x="20001" y="7103"/>
                  </a:lnTo>
                  <a:lnTo>
                    <a:pt x="19432" y="7156"/>
                  </a:lnTo>
                  <a:lnTo>
                    <a:pt x="18846" y="7208"/>
                  </a:lnTo>
                  <a:lnTo>
                    <a:pt x="18225" y="7208"/>
                  </a:lnTo>
                  <a:lnTo>
                    <a:pt x="17656" y="7208"/>
                  </a:lnTo>
                  <a:lnTo>
                    <a:pt x="17070" y="7182"/>
                  </a:lnTo>
                  <a:lnTo>
                    <a:pt x="16484" y="7156"/>
                  </a:lnTo>
                  <a:lnTo>
                    <a:pt x="15986" y="7103"/>
                  </a:lnTo>
                  <a:lnTo>
                    <a:pt x="14992" y="6999"/>
                  </a:lnTo>
                  <a:lnTo>
                    <a:pt x="14210" y="6907"/>
                  </a:lnTo>
                  <a:lnTo>
                    <a:pt x="13695" y="6828"/>
                  </a:lnTo>
                  <a:lnTo>
                    <a:pt x="13517" y="6802"/>
                  </a:lnTo>
                  <a:lnTo>
                    <a:pt x="13073" y="6645"/>
                  </a:lnTo>
                  <a:lnTo>
                    <a:pt x="12700" y="6474"/>
                  </a:lnTo>
                  <a:lnTo>
                    <a:pt x="12363" y="6304"/>
                  </a:lnTo>
                  <a:lnTo>
                    <a:pt x="12132" y="6094"/>
                  </a:lnTo>
                  <a:lnTo>
                    <a:pt x="11919" y="5871"/>
                  </a:lnTo>
                  <a:lnTo>
                    <a:pt x="11776" y="5649"/>
                  </a:lnTo>
                  <a:lnTo>
                    <a:pt x="11688" y="5413"/>
                  </a:lnTo>
                  <a:lnTo>
                    <a:pt x="11617" y="5190"/>
                  </a:lnTo>
                  <a:lnTo>
                    <a:pt x="11617" y="4941"/>
                  </a:lnTo>
                  <a:lnTo>
                    <a:pt x="11652" y="4718"/>
                  </a:lnTo>
                  <a:lnTo>
                    <a:pt x="11723" y="4482"/>
                  </a:lnTo>
                  <a:lnTo>
                    <a:pt x="11812" y="4285"/>
                  </a:lnTo>
                  <a:lnTo>
                    <a:pt x="11919" y="4089"/>
                  </a:lnTo>
                  <a:lnTo>
                    <a:pt x="12096" y="3905"/>
                  </a:lnTo>
                  <a:lnTo>
                    <a:pt x="12292" y="3735"/>
                  </a:lnTo>
                  <a:lnTo>
                    <a:pt x="12505" y="3604"/>
                  </a:lnTo>
                  <a:lnTo>
                    <a:pt x="12700" y="3460"/>
                  </a:lnTo>
                  <a:lnTo>
                    <a:pt x="12878" y="3250"/>
                  </a:lnTo>
                  <a:lnTo>
                    <a:pt x="13038" y="3027"/>
                  </a:lnTo>
                  <a:lnTo>
                    <a:pt x="13180" y="2752"/>
                  </a:lnTo>
                  <a:lnTo>
                    <a:pt x="13286" y="2477"/>
                  </a:lnTo>
                  <a:lnTo>
                    <a:pt x="13322" y="2175"/>
                  </a:lnTo>
                  <a:lnTo>
                    <a:pt x="13357" y="1874"/>
                  </a:lnTo>
                  <a:lnTo>
                    <a:pt x="13286" y="1572"/>
                  </a:lnTo>
                  <a:lnTo>
                    <a:pt x="13180" y="1271"/>
                  </a:lnTo>
                  <a:lnTo>
                    <a:pt x="13038" y="983"/>
                  </a:lnTo>
                  <a:lnTo>
                    <a:pt x="12949" y="865"/>
                  </a:lnTo>
                  <a:lnTo>
                    <a:pt x="12807" y="733"/>
                  </a:lnTo>
                  <a:lnTo>
                    <a:pt x="12665" y="616"/>
                  </a:lnTo>
                  <a:lnTo>
                    <a:pt x="12505" y="511"/>
                  </a:lnTo>
                  <a:lnTo>
                    <a:pt x="12327" y="406"/>
                  </a:lnTo>
                  <a:lnTo>
                    <a:pt x="12132" y="314"/>
                  </a:lnTo>
                  <a:lnTo>
                    <a:pt x="11883" y="235"/>
                  </a:lnTo>
                  <a:lnTo>
                    <a:pt x="11652" y="183"/>
                  </a:lnTo>
                  <a:lnTo>
                    <a:pt x="11368" y="104"/>
                  </a:lnTo>
                  <a:lnTo>
                    <a:pt x="11101" y="78"/>
                  </a:lnTo>
                  <a:lnTo>
                    <a:pt x="10800" y="52"/>
                  </a:lnTo>
                  <a:lnTo>
                    <a:pt x="10444" y="52"/>
                  </a:lnTo>
                  <a:lnTo>
                    <a:pt x="10142" y="52"/>
                  </a:lnTo>
                  <a:lnTo>
                    <a:pt x="9840" y="78"/>
                  </a:lnTo>
                  <a:lnTo>
                    <a:pt x="9574" y="104"/>
                  </a:lnTo>
                  <a:lnTo>
                    <a:pt x="9325" y="157"/>
                  </a:lnTo>
                  <a:lnTo>
                    <a:pt x="9094" y="209"/>
                  </a:lnTo>
                  <a:lnTo>
                    <a:pt x="8846" y="262"/>
                  </a:lnTo>
                  <a:lnTo>
                    <a:pt x="8650" y="340"/>
                  </a:lnTo>
                  <a:lnTo>
                    <a:pt x="8437" y="432"/>
                  </a:lnTo>
                  <a:lnTo>
                    <a:pt x="8277" y="511"/>
                  </a:lnTo>
                  <a:lnTo>
                    <a:pt x="8100" y="616"/>
                  </a:lnTo>
                  <a:lnTo>
                    <a:pt x="7957" y="707"/>
                  </a:lnTo>
                  <a:lnTo>
                    <a:pt x="7833" y="838"/>
                  </a:lnTo>
                  <a:lnTo>
                    <a:pt x="7620" y="1061"/>
                  </a:lnTo>
                  <a:lnTo>
                    <a:pt x="7442" y="1336"/>
                  </a:lnTo>
                  <a:lnTo>
                    <a:pt x="7353" y="1599"/>
                  </a:lnTo>
                  <a:lnTo>
                    <a:pt x="7318" y="1900"/>
                  </a:lnTo>
                  <a:lnTo>
                    <a:pt x="7318" y="2175"/>
                  </a:lnTo>
                  <a:lnTo>
                    <a:pt x="7353" y="2450"/>
                  </a:lnTo>
                  <a:lnTo>
                    <a:pt x="7442" y="2726"/>
                  </a:lnTo>
                  <a:lnTo>
                    <a:pt x="7620" y="2975"/>
                  </a:lnTo>
                  <a:lnTo>
                    <a:pt x="7833" y="3198"/>
                  </a:lnTo>
                  <a:lnTo>
                    <a:pt x="8064" y="3433"/>
                  </a:lnTo>
                  <a:lnTo>
                    <a:pt x="8295" y="3630"/>
                  </a:lnTo>
                  <a:lnTo>
                    <a:pt x="8508" y="3853"/>
                  </a:lnTo>
                  <a:lnTo>
                    <a:pt x="8686" y="4089"/>
                  </a:lnTo>
                  <a:lnTo>
                    <a:pt x="8775" y="4312"/>
                  </a:lnTo>
                  <a:lnTo>
                    <a:pt x="8846" y="4561"/>
                  </a:lnTo>
                  <a:lnTo>
                    <a:pt x="8846" y="4810"/>
                  </a:lnTo>
                  <a:lnTo>
                    <a:pt x="8810" y="5059"/>
                  </a:lnTo>
                  <a:lnTo>
                    <a:pt x="8721" y="5295"/>
                  </a:lnTo>
                  <a:lnTo>
                    <a:pt x="8579" y="5544"/>
                  </a:lnTo>
                  <a:lnTo>
                    <a:pt x="8366" y="5766"/>
                  </a:lnTo>
                  <a:lnTo>
                    <a:pt x="8135" y="5976"/>
                  </a:lnTo>
                  <a:lnTo>
                    <a:pt x="7833" y="6199"/>
                  </a:lnTo>
                  <a:lnTo>
                    <a:pt x="7478" y="6369"/>
                  </a:lnTo>
                  <a:lnTo>
                    <a:pt x="7069" y="6527"/>
                  </a:lnTo>
                  <a:lnTo>
                    <a:pt x="6590" y="6671"/>
                  </a:lnTo>
                  <a:lnTo>
                    <a:pt x="6092" y="6802"/>
                  </a:lnTo>
                  <a:lnTo>
                    <a:pt x="5684" y="6802"/>
                  </a:lnTo>
                  <a:lnTo>
                    <a:pt x="5133" y="6802"/>
                  </a:lnTo>
                  <a:lnTo>
                    <a:pt x="4547" y="6802"/>
                  </a:lnTo>
                  <a:lnTo>
                    <a:pt x="3872" y="6802"/>
                  </a:lnTo>
                  <a:lnTo>
                    <a:pt x="3144" y="6802"/>
                  </a:lnTo>
                  <a:lnTo>
                    <a:pt x="2362" y="6802"/>
                  </a:lnTo>
                  <a:lnTo>
                    <a:pt x="1545" y="6802"/>
                  </a:lnTo>
                  <a:lnTo>
                    <a:pt x="692" y="6802"/>
                  </a:lnTo>
                  <a:lnTo>
                    <a:pt x="586" y="7234"/>
                  </a:lnTo>
                  <a:lnTo>
                    <a:pt x="461" y="7837"/>
                  </a:lnTo>
                  <a:lnTo>
                    <a:pt x="355" y="8493"/>
                  </a:lnTo>
                  <a:lnTo>
                    <a:pt x="248" y="9187"/>
                  </a:lnTo>
                  <a:lnTo>
                    <a:pt x="142" y="9869"/>
                  </a:lnTo>
                  <a:lnTo>
                    <a:pt x="106" y="10498"/>
                  </a:lnTo>
                  <a:lnTo>
                    <a:pt x="106" y="10983"/>
                  </a:lnTo>
                  <a:lnTo>
                    <a:pt x="106" y="11311"/>
                  </a:lnTo>
                  <a:lnTo>
                    <a:pt x="213" y="11481"/>
                  </a:lnTo>
                  <a:lnTo>
                    <a:pt x="319" y="11651"/>
                  </a:lnTo>
                  <a:lnTo>
                    <a:pt x="497" y="11783"/>
                  </a:lnTo>
                  <a:lnTo>
                    <a:pt x="692" y="11914"/>
                  </a:lnTo>
                  <a:lnTo>
                    <a:pt x="941" y="12032"/>
                  </a:lnTo>
                  <a:lnTo>
                    <a:pt x="1207" y="12110"/>
                  </a:lnTo>
                  <a:lnTo>
                    <a:pt x="1509" y="12189"/>
                  </a:lnTo>
                  <a:lnTo>
                    <a:pt x="1794" y="12241"/>
                  </a:lnTo>
                  <a:lnTo>
                    <a:pt x="2131" y="12267"/>
                  </a:lnTo>
                  <a:lnTo>
                    <a:pt x="2433" y="12281"/>
                  </a:lnTo>
                  <a:lnTo>
                    <a:pt x="2735" y="12267"/>
                  </a:lnTo>
                  <a:lnTo>
                    <a:pt x="3055" y="12241"/>
                  </a:lnTo>
                  <a:lnTo>
                    <a:pt x="3357" y="12189"/>
                  </a:lnTo>
                  <a:lnTo>
                    <a:pt x="3623" y="12084"/>
                  </a:lnTo>
                  <a:lnTo>
                    <a:pt x="3872" y="11979"/>
                  </a:lnTo>
                  <a:lnTo>
                    <a:pt x="4103" y="11861"/>
                  </a:lnTo>
                  <a:lnTo>
                    <a:pt x="4316" y="11704"/>
                  </a:lnTo>
                  <a:lnTo>
                    <a:pt x="4582" y="11612"/>
                  </a:lnTo>
                  <a:lnTo>
                    <a:pt x="4849" y="11533"/>
                  </a:lnTo>
                  <a:lnTo>
                    <a:pt x="5169" y="11507"/>
                  </a:lnTo>
                  <a:lnTo>
                    <a:pt x="5506" y="11481"/>
                  </a:lnTo>
                  <a:lnTo>
                    <a:pt x="5808" y="11507"/>
                  </a:lnTo>
                  <a:lnTo>
                    <a:pt x="6146" y="11560"/>
                  </a:lnTo>
                  <a:lnTo>
                    <a:pt x="6501" y="11651"/>
                  </a:lnTo>
                  <a:lnTo>
                    <a:pt x="6803" y="11783"/>
                  </a:lnTo>
                  <a:lnTo>
                    <a:pt x="7105" y="11940"/>
                  </a:lnTo>
                  <a:lnTo>
                    <a:pt x="7353" y="12110"/>
                  </a:lnTo>
                  <a:lnTo>
                    <a:pt x="7584" y="12333"/>
                  </a:lnTo>
                  <a:lnTo>
                    <a:pt x="7798" y="12595"/>
                  </a:lnTo>
                  <a:lnTo>
                    <a:pt x="7922" y="12870"/>
                  </a:lnTo>
                  <a:lnTo>
                    <a:pt x="8028" y="13198"/>
                  </a:lnTo>
                  <a:lnTo>
                    <a:pt x="8064" y="13526"/>
                  </a:lnTo>
                  <a:lnTo>
                    <a:pt x="8028" y="13775"/>
                  </a:lnTo>
                  <a:lnTo>
                    <a:pt x="7922" y="13998"/>
                  </a:lnTo>
                  <a:lnTo>
                    <a:pt x="7798" y="14220"/>
                  </a:lnTo>
                  <a:lnTo>
                    <a:pt x="7584" y="14404"/>
                  </a:lnTo>
                  <a:lnTo>
                    <a:pt x="7353" y="14574"/>
                  </a:lnTo>
                  <a:lnTo>
                    <a:pt x="7105" y="14732"/>
                  </a:lnTo>
                  <a:lnTo>
                    <a:pt x="6803" y="14850"/>
                  </a:lnTo>
                  <a:lnTo>
                    <a:pt x="6501" y="14954"/>
                  </a:lnTo>
                  <a:lnTo>
                    <a:pt x="6146" y="15033"/>
                  </a:lnTo>
                  <a:lnTo>
                    <a:pt x="5808" y="15085"/>
                  </a:lnTo>
                  <a:lnTo>
                    <a:pt x="5506" y="15085"/>
                  </a:lnTo>
                  <a:lnTo>
                    <a:pt x="5169" y="15059"/>
                  </a:lnTo>
                  <a:lnTo>
                    <a:pt x="4849" y="15007"/>
                  </a:lnTo>
                  <a:lnTo>
                    <a:pt x="4582" y="14902"/>
                  </a:lnTo>
                  <a:lnTo>
                    <a:pt x="4316" y="14784"/>
                  </a:lnTo>
                  <a:lnTo>
                    <a:pt x="4103" y="14600"/>
                  </a:lnTo>
                  <a:lnTo>
                    <a:pt x="3907" y="14430"/>
                  </a:lnTo>
                  <a:lnTo>
                    <a:pt x="3659" y="14299"/>
                  </a:lnTo>
                  <a:lnTo>
                    <a:pt x="3428" y="14194"/>
                  </a:lnTo>
                  <a:lnTo>
                    <a:pt x="3179" y="14129"/>
                  </a:lnTo>
                  <a:lnTo>
                    <a:pt x="2913" y="14102"/>
                  </a:lnTo>
                  <a:lnTo>
                    <a:pt x="2646" y="14102"/>
                  </a:lnTo>
                  <a:lnTo>
                    <a:pt x="2362" y="14129"/>
                  </a:lnTo>
                  <a:lnTo>
                    <a:pt x="2096" y="14168"/>
                  </a:lnTo>
                  <a:lnTo>
                    <a:pt x="1811" y="14273"/>
                  </a:lnTo>
                  <a:lnTo>
                    <a:pt x="1545" y="14378"/>
                  </a:lnTo>
                  <a:lnTo>
                    <a:pt x="1314" y="14496"/>
                  </a:lnTo>
                  <a:lnTo>
                    <a:pt x="1065" y="14653"/>
                  </a:lnTo>
                  <a:lnTo>
                    <a:pt x="870" y="14797"/>
                  </a:lnTo>
                  <a:lnTo>
                    <a:pt x="657" y="14981"/>
                  </a:lnTo>
                  <a:lnTo>
                    <a:pt x="497" y="15177"/>
                  </a:lnTo>
                  <a:lnTo>
                    <a:pt x="390" y="15413"/>
                  </a:lnTo>
                  <a:lnTo>
                    <a:pt x="284" y="15636"/>
                  </a:lnTo>
                  <a:lnTo>
                    <a:pt x="248" y="15911"/>
                  </a:lnTo>
                  <a:lnTo>
                    <a:pt x="284" y="16239"/>
                  </a:lnTo>
                  <a:lnTo>
                    <a:pt x="319" y="16566"/>
                  </a:lnTo>
                  <a:lnTo>
                    <a:pt x="497" y="17340"/>
                  </a:lnTo>
                  <a:lnTo>
                    <a:pt x="692" y="18152"/>
                  </a:lnTo>
                  <a:lnTo>
                    <a:pt x="799" y="18559"/>
                  </a:lnTo>
                  <a:lnTo>
                    <a:pt x="905" y="18978"/>
                  </a:lnTo>
                  <a:lnTo>
                    <a:pt x="959" y="19384"/>
                  </a:lnTo>
                  <a:lnTo>
                    <a:pt x="994" y="19791"/>
                  </a:lnTo>
                  <a:lnTo>
                    <a:pt x="994" y="20132"/>
                  </a:lnTo>
                  <a:lnTo>
                    <a:pt x="959" y="20485"/>
                  </a:lnTo>
                  <a:lnTo>
                    <a:pt x="941" y="20669"/>
                  </a:lnTo>
                  <a:lnTo>
                    <a:pt x="870" y="20813"/>
                  </a:lnTo>
                  <a:lnTo>
                    <a:pt x="799" y="20970"/>
                  </a:lnTo>
                  <a:lnTo>
                    <a:pt x="692" y="21088"/>
                  </a:lnTo>
                  <a:lnTo>
                    <a:pt x="1474" y="20997"/>
                  </a:lnTo>
                  <a:lnTo>
                    <a:pt x="2291" y="20866"/>
                  </a:lnTo>
                  <a:lnTo>
                    <a:pt x="3108" y="20787"/>
                  </a:lnTo>
                  <a:lnTo>
                    <a:pt x="3907" y="20721"/>
                  </a:lnTo>
                  <a:lnTo>
                    <a:pt x="4653" y="20695"/>
                  </a:lnTo>
                  <a:lnTo>
                    <a:pt x="5364" y="20695"/>
                  </a:lnTo>
                  <a:lnTo>
                    <a:pt x="5701" y="20721"/>
                  </a:lnTo>
                  <a:lnTo>
                    <a:pt x="6057" y="20761"/>
                  </a:lnTo>
                  <a:lnTo>
                    <a:pt x="6323" y="20813"/>
                  </a:lnTo>
                  <a:lnTo>
                    <a:pt x="6625" y="20892"/>
                  </a:lnTo>
                  <a:close/>
                </a:path>
              </a:pathLst>
            </a:custGeom>
            <a:solidFill>
              <a:srgbClr val="FFBE7D"/>
            </a:solidFill>
            <a:ln w="28575">
              <a:solidFill>
                <a:srgbClr val="000000"/>
              </a:solidFill>
              <a:miter lim="800000"/>
              <a:headEnd/>
              <a:tailEnd/>
            </a:ln>
          </p:spPr>
          <p:txBody>
            <a:bodyPr/>
            <a:lstStyle/>
            <a:p>
              <a:endParaRPr lang="zh-CN" altLang="en-US">
                <a:latin typeface="+mn-ea"/>
                <a:ea typeface="+mn-ea"/>
              </a:endParaRPr>
            </a:p>
          </p:txBody>
        </p:sp>
        <p:sp>
          <p:nvSpPr>
            <p:cNvPr id="41" name="Puzzle2"/>
            <p:cNvSpPr>
              <a:spLocks noEditPoints="1" noChangeArrowheads="1"/>
            </p:cNvSpPr>
            <p:nvPr/>
          </p:nvSpPr>
          <p:spPr bwMode="auto">
            <a:xfrm>
              <a:off x="2880" y="1736"/>
              <a:ext cx="1778" cy="137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5394 w 21600"/>
                <a:gd name="T25" fmla="*/ 6735 h 21600"/>
                <a:gd name="T26" fmla="*/ 16182 w 21600"/>
                <a:gd name="T27" fmla="*/ 2044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4247" y="12354"/>
                  </a:moveTo>
                  <a:lnTo>
                    <a:pt x="4134" y="12468"/>
                  </a:lnTo>
                  <a:lnTo>
                    <a:pt x="4010" y="12581"/>
                  </a:lnTo>
                  <a:lnTo>
                    <a:pt x="3897" y="12637"/>
                  </a:lnTo>
                  <a:lnTo>
                    <a:pt x="3773" y="12694"/>
                  </a:lnTo>
                  <a:lnTo>
                    <a:pt x="3637" y="12694"/>
                  </a:lnTo>
                  <a:lnTo>
                    <a:pt x="3524" y="12694"/>
                  </a:lnTo>
                  <a:lnTo>
                    <a:pt x="3400" y="12665"/>
                  </a:lnTo>
                  <a:lnTo>
                    <a:pt x="3287" y="12609"/>
                  </a:lnTo>
                  <a:lnTo>
                    <a:pt x="3027" y="12496"/>
                  </a:lnTo>
                  <a:lnTo>
                    <a:pt x="2790" y="12340"/>
                  </a:lnTo>
                  <a:lnTo>
                    <a:pt x="2530" y="12142"/>
                  </a:lnTo>
                  <a:lnTo>
                    <a:pt x="2293" y="11987"/>
                  </a:lnTo>
                  <a:lnTo>
                    <a:pt x="2033" y="11817"/>
                  </a:lnTo>
                  <a:lnTo>
                    <a:pt x="1773" y="11676"/>
                  </a:lnTo>
                  <a:lnTo>
                    <a:pt x="1638" y="11662"/>
                  </a:lnTo>
                  <a:lnTo>
                    <a:pt x="1513" y="11634"/>
                  </a:lnTo>
                  <a:lnTo>
                    <a:pt x="1378" y="11634"/>
                  </a:lnTo>
                  <a:lnTo>
                    <a:pt x="1253" y="11634"/>
                  </a:lnTo>
                  <a:lnTo>
                    <a:pt x="1118" y="11662"/>
                  </a:lnTo>
                  <a:lnTo>
                    <a:pt x="971" y="11732"/>
                  </a:lnTo>
                  <a:lnTo>
                    <a:pt x="835" y="11817"/>
                  </a:lnTo>
                  <a:lnTo>
                    <a:pt x="711" y="11959"/>
                  </a:lnTo>
                  <a:lnTo>
                    <a:pt x="553" y="12086"/>
                  </a:lnTo>
                  <a:lnTo>
                    <a:pt x="429" y="12284"/>
                  </a:lnTo>
                  <a:lnTo>
                    <a:pt x="271" y="12524"/>
                  </a:lnTo>
                  <a:lnTo>
                    <a:pt x="146" y="12793"/>
                  </a:lnTo>
                  <a:lnTo>
                    <a:pt x="79" y="12962"/>
                  </a:lnTo>
                  <a:lnTo>
                    <a:pt x="33" y="13146"/>
                  </a:lnTo>
                  <a:lnTo>
                    <a:pt x="11" y="13386"/>
                  </a:lnTo>
                  <a:lnTo>
                    <a:pt x="11" y="13641"/>
                  </a:lnTo>
                  <a:lnTo>
                    <a:pt x="33" y="13881"/>
                  </a:lnTo>
                  <a:lnTo>
                    <a:pt x="101" y="14150"/>
                  </a:lnTo>
                  <a:lnTo>
                    <a:pt x="192" y="14404"/>
                  </a:lnTo>
                  <a:lnTo>
                    <a:pt x="293" y="14645"/>
                  </a:lnTo>
                  <a:lnTo>
                    <a:pt x="451" y="14857"/>
                  </a:lnTo>
                  <a:lnTo>
                    <a:pt x="621" y="15054"/>
                  </a:lnTo>
                  <a:lnTo>
                    <a:pt x="734" y="15125"/>
                  </a:lnTo>
                  <a:lnTo>
                    <a:pt x="835" y="15210"/>
                  </a:lnTo>
                  <a:lnTo>
                    <a:pt x="948" y="15267"/>
                  </a:lnTo>
                  <a:lnTo>
                    <a:pt x="1084" y="15323"/>
                  </a:lnTo>
                  <a:lnTo>
                    <a:pt x="1208" y="15351"/>
                  </a:lnTo>
                  <a:lnTo>
                    <a:pt x="1355" y="15380"/>
                  </a:lnTo>
                  <a:lnTo>
                    <a:pt x="1513" y="15380"/>
                  </a:lnTo>
                  <a:lnTo>
                    <a:pt x="1683" y="15380"/>
                  </a:lnTo>
                  <a:lnTo>
                    <a:pt x="1864" y="15351"/>
                  </a:lnTo>
                  <a:lnTo>
                    <a:pt x="2033" y="15323"/>
                  </a:lnTo>
                  <a:lnTo>
                    <a:pt x="2225" y="15238"/>
                  </a:lnTo>
                  <a:lnTo>
                    <a:pt x="2428" y="15153"/>
                  </a:lnTo>
                  <a:lnTo>
                    <a:pt x="2745" y="15026"/>
                  </a:lnTo>
                  <a:lnTo>
                    <a:pt x="3005" y="14913"/>
                  </a:lnTo>
                  <a:lnTo>
                    <a:pt x="3264" y="14828"/>
                  </a:lnTo>
                  <a:lnTo>
                    <a:pt x="3513" y="14800"/>
                  </a:lnTo>
                  <a:lnTo>
                    <a:pt x="3615" y="14828"/>
                  </a:lnTo>
                  <a:lnTo>
                    <a:pt x="3728" y="14857"/>
                  </a:lnTo>
                  <a:lnTo>
                    <a:pt x="3807" y="14913"/>
                  </a:lnTo>
                  <a:lnTo>
                    <a:pt x="3920" y="14998"/>
                  </a:lnTo>
                  <a:lnTo>
                    <a:pt x="4010" y="15097"/>
                  </a:lnTo>
                  <a:lnTo>
                    <a:pt x="4089" y="15238"/>
                  </a:lnTo>
                  <a:lnTo>
                    <a:pt x="4179" y="15408"/>
                  </a:lnTo>
                  <a:lnTo>
                    <a:pt x="4247" y="15620"/>
                  </a:lnTo>
                  <a:lnTo>
                    <a:pt x="4326" y="15860"/>
                  </a:lnTo>
                  <a:lnTo>
                    <a:pt x="4394" y="16129"/>
                  </a:lnTo>
                  <a:lnTo>
                    <a:pt x="4439" y="16440"/>
                  </a:lnTo>
                  <a:lnTo>
                    <a:pt x="4507" y="16737"/>
                  </a:lnTo>
                  <a:lnTo>
                    <a:pt x="4552" y="17090"/>
                  </a:lnTo>
                  <a:lnTo>
                    <a:pt x="4575" y="17443"/>
                  </a:lnTo>
                  <a:lnTo>
                    <a:pt x="4586" y="17825"/>
                  </a:lnTo>
                  <a:lnTo>
                    <a:pt x="4586" y="18193"/>
                  </a:lnTo>
                  <a:lnTo>
                    <a:pt x="4586" y="18574"/>
                  </a:lnTo>
                  <a:lnTo>
                    <a:pt x="4586" y="18984"/>
                  </a:lnTo>
                  <a:lnTo>
                    <a:pt x="4552" y="19366"/>
                  </a:lnTo>
                  <a:lnTo>
                    <a:pt x="4507" y="19748"/>
                  </a:lnTo>
                  <a:lnTo>
                    <a:pt x="4462" y="20129"/>
                  </a:lnTo>
                  <a:lnTo>
                    <a:pt x="4371" y="20483"/>
                  </a:lnTo>
                  <a:lnTo>
                    <a:pt x="4292" y="20836"/>
                  </a:lnTo>
                  <a:lnTo>
                    <a:pt x="4202" y="21161"/>
                  </a:lnTo>
                  <a:lnTo>
                    <a:pt x="4744" y="21161"/>
                  </a:lnTo>
                  <a:lnTo>
                    <a:pt x="5264" y="21161"/>
                  </a:lnTo>
                  <a:lnTo>
                    <a:pt x="5784" y="21161"/>
                  </a:lnTo>
                  <a:lnTo>
                    <a:pt x="6235" y="21161"/>
                  </a:lnTo>
                  <a:lnTo>
                    <a:pt x="6676" y="21161"/>
                  </a:lnTo>
                  <a:lnTo>
                    <a:pt x="7060" y="21161"/>
                  </a:lnTo>
                  <a:lnTo>
                    <a:pt x="7410" y="21161"/>
                  </a:lnTo>
                  <a:lnTo>
                    <a:pt x="7670" y="21161"/>
                  </a:lnTo>
                  <a:lnTo>
                    <a:pt x="8020" y="21020"/>
                  </a:lnTo>
                  <a:lnTo>
                    <a:pt x="8303" y="20893"/>
                  </a:lnTo>
                  <a:lnTo>
                    <a:pt x="8563" y="20695"/>
                  </a:lnTo>
                  <a:lnTo>
                    <a:pt x="8800" y="20511"/>
                  </a:lnTo>
                  <a:lnTo>
                    <a:pt x="8969" y="20285"/>
                  </a:lnTo>
                  <a:lnTo>
                    <a:pt x="9150" y="20045"/>
                  </a:lnTo>
                  <a:lnTo>
                    <a:pt x="9252" y="19804"/>
                  </a:lnTo>
                  <a:lnTo>
                    <a:pt x="9342" y="19550"/>
                  </a:lnTo>
                  <a:lnTo>
                    <a:pt x="9410" y="19281"/>
                  </a:lnTo>
                  <a:lnTo>
                    <a:pt x="9433" y="19013"/>
                  </a:lnTo>
                  <a:lnTo>
                    <a:pt x="9433" y="18744"/>
                  </a:lnTo>
                  <a:lnTo>
                    <a:pt x="9387" y="18504"/>
                  </a:lnTo>
                  <a:lnTo>
                    <a:pt x="9320" y="18221"/>
                  </a:lnTo>
                  <a:lnTo>
                    <a:pt x="9207" y="17981"/>
                  </a:lnTo>
                  <a:lnTo>
                    <a:pt x="9105" y="17740"/>
                  </a:lnTo>
                  <a:lnTo>
                    <a:pt x="8924" y="17514"/>
                  </a:lnTo>
                  <a:lnTo>
                    <a:pt x="8777" y="17274"/>
                  </a:lnTo>
                  <a:lnTo>
                    <a:pt x="8642" y="17034"/>
                  </a:lnTo>
                  <a:lnTo>
                    <a:pt x="8563" y="16765"/>
                  </a:lnTo>
                  <a:lnTo>
                    <a:pt x="8472" y="16468"/>
                  </a:lnTo>
                  <a:lnTo>
                    <a:pt x="8450" y="16157"/>
                  </a:lnTo>
                  <a:lnTo>
                    <a:pt x="8450" y="15860"/>
                  </a:lnTo>
                  <a:lnTo>
                    <a:pt x="8472" y="15563"/>
                  </a:lnTo>
                  <a:lnTo>
                    <a:pt x="8540" y="15267"/>
                  </a:lnTo>
                  <a:lnTo>
                    <a:pt x="8642" y="14998"/>
                  </a:lnTo>
                  <a:lnTo>
                    <a:pt x="8777" y="14729"/>
                  </a:lnTo>
                  <a:lnTo>
                    <a:pt x="8868" y="14616"/>
                  </a:lnTo>
                  <a:lnTo>
                    <a:pt x="8969" y="14475"/>
                  </a:lnTo>
                  <a:lnTo>
                    <a:pt x="9060" y="14376"/>
                  </a:lnTo>
                  <a:lnTo>
                    <a:pt x="9184" y="14291"/>
                  </a:lnTo>
                  <a:lnTo>
                    <a:pt x="9297" y="14206"/>
                  </a:lnTo>
                  <a:lnTo>
                    <a:pt x="9433" y="14121"/>
                  </a:lnTo>
                  <a:lnTo>
                    <a:pt x="9579" y="14051"/>
                  </a:lnTo>
                  <a:lnTo>
                    <a:pt x="9726" y="13994"/>
                  </a:lnTo>
                  <a:lnTo>
                    <a:pt x="9884" y="13938"/>
                  </a:lnTo>
                  <a:lnTo>
                    <a:pt x="10054" y="13909"/>
                  </a:lnTo>
                  <a:lnTo>
                    <a:pt x="10257" y="13881"/>
                  </a:lnTo>
                  <a:lnTo>
                    <a:pt x="10449" y="13881"/>
                  </a:lnTo>
                  <a:lnTo>
                    <a:pt x="10664" y="13881"/>
                  </a:lnTo>
                  <a:lnTo>
                    <a:pt x="10856" y="13909"/>
                  </a:lnTo>
                  <a:lnTo>
                    <a:pt x="11037" y="13966"/>
                  </a:lnTo>
                  <a:lnTo>
                    <a:pt x="11206" y="14023"/>
                  </a:lnTo>
                  <a:lnTo>
                    <a:pt x="11353" y="14093"/>
                  </a:lnTo>
                  <a:lnTo>
                    <a:pt x="11511" y="14178"/>
                  </a:lnTo>
                  <a:lnTo>
                    <a:pt x="11635" y="14263"/>
                  </a:lnTo>
                  <a:lnTo>
                    <a:pt x="11748" y="14376"/>
                  </a:lnTo>
                  <a:lnTo>
                    <a:pt x="11861" y="14475"/>
                  </a:lnTo>
                  <a:lnTo>
                    <a:pt x="11941" y="14616"/>
                  </a:lnTo>
                  <a:lnTo>
                    <a:pt x="12031" y="14758"/>
                  </a:lnTo>
                  <a:lnTo>
                    <a:pt x="12099" y="14885"/>
                  </a:lnTo>
                  <a:lnTo>
                    <a:pt x="12200" y="15210"/>
                  </a:lnTo>
                  <a:lnTo>
                    <a:pt x="12268" y="15507"/>
                  </a:lnTo>
                  <a:lnTo>
                    <a:pt x="12291" y="15832"/>
                  </a:lnTo>
                  <a:lnTo>
                    <a:pt x="12291" y="16157"/>
                  </a:lnTo>
                  <a:lnTo>
                    <a:pt x="12246" y="16482"/>
                  </a:lnTo>
                  <a:lnTo>
                    <a:pt x="12178" y="16807"/>
                  </a:lnTo>
                  <a:lnTo>
                    <a:pt x="12099" y="17090"/>
                  </a:lnTo>
                  <a:lnTo>
                    <a:pt x="12008" y="17330"/>
                  </a:lnTo>
                  <a:lnTo>
                    <a:pt x="11884" y="17542"/>
                  </a:lnTo>
                  <a:lnTo>
                    <a:pt x="11748" y="17712"/>
                  </a:lnTo>
                  <a:lnTo>
                    <a:pt x="11613" y="17839"/>
                  </a:lnTo>
                  <a:lnTo>
                    <a:pt x="11489" y="18037"/>
                  </a:lnTo>
                  <a:lnTo>
                    <a:pt x="11398" y="18221"/>
                  </a:lnTo>
                  <a:lnTo>
                    <a:pt x="11319" y="18447"/>
                  </a:lnTo>
                  <a:lnTo>
                    <a:pt x="11251" y="18659"/>
                  </a:lnTo>
                  <a:lnTo>
                    <a:pt x="11206" y="18900"/>
                  </a:lnTo>
                  <a:lnTo>
                    <a:pt x="11184" y="19154"/>
                  </a:lnTo>
                  <a:lnTo>
                    <a:pt x="11184" y="19423"/>
                  </a:lnTo>
                  <a:lnTo>
                    <a:pt x="11229" y="19663"/>
                  </a:lnTo>
                  <a:lnTo>
                    <a:pt x="11297" y="19903"/>
                  </a:lnTo>
                  <a:lnTo>
                    <a:pt x="11376" y="20158"/>
                  </a:lnTo>
                  <a:lnTo>
                    <a:pt x="11511" y="20398"/>
                  </a:lnTo>
                  <a:lnTo>
                    <a:pt x="11681" y="20610"/>
                  </a:lnTo>
                  <a:lnTo>
                    <a:pt x="11884" y="20808"/>
                  </a:lnTo>
                  <a:lnTo>
                    <a:pt x="12121" y="20992"/>
                  </a:lnTo>
                  <a:lnTo>
                    <a:pt x="12404" y="21161"/>
                  </a:lnTo>
                  <a:lnTo>
                    <a:pt x="12528" y="21190"/>
                  </a:lnTo>
                  <a:lnTo>
                    <a:pt x="12856" y="21274"/>
                  </a:lnTo>
                  <a:lnTo>
                    <a:pt x="13330" y="21373"/>
                  </a:lnTo>
                  <a:lnTo>
                    <a:pt x="13963" y="21486"/>
                  </a:lnTo>
                  <a:lnTo>
                    <a:pt x="14313" y="21543"/>
                  </a:lnTo>
                  <a:lnTo>
                    <a:pt x="14652" y="21571"/>
                  </a:lnTo>
                  <a:lnTo>
                    <a:pt x="15025" y="21600"/>
                  </a:lnTo>
                  <a:lnTo>
                    <a:pt x="15409" y="21600"/>
                  </a:lnTo>
                  <a:lnTo>
                    <a:pt x="15782" y="21600"/>
                  </a:lnTo>
                  <a:lnTo>
                    <a:pt x="16177" y="21571"/>
                  </a:lnTo>
                  <a:lnTo>
                    <a:pt x="16516" y="21486"/>
                  </a:lnTo>
                  <a:lnTo>
                    <a:pt x="16889" y="21402"/>
                  </a:lnTo>
                  <a:lnTo>
                    <a:pt x="16821" y="21190"/>
                  </a:lnTo>
                  <a:lnTo>
                    <a:pt x="16776" y="20935"/>
                  </a:lnTo>
                  <a:lnTo>
                    <a:pt x="16742" y="20667"/>
                  </a:lnTo>
                  <a:lnTo>
                    <a:pt x="16719" y="20370"/>
                  </a:lnTo>
                  <a:lnTo>
                    <a:pt x="16697" y="19719"/>
                  </a:lnTo>
                  <a:lnTo>
                    <a:pt x="16697" y="19013"/>
                  </a:lnTo>
                  <a:lnTo>
                    <a:pt x="16719" y="18306"/>
                  </a:lnTo>
                  <a:lnTo>
                    <a:pt x="16753" y="17599"/>
                  </a:lnTo>
                  <a:lnTo>
                    <a:pt x="16821" y="16949"/>
                  </a:lnTo>
                  <a:lnTo>
                    <a:pt x="16889" y="16383"/>
                  </a:lnTo>
                  <a:lnTo>
                    <a:pt x="16934" y="16129"/>
                  </a:lnTo>
                  <a:lnTo>
                    <a:pt x="17002" y="15945"/>
                  </a:lnTo>
                  <a:lnTo>
                    <a:pt x="17081" y="15790"/>
                  </a:lnTo>
                  <a:lnTo>
                    <a:pt x="17194" y="15648"/>
                  </a:lnTo>
                  <a:lnTo>
                    <a:pt x="17318" y="15563"/>
                  </a:lnTo>
                  <a:lnTo>
                    <a:pt x="17453" y="15507"/>
                  </a:lnTo>
                  <a:lnTo>
                    <a:pt x="17600" y="15450"/>
                  </a:lnTo>
                  <a:lnTo>
                    <a:pt x="17758" y="15450"/>
                  </a:lnTo>
                  <a:lnTo>
                    <a:pt x="17905" y="15479"/>
                  </a:lnTo>
                  <a:lnTo>
                    <a:pt x="18064" y="15535"/>
                  </a:lnTo>
                  <a:lnTo>
                    <a:pt x="18233" y="15620"/>
                  </a:lnTo>
                  <a:lnTo>
                    <a:pt x="18380" y="15733"/>
                  </a:lnTo>
                  <a:lnTo>
                    <a:pt x="18561" y="15832"/>
                  </a:lnTo>
                  <a:lnTo>
                    <a:pt x="18707" y="15973"/>
                  </a:lnTo>
                  <a:lnTo>
                    <a:pt x="18866" y="16129"/>
                  </a:lnTo>
                  <a:lnTo>
                    <a:pt x="18990" y="16327"/>
                  </a:lnTo>
                  <a:lnTo>
                    <a:pt x="19125" y="16482"/>
                  </a:lnTo>
                  <a:lnTo>
                    <a:pt x="19295" y="16624"/>
                  </a:lnTo>
                  <a:lnTo>
                    <a:pt x="19464" y="16737"/>
                  </a:lnTo>
                  <a:lnTo>
                    <a:pt x="19668" y="16807"/>
                  </a:lnTo>
                  <a:lnTo>
                    <a:pt x="19860" y="16836"/>
                  </a:lnTo>
                  <a:lnTo>
                    <a:pt x="20052" y="16864"/>
                  </a:lnTo>
                  <a:lnTo>
                    <a:pt x="20266" y="16836"/>
                  </a:lnTo>
                  <a:lnTo>
                    <a:pt x="20470" y="16793"/>
                  </a:lnTo>
                  <a:lnTo>
                    <a:pt x="20662" y="16708"/>
                  </a:lnTo>
                  <a:lnTo>
                    <a:pt x="20854" y="16567"/>
                  </a:lnTo>
                  <a:lnTo>
                    <a:pt x="21035" y="16412"/>
                  </a:lnTo>
                  <a:lnTo>
                    <a:pt x="21182" y="16214"/>
                  </a:lnTo>
                  <a:lnTo>
                    <a:pt x="21340" y="16002"/>
                  </a:lnTo>
                  <a:lnTo>
                    <a:pt x="21441" y="15733"/>
                  </a:lnTo>
                  <a:lnTo>
                    <a:pt x="21532" y="15436"/>
                  </a:lnTo>
                  <a:lnTo>
                    <a:pt x="21600" y="15083"/>
                  </a:lnTo>
                  <a:lnTo>
                    <a:pt x="21600" y="14885"/>
                  </a:lnTo>
                  <a:lnTo>
                    <a:pt x="21600" y="14729"/>
                  </a:lnTo>
                  <a:lnTo>
                    <a:pt x="21600" y="14531"/>
                  </a:lnTo>
                  <a:lnTo>
                    <a:pt x="21577" y="14376"/>
                  </a:lnTo>
                  <a:lnTo>
                    <a:pt x="21532" y="14206"/>
                  </a:lnTo>
                  <a:lnTo>
                    <a:pt x="21487" y="14051"/>
                  </a:lnTo>
                  <a:lnTo>
                    <a:pt x="21419" y="13909"/>
                  </a:lnTo>
                  <a:lnTo>
                    <a:pt x="21351" y="13768"/>
                  </a:lnTo>
                  <a:lnTo>
                    <a:pt x="21204" y="13500"/>
                  </a:lnTo>
                  <a:lnTo>
                    <a:pt x="21035" y="13287"/>
                  </a:lnTo>
                  <a:lnTo>
                    <a:pt x="20809" y="13090"/>
                  </a:lnTo>
                  <a:lnTo>
                    <a:pt x="20594" y="12962"/>
                  </a:lnTo>
                  <a:lnTo>
                    <a:pt x="20357" y="12821"/>
                  </a:lnTo>
                  <a:lnTo>
                    <a:pt x="20120" y="12764"/>
                  </a:lnTo>
                  <a:lnTo>
                    <a:pt x="19882" y="12708"/>
                  </a:lnTo>
                  <a:lnTo>
                    <a:pt x="19645" y="12736"/>
                  </a:lnTo>
                  <a:lnTo>
                    <a:pt x="19430" y="12793"/>
                  </a:lnTo>
                  <a:lnTo>
                    <a:pt x="19227" y="12906"/>
                  </a:lnTo>
                  <a:lnTo>
                    <a:pt x="19148" y="12962"/>
                  </a:lnTo>
                  <a:lnTo>
                    <a:pt x="19058" y="13047"/>
                  </a:lnTo>
                  <a:lnTo>
                    <a:pt x="18990" y="13146"/>
                  </a:lnTo>
                  <a:lnTo>
                    <a:pt x="18911" y="13259"/>
                  </a:lnTo>
                  <a:lnTo>
                    <a:pt x="18775" y="13471"/>
                  </a:lnTo>
                  <a:lnTo>
                    <a:pt x="18628" y="13641"/>
                  </a:lnTo>
                  <a:lnTo>
                    <a:pt x="18470" y="13740"/>
                  </a:lnTo>
                  <a:lnTo>
                    <a:pt x="18301" y="13825"/>
                  </a:lnTo>
                  <a:lnTo>
                    <a:pt x="18143" y="13853"/>
                  </a:lnTo>
                  <a:lnTo>
                    <a:pt x="17973" y="13881"/>
                  </a:lnTo>
                  <a:lnTo>
                    <a:pt x="17804" y="13853"/>
                  </a:lnTo>
                  <a:lnTo>
                    <a:pt x="17646" y="13796"/>
                  </a:lnTo>
                  <a:lnTo>
                    <a:pt x="17499" y="13726"/>
                  </a:lnTo>
                  <a:lnTo>
                    <a:pt x="17341" y="13641"/>
                  </a:lnTo>
                  <a:lnTo>
                    <a:pt x="17216" y="13528"/>
                  </a:lnTo>
                  <a:lnTo>
                    <a:pt x="17103" y="13386"/>
                  </a:lnTo>
                  <a:lnTo>
                    <a:pt x="17024" y="13259"/>
                  </a:lnTo>
                  <a:lnTo>
                    <a:pt x="16934" y="13118"/>
                  </a:lnTo>
                  <a:lnTo>
                    <a:pt x="16889" y="12991"/>
                  </a:lnTo>
                  <a:lnTo>
                    <a:pt x="16889" y="12849"/>
                  </a:lnTo>
                  <a:lnTo>
                    <a:pt x="16889" y="12383"/>
                  </a:lnTo>
                  <a:lnTo>
                    <a:pt x="16889" y="11662"/>
                  </a:lnTo>
                  <a:lnTo>
                    <a:pt x="16889" y="10701"/>
                  </a:lnTo>
                  <a:lnTo>
                    <a:pt x="16889" y="9640"/>
                  </a:lnTo>
                  <a:lnTo>
                    <a:pt x="16889" y="8566"/>
                  </a:lnTo>
                  <a:lnTo>
                    <a:pt x="16889" y="7478"/>
                  </a:lnTo>
                  <a:lnTo>
                    <a:pt x="16889" y="6502"/>
                  </a:lnTo>
                  <a:lnTo>
                    <a:pt x="16889" y="5739"/>
                  </a:lnTo>
                  <a:lnTo>
                    <a:pt x="16674" y="5894"/>
                  </a:lnTo>
                  <a:lnTo>
                    <a:pt x="16414" y="6036"/>
                  </a:lnTo>
                  <a:lnTo>
                    <a:pt x="16154" y="6177"/>
                  </a:lnTo>
                  <a:lnTo>
                    <a:pt x="15849" y="6248"/>
                  </a:lnTo>
                  <a:lnTo>
                    <a:pt x="15544" y="6304"/>
                  </a:lnTo>
                  <a:lnTo>
                    <a:pt x="15217" y="6332"/>
                  </a:lnTo>
                  <a:lnTo>
                    <a:pt x="14866" y="6361"/>
                  </a:lnTo>
                  <a:lnTo>
                    <a:pt x="14550" y="6361"/>
                  </a:lnTo>
                  <a:lnTo>
                    <a:pt x="14200" y="6332"/>
                  </a:lnTo>
                  <a:lnTo>
                    <a:pt x="13850" y="6276"/>
                  </a:lnTo>
                  <a:lnTo>
                    <a:pt x="13522" y="6219"/>
                  </a:lnTo>
                  <a:lnTo>
                    <a:pt x="13206" y="6149"/>
                  </a:lnTo>
                  <a:lnTo>
                    <a:pt x="12901" y="6064"/>
                  </a:lnTo>
                  <a:lnTo>
                    <a:pt x="12618" y="5951"/>
                  </a:lnTo>
                  <a:lnTo>
                    <a:pt x="12358" y="5838"/>
                  </a:lnTo>
                  <a:lnTo>
                    <a:pt x="12121" y="5739"/>
                  </a:lnTo>
                  <a:lnTo>
                    <a:pt x="11941" y="5626"/>
                  </a:lnTo>
                  <a:lnTo>
                    <a:pt x="11794" y="5513"/>
                  </a:lnTo>
                  <a:lnTo>
                    <a:pt x="11658" y="5414"/>
                  </a:lnTo>
                  <a:lnTo>
                    <a:pt x="11556" y="5301"/>
                  </a:lnTo>
                  <a:lnTo>
                    <a:pt x="11466" y="5187"/>
                  </a:lnTo>
                  <a:lnTo>
                    <a:pt x="11398" y="5089"/>
                  </a:lnTo>
                  <a:lnTo>
                    <a:pt x="11376" y="4947"/>
                  </a:lnTo>
                  <a:lnTo>
                    <a:pt x="11353" y="4834"/>
                  </a:lnTo>
                  <a:lnTo>
                    <a:pt x="11353" y="4707"/>
                  </a:lnTo>
                  <a:lnTo>
                    <a:pt x="11376" y="4565"/>
                  </a:lnTo>
                  <a:lnTo>
                    <a:pt x="11443" y="4410"/>
                  </a:lnTo>
                  <a:lnTo>
                    <a:pt x="11511" y="4240"/>
                  </a:lnTo>
                  <a:lnTo>
                    <a:pt x="11703" y="3887"/>
                  </a:lnTo>
                  <a:lnTo>
                    <a:pt x="11986" y="3505"/>
                  </a:lnTo>
                  <a:lnTo>
                    <a:pt x="12144" y="3265"/>
                  </a:lnTo>
                  <a:lnTo>
                    <a:pt x="12246" y="3025"/>
                  </a:lnTo>
                  <a:lnTo>
                    <a:pt x="12336" y="2756"/>
                  </a:lnTo>
                  <a:lnTo>
                    <a:pt x="12404" y="2445"/>
                  </a:lnTo>
                  <a:lnTo>
                    <a:pt x="12438" y="2176"/>
                  </a:lnTo>
                  <a:lnTo>
                    <a:pt x="12438" y="1880"/>
                  </a:lnTo>
                  <a:lnTo>
                    <a:pt x="12404" y="1583"/>
                  </a:lnTo>
                  <a:lnTo>
                    <a:pt x="12336" y="1314"/>
                  </a:lnTo>
                  <a:lnTo>
                    <a:pt x="12246" y="1046"/>
                  </a:lnTo>
                  <a:lnTo>
                    <a:pt x="12099" y="791"/>
                  </a:lnTo>
                  <a:lnTo>
                    <a:pt x="12008" y="692"/>
                  </a:lnTo>
                  <a:lnTo>
                    <a:pt x="11918" y="579"/>
                  </a:lnTo>
                  <a:lnTo>
                    <a:pt x="11816" y="466"/>
                  </a:lnTo>
                  <a:lnTo>
                    <a:pt x="11703" y="381"/>
                  </a:lnTo>
                  <a:lnTo>
                    <a:pt x="11579" y="310"/>
                  </a:lnTo>
                  <a:lnTo>
                    <a:pt x="11443" y="226"/>
                  </a:lnTo>
                  <a:lnTo>
                    <a:pt x="11297" y="169"/>
                  </a:lnTo>
                  <a:lnTo>
                    <a:pt x="11138" y="113"/>
                  </a:lnTo>
                  <a:lnTo>
                    <a:pt x="10969" y="56"/>
                  </a:lnTo>
                  <a:lnTo>
                    <a:pt x="10800" y="28"/>
                  </a:lnTo>
                  <a:lnTo>
                    <a:pt x="10619" y="28"/>
                  </a:lnTo>
                  <a:lnTo>
                    <a:pt x="10404" y="28"/>
                  </a:lnTo>
                  <a:lnTo>
                    <a:pt x="10257" y="28"/>
                  </a:lnTo>
                  <a:lnTo>
                    <a:pt x="10076" y="56"/>
                  </a:lnTo>
                  <a:lnTo>
                    <a:pt x="9952" y="84"/>
                  </a:lnTo>
                  <a:lnTo>
                    <a:pt x="9794" y="141"/>
                  </a:lnTo>
                  <a:lnTo>
                    <a:pt x="9692" y="226"/>
                  </a:lnTo>
                  <a:lnTo>
                    <a:pt x="9557" y="282"/>
                  </a:lnTo>
                  <a:lnTo>
                    <a:pt x="9455" y="381"/>
                  </a:lnTo>
                  <a:lnTo>
                    <a:pt x="9365" y="466"/>
                  </a:lnTo>
                  <a:lnTo>
                    <a:pt x="9274" y="579"/>
                  </a:lnTo>
                  <a:lnTo>
                    <a:pt x="9184" y="692"/>
                  </a:lnTo>
                  <a:lnTo>
                    <a:pt x="9128" y="791"/>
                  </a:lnTo>
                  <a:lnTo>
                    <a:pt x="9060" y="932"/>
                  </a:lnTo>
                  <a:lnTo>
                    <a:pt x="8969" y="1201"/>
                  </a:lnTo>
                  <a:lnTo>
                    <a:pt x="8913" y="1498"/>
                  </a:lnTo>
                  <a:lnTo>
                    <a:pt x="8890" y="1795"/>
                  </a:lnTo>
                  <a:lnTo>
                    <a:pt x="8890" y="2120"/>
                  </a:lnTo>
                  <a:lnTo>
                    <a:pt x="8913" y="2445"/>
                  </a:lnTo>
                  <a:lnTo>
                    <a:pt x="8969" y="2756"/>
                  </a:lnTo>
                  <a:lnTo>
                    <a:pt x="9060" y="3081"/>
                  </a:lnTo>
                  <a:lnTo>
                    <a:pt x="9173" y="3378"/>
                  </a:lnTo>
                  <a:lnTo>
                    <a:pt x="9297" y="3647"/>
                  </a:lnTo>
                  <a:lnTo>
                    <a:pt x="9466" y="3887"/>
                  </a:lnTo>
                  <a:lnTo>
                    <a:pt x="9579" y="4085"/>
                  </a:lnTo>
                  <a:lnTo>
                    <a:pt x="9670" y="4269"/>
                  </a:lnTo>
                  <a:lnTo>
                    <a:pt x="9726" y="4467"/>
                  </a:lnTo>
                  <a:lnTo>
                    <a:pt x="9771" y="4650"/>
                  </a:lnTo>
                  <a:lnTo>
                    <a:pt x="9771" y="4834"/>
                  </a:lnTo>
                  <a:lnTo>
                    <a:pt x="9749" y="5032"/>
                  </a:lnTo>
                  <a:lnTo>
                    <a:pt x="9715" y="5216"/>
                  </a:lnTo>
                  <a:lnTo>
                    <a:pt x="9625" y="5385"/>
                  </a:lnTo>
                  <a:lnTo>
                    <a:pt x="9534" y="5513"/>
                  </a:lnTo>
                  <a:lnTo>
                    <a:pt x="9410" y="5626"/>
                  </a:lnTo>
                  <a:lnTo>
                    <a:pt x="9229" y="5710"/>
                  </a:lnTo>
                  <a:lnTo>
                    <a:pt x="9060" y="5767"/>
                  </a:lnTo>
                  <a:lnTo>
                    <a:pt x="8845" y="5767"/>
                  </a:lnTo>
                  <a:lnTo>
                    <a:pt x="8585" y="5739"/>
                  </a:lnTo>
                  <a:lnTo>
                    <a:pt x="8325" y="5654"/>
                  </a:lnTo>
                  <a:lnTo>
                    <a:pt x="8020" y="5513"/>
                  </a:lnTo>
                  <a:lnTo>
                    <a:pt x="7840" y="5442"/>
                  </a:lnTo>
                  <a:lnTo>
                    <a:pt x="7648" y="5385"/>
                  </a:lnTo>
                  <a:lnTo>
                    <a:pt x="7433" y="5329"/>
                  </a:lnTo>
                  <a:lnTo>
                    <a:pt x="7241" y="5301"/>
                  </a:lnTo>
                  <a:lnTo>
                    <a:pt x="6755" y="5301"/>
                  </a:lnTo>
                  <a:lnTo>
                    <a:pt x="6281" y="5329"/>
                  </a:lnTo>
                  <a:lnTo>
                    <a:pt x="5784" y="5385"/>
                  </a:lnTo>
                  <a:lnTo>
                    <a:pt x="5264" y="5498"/>
                  </a:lnTo>
                  <a:lnTo>
                    <a:pt x="4744" y="5597"/>
                  </a:lnTo>
                  <a:lnTo>
                    <a:pt x="4247" y="5739"/>
                  </a:lnTo>
                  <a:lnTo>
                    <a:pt x="4202" y="5894"/>
                  </a:lnTo>
                  <a:lnTo>
                    <a:pt x="4202" y="6191"/>
                  </a:lnTo>
                  <a:lnTo>
                    <a:pt x="4202" y="6545"/>
                  </a:lnTo>
                  <a:lnTo>
                    <a:pt x="4225" y="6954"/>
                  </a:lnTo>
                  <a:lnTo>
                    <a:pt x="4315" y="7930"/>
                  </a:lnTo>
                  <a:lnTo>
                    <a:pt x="4394" y="9018"/>
                  </a:lnTo>
                  <a:lnTo>
                    <a:pt x="4439" y="9570"/>
                  </a:lnTo>
                  <a:lnTo>
                    <a:pt x="4462" y="10107"/>
                  </a:lnTo>
                  <a:lnTo>
                    <a:pt x="4484" y="10630"/>
                  </a:lnTo>
                  <a:lnTo>
                    <a:pt x="4507" y="11082"/>
                  </a:lnTo>
                  <a:lnTo>
                    <a:pt x="4484" y="11520"/>
                  </a:lnTo>
                  <a:lnTo>
                    <a:pt x="4439" y="11874"/>
                  </a:lnTo>
                  <a:lnTo>
                    <a:pt x="4394" y="12029"/>
                  </a:lnTo>
                  <a:lnTo>
                    <a:pt x="4349" y="12171"/>
                  </a:lnTo>
                  <a:lnTo>
                    <a:pt x="4315" y="12284"/>
                  </a:lnTo>
                  <a:lnTo>
                    <a:pt x="4247" y="12354"/>
                  </a:lnTo>
                  <a:close/>
                </a:path>
              </a:pathLst>
            </a:custGeom>
            <a:solidFill>
              <a:srgbClr val="FFFFCC"/>
            </a:solidFill>
            <a:ln w="28575">
              <a:solidFill>
                <a:srgbClr val="000000"/>
              </a:solidFill>
              <a:miter lim="800000"/>
              <a:headEnd/>
              <a:tailEnd/>
            </a:ln>
          </p:spPr>
          <p:txBody>
            <a:bodyPr/>
            <a:lstStyle/>
            <a:p>
              <a:endParaRPr lang="zh-CN" altLang="en-US">
                <a:latin typeface="+mn-ea"/>
                <a:ea typeface="+mn-ea"/>
              </a:endParaRPr>
            </a:p>
          </p:txBody>
        </p:sp>
        <p:sp>
          <p:nvSpPr>
            <p:cNvPr id="42" name="Puzzle4"/>
            <p:cNvSpPr>
              <a:spLocks noEditPoints="1" noChangeArrowheads="1"/>
            </p:cNvSpPr>
            <p:nvPr/>
          </p:nvSpPr>
          <p:spPr bwMode="auto">
            <a:xfrm>
              <a:off x="2192" y="1719"/>
              <a:ext cx="1072" cy="17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2075 w 21600"/>
                <a:gd name="T25" fmla="*/ 5660 h 21600"/>
                <a:gd name="T26" fmla="*/ 20210 w 21600"/>
                <a:gd name="T27" fmla="*/ 1597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3813" y="10590"/>
                  </a:moveTo>
                  <a:lnTo>
                    <a:pt x="3927" y="10513"/>
                  </a:lnTo>
                  <a:lnTo>
                    <a:pt x="4078" y="10425"/>
                  </a:lnTo>
                  <a:lnTo>
                    <a:pt x="4210" y="10359"/>
                  </a:lnTo>
                  <a:lnTo>
                    <a:pt x="4361" y="10315"/>
                  </a:lnTo>
                  <a:lnTo>
                    <a:pt x="4682" y="10237"/>
                  </a:lnTo>
                  <a:lnTo>
                    <a:pt x="5041" y="10193"/>
                  </a:lnTo>
                  <a:lnTo>
                    <a:pt x="5456" y="10171"/>
                  </a:lnTo>
                  <a:lnTo>
                    <a:pt x="5853" y="10193"/>
                  </a:lnTo>
                  <a:lnTo>
                    <a:pt x="6249" y="10260"/>
                  </a:lnTo>
                  <a:lnTo>
                    <a:pt x="6646" y="10337"/>
                  </a:lnTo>
                  <a:lnTo>
                    <a:pt x="7004" y="10469"/>
                  </a:lnTo>
                  <a:lnTo>
                    <a:pt x="7363" y="10612"/>
                  </a:lnTo>
                  <a:lnTo>
                    <a:pt x="7665" y="10788"/>
                  </a:lnTo>
                  <a:lnTo>
                    <a:pt x="7911" y="10998"/>
                  </a:lnTo>
                  <a:lnTo>
                    <a:pt x="8024" y="11097"/>
                  </a:lnTo>
                  <a:lnTo>
                    <a:pt x="8137" y="11207"/>
                  </a:lnTo>
                  <a:lnTo>
                    <a:pt x="8194" y="11340"/>
                  </a:lnTo>
                  <a:lnTo>
                    <a:pt x="8269" y="11461"/>
                  </a:lnTo>
                  <a:lnTo>
                    <a:pt x="8307" y="11593"/>
                  </a:lnTo>
                  <a:lnTo>
                    <a:pt x="8307" y="11714"/>
                  </a:lnTo>
                  <a:lnTo>
                    <a:pt x="8307" y="11868"/>
                  </a:lnTo>
                  <a:lnTo>
                    <a:pt x="8307" y="12012"/>
                  </a:lnTo>
                  <a:lnTo>
                    <a:pt x="8194" y="12265"/>
                  </a:lnTo>
                  <a:lnTo>
                    <a:pt x="8062" y="12519"/>
                  </a:lnTo>
                  <a:lnTo>
                    <a:pt x="7873" y="12706"/>
                  </a:lnTo>
                  <a:lnTo>
                    <a:pt x="7627" y="12904"/>
                  </a:lnTo>
                  <a:lnTo>
                    <a:pt x="7363" y="13048"/>
                  </a:lnTo>
                  <a:lnTo>
                    <a:pt x="7080" y="13180"/>
                  </a:lnTo>
                  <a:lnTo>
                    <a:pt x="6759" y="13257"/>
                  </a:lnTo>
                  <a:lnTo>
                    <a:pt x="6419" y="13345"/>
                  </a:lnTo>
                  <a:lnTo>
                    <a:pt x="6098" y="13389"/>
                  </a:lnTo>
                  <a:lnTo>
                    <a:pt x="5739" y="13389"/>
                  </a:lnTo>
                  <a:lnTo>
                    <a:pt x="5418" y="13389"/>
                  </a:lnTo>
                  <a:lnTo>
                    <a:pt x="5079" y="13345"/>
                  </a:lnTo>
                  <a:lnTo>
                    <a:pt x="4758" y="13301"/>
                  </a:lnTo>
                  <a:lnTo>
                    <a:pt x="4474" y="13213"/>
                  </a:lnTo>
                  <a:lnTo>
                    <a:pt x="4172" y="13114"/>
                  </a:lnTo>
                  <a:lnTo>
                    <a:pt x="3965" y="12982"/>
                  </a:lnTo>
                  <a:lnTo>
                    <a:pt x="3738" y="12838"/>
                  </a:lnTo>
                  <a:lnTo>
                    <a:pt x="3493" y="12706"/>
                  </a:lnTo>
                  <a:lnTo>
                    <a:pt x="3228" y="12607"/>
                  </a:lnTo>
                  <a:lnTo>
                    <a:pt x="2945" y="12519"/>
                  </a:lnTo>
                  <a:lnTo>
                    <a:pt x="2700" y="12431"/>
                  </a:lnTo>
                  <a:lnTo>
                    <a:pt x="2397" y="12375"/>
                  </a:lnTo>
                  <a:lnTo>
                    <a:pt x="2152" y="12331"/>
                  </a:lnTo>
                  <a:lnTo>
                    <a:pt x="1888" y="12309"/>
                  </a:lnTo>
                  <a:lnTo>
                    <a:pt x="1642" y="12309"/>
                  </a:lnTo>
                  <a:lnTo>
                    <a:pt x="1397" y="12331"/>
                  </a:lnTo>
                  <a:lnTo>
                    <a:pt x="1170" y="12397"/>
                  </a:lnTo>
                  <a:lnTo>
                    <a:pt x="962" y="12453"/>
                  </a:lnTo>
                  <a:lnTo>
                    <a:pt x="774" y="12563"/>
                  </a:lnTo>
                  <a:lnTo>
                    <a:pt x="623" y="12684"/>
                  </a:lnTo>
                  <a:lnTo>
                    <a:pt x="528" y="12838"/>
                  </a:lnTo>
                  <a:lnTo>
                    <a:pt x="453" y="13026"/>
                  </a:lnTo>
                  <a:lnTo>
                    <a:pt x="339" y="13477"/>
                  </a:lnTo>
                  <a:lnTo>
                    <a:pt x="226" y="13984"/>
                  </a:lnTo>
                  <a:lnTo>
                    <a:pt x="151" y="14535"/>
                  </a:lnTo>
                  <a:lnTo>
                    <a:pt x="113" y="15075"/>
                  </a:lnTo>
                  <a:lnTo>
                    <a:pt x="113" y="15626"/>
                  </a:lnTo>
                  <a:lnTo>
                    <a:pt x="151" y="16133"/>
                  </a:lnTo>
                  <a:lnTo>
                    <a:pt x="188" y="16376"/>
                  </a:lnTo>
                  <a:lnTo>
                    <a:pt x="264" y="16585"/>
                  </a:lnTo>
                  <a:lnTo>
                    <a:pt x="339" y="16773"/>
                  </a:lnTo>
                  <a:lnTo>
                    <a:pt x="453" y="16938"/>
                  </a:lnTo>
                  <a:lnTo>
                    <a:pt x="1095" y="16883"/>
                  </a:lnTo>
                  <a:lnTo>
                    <a:pt x="1963" y="16795"/>
                  </a:lnTo>
                  <a:lnTo>
                    <a:pt x="2945" y="16751"/>
                  </a:lnTo>
                  <a:lnTo>
                    <a:pt x="3965" y="16706"/>
                  </a:lnTo>
                  <a:lnTo>
                    <a:pt x="5022" y="16684"/>
                  </a:lnTo>
                  <a:lnTo>
                    <a:pt x="5947" y="16684"/>
                  </a:lnTo>
                  <a:lnTo>
                    <a:pt x="6759" y="16706"/>
                  </a:lnTo>
                  <a:lnTo>
                    <a:pt x="7363" y="16751"/>
                  </a:lnTo>
                  <a:lnTo>
                    <a:pt x="7948" y="16839"/>
                  </a:lnTo>
                  <a:lnTo>
                    <a:pt x="8458" y="16916"/>
                  </a:lnTo>
                  <a:lnTo>
                    <a:pt x="8893" y="17026"/>
                  </a:lnTo>
                  <a:lnTo>
                    <a:pt x="9289" y="17158"/>
                  </a:lnTo>
                  <a:lnTo>
                    <a:pt x="9572" y="17280"/>
                  </a:lnTo>
                  <a:lnTo>
                    <a:pt x="9799" y="17412"/>
                  </a:lnTo>
                  <a:lnTo>
                    <a:pt x="9969" y="17555"/>
                  </a:lnTo>
                  <a:lnTo>
                    <a:pt x="10120" y="17687"/>
                  </a:lnTo>
                  <a:lnTo>
                    <a:pt x="10158" y="17831"/>
                  </a:lnTo>
                  <a:lnTo>
                    <a:pt x="10195" y="17974"/>
                  </a:lnTo>
                  <a:lnTo>
                    <a:pt x="10158" y="18128"/>
                  </a:lnTo>
                  <a:lnTo>
                    <a:pt x="10082" y="18271"/>
                  </a:lnTo>
                  <a:lnTo>
                    <a:pt x="9969" y="18426"/>
                  </a:lnTo>
                  <a:lnTo>
                    <a:pt x="9837" y="18569"/>
                  </a:lnTo>
                  <a:lnTo>
                    <a:pt x="9648" y="18701"/>
                  </a:lnTo>
                  <a:lnTo>
                    <a:pt x="9440" y="18822"/>
                  </a:lnTo>
                  <a:lnTo>
                    <a:pt x="9213" y="18999"/>
                  </a:lnTo>
                  <a:lnTo>
                    <a:pt x="9044" y="19186"/>
                  </a:lnTo>
                  <a:lnTo>
                    <a:pt x="8893" y="19395"/>
                  </a:lnTo>
                  <a:lnTo>
                    <a:pt x="8817" y="19627"/>
                  </a:lnTo>
                  <a:lnTo>
                    <a:pt x="8779" y="19858"/>
                  </a:lnTo>
                  <a:lnTo>
                    <a:pt x="8779" y="20112"/>
                  </a:lnTo>
                  <a:lnTo>
                    <a:pt x="8855" y="20354"/>
                  </a:lnTo>
                  <a:lnTo>
                    <a:pt x="8968" y="20586"/>
                  </a:lnTo>
                  <a:lnTo>
                    <a:pt x="9138" y="20817"/>
                  </a:lnTo>
                  <a:lnTo>
                    <a:pt x="9365" y="21026"/>
                  </a:lnTo>
                  <a:lnTo>
                    <a:pt x="9610" y="21192"/>
                  </a:lnTo>
                  <a:lnTo>
                    <a:pt x="9950" y="21368"/>
                  </a:lnTo>
                  <a:lnTo>
                    <a:pt x="10120" y="21445"/>
                  </a:lnTo>
                  <a:lnTo>
                    <a:pt x="10346" y="21511"/>
                  </a:lnTo>
                  <a:lnTo>
                    <a:pt x="10516" y="21555"/>
                  </a:lnTo>
                  <a:lnTo>
                    <a:pt x="10743" y="21600"/>
                  </a:lnTo>
                  <a:lnTo>
                    <a:pt x="10988" y="21644"/>
                  </a:lnTo>
                  <a:lnTo>
                    <a:pt x="11215" y="21666"/>
                  </a:lnTo>
                  <a:lnTo>
                    <a:pt x="11498" y="21666"/>
                  </a:lnTo>
                  <a:lnTo>
                    <a:pt x="11762" y="21666"/>
                  </a:lnTo>
                  <a:lnTo>
                    <a:pt x="12253" y="21644"/>
                  </a:lnTo>
                  <a:lnTo>
                    <a:pt x="12763" y="21577"/>
                  </a:lnTo>
                  <a:lnTo>
                    <a:pt x="13197" y="21467"/>
                  </a:lnTo>
                  <a:lnTo>
                    <a:pt x="13556" y="21346"/>
                  </a:lnTo>
                  <a:lnTo>
                    <a:pt x="13896" y="21192"/>
                  </a:lnTo>
                  <a:lnTo>
                    <a:pt x="14179" y="21026"/>
                  </a:lnTo>
                  <a:lnTo>
                    <a:pt x="14444" y="20839"/>
                  </a:lnTo>
                  <a:lnTo>
                    <a:pt x="14576" y="20641"/>
                  </a:lnTo>
                  <a:lnTo>
                    <a:pt x="14727" y="20431"/>
                  </a:lnTo>
                  <a:lnTo>
                    <a:pt x="14765" y="20200"/>
                  </a:lnTo>
                  <a:lnTo>
                    <a:pt x="14802" y="19991"/>
                  </a:lnTo>
                  <a:lnTo>
                    <a:pt x="14727" y="19759"/>
                  </a:lnTo>
                  <a:lnTo>
                    <a:pt x="14613" y="19550"/>
                  </a:lnTo>
                  <a:lnTo>
                    <a:pt x="14444" y="19307"/>
                  </a:lnTo>
                  <a:lnTo>
                    <a:pt x="14217" y="19098"/>
                  </a:lnTo>
                  <a:lnTo>
                    <a:pt x="13934" y="18911"/>
                  </a:lnTo>
                  <a:lnTo>
                    <a:pt x="13669" y="18745"/>
                  </a:lnTo>
                  <a:lnTo>
                    <a:pt x="13462" y="18547"/>
                  </a:lnTo>
                  <a:lnTo>
                    <a:pt x="13311" y="18337"/>
                  </a:lnTo>
                  <a:lnTo>
                    <a:pt x="13197" y="18150"/>
                  </a:lnTo>
                  <a:lnTo>
                    <a:pt x="13122" y="17941"/>
                  </a:lnTo>
                  <a:lnTo>
                    <a:pt x="13122" y="17720"/>
                  </a:lnTo>
                  <a:lnTo>
                    <a:pt x="13122" y="17533"/>
                  </a:lnTo>
                  <a:lnTo>
                    <a:pt x="13197" y="17346"/>
                  </a:lnTo>
                  <a:lnTo>
                    <a:pt x="13273" y="17158"/>
                  </a:lnTo>
                  <a:lnTo>
                    <a:pt x="13386" y="16982"/>
                  </a:lnTo>
                  <a:lnTo>
                    <a:pt x="13537" y="16839"/>
                  </a:lnTo>
                  <a:lnTo>
                    <a:pt x="13707" y="16706"/>
                  </a:lnTo>
                  <a:lnTo>
                    <a:pt x="13896" y="16607"/>
                  </a:lnTo>
                  <a:lnTo>
                    <a:pt x="14104" y="16519"/>
                  </a:lnTo>
                  <a:lnTo>
                    <a:pt x="14330" y="16453"/>
                  </a:lnTo>
                  <a:lnTo>
                    <a:pt x="14538" y="16431"/>
                  </a:lnTo>
                  <a:lnTo>
                    <a:pt x="14897" y="16453"/>
                  </a:lnTo>
                  <a:lnTo>
                    <a:pt x="15406" y="16497"/>
                  </a:lnTo>
                  <a:lnTo>
                    <a:pt x="16105" y="16541"/>
                  </a:lnTo>
                  <a:lnTo>
                    <a:pt x="16898" y="16607"/>
                  </a:lnTo>
                  <a:lnTo>
                    <a:pt x="17804" y="16651"/>
                  </a:lnTo>
                  <a:lnTo>
                    <a:pt x="18786" y="16684"/>
                  </a:lnTo>
                  <a:lnTo>
                    <a:pt x="19844" y="16728"/>
                  </a:lnTo>
                  <a:lnTo>
                    <a:pt x="20920" y="16751"/>
                  </a:lnTo>
                  <a:lnTo>
                    <a:pt x="21109" y="16497"/>
                  </a:lnTo>
                  <a:lnTo>
                    <a:pt x="21241" y="16222"/>
                  </a:lnTo>
                  <a:lnTo>
                    <a:pt x="21392" y="15946"/>
                  </a:lnTo>
                  <a:lnTo>
                    <a:pt x="21467" y="15648"/>
                  </a:lnTo>
                  <a:lnTo>
                    <a:pt x="21543" y="15351"/>
                  </a:lnTo>
                  <a:lnTo>
                    <a:pt x="21618" y="15042"/>
                  </a:lnTo>
                  <a:lnTo>
                    <a:pt x="21618" y="14745"/>
                  </a:lnTo>
                  <a:lnTo>
                    <a:pt x="21618" y="14447"/>
                  </a:lnTo>
                  <a:lnTo>
                    <a:pt x="21618" y="14150"/>
                  </a:lnTo>
                  <a:lnTo>
                    <a:pt x="21581" y="13852"/>
                  </a:lnTo>
                  <a:lnTo>
                    <a:pt x="21505" y="13577"/>
                  </a:lnTo>
                  <a:lnTo>
                    <a:pt x="21430" y="13301"/>
                  </a:lnTo>
                  <a:lnTo>
                    <a:pt x="21354" y="13048"/>
                  </a:lnTo>
                  <a:lnTo>
                    <a:pt x="21241" y="12816"/>
                  </a:lnTo>
                  <a:lnTo>
                    <a:pt x="21146" y="12607"/>
                  </a:lnTo>
                  <a:lnTo>
                    <a:pt x="21033" y="12431"/>
                  </a:lnTo>
                  <a:lnTo>
                    <a:pt x="20920" y="12265"/>
                  </a:lnTo>
                  <a:lnTo>
                    <a:pt x="20769" y="12144"/>
                  </a:lnTo>
                  <a:lnTo>
                    <a:pt x="20637" y="12034"/>
                  </a:lnTo>
                  <a:lnTo>
                    <a:pt x="20486" y="11946"/>
                  </a:lnTo>
                  <a:lnTo>
                    <a:pt x="20297" y="11891"/>
                  </a:lnTo>
                  <a:lnTo>
                    <a:pt x="20165" y="11846"/>
                  </a:lnTo>
                  <a:lnTo>
                    <a:pt x="19976" y="11824"/>
                  </a:lnTo>
                  <a:lnTo>
                    <a:pt x="19806" y="11802"/>
                  </a:lnTo>
                  <a:lnTo>
                    <a:pt x="19390" y="11824"/>
                  </a:lnTo>
                  <a:lnTo>
                    <a:pt x="18956" y="11891"/>
                  </a:lnTo>
                  <a:lnTo>
                    <a:pt x="18503" y="11968"/>
                  </a:lnTo>
                  <a:lnTo>
                    <a:pt x="17993" y="12078"/>
                  </a:lnTo>
                  <a:lnTo>
                    <a:pt x="17653" y="12144"/>
                  </a:lnTo>
                  <a:lnTo>
                    <a:pt x="17332" y="12199"/>
                  </a:lnTo>
                  <a:lnTo>
                    <a:pt x="17049" y="12221"/>
                  </a:lnTo>
                  <a:lnTo>
                    <a:pt x="16747" y="12243"/>
                  </a:lnTo>
                  <a:lnTo>
                    <a:pt x="16464" y="12243"/>
                  </a:lnTo>
                  <a:lnTo>
                    <a:pt x="16218" y="12243"/>
                  </a:lnTo>
                  <a:lnTo>
                    <a:pt x="15992" y="12221"/>
                  </a:lnTo>
                  <a:lnTo>
                    <a:pt x="15746" y="12199"/>
                  </a:lnTo>
                  <a:lnTo>
                    <a:pt x="15520" y="12155"/>
                  </a:lnTo>
                  <a:lnTo>
                    <a:pt x="15350" y="12122"/>
                  </a:lnTo>
                  <a:lnTo>
                    <a:pt x="15161" y="12056"/>
                  </a:lnTo>
                  <a:lnTo>
                    <a:pt x="14972" y="11990"/>
                  </a:lnTo>
                  <a:lnTo>
                    <a:pt x="14689" y="11846"/>
                  </a:lnTo>
                  <a:lnTo>
                    <a:pt x="14444" y="11670"/>
                  </a:lnTo>
                  <a:lnTo>
                    <a:pt x="14255" y="11483"/>
                  </a:lnTo>
                  <a:lnTo>
                    <a:pt x="14104" y="11295"/>
                  </a:lnTo>
                  <a:lnTo>
                    <a:pt x="14028" y="11086"/>
                  </a:lnTo>
                  <a:lnTo>
                    <a:pt x="13972" y="10888"/>
                  </a:lnTo>
                  <a:lnTo>
                    <a:pt x="13972" y="10700"/>
                  </a:lnTo>
                  <a:lnTo>
                    <a:pt x="14009" y="10513"/>
                  </a:lnTo>
                  <a:lnTo>
                    <a:pt x="14066" y="10359"/>
                  </a:lnTo>
                  <a:lnTo>
                    <a:pt x="14179" y="10215"/>
                  </a:lnTo>
                  <a:lnTo>
                    <a:pt x="14406" y="10006"/>
                  </a:lnTo>
                  <a:lnTo>
                    <a:pt x="14651" y="9830"/>
                  </a:lnTo>
                  <a:lnTo>
                    <a:pt x="14878" y="9686"/>
                  </a:lnTo>
                  <a:lnTo>
                    <a:pt x="15123" y="9554"/>
                  </a:lnTo>
                  <a:lnTo>
                    <a:pt x="15350" y="9477"/>
                  </a:lnTo>
                  <a:lnTo>
                    <a:pt x="15558" y="9411"/>
                  </a:lnTo>
                  <a:lnTo>
                    <a:pt x="15803" y="9345"/>
                  </a:lnTo>
                  <a:lnTo>
                    <a:pt x="16030" y="9323"/>
                  </a:lnTo>
                  <a:lnTo>
                    <a:pt x="16256" y="9301"/>
                  </a:lnTo>
                  <a:lnTo>
                    <a:pt x="16464" y="9323"/>
                  </a:lnTo>
                  <a:lnTo>
                    <a:pt x="16690" y="9345"/>
                  </a:lnTo>
                  <a:lnTo>
                    <a:pt x="16898" y="9367"/>
                  </a:lnTo>
                  <a:lnTo>
                    <a:pt x="17332" y="9477"/>
                  </a:lnTo>
                  <a:lnTo>
                    <a:pt x="17767" y="9598"/>
                  </a:lnTo>
                  <a:lnTo>
                    <a:pt x="18163" y="9731"/>
                  </a:lnTo>
                  <a:lnTo>
                    <a:pt x="18597" y="9874"/>
                  </a:lnTo>
                  <a:lnTo>
                    <a:pt x="18994" y="10006"/>
                  </a:lnTo>
                  <a:lnTo>
                    <a:pt x="19428" y="10083"/>
                  </a:lnTo>
                  <a:lnTo>
                    <a:pt x="19617" y="10127"/>
                  </a:lnTo>
                  <a:lnTo>
                    <a:pt x="19844" y="10149"/>
                  </a:lnTo>
                  <a:lnTo>
                    <a:pt x="20013" y="10149"/>
                  </a:lnTo>
                  <a:lnTo>
                    <a:pt x="20240" y="10127"/>
                  </a:lnTo>
                  <a:lnTo>
                    <a:pt x="20410" y="10105"/>
                  </a:lnTo>
                  <a:lnTo>
                    <a:pt x="20637" y="10061"/>
                  </a:lnTo>
                  <a:lnTo>
                    <a:pt x="20844" y="9984"/>
                  </a:lnTo>
                  <a:lnTo>
                    <a:pt x="21033" y="9896"/>
                  </a:lnTo>
                  <a:lnTo>
                    <a:pt x="21146" y="9830"/>
                  </a:lnTo>
                  <a:lnTo>
                    <a:pt x="21203" y="9753"/>
                  </a:lnTo>
                  <a:lnTo>
                    <a:pt x="21279" y="9642"/>
                  </a:lnTo>
                  <a:lnTo>
                    <a:pt x="21354" y="9521"/>
                  </a:lnTo>
                  <a:lnTo>
                    <a:pt x="21430" y="9246"/>
                  </a:lnTo>
                  <a:lnTo>
                    <a:pt x="21430" y="8904"/>
                  </a:lnTo>
                  <a:lnTo>
                    <a:pt x="21430" y="8540"/>
                  </a:lnTo>
                  <a:lnTo>
                    <a:pt x="21392" y="8144"/>
                  </a:lnTo>
                  <a:lnTo>
                    <a:pt x="21354" y="7714"/>
                  </a:lnTo>
                  <a:lnTo>
                    <a:pt x="21279" y="7295"/>
                  </a:lnTo>
                  <a:lnTo>
                    <a:pt x="21146" y="6446"/>
                  </a:lnTo>
                  <a:lnTo>
                    <a:pt x="20995" y="5686"/>
                  </a:lnTo>
                  <a:lnTo>
                    <a:pt x="20958" y="5366"/>
                  </a:lnTo>
                  <a:lnTo>
                    <a:pt x="20958" y="5091"/>
                  </a:lnTo>
                  <a:lnTo>
                    <a:pt x="20958" y="4860"/>
                  </a:lnTo>
                  <a:lnTo>
                    <a:pt x="21033" y="4716"/>
                  </a:lnTo>
                  <a:lnTo>
                    <a:pt x="20637" y="4860"/>
                  </a:lnTo>
                  <a:lnTo>
                    <a:pt x="20127" y="4992"/>
                  </a:lnTo>
                  <a:lnTo>
                    <a:pt x="19617" y="5069"/>
                  </a:lnTo>
                  <a:lnTo>
                    <a:pt x="19032" y="5157"/>
                  </a:lnTo>
                  <a:lnTo>
                    <a:pt x="18465" y="5201"/>
                  </a:lnTo>
                  <a:lnTo>
                    <a:pt x="17842" y="5245"/>
                  </a:lnTo>
                  <a:lnTo>
                    <a:pt x="17219" y="5267"/>
                  </a:lnTo>
                  <a:lnTo>
                    <a:pt x="16615" y="5267"/>
                  </a:lnTo>
                  <a:lnTo>
                    <a:pt x="15992" y="5245"/>
                  </a:lnTo>
                  <a:lnTo>
                    <a:pt x="15369" y="5201"/>
                  </a:lnTo>
                  <a:lnTo>
                    <a:pt x="14840" y="5157"/>
                  </a:lnTo>
                  <a:lnTo>
                    <a:pt x="14293" y="5091"/>
                  </a:lnTo>
                  <a:lnTo>
                    <a:pt x="13783" y="5014"/>
                  </a:lnTo>
                  <a:lnTo>
                    <a:pt x="13386" y="4926"/>
                  </a:lnTo>
                  <a:lnTo>
                    <a:pt x="13027" y="4815"/>
                  </a:lnTo>
                  <a:lnTo>
                    <a:pt x="12725" y="4716"/>
                  </a:lnTo>
                  <a:lnTo>
                    <a:pt x="12480" y="4606"/>
                  </a:lnTo>
                  <a:lnTo>
                    <a:pt x="12291" y="4496"/>
                  </a:lnTo>
                  <a:lnTo>
                    <a:pt x="12197" y="4397"/>
                  </a:lnTo>
                  <a:lnTo>
                    <a:pt x="12083" y="4286"/>
                  </a:lnTo>
                  <a:lnTo>
                    <a:pt x="12046" y="4187"/>
                  </a:lnTo>
                  <a:lnTo>
                    <a:pt x="12008" y="4077"/>
                  </a:lnTo>
                  <a:lnTo>
                    <a:pt x="12046" y="3967"/>
                  </a:lnTo>
                  <a:lnTo>
                    <a:pt x="12121" y="3868"/>
                  </a:lnTo>
                  <a:lnTo>
                    <a:pt x="12197" y="3735"/>
                  </a:lnTo>
                  <a:lnTo>
                    <a:pt x="12291" y="3614"/>
                  </a:lnTo>
                  <a:lnTo>
                    <a:pt x="12442" y="3482"/>
                  </a:lnTo>
                  <a:lnTo>
                    <a:pt x="12631" y="3361"/>
                  </a:lnTo>
                  <a:lnTo>
                    <a:pt x="13065" y="3085"/>
                  </a:lnTo>
                  <a:lnTo>
                    <a:pt x="13537" y="2766"/>
                  </a:lnTo>
                  <a:lnTo>
                    <a:pt x="13783" y="2578"/>
                  </a:lnTo>
                  <a:lnTo>
                    <a:pt x="13934" y="2380"/>
                  </a:lnTo>
                  <a:lnTo>
                    <a:pt x="14028" y="2171"/>
                  </a:lnTo>
                  <a:lnTo>
                    <a:pt x="14104" y="1961"/>
                  </a:lnTo>
                  <a:lnTo>
                    <a:pt x="14104" y="1730"/>
                  </a:lnTo>
                  <a:lnTo>
                    <a:pt x="14066" y="1498"/>
                  </a:lnTo>
                  <a:lnTo>
                    <a:pt x="13972" y="1267"/>
                  </a:lnTo>
                  <a:lnTo>
                    <a:pt x="13820" y="1057"/>
                  </a:lnTo>
                  <a:lnTo>
                    <a:pt x="13594" y="837"/>
                  </a:lnTo>
                  <a:lnTo>
                    <a:pt x="13386" y="628"/>
                  </a:lnTo>
                  <a:lnTo>
                    <a:pt x="13103" y="462"/>
                  </a:lnTo>
                  <a:lnTo>
                    <a:pt x="12763" y="308"/>
                  </a:lnTo>
                  <a:lnTo>
                    <a:pt x="12404" y="187"/>
                  </a:lnTo>
                  <a:lnTo>
                    <a:pt x="12008" y="77"/>
                  </a:lnTo>
                  <a:lnTo>
                    <a:pt x="11574" y="33"/>
                  </a:lnTo>
                  <a:lnTo>
                    <a:pt x="11102" y="11"/>
                  </a:lnTo>
                  <a:lnTo>
                    <a:pt x="10667" y="11"/>
                  </a:lnTo>
                  <a:lnTo>
                    <a:pt x="10233" y="77"/>
                  </a:lnTo>
                  <a:lnTo>
                    <a:pt x="9837" y="187"/>
                  </a:lnTo>
                  <a:lnTo>
                    <a:pt x="9440" y="286"/>
                  </a:lnTo>
                  <a:lnTo>
                    <a:pt x="9062" y="462"/>
                  </a:lnTo>
                  <a:lnTo>
                    <a:pt x="8741" y="628"/>
                  </a:lnTo>
                  <a:lnTo>
                    <a:pt x="8458" y="815"/>
                  </a:lnTo>
                  <a:lnTo>
                    <a:pt x="8232" y="1035"/>
                  </a:lnTo>
                  <a:lnTo>
                    <a:pt x="8062" y="1245"/>
                  </a:lnTo>
                  <a:lnTo>
                    <a:pt x="7911" y="1476"/>
                  </a:lnTo>
                  <a:lnTo>
                    <a:pt x="7835" y="1708"/>
                  </a:lnTo>
                  <a:lnTo>
                    <a:pt x="7797" y="1961"/>
                  </a:lnTo>
                  <a:lnTo>
                    <a:pt x="7835" y="2193"/>
                  </a:lnTo>
                  <a:lnTo>
                    <a:pt x="7948" y="2402"/>
                  </a:lnTo>
                  <a:lnTo>
                    <a:pt x="8062" y="2534"/>
                  </a:lnTo>
                  <a:lnTo>
                    <a:pt x="8175" y="2644"/>
                  </a:lnTo>
                  <a:lnTo>
                    <a:pt x="8269" y="2744"/>
                  </a:lnTo>
                  <a:lnTo>
                    <a:pt x="8420" y="2832"/>
                  </a:lnTo>
                  <a:lnTo>
                    <a:pt x="8704" y="3019"/>
                  </a:lnTo>
                  <a:lnTo>
                    <a:pt x="8968" y="3206"/>
                  </a:lnTo>
                  <a:lnTo>
                    <a:pt x="9138" y="3405"/>
                  </a:lnTo>
                  <a:lnTo>
                    <a:pt x="9327" y="3570"/>
                  </a:lnTo>
                  <a:lnTo>
                    <a:pt x="9440" y="3735"/>
                  </a:lnTo>
                  <a:lnTo>
                    <a:pt x="9516" y="3890"/>
                  </a:lnTo>
                  <a:lnTo>
                    <a:pt x="9534" y="4033"/>
                  </a:lnTo>
                  <a:lnTo>
                    <a:pt x="9534" y="4165"/>
                  </a:lnTo>
                  <a:lnTo>
                    <a:pt x="9516" y="4286"/>
                  </a:lnTo>
                  <a:lnTo>
                    <a:pt x="9440" y="4397"/>
                  </a:lnTo>
                  <a:lnTo>
                    <a:pt x="9327" y="4496"/>
                  </a:lnTo>
                  <a:lnTo>
                    <a:pt x="9176" y="4562"/>
                  </a:lnTo>
                  <a:lnTo>
                    <a:pt x="9006" y="4628"/>
                  </a:lnTo>
                  <a:lnTo>
                    <a:pt x="8779" y="4694"/>
                  </a:lnTo>
                  <a:lnTo>
                    <a:pt x="8534" y="4716"/>
                  </a:lnTo>
                  <a:lnTo>
                    <a:pt x="8232" y="4716"/>
                  </a:lnTo>
                  <a:lnTo>
                    <a:pt x="7118" y="4738"/>
                  </a:lnTo>
                  <a:lnTo>
                    <a:pt x="5947" y="4771"/>
                  </a:lnTo>
                  <a:lnTo>
                    <a:pt x="4795" y="4815"/>
                  </a:lnTo>
                  <a:lnTo>
                    <a:pt x="3681" y="4860"/>
                  </a:lnTo>
                  <a:lnTo>
                    <a:pt x="2662" y="4882"/>
                  </a:lnTo>
                  <a:lnTo>
                    <a:pt x="1755" y="4882"/>
                  </a:lnTo>
                  <a:lnTo>
                    <a:pt x="1359" y="4860"/>
                  </a:lnTo>
                  <a:lnTo>
                    <a:pt x="981" y="4837"/>
                  </a:lnTo>
                  <a:lnTo>
                    <a:pt x="698" y="4771"/>
                  </a:lnTo>
                  <a:lnTo>
                    <a:pt x="453" y="4716"/>
                  </a:lnTo>
                  <a:lnTo>
                    <a:pt x="453" y="5322"/>
                  </a:lnTo>
                  <a:lnTo>
                    <a:pt x="453" y="6083"/>
                  </a:lnTo>
                  <a:lnTo>
                    <a:pt x="453" y="6909"/>
                  </a:lnTo>
                  <a:lnTo>
                    <a:pt x="453" y="7780"/>
                  </a:lnTo>
                  <a:lnTo>
                    <a:pt x="453" y="8606"/>
                  </a:lnTo>
                  <a:lnTo>
                    <a:pt x="453" y="9345"/>
                  </a:lnTo>
                  <a:lnTo>
                    <a:pt x="453" y="9918"/>
                  </a:lnTo>
                  <a:lnTo>
                    <a:pt x="453" y="10282"/>
                  </a:lnTo>
                  <a:lnTo>
                    <a:pt x="490" y="10381"/>
                  </a:lnTo>
                  <a:lnTo>
                    <a:pt x="547" y="10491"/>
                  </a:lnTo>
                  <a:lnTo>
                    <a:pt x="660" y="10590"/>
                  </a:lnTo>
                  <a:lnTo>
                    <a:pt x="811" y="10700"/>
                  </a:lnTo>
                  <a:lnTo>
                    <a:pt x="981" y="10811"/>
                  </a:lnTo>
                  <a:lnTo>
                    <a:pt x="1208" y="10888"/>
                  </a:lnTo>
                  <a:lnTo>
                    <a:pt x="1453" y="10954"/>
                  </a:lnTo>
                  <a:lnTo>
                    <a:pt x="1718" y="11020"/>
                  </a:lnTo>
                  <a:lnTo>
                    <a:pt x="1963" y="11064"/>
                  </a:lnTo>
                  <a:lnTo>
                    <a:pt x="2265" y="11086"/>
                  </a:lnTo>
                  <a:lnTo>
                    <a:pt x="2548" y="11064"/>
                  </a:lnTo>
                  <a:lnTo>
                    <a:pt x="2794" y="11042"/>
                  </a:lnTo>
                  <a:lnTo>
                    <a:pt x="3096" y="10976"/>
                  </a:lnTo>
                  <a:lnTo>
                    <a:pt x="3341" y="10888"/>
                  </a:lnTo>
                  <a:lnTo>
                    <a:pt x="3606" y="10766"/>
                  </a:lnTo>
                  <a:lnTo>
                    <a:pt x="3813" y="10590"/>
                  </a:lnTo>
                  <a:close/>
                </a:path>
              </a:pathLst>
            </a:custGeom>
            <a:solidFill>
              <a:srgbClr val="D8EBB3"/>
            </a:solidFill>
            <a:ln w="28575">
              <a:solidFill>
                <a:srgbClr val="000000"/>
              </a:solidFill>
              <a:miter lim="800000"/>
              <a:headEnd/>
              <a:tailEnd/>
            </a:ln>
          </p:spPr>
          <p:txBody>
            <a:bodyPr/>
            <a:lstStyle/>
            <a:p>
              <a:endParaRPr lang="zh-CN" altLang="en-US">
                <a:latin typeface="+mn-ea"/>
                <a:ea typeface="+mn-ea"/>
              </a:endParaRPr>
            </a:p>
          </p:txBody>
        </p:sp>
        <p:sp>
          <p:nvSpPr>
            <p:cNvPr id="43" name="Puzzle1"/>
            <p:cNvSpPr>
              <a:spLocks noEditPoints="1" noChangeArrowheads="1"/>
            </p:cNvSpPr>
            <p:nvPr/>
          </p:nvSpPr>
          <p:spPr bwMode="auto">
            <a:xfrm>
              <a:off x="1824" y="1091"/>
              <a:ext cx="1800" cy="10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6084 w 21600"/>
                <a:gd name="T25" fmla="*/ 2569 h 21600"/>
                <a:gd name="T26" fmla="*/ 16128 w 21600"/>
                <a:gd name="T27" fmla="*/ 19545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0" y="20836"/>
                  </a:moveTo>
                  <a:lnTo>
                    <a:pt x="9528" y="20836"/>
                  </a:lnTo>
                  <a:lnTo>
                    <a:pt x="9686" y="20762"/>
                  </a:lnTo>
                  <a:lnTo>
                    <a:pt x="9810" y="20687"/>
                  </a:lnTo>
                  <a:lnTo>
                    <a:pt x="9922" y="20575"/>
                  </a:lnTo>
                  <a:lnTo>
                    <a:pt x="10012" y="20426"/>
                  </a:lnTo>
                  <a:lnTo>
                    <a:pt x="10068" y="20296"/>
                  </a:lnTo>
                  <a:lnTo>
                    <a:pt x="10113" y="20110"/>
                  </a:lnTo>
                  <a:lnTo>
                    <a:pt x="10136" y="19905"/>
                  </a:lnTo>
                  <a:lnTo>
                    <a:pt x="10136" y="19682"/>
                  </a:lnTo>
                  <a:lnTo>
                    <a:pt x="10113" y="19440"/>
                  </a:lnTo>
                  <a:lnTo>
                    <a:pt x="10068" y="19142"/>
                  </a:lnTo>
                  <a:lnTo>
                    <a:pt x="10012" y="18900"/>
                  </a:lnTo>
                  <a:lnTo>
                    <a:pt x="9900" y="18620"/>
                  </a:lnTo>
                  <a:lnTo>
                    <a:pt x="9787" y="18285"/>
                  </a:lnTo>
                  <a:lnTo>
                    <a:pt x="9641" y="17968"/>
                  </a:lnTo>
                  <a:lnTo>
                    <a:pt x="9472" y="17652"/>
                  </a:lnTo>
                  <a:lnTo>
                    <a:pt x="9382" y="17466"/>
                  </a:lnTo>
                  <a:lnTo>
                    <a:pt x="9315" y="17298"/>
                  </a:lnTo>
                  <a:lnTo>
                    <a:pt x="9258" y="17112"/>
                  </a:lnTo>
                  <a:lnTo>
                    <a:pt x="9191" y="16926"/>
                  </a:lnTo>
                  <a:lnTo>
                    <a:pt x="9123" y="16535"/>
                  </a:lnTo>
                  <a:lnTo>
                    <a:pt x="9101" y="16144"/>
                  </a:lnTo>
                  <a:lnTo>
                    <a:pt x="9101" y="15753"/>
                  </a:lnTo>
                  <a:lnTo>
                    <a:pt x="9168" y="15362"/>
                  </a:lnTo>
                  <a:lnTo>
                    <a:pt x="9236" y="14971"/>
                  </a:lnTo>
                  <a:lnTo>
                    <a:pt x="9360" y="14580"/>
                  </a:lnTo>
                  <a:lnTo>
                    <a:pt x="9495" y="14244"/>
                  </a:lnTo>
                  <a:lnTo>
                    <a:pt x="9663" y="13891"/>
                  </a:lnTo>
                  <a:lnTo>
                    <a:pt x="9855" y="13611"/>
                  </a:lnTo>
                  <a:lnTo>
                    <a:pt x="10068" y="13351"/>
                  </a:lnTo>
                  <a:lnTo>
                    <a:pt x="10293" y="13146"/>
                  </a:lnTo>
                  <a:lnTo>
                    <a:pt x="10552" y="12997"/>
                  </a:lnTo>
                  <a:lnTo>
                    <a:pt x="10811" y="12885"/>
                  </a:lnTo>
                  <a:lnTo>
                    <a:pt x="11069" y="12866"/>
                  </a:lnTo>
                  <a:lnTo>
                    <a:pt x="11351" y="12885"/>
                  </a:lnTo>
                  <a:lnTo>
                    <a:pt x="11610" y="12997"/>
                  </a:lnTo>
                  <a:lnTo>
                    <a:pt x="11846" y="13183"/>
                  </a:lnTo>
                  <a:lnTo>
                    <a:pt x="12060" y="13388"/>
                  </a:lnTo>
                  <a:lnTo>
                    <a:pt x="12251" y="13648"/>
                  </a:lnTo>
                  <a:lnTo>
                    <a:pt x="12419" y="13928"/>
                  </a:lnTo>
                  <a:lnTo>
                    <a:pt x="12555" y="14244"/>
                  </a:lnTo>
                  <a:lnTo>
                    <a:pt x="12690" y="14617"/>
                  </a:lnTo>
                  <a:lnTo>
                    <a:pt x="12768" y="15008"/>
                  </a:lnTo>
                  <a:lnTo>
                    <a:pt x="12836" y="15399"/>
                  </a:lnTo>
                  <a:lnTo>
                    <a:pt x="12858" y="15753"/>
                  </a:lnTo>
                  <a:lnTo>
                    <a:pt x="12858" y="16144"/>
                  </a:lnTo>
                  <a:lnTo>
                    <a:pt x="12813" y="16535"/>
                  </a:lnTo>
                  <a:lnTo>
                    <a:pt x="12746" y="16888"/>
                  </a:lnTo>
                  <a:lnTo>
                    <a:pt x="12667" y="17224"/>
                  </a:lnTo>
                  <a:lnTo>
                    <a:pt x="12510" y="17503"/>
                  </a:lnTo>
                  <a:lnTo>
                    <a:pt x="12228" y="18043"/>
                  </a:lnTo>
                  <a:lnTo>
                    <a:pt x="11970" y="18546"/>
                  </a:lnTo>
                  <a:lnTo>
                    <a:pt x="11868" y="18751"/>
                  </a:lnTo>
                  <a:lnTo>
                    <a:pt x="11778" y="18974"/>
                  </a:lnTo>
                  <a:lnTo>
                    <a:pt x="11711" y="19179"/>
                  </a:lnTo>
                  <a:lnTo>
                    <a:pt x="11666" y="19365"/>
                  </a:lnTo>
                  <a:lnTo>
                    <a:pt x="11632" y="19570"/>
                  </a:lnTo>
                  <a:lnTo>
                    <a:pt x="11632" y="19756"/>
                  </a:lnTo>
                  <a:lnTo>
                    <a:pt x="11632" y="19942"/>
                  </a:lnTo>
                  <a:lnTo>
                    <a:pt x="11643" y="20110"/>
                  </a:lnTo>
                  <a:lnTo>
                    <a:pt x="11711" y="20296"/>
                  </a:lnTo>
                  <a:lnTo>
                    <a:pt x="11801" y="20464"/>
                  </a:lnTo>
                  <a:lnTo>
                    <a:pt x="11891" y="20650"/>
                  </a:lnTo>
                  <a:lnTo>
                    <a:pt x="12037" y="20836"/>
                  </a:lnTo>
                  <a:lnTo>
                    <a:pt x="12206" y="21004"/>
                  </a:lnTo>
                  <a:lnTo>
                    <a:pt x="12419" y="21190"/>
                  </a:lnTo>
                  <a:lnTo>
                    <a:pt x="12667" y="21320"/>
                  </a:lnTo>
                  <a:lnTo>
                    <a:pt x="12960" y="21432"/>
                  </a:lnTo>
                  <a:lnTo>
                    <a:pt x="13286" y="21544"/>
                  </a:lnTo>
                  <a:lnTo>
                    <a:pt x="13612" y="21655"/>
                  </a:lnTo>
                  <a:lnTo>
                    <a:pt x="13983" y="21693"/>
                  </a:lnTo>
                  <a:lnTo>
                    <a:pt x="14343" y="21730"/>
                  </a:lnTo>
                  <a:lnTo>
                    <a:pt x="14715" y="21730"/>
                  </a:lnTo>
                  <a:lnTo>
                    <a:pt x="15075" y="21730"/>
                  </a:lnTo>
                  <a:lnTo>
                    <a:pt x="15446" y="21655"/>
                  </a:lnTo>
                  <a:lnTo>
                    <a:pt x="15794" y="21581"/>
                  </a:lnTo>
                  <a:lnTo>
                    <a:pt x="16132" y="21432"/>
                  </a:lnTo>
                  <a:lnTo>
                    <a:pt x="16458" y="21302"/>
                  </a:lnTo>
                  <a:lnTo>
                    <a:pt x="16740" y="21078"/>
                  </a:lnTo>
                  <a:lnTo>
                    <a:pt x="16976" y="20836"/>
                  </a:lnTo>
                  <a:lnTo>
                    <a:pt x="17043" y="20650"/>
                  </a:lnTo>
                  <a:lnTo>
                    <a:pt x="17088" y="20426"/>
                  </a:lnTo>
                  <a:lnTo>
                    <a:pt x="17133" y="20222"/>
                  </a:lnTo>
                  <a:lnTo>
                    <a:pt x="17156" y="19980"/>
                  </a:lnTo>
                  <a:lnTo>
                    <a:pt x="17167" y="19477"/>
                  </a:lnTo>
                  <a:lnTo>
                    <a:pt x="17167" y="18974"/>
                  </a:lnTo>
                  <a:lnTo>
                    <a:pt x="17156" y="18397"/>
                  </a:lnTo>
                  <a:lnTo>
                    <a:pt x="17111" y="17820"/>
                  </a:lnTo>
                  <a:lnTo>
                    <a:pt x="17066" y="17261"/>
                  </a:lnTo>
                  <a:lnTo>
                    <a:pt x="16998" y="16646"/>
                  </a:lnTo>
                  <a:lnTo>
                    <a:pt x="16852" y="15511"/>
                  </a:lnTo>
                  <a:lnTo>
                    <a:pt x="16740" y="14393"/>
                  </a:lnTo>
                  <a:lnTo>
                    <a:pt x="16717" y="13928"/>
                  </a:lnTo>
                  <a:lnTo>
                    <a:pt x="16695" y="13462"/>
                  </a:lnTo>
                  <a:lnTo>
                    <a:pt x="16717" y="13071"/>
                  </a:lnTo>
                  <a:lnTo>
                    <a:pt x="16785" y="12755"/>
                  </a:lnTo>
                  <a:lnTo>
                    <a:pt x="16852" y="12419"/>
                  </a:lnTo>
                  <a:lnTo>
                    <a:pt x="16953" y="12140"/>
                  </a:lnTo>
                  <a:lnTo>
                    <a:pt x="17088" y="11898"/>
                  </a:lnTo>
                  <a:lnTo>
                    <a:pt x="17212" y="11675"/>
                  </a:lnTo>
                  <a:lnTo>
                    <a:pt x="17370" y="11470"/>
                  </a:lnTo>
                  <a:lnTo>
                    <a:pt x="17516" y="11284"/>
                  </a:lnTo>
                  <a:lnTo>
                    <a:pt x="17696" y="11135"/>
                  </a:lnTo>
                  <a:lnTo>
                    <a:pt x="17865" y="11042"/>
                  </a:lnTo>
                  <a:lnTo>
                    <a:pt x="18033" y="10930"/>
                  </a:lnTo>
                  <a:lnTo>
                    <a:pt x="18213" y="10893"/>
                  </a:lnTo>
                  <a:lnTo>
                    <a:pt x="18382" y="10893"/>
                  </a:lnTo>
                  <a:lnTo>
                    <a:pt x="18551" y="10967"/>
                  </a:lnTo>
                  <a:lnTo>
                    <a:pt x="18708" y="11042"/>
                  </a:lnTo>
                  <a:lnTo>
                    <a:pt x="18855" y="11172"/>
                  </a:lnTo>
                  <a:lnTo>
                    <a:pt x="19012" y="11358"/>
                  </a:lnTo>
                  <a:lnTo>
                    <a:pt x="19136" y="11600"/>
                  </a:lnTo>
                  <a:lnTo>
                    <a:pt x="19271" y="11861"/>
                  </a:lnTo>
                  <a:lnTo>
                    <a:pt x="19440" y="12028"/>
                  </a:lnTo>
                  <a:lnTo>
                    <a:pt x="19608" y="12177"/>
                  </a:lnTo>
                  <a:lnTo>
                    <a:pt x="19822" y="12289"/>
                  </a:lnTo>
                  <a:lnTo>
                    <a:pt x="20025" y="12289"/>
                  </a:lnTo>
                  <a:lnTo>
                    <a:pt x="20238" y="12289"/>
                  </a:lnTo>
                  <a:lnTo>
                    <a:pt x="20452" y="12215"/>
                  </a:lnTo>
                  <a:lnTo>
                    <a:pt x="20643" y="12103"/>
                  </a:lnTo>
                  <a:lnTo>
                    <a:pt x="20846" y="11973"/>
                  </a:lnTo>
                  <a:lnTo>
                    <a:pt x="21037" y="11786"/>
                  </a:lnTo>
                  <a:lnTo>
                    <a:pt x="21206" y="11563"/>
                  </a:lnTo>
                  <a:lnTo>
                    <a:pt x="21363" y="11321"/>
                  </a:lnTo>
                  <a:lnTo>
                    <a:pt x="21465" y="11079"/>
                  </a:lnTo>
                  <a:lnTo>
                    <a:pt x="21577" y="10744"/>
                  </a:lnTo>
                  <a:lnTo>
                    <a:pt x="21622" y="10427"/>
                  </a:lnTo>
                  <a:lnTo>
                    <a:pt x="21645" y="10111"/>
                  </a:lnTo>
                  <a:lnTo>
                    <a:pt x="21622" y="9608"/>
                  </a:lnTo>
                  <a:lnTo>
                    <a:pt x="21577" y="9142"/>
                  </a:lnTo>
                  <a:lnTo>
                    <a:pt x="21465" y="8751"/>
                  </a:lnTo>
                  <a:lnTo>
                    <a:pt x="21363" y="8397"/>
                  </a:lnTo>
                  <a:lnTo>
                    <a:pt x="21206" y="8062"/>
                  </a:lnTo>
                  <a:lnTo>
                    <a:pt x="21037" y="7820"/>
                  </a:lnTo>
                  <a:lnTo>
                    <a:pt x="20846" y="7597"/>
                  </a:lnTo>
                  <a:lnTo>
                    <a:pt x="20643" y="7429"/>
                  </a:lnTo>
                  <a:lnTo>
                    <a:pt x="20452" y="7317"/>
                  </a:lnTo>
                  <a:lnTo>
                    <a:pt x="20238" y="7206"/>
                  </a:lnTo>
                  <a:lnTo>
                    <a:pt x="20025" y="7168"/>
                  </a:lnTo>
                  <a:lnTo>
                    <a:pt x="19822" y="7206"/>
                  </a:lnTo>
                  <a:lnTo>
                    <a:pt x="19608" y="7243"/>
                  </a:lnTo>
                  <a:lnTo>
                    <a:pt x="19440" y="7355"/>
                  </a:lnTo>
                  <a:lnTo>
                    <a:pt x="19271" y="7504"/>
                  </a:lnTo>
                  <a:lnTo>
                    <a:pt x="19136" y="7708"/>
                  </a:lnTo>
                  <a:lnTo>
                    <a:pt x="19012" y="7895"/>
                  </a:lnTo>
                  <a:lnTo>
                    <a:pt x="18832" y="8025"/>
                  </a:lnTo>
                  <a:lnTo>
                    <a:pt x="18663" y="8174"/>
                  </a:lnTo>
                  <a:lnTo>
                    <a:pt x="18472" y="8248"/>
                  </a:lnTo>
                  <a:lnTo>
                    <a:pt x="18270" y="8286"/>
                  </a:lnTo>
                  <a:lnTo>
                    <a:pt x="18078" y="8323"/>
                  </a:lnTo>
                  <a:lnTo>
                    <a:pt x="17887" y="8323"/>
                  </a:lnTo>
                  <a:lnTo>
                    <a:pt x="17696" y="8248"/>
                  </a:lnTo>
                  <a:lnTo>
                    <a:pt x="17493" y="8174"/>
                  </a:lnTo>
                  <a:lnTo>
                    <a:pt x="17302" y="8062"/>
                  </a:lnTo>
                  <a:lnTo>
                    <a:pt x="17133" y="7969"/>
                  </a:lnTo>
                  <a:lnTo>
                    <a:pt x="16976" y="7783"/>
                  </a:lnTo>
                  <a:lnTo>
                    <a:pt x="16852" y="7597"/>
                  </a:lnTo>
                  <a:lnTo>
                    <a:pt x="16740" y="7429"/>
                  </a:lnTo>
                  <a:lnTo>
                    <a:pt x="16672" y="7168"/>
                  </a:lnTo>
                  <a:lnTo>
                    <a:pt x="16638" y="6926"/>
                  </a:lnTo>
                  <a:lnTo>
                    <a:pt x="16616" y="6498"/>
                  </a:lnTo>
                  <a:lnTo>
                    <a:pt x="16616" y="5772"/>
                  </a:lnTo>
                  <a:lnTo>
                    <a:pt x="16650" y="4915"/>
                  </a:lnTo>
                  <a:lnTo>
                    <a:pt x="16695" y="3928"/>
                  </a:lnTo>
                  <a:lnTo>
                    <a:pt x="16762" y="2960"/>
                  </a:lnTo>
                  <a:lnTo>
                    <a:pt x="16830" y="1992"/>
                  </a:lnTo>
                  <a:lnTo>
                    <a:pt x="16908" y="1173"/>
                  </a:lnTo>
                  <a:lnTo>
                    <a:pt x="16976" y="521"/>
                  </a:lnTo>
                  <a:lnTo>
                    <a:pt x="16953" y="521"/>
                  </a:lnTo>
                  <a:lnTo>
                    <a:pt x="16931" y="521"/>
                  </a:lnTo>
                  <a:lnTo>
                    <a:pt x="16267" y="484"/>
                  </a:lnTo>
                  <a:lnTo>
                    <a:pt x="15637" y="428"/>
                  </a:lnTo>
                  <a:lnTo>
                    <a:pt x="15063" y="353"/>
                  </a:lnTo>
                  <a:lnTo>
                    <a:pt x="14523" y="279"/>
                  </a:lnTo>
                  <a:lnTo>
                    <a:pt x="14040" y="167"/>
                  </a:lnTo>
                  <a:lnTo>
                    <a:pt x="13635" y="93"/>
                  </a:lnTo>
                  <a:lnTo>
                    <a:pt x="13331" y="18"/>
                  </a:lnTo>
                  <a:lnTo>
                    <a:pt x="13117" y="18"/>
                  </a:lnTo>
                  <a:lnTo>
                    <a:pt x="12982" y="18"/>
                  </a:lnTo>
                  <a:lnTo>
                    <a:pt x="12858" y="130"/>
                  </a:lnTo>
                  <a:lnTo>
                    <a:pt x="12723" y="279"/>
                  </a:lnTo>
                  <a:lnTo>
                    <a:pt x="12622" y="446"/>
                  </a:lnTo>
                  <a:lnTo>
                    <a:pt x="12510" y="670"/>
                  </a:lnTo>
                  <a:lnTo>
                    <a:pt x="12419" y="912"/>
                  </a:lnTo>
                  <a:lnTo>
                    <a:pt x="12363" y="1210"/>
                  </a:lnTo>
                  <a:lnTo>
                    <a:pt x="12318" y="1526"/>
                  </a:lnTo>
                  <a:lnTo>
                    <a:pt x="12273" y="1843"/>
                  </a:lnTo>
                  <a:lnTo>
                    <a:pt x="12251" y="2215"/>
                  </a:lnTo>
                  <a:lnTo>
                    <a:pt x="12273" y="2532"/>
                  </a:lnTo>
                  <a:lnTo>
                    <a:pt x="12318" y="2886"/>
                  </a:lnTo>
                  <a:lnTo>
                    <a:pt x="12386" y="3240"/>
                  </a:lnTo>
                  <a:lnTo>
                    <a:pt x="12464" y="3556"/>
                  </a:lnTo>
                  <a:lnTo>
                    <a:pt x="12577" y="3891"/>
                  </a:lnTo>
                  <a:lnTo>
                    <a:pt x="12746" y="4171"/>
                  </a:lnTo>
                  <a:lnTo>
                    <a:pt x="12926" y="4487"/>
                  </a:lnTo>
                  <a:lnTo>
                    <a:pt x="13050" y="4860"/>
                  </a:lnTo>
                  <a:lnTo>
                    <a:pt x="13162" y="5251"/>
                  </a:lnTo>
                  <a:lnTo>
                    <a:pt x="13218" y="5604"/>
                  </a:lnTo>
                  <a:lnTo>
                    <a:pt x="13263" y="5995"/>
                  </a:lnTo>
                  <a:lnTo>
                    <a:pt x="13241" y="6386"/>
                  </a:lnTo>
                  <a:lnTo>
                    <a:pt x="13218" y="6740"/>
                  </a:lnTo>
                  <a:lnTo>
                    <a:pt x="13139" y="7094"/>
                  </a:lnTo>
                  <a:lnTo>
                    <a:pt x="13050" y="7429"/>
                  </a:lnTo>
                  <a:lnTo>
                    <a:pt x="12903" y="7746"/>
                  </a:lnTo>
                  <a:lnTo>
                    <a:pt x="12723" y="8025"/>
                  </a:lnTo>
                  <a:lnTo>
                    <a:pt x="12532" y="8286"/>
                  </a:lnTo>
                  <a:lnTo>
                    <a:pt x="12318" y="8491"/>
                  </a:lnTo>
                  <a:lnTo>
                    <a:pt x="12060" y="8677"/>
                  </a:lnTo>
                  <a:lnTo>
                    <a:pt x="11756" y="8788"/>
                  </a:lnTo>
                  <a:lnTo>
                    <a:pt x="11452" y="8826"/>
                  </a:lnTo>
                  <a:lnTo>
                    <a:pt x="11283" y="8826"/>
                  </a:lnTo>
                  <a:lnTo>
                    <a:pt x="11126" y="8826"/>
                  </a:lnTo>
                  <a:lnTo>
                    <a:pt x="11002" y="8788"/>
                  </a:lnTo>
                  <a:lnTo>
                    <a:pt x="10845" y="8714"/>
                  </a:lnTo>
                  <a:lnTo>
                    <a:pt x="10721" y="8640"/>
                  </a:lnTo>
                  <a:lnTo>
                    <a:pt x="10608" y="8565"/>
                  </a:lnTo>
                  <a:lnTo>
                    <a:pt x="10485" y="8453"/>
                  </a:lnTo>
                  <a:lnTo>
                    <a:pt x="10372" y="8323"/>
                  </a:lnTo>
                  <a:lnTo>
                    <a:pt x="10181" y="8062"/>
                  </a:lnTo>
                  <a:lnTo>
                    <a:pt x="10035" y="7746"/>
                  </a:lnTo>
                  <a:lnTo>
                    <a:pt x="9900" y="7392"/>
                  </a:lnTo>
                  <a:lnTo>
                    <a:pt x="9787" y="7001"/>
                  </a:lnTo>
                  <a:lnTo>
                    <a:pt x="9731" y="6610"/>
                  </a:lnTo>
                  <a:lnTo>
                    <a:pt x="9686" y="6219"/>
                  </a:lnTo>
                  <a:lnTo>
                    <a:pt x="9663" y="5772"/>
                  </a:lnTo>
                  <a:lnTo>
                    <a:pt x="9686" y="5381"/>
                  </a:lnTo>
                  <a:lnTo>
                    <a:pt x="9753" y="4990"/>
                  </a:lnTo>
                  <a:lnTo>
                    <a:pt x="9832" y="4636"/>
                  </a:lnTo>
                  <a:lnTo>
                    <a:pt x="9945" y="4320"/>
                  </a:lnTo>
                  <a:lnTo>
                    <a:pt x="10068" y="4022"/>
                  </a:lnTo>
                  <a:lnTo>
                    <a:pt x="10203" y="3817"/>
                  </a:lnTo>
                  <a:lnTo>
                    <a:pt x="10316" y="3593"/>
                  </a:lnTo>
                  <a:lnTo>
                    <a:pt x="10395" y="3351"/>
                  </a:lnTo>
                  <a:lnTo>
                    <a:pt x="10462" y="3109"/>
                  </a:lnTo>
                  <a:lnTo>
                    <a:pt x="10507" y="2848"/>
                  </a:lnTo>
                  <a:lnTo>
                    <a:pt x="10530" y="2606"/>
                  </a:lnTo>
                  <a:lnTo>
                    <a:pt x="10507" y="2346"/>
                  </a:lnTo>
                  <a:lnTo>
                    <a:pt x="10462" y="2141"/>
                  </a:lnTo>
                  <a:lnTo>
                    <a:pt x="10395" y="1880"/>
                  </a:lnTo>
                  <a:lnTo>
                    <a:pt x="10293" y="1638"/>
                  </a:lnTo>
                  <a:lnTo>
                    <a:pt x="10158" y="1415"/>
                  </a:lnTo>
                  <a:lnTo>
                    <a:pt x="9967" y="1210"/>
                  </a:lnTo>
                  <a:lnTo>
                    <a:pt x="9753" y="986"/>
                  </a:lnTo>
                  <a:lnTo>
                    <a:pt x="9495" y="819"/>
                  </a:lnTo>
                  <a:lnTo>
                    <a:pt x="9191" y="670"/>
                  </a:lnTo>
                  <a:lnTo>
                    <a:pt x="8842" y="521"/>
                  </a:lnTo>
                  <a:lnTo>
                    <a:pt x="8471" y="446"/>
                  </a:lnTo>
                  <a:lnTo>
                    <a:pt x="7998" y="428"/>
                  </a:lnTo>
                  <a:lnTo>
                    <a:pt x="7413" y="428"/>
                  </a:lnTo>
                  <a:lnTo>
                    <a:pt x="6817" y="446"/>
                  </a:lnTo>
                  <a:lnTo>
                    <a:pt x="6187" y="521"/>
                  </a:lnTo>
                  <a:lnTo>
                    <a:pt x="5602" y="633"/>
                  </a:lnTo>
                  <a:lnTo>
                    <a:pt x="5107" y="744"/>
                  </a:lnTo>
                  <a:lnTo>
                    <a:pt x="4725" y="856"/>
                  </a:lnTo>
                  <a:lnTo>
                    <a:pt x="4848" y="1564"/>
                  </a:lnTo>
                  <a:lnTo>
                    <a:pt x="5028" y="2495"/>
                  </a:lnTo>
                  <a:lnTo>
                    <a:pt x="5175" y="3556"/>
                  </a:lnTo>
                  <a:lnTo>
                    <a:pt x="5298" y="4673"/>
                  </a:lnTo>
                  <a:lnTo>
                    <a:pt x="5343" y="5213"/>
                  </a:lnTo>
                  <a:lnTo>
                    <a:pt x="5388" y="5753"/>
                  </a:lnTo>
                  <a:lnTo>
                    <a:pt x="5411" y="6275"/>
                  </a:lnTo>
                  <a:lnTo>
                    <a:pt x="5411" y="6740"/>
                  </a:lnTo>
                  <a:lnTo>
                    <a:pt x="5366" y="7168"/>
                  </a:lnTo>
                  <a:lnTo>
                    <a:pt x="5321" y="7541"/>
                  </a:lnTo>
                  <a:lnTo>
                    <a:pt x="5287" y="7708"/>
                  </a:lnTo>
                  <a:lnTo>
                    <a:pt x="5242" y="7857"/>
                  </a:lnTo>
                  <a:lnTo>
                    <a:pt x="5197" y="7969"/>
                  </a:lnTo>
                  <a:lnTo>
                    <a:pt x="5130" y="8062"/>
                  </a:lnTo>
                  <a:lnTo>
                    <a:pt x="5006" y="8248"/>
                  </a:lnTo>
                  <a:lnTo>
                    <a:pt x="4848" y="8397"/>
                  </a:lnTo>
                  <a:lnTo>
                    <a:pt x="4725" y="8528"/>
                  </a:lnTo>
                  <a:lnTo>
                    <a:pt x="4567" y="8640"/>
                  </a:lnTo>
                  <a:lnTo>
                    <a:pt x="4421" y="8714"/>
                  </a:lnTo>
                  <a:lnTo>
                    <a:pt x="4263" y="8751"/>
                  </a:lnTo>
                  <a:lnTo>
                    <a:pt x="4095" y="8788"/>
                  </a:lnTo>
                  <a:lnTo>
                    <a:pt x="3948" y="8788"/>
                  </a:lnTo>
                  <a:lnTo>
                    <a:pt x="3791" y="8751"/>
                  </a:lnTo>
                  <a:lnTo>
                    <a:pt x="3667" y="8714"/>
                  </a:lnTo>
                  <a:lnTo>
                    <a:pt x="3510" y="8677"/>
                  </a:lnTo>
                  <a:lnTo>
                    <a:pt x="3386" y="8602"/>
                  </a:lnTo>
                  <a:lnTo>
                    <a:pt x="3251" y="8491"/>
                  </a:lnTo>
                  <a:lnTo>
                    <a:pt x="3127" y="8360"/>
                  </a:lnTo>
                  <a:lnTo>
                    <a:pt x="3015" y="8248"/>
                  </a:lnTo>
                  <a:lnTo>
                    <a:pt x="2925" y="8062"/>
                  </a:lnTo>
                  <a:lnTo>
                    <a:pt x="2778" y="7857"/>
                  </a:lnTo>
                  <a:lnTo>
                    <a:pt x="2610" y="7671"/>
                  </a:lnTo>
                  <a:lnTo>
                    <a:pt x="2407" y="7541"/>
                  </a:lnTo>
                  <a:lnTo>
                    <a:pt x="2171" y="7466"/>
                  </a:lnTo>
                  <a:lnTo>
                    <a:pt x="1957" y="7429"/>
                  </a:lnTo>
                  <a:lnTo>
                    <a:pt x="1698" y="7429"/>
                  </a:lnTo>
                  <a:lnTo>
                    <a:pt x="1462" y="7466"/>
                  </a:lnTo>
                  <a:lnTo>
                    <a:pt x="1226" y="7559"/>
                  </a:lnTo>
                  <a:lnTo>
                    <a:pt x="989" y="7708"/>
                  </a:lnTo>
                  <a:lnTo>
                    <a:pt x="776" y="7932"/>
                  </a:lnTo>
                  <a:lnTo>
                    <a:pt x="551" y="8211"/>
                  </a:lnTo>
                  <a:lnTo>
                    <a:pt x="382" y="8528"/>
                  </a:lnTo>
                  <a:lnTo>
                    <a:pt x="315" y="8714"/>
                  </a:lnTo>
                  <a:lnTo>
                    <a:pt x="236" y="8919"/>
                  </a:lnTo>
                  <a:lnTo>
                    <a:pt x="191" y="9142"/>
                  </a:lnTo>
                  <a:lnTo>
                    <a:pt x="123" y="9347"/>
                  </a:lnTo>
                  <a:lnTo>
                    <a:pt x="78" y="9608"/>
                  </a:lnTo>
                  <a:lnTo>
                    <a:pt x="56" y="9887"/>
                  </a:lnTo>
                  <a:lnTo>
                    <a:pt x="33" y="10185"/>
                  </a:lnTo>
                  <a:lnTo>
                    <a:pt x="33" y="10464"/>
                  </a:lnTo>
                  <a:lnTo>
                    <a:pt x="33" y="10706"/>
                  </a:lnTo>
                  <a:lnTo>
                    <a:pt x="56" y="10967"/>
                  </a:lnTo>
                  <a:lnTo>
                    <a:pt x="78" y="11172"/>
                  </a:lnTo>
                  <a:lnTo>
                    <a:pt x="123" y="11395"/>
                  </a:lnTo>
                  <a:lnTo>
                    <a:pt x="168" y="11600"/>
                  </a:lnTo>
                  <a:lnTo>
                    <a:pt x="236" y="11786"/>
                  </a:lnTo>
                  <a:lnTo>
                    <a:pt x="292" y="11973"/>
                  </a:lnTo>
                  <a:lnTo>
                    <a:pt x="382" y="12140"/>
                  </a:lnTo>
                  <a:lnTo>
                    <a:pt x="540" y="12419"/>
                  </a:lnTo>
                  <a:lnTo>
                    <a:pt x="731" y="12680"/>
                  </a:lnTo>
                  <a:lnTo>
                    <a:pt x="944" y="12866"/>
                  </a:lnTo>
                  <a:lnTo>
                    <a:pt x="1158" y="12997"/>
                  </a:lnTo>
                  <a:lnTo>
                    <a:pt x="1395" y="13108"/>
                  </a:lnTo>
                  <a:lnTo>
                    <a:pt x="1608" y="13183"/>
                  </a:lnTo>
                  <a:lnTo>
                    <a:pt x="1856" y="13183"/>
                  </a:lnTo>
                  <a:lnTo>
                    <a:pt x="2070" y="13146"/>
                  </a:lnTo>
                  <a:lnTo>
                    <a:pt x="2261" y="13071"/>
                  </a:lnTo>
                  <a:lnTo>
                    <a:pt x="2430" y="12960"/>
                  </a:lnTo>
                  <a:lnTo>
                    <a:pt x="2587" y="12792"/>
                  </a:lnTo>
                  <a:lnTo>
                    <a:pt x="2688" y="12606"/>
                  </a:lnTo>
                  <a:lnTo>
                    <a:pt x="2801" y="12419"/>
                  </a:lnTo>
                  <a:lnTo>
                    <a:pt x="2925" y="12289"/>
                  </a:lnTo>
                  <a:lnTo>
                    <a:pt x="3082" y="12177"/>
                  </a:lnTo>
                  <a:lnTo>
                    <a:pt x="3228" y="12103"/>
                  </a:lnTo>
                  <a:lnTo>
                    <a:pt x="3408" y="12103"/>
                  </a:lnTo>
                  <a:lnTo>
                    <a:pt x="3577" y="12103"/>
                  </a:lnTo>
                  <a:lnTo>
                    <a:pt x="3723" y="12177"/>
                  </a:lnTo>
                  <a:lnTo>
                    <a:pt x="3903" y="12252"/>
                  </a:lnTo>
                  <a:lnTo>
                    <a:pt x="4072" y="12364"/>
                  </a:lnTo>
                  <a:lnTo>
                    <a:pt x="4230" y="12494"/>
                  </a:lnTo>
                  <a:lnTo>
                    <a:pt x="4353" y="12643"/>
                  </a:lnTo>
                  <a:lnTo>
                    <a:pt x="4488" y="12829"/>
                  </a:lnTo>
                  <a:lnTo>
                    <a:pt x="4567" y="13034"/>
                  </a:lnTo>
                  <a:lnTo>
                    <a:pt x="4657" y="13257"/>
                  </a:lnTo>
                  <a:lnTo>
                    <a:pt x="4702" y="13462"/>
                  </a:lnTo>
                  <a:lnTo>
                    <a:pt x="4725" y="13686"/>
                  </a:lnTo>
                  <a:lnTo>
                    <a:pt x="4702" y="14282"/>
                  </a:lnTo>
                  <a:lnTo>
                    <a:pt x="4657" y="15045"/>
                  </a:lnTo>
                  <a:lnTo>
                    <a:pt x="4612" y="15976"/>
                  </a:lnTo>
                  <a:lnTo>
                    <a:pt x="4590" y="16926"/>
                  </a:lnTo>
                  <a:lnTo>
                    <a:pt x="4567" y="17968"/>
                  </a:lnTo>
                  <a:lnTo>
                    <a:pt x="4567" y="19011"/>
                  </a:lnTo>
                  <a:lnTo>
                    <a:pt x="4590" y="19514"/>
                  </a:lnTo>
                  <a:lnTo>
                    <a:pt x="4612" y="19980"/>
                  </a:lnTo>
                  <a:lnTo>
                    <a:pt x="4657" y="20426"/>
                  </a:lnTo>
                  <a:lnTo>
                    <a:pt x="4725" y="20836"/>
                  </a:lnTo>
                  <a:lnTo>
                    <a:pt x="4848" y="20929"/>
                  </a:lnTo>
                  <a:lnTo>
                    <a:pt x="5040" y="21004"/>
                  </a:lnTo>
                  <a:lnTo>
                    <a:pt x="5265" y="21078"/>
                  </a:lnTo>
                  <a:lnTo>
                    <a:pt x="5478" y="21115"/>
                  </a:lnTo>
                  <a:lnTo>
                    <a:pt x="6041" y="21115"/>
                  </a:lnTo>
                  <a:lnTo>
                    <a:pt x="6637" y="21078"/>
                  </a:lnTo>
                  <a:lnTo>
                    <a:pt x="7312" y="21004"/>
                  </a:lnTo>
                  <a:lnTo>
                    <a:pt x="7998" y="20929"/>
                  </a:lnTo>
                  <a:lnTo>
                    <a:pt x="8696" y="20855"/>
                  </a:lnTo>
                  <a:lnTo>
                    <a:pt x="9360" y="20836"/>
                  </a:lnTo>
                  <a:close/>
                </a:path>
              </a:pathLst>
            </a:custGeom>
            <a:solidFill>
              <a:srgbClr val="CCCCFF"/>
            </a:solidFill>
            <a:ln w="28575">
              <a:solidFill>
                <a:srgbClr val="000000"/>
              </a:solidFill>
              <a:miter lim="800000"/>
              <a:headEnd/>
              <a:tailEnd/>
            </a:ln>
          </p:spPr>
          <p:txBody>
            <a:bodyPr/>
            <a:lstStyle/>
            <a:p>
              <a:endParaRPr lang="zh-CN" altLang="en-US">
                <a:latin typeface="+mn-ea"/>
                <a:ea typeface="+mn-ea"/>
              </a:endParaRPr>
            </a:p>
          </p:txBody>
        </p:sp>
      </p:grpSp>
      <p:grpSp>
        <p:nvGrpSpPr>
          <p:cNvPr id="44" name="Group 42"/>
          <p:cNvGrpSpPr>
            <a:grpSpLocks/>
          </p:cNvGrpSpPr>
          <p:nvPr/>
        </p:nvGrpSpPr>
        <p:grpSpPr bwMode="auto">
          <a:xfrm>
            <a:off x="6124098" y="3435349"/>
            <a:ext cx="464503" cy="296863"/>
            <a:chOff x="1824" y="633"/>
            <a:chExt cx="2834" cy="2849"/>
          </a:xfrm>
        </p:grpSpPr>
        <p:sp>
          <p:nvSpPr>
            <p:cNvPr id="45" name="Puzzle3"/>
            <p:cNvSpPr>
              <a:spLocks noEditPoints="1" noChangeArrowheads="1"/>
            </p:cNvSpPr>
            <p:nvPr/>
          </p:nvSpPr>
          <p:spPr bwMode="auto">
            <a:xfrm>
              <a:off x="3204" y="633"/>
              <a:ext cx="1114" cy="151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2269 w 21600"/>
                <a:gd name="T25" fmla="*/ 7718 h 21600"/>
                <a:gd name="T26" fmla="*/ 19157 w 21600"/>
                <a:gd name="T27" fmla="*/ 2023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6625" y="20892"/>
                  </a:moveTo>
                  <a:lnTo>
                    <a:pt x="7105" y="21023"/>
                  </a:lnTo>
                  <a:lnTo>
                    <a:pt x="7513" y="21088"/>
                  </a:lnTo>
                  <a:lnTo>
                    <a:pt x="7922" y="21115"/>
                  </a:lnTo>
                  <a:lnTo>
                    <a:pt x="8242" y="21115"/>
                  </a:lnTo>
                  <a:lnTo>
                    <a:pt x="8544" y="21062"/>
                  </a:lnTo>
                  <a:lnTo>
                    <a:pt x="8810" y="20997"/>
                  </a:lnTo>
                  <a:lnTo>
                    <a:pt x="9023" y="20892"/>
                  </a:lnTo>
                  <a:lnTo>
                    <a:pt x="9148" y="20761"/>
                  </a:lnTo>
                  <a:lnTo>
                    <a:pt x="9290" y="20616"/>
                  </a:lnTo>
                  <a:lnTo>
                    <a:pt x="9361" y="20459"/>
                  </a:lnTo>
                  <a:lnTo>
                    <a:pt x="9396" y="20289"/>
                  </a:lnTo>
                  <a:lnTo>
                    <a:pt x="9396" y="20092"/>
                  </a:lnTo>
                  <a:lnTo>
                    <a:pt x="9325" y="19909"/>
                  </a:lnTo>
                  <a:lnTo>
                    <a:pt x="9219" y="19738"/>
                  </a:lnTo>
                  <a:lnTo>
                    <a:pt x="9094" y="19555"/>
                  </a:lnTo>
                  <a:lnTo>
                    <a:pt x="8917" y="19384"/>
                  </a:lnTo>
                  <a:lnTo>
                    <a:pt x="8650" y="19162"/>
                  </a:lnTo>
                  <a:lnTo>
                    <a:pt x="8437" y="18900"/>
                  </a:lnTo>
                  <a:lnTo>
                    <a:pt x="8277" y="18624"/>
                  </a:lnTo>
                  <a:lnTo>
                    <a:pt x="8135" y="18349"/>
                  </a:lnTo>
                  <a:lnTo>
                    <a:pt x="8028" y="18048"/>
                  </a:lnTo>
                  <a:lnTo>
                    <a:pt x="7993" y="17746"/>
                  </a:lnTo>
                  <a:lnTo>
                    <a:pt x="7993" y="17471"/>
                  </a:lnTo>
                  <a:lnTo>
                    <a:pt x="8028" y="17169"/>
                  </a:lnTo>
                  <a:lnTo>
                    <a:pt x="8135" y="16920"/>
                  </a:lnTo>
                  <a:lnTo>
                    <a:pt x="8277" y="16671"/>
                  </a:lnTo>
                  <a:lnTo>
                    <a:pt x="8366" y="16540"/>
                  </a:lnTo>
                  <a:lnTo>
                    <a:pt x="8473" y="16409"/>
                  </a:lnTo>
                  <a:lnTo>
                    <a:pt x="8615" y="16317"/>
                  </a:lnTo>
                  <a:lnTo>
                    <a:pt x="8739" y="16213"/>
                  </a:lnTo>
                  <a:lnTo>
                    <a:pt x="8881" y="16134"/>
                  </a:lnTo>
                  <a:lnTo>
                    <a:pt x="9059" y="16055"/>
                  </a:lnTo>
                  <a:lnTo>
                    <a:pt x="9254" y="15990"/>
                  </a:lnTo>
                  <a:lnTo>
                    <a:pt x="9432" y="15911"/>
                  </a:lnTo>
                  <a:lnTo>
                    <a:pt x="9663" y="15885"/>
                  </a:lnTo>
                  <a:lnTo>
                    <a:pt x="9876" y="15833"/>
                  </a:lnTo>
                  <a:lnTo>
                    <a:pt x="10142" y="15806"/>
                  </a:lnTo>
                  <a:lnTo>
                    <a:pt x="10391" y="15806"/>
                  </a:lnTo>
                  <a:lnTo>
                    <a:pt x="10728" y="15806"/>
                  </a:lnTo>
                  <a:lnTo>
                    <a:pt x="10995" y="15806"/>
                  </a:lnTo>
                  <a:lnTo>
                    <a:pt x="11279" y="15833"/>
                  </a:lnTo>
                  <a:lnTo>
                    <a:pt x="11546" y="15885"/>
                  </a:lnTo>
                  <a:lnTo>
                    <a:pt x="11776" y="15937"/>
                  </a:lnTo>
                  <a:lnTo>
                    <a:pt x="12025" y="15990"/>
                  </a:lnTo>
                  <a:lnTo>
                    <a:pt x="12221" y="16055"/>
                  </a:lnTo>
                  <a:lnTo>
                    <a:pt x="12434" y="16134"/>
                  </a:lnTo>
                  <a:lnTo>
                    <a:pt x="12611" y="16213"/>
                  </a:lnTo>
                  <a:lnTo>
                    <a:pt x="12771" y="16317"/>
                  </a:lnTo>
                  <a:lnTo>
                    <a:pt x="12913" y="16409"/>
                  </a:lnTo>
                  <a:lnTo>
                    <a:pt x="13038" y="16514"/>
                  </a:lnTo>
                  <a:lnTo>
                    <a:pt x="13251" y="16737"/>
                  </a:lnTo>
                  <a:lnTo>
                    <a:pt x="13428" y="16986"/>
                  </a:lnTo>
                  <a:lnTo>
                    <a:pt x="13517" y="17248"/>
                  </a:lnTo>
                  <a:lnTo>
                    <a:pt x="13588" y="17523"/>
                  </a:lnTo>
                  <a:lnTo>
                    <a:pt x="13588" y="17799"/>
                  </a:lnTo>
                  <a:lnTo>
                    <a:pt x="13517" y="18074"/>
                  </a:lnTo>
                  <a:lnTo>
                    <a:pt x="13428" y="18323"/>
                  </a:lnTo>
                  <a:lnTo>
                    <a:pt x="13286" y="18572"/>
                  </a:lnTo>
                  <a:lnTo>
                    <a:pt x="13109" y="18808"/>
                  </a:lnTo>
                  <a:lnTo>
                    <a:pt x="12878" y="19031"/>
                  </a:lnTo>
                  <a:lnTo>
                    <a:pt x="12434" y="19411"/>
                  </a:lnTo>
                  <a:lnTo>
                    <a:pt x="12132" y="19738"/>
                  </a:lnTo>
                  <a:lnTo>
                    <a:pt x="12025" y="19856"/>
                  </a:lnTo>
                  <a:lnTo>
                    <a:pt x="11919" y="20014"/>
                  </a:lnTo>
                  <a:lnTo>
                    <a:pt x="11883" y="20132"/>
                  </a:lnTo>
                  <a:lnTo>
                    <a:pt x="11883" y="20263"/>
                  </a:lnTo>
                  <a:lnTo>
                    <a:pt x="11883" y="20394"/>
                  </a:lnTo>
                  <a:lnTo>
                    <a:pt x="11954" y="20485"/>
                  </a:lnTo>
                  <a:lnTo>
                    <a:pt x="12061" y="20590"/>
                  </a:lnTo>
                  <a:lnTo>
                    <a:pt x="12185" y="20695"/>
                  </a:lnTo>
                  <a:lnTo>
                    <a:pt x="12327" y="20787"/>
                  </a:lnTo>
                  <a:lnTo>
                    <a:pt x="12540" y="20892"/>
                  </a:lnTo>
                  <a:lnTo>
                    <a:pt x="12771" y="20997"/>
                  </a:lnTo>
                  <a:lnTo>
                    <a:pt x="13073" y="21088"/>
                  </a:lnTo>
                  <a:lnTo>
                    <a:pt x="13428" y="21193"/>
                  </a:lnTo>
                  <a:lnTo>
                    <a:pt x="13873" y="21298"/>
                  </a:lnTo>
                  <a:lnTo>
                    <a:pt x="14317" y="21390"/>
                  </a:lnTo>
                  <a:lnTo>
                    <a:pt x="14778" y="21468"/>
                  </a:lnTo>
                  <a:lnTo>
                    <a:pt x="15294" y="21547"/>
                  </a:lnTo>
                  <a:lnTo>
                    <a:pt x="15809" y="21600"/>
                  </a:lnTo>
                  <a:lnTo>
                    <a:pt x="16359" y="21652"/>
                  </a:lnTo>
                  <a:lnTo>
                    <a:pt x="16875" y="21678"/>
                  </a:lnTo>
                  <a:lnTo>
                    <a:pt x="17407" y="21678"/>
                  </a:lnTo>
                  <a:lnTo>
                    <a:pt x="17958" y="21678"/>
                  </a:lnTo>
                  <a:lnTo>
                    <a:pt x="18473" y="21652"/>
                  </a:lnTo>
                  <a:lnTo>
                    <a:pt x="18953" y="21573"/>
                  </a:lnTo>
                  <a:lnTo>
                    <a:pt x="19397" y="21495"/>
                  </a:lnTo>
                  <a:lnTo>
                    <a:pt x="19841" y="21390"/>
                  </a:lnTo>
                  <a:lnTo>
                    <a:pt x="20214" y="21272"/>
                  </a:lnTo>
                  <a:lnTo>
                    <a:pt x="20551" y="21088"/>
                  </a:lnTo>
                  <a:lnTo>
                    <a:pt x="20480" y="20787"/>
                  </a:lnTo>
                  <a:lnTo>
                    <a:pt x="20409" y="20485"/>
                  </a:lnTo>
                  <a:lnTo>
                    <a:pt x="20356" y="20158"/>
                  </a:lnTo>
                  <a:lnTo>
                    <a:pt x="20356" y="19804"/>
                  </a:lnTo>
                  <a:lnTo>
                    <a:pt x="20321" y="19083"/>
                  </a:lnTo>
                  <a:lnTo>
                    <a:pt x="20356" y="18349"/>
                  </a:lnTo>
                  <a:lnTo>
                    <a:pt x="20409" y="17641"/>
                  </a:lnTo>
                  <a:lnTo>
                    <a:pt x="20480" y="17012"/>
                  </a:lnTo>
                  <a:lnTo>
                    <a:pt x="20551" y="16488"/>
                  </a:lnTo>
                  <a:lnTo>
                    <a:pt x="20551" y="16055"/>
                  </a:lnTo>
                  <a:lnTo>
                    <a:pt x="20551" y="15911"/>
                  </a:lnTo>
                  <a:lnTo>
                    <a:pt x="20445" y="15754"/>
                  </a:lnTo>
                  <a:lnTo>
                    <a:pt x="20356" y="15610"/>
                  </a:lnTo>
                  <a:lnTo>
                    <a:pt x="20178" y="15452"/>
                  </a:lnTo>
                  <a:lnTo>
                    <a:pt x="20001" y="15334"/>
                  </a:lnTo>
                  <a:lnTo>
                    <a:pt x="19770" y="15230"/>
                  </a:lnTo>
                  <a:lnTo>
                    <a:pt x="19521" y="15125"/>
                  </a:lnTo>
                  <a:lnTo>
                    <a:pt x="19290" y="15059"/>
                  </a:lnTo>
                  <a:lnTo>
                    <a:pt x="19024" y="15007"/>
                  </a:lnTo>
                  <a:lnTo>
                    <a:pt x="18740" y="14954"/>
                  </a:lnTo>
                  <a:lnTo>
                    <a:pt x="18509" y="14954"/>
                  </a:lnTo>
                  <a:lnTo>
                    <a:pt x="18225" y="14954"/>
                  </a:lnTo>
                  <a:lnTo>
                    <a:pt x="17994" y="15007"/>
                  </a:lnTo>
                  <a:lnTo>
                    <a:pt x="17763" y="15085"/>
                  </a:lnTo>
                  <a:lnTo>
                    <a:pt x="17550" y="15177"/>
                  </a:lnTo>
                  <a:lnTo>
                    <a:pt x="17372" y="15308"/>
                  </a:lnTo>
                  <a:lnTo>
                    <a:pt x="17176" y="15426"/>
                  </a:lnTo>
                  <a:lnTo>
                    <a:pt x="16928" y="15557"/>
                  </a:lnTo>
                  <a:lnTo>
                    <a:pt x="16661" y="15636"/>
                  </a:lnTo>
                  <a:lnTo>
                    <a:pt x="16359" y="15688"/>
                  </a:lnTo>
                  <a:lnTo>
                    <a:pt x="16022" y="15715"/>
                  </a:lnTo>
                  <a:lnTo>
                    <a:pt x="15667" y="15688"/>
                  </a:lnTo>
                  <a:lnTo>
                    <a:pt x="15294" y="15662"/>
                  </a:lnTo>
                  <a:lnTo>
                    <a:pt x="14956" y="15583"/>
                  </a:lnTo>
                  <a:lnTo>
                    <a:pt x="14619" y="15479"/>
                  </a:lnTo>
                  <a:lnTo>
                    <a:pt x="14281" y="15334"/>
                  </a:lnTo>
                  <a:lnTo>
                    <a:pt x="13961" y="15177"/>
                  </a:lnTo>
                  <a:lnTo>
                    <a:pt x="13695" y="14981"/>
                  </a:lnTo>
                  <a:lnTo>
                    <a:pt x="13588" y="14850"/>
                  </a:lnTo>
                  <a:lnTo>
                    <a:pt x="13482" y="14732"/>
                  </a:lnTo>
                  <a:lnTo>
                    <a:pt x="13393" y="14600"/>
                  </a:lnTo>
                  <a:lnTo>
                    <a:pt x="13322" y="14456"/>
                  </a:lnTo>
                  <a:lnTo>
                    <a:pt x="13251" y="14299"/>
                  </a:lnTo>
                  <a:lnTo>
                    <a:pt x="13215" y="14155"/>
                  </a:lnTo>
                  <a:lnTo>
                    <a:pt x="13180" y="13971"/>
                  </a:lnTo>
                  <a:lnTo>
                    <a:pt x="13180" y="13801"/>
                  </a:lnTo>
                  <a:lnTo>
                    <a:pt x="13180" y="13591"/>
                  </a:lnTo>
                  <a:lnTo>
                    <a:pt x="13215" y="13395"/>
                  </a:lnTo>
                  <a:lnTo>
                    <a:pt x="13251" y="13198"/>
                  </a:lnTo>
                  <a:lnTo>
                    <a:pt x="13322" y="13015"/>
                  </a:lnTo>
                  <a:lnTo>
                    <a:pt x="13393" y="12870"/>
                  </a:lnTo>
                  <a:lnTo>
                    <a:pt x="13482" y="12713"/>
                  </a:lnTo>
                  <a:lnTo>
                    <a:pt x="13588" y="12569"/>
                  </a:lnTo>
                  <a:lnTo>
                    <a:pt x="13730" y="12438"/>
                  </a:lnTo>
                  <a:lnTo>
                    <a:pt x="13997" y="12215"/>
                  </a:lnTo>
                  <a:lnTo>
                    <a:pt x="14334" y="12005"/>
                  </a:lnTo>
                  <a:lnTo>
                    <a:pt x="14690" y="11861"/>
                  </a:lnTo>
                  <a:lnTo>
                    <a:pt x="15063" y="11756"/>
                  </a:lnTo>
                  <a:lnTo>
                    <a:pt x="15436" y="11678"/>
                  </a:lnTo>
                  <a:lnTo>
                    <a:pt x="15809" y="11638"/>
                  </a:lnTo>
                  <a:lnTo>
                    <a:pt x="16182" y="11638"/>
                  </a:lnTo>
                  <a:lnTo>
                    <a:pt x="16555" y="11678"/>
                  </a:lnTo>
                  <a:lnTo>
                    <a:pt x="16910" y="11730"/>
                  </a:lnTo>
                  <a:lnTo>
                    <a:pt x="17248" y="11835"/>
                  </a:lnTo>
                  <a:lnTo>
                    <a:pt x="17514" y="11966"/>
                  </a:lnTo>
                  <a:lnTo>
                    <a:pt x="17763" y="12110"/>
                  </a:lnTo>
                  <a:lnTo>
                    <a:pt x="17887" y="12215"/>
                  </a:lnTo>
                  <a:lnTo>
                    <a:pt x="18065" y="12307"/>
                  </a:lnTo>
                  <a:lnTo>
                    <a:pt x="18260" y="12412"/>
                  </a:lnTo>
                  <a:lnTo>
                    <a:pt x="18438" y="12464"/>
                  </a:lnTo>
                  <a:lnTo>
                    <a:pt x="18669" y="12543"/>
                  </a:lnTo>
                  <a:lnTo>
                    <a:pt x="18882" y="12569"/>
                  </a:lnTo>
                  <a:lnTo>
                    <a:pt x="19113" y="12595"/>
                  </a:lnTo>
                  <a:lnTo>
                    <a:pt x="19361" y="12608"/>
                  </a:lnTo>
                  <a:lnTo>
                    <a:pt x="19592" y="12608"/>
                  </a:lnTo>
                  <a:lnTo>
                    <a:pt x="19841" y="12595"/>
                  </a:lnTo>
                  <a:lnTo>
                    <a:pt x="20072" y="12543"/>
                  </a:lnTo>
                  <a:lnTo>
                    <a:pt x="20321" y="12490"/>
                  </a:lnTo>
                  <a:lnTo>
                    <a:pt x="20551" y="12438"/>
                  </a:lnTo>
                  <a:lnTo>
                    <a:pt x="20800" y="12333"/>
                  </a:lnTo>
                  <a:lnTo>
                    <a:pt x="20996" y="12241"/>
                  </a:lnTo>
                  <a:lnTo>
                    <a:pt x="21244" y="12110"/>
                  </a:lnTo>
                  <a:lnTo>
                    <a:pt x="21298" y="12032"/>
                  </a:lnTo>
                  <a:lnTo>
                    <a:pt x="21404" y="11966"/>
                  </a:lnTo>
                  <a:lnTo>
                    <a:pt x="21475" y="11861"/>
                  </a:lnTo>
                  <a:lnTo>
                    <a:pt x="21511" y="11730"/>
                  </a:lnTo>
                  <a:lnTo>
                    <a:pt x="21617" y="11481"/>
                  </a:lnTo>
                  <a:lnTo>
                    <a:pt x="21653" y="11180"/>
                  </a:lnTo>
                  <a:lnTo>
                    <a:pt x="21653" y="10826"/>
                  </a:lnTo>
                  <a:lnTo>
                    <a:pt x="21653" y="10472"/>
                  </a:lnTo>
                  <a:lnTo>
                    <a:pt x="21582" y="10092"/>
                  </a:lnTo>
                  <a:lnTo>
                    <a:pt x="21511" y="9725"/>
                  </a:lnTo>
                  <a:lnTo>
                    <a:pt x="21298" y="8912"/>
                  </a:lnTo>
                  <a:lnTo>
                    <a:pt x="21067" y="8191"/>
                  </a:lnTo>
                  <a:lnTo>
                    <a:pt x="20800" y="7536"/>
                  </a:lnTo>
                  <a:lnTo>
                    <a:pt x="20551" y="7025"/>
                  </a:lnTo>
                  <a:lnTo>
                    <a:pt x="20001" y="7103"/>
                  </a:lnTo>
                  <a:lnTo>
                    <a:pt x="19432" y="7156"/>
                  </a:lnTo>
                  <a:lnTo>
                    <a:pt x="18846" y="7208"/>
                  </a:lnTo>
                  <a:lnTo>
                    <a:pt x="18225" y="7208"/>
                  </a:lnTo>
                  <a:lnTo>
                    <a:pt x="17656" y="7208"/>
                  </a:lnTo>
                  <a:lnTo>
                    <a:pt x="17070" y="7182"/>
                  </a:lnTo>
                  <a:lnTo>
                    <a:pt x="16484" y="7156"/>
                  </a:lnTo>
                  <a:lnTo>
                    <a:pt x="15986" y="7103"/>
                  </a:lnTo>
                  <a:lnTo>
                    <a:pt x="14992" y="6999"/>
                  </a:lnTo>
                  <a:lnTo>
                    <a:pt x="14210" y="6907"/>
                  </a:lnTo>
                  <a:lnTo>
                    <a:pt x="13695" y="6828"/>
                  </a:lnTo>
                  <a:lnTo>
                    <a:pt x="13517" y="6802"/>
                  </a:lnTo>
                  <a:lnTo>
                    <a:pt x="13073" y="6645"/>
                  </a:lnTo>
                  <a:lnTo>
                    <a:pt x="12700" y="6474"/>
                  </a:lnTo>
                  <a:lnTo>
                    <a:pt x="12363" y="6304"/>
                  </a:lnTo>
                  <a:lnTo>
                    <a:pt x="12132" y="6094"/>
                  </a:lnTo>
                  <a:lnTo>
                    <a:pt x="11919" y="5871"/>
                  </a:lnTo>
                  <a:lnTo>
                    <a:pt x="11776" y="5649"/>
                  </a:lnTo>
                  <a:lnTo>
                    <a:pt x="11688" y="5413"/>
                  </a:lnTo>
                  <a:lnTo>
                    <a:pt x="11617" y="5190"/>
                  </a:lnTo>
                  <a:lnTo>
                    <a:pt x="11617" y="4941"/>
                  </a:lnTo>
                  <a:lnTo>
                    <a:pt x="11652" y="4718"/>
                  </a:lnTo>
                  <a:lnTo>
                    <a:pt x="11723" y="4482"/>
                  </a:lnTo>
                  <a:lnTo>
                    <a:pt x="11812" y="4285"/>
                  </a:lnTo>
                  <a:lnTo>
                    <a:pt x="11919" y="4089"/>
                  </a:lnTo>
                  <a:lnTo>
                    <a:pt x="12096" y="3905"/>
                  </a:lnTo>
                  <a:lnTo>
                    <a:pt x="12292" y="3735"/>
                  </a:lnTo>
                  <a:lnTo>
                    <a:pt x="12505" y="3604"/>
                  </a:lnTo>
                  <a:lnTo>
                    <a:pt x="12700" y="3460"/>
                  </a:lnTo>
                  <a:lnTo>
                    <a:pt x="12878" y="3250"/>
                  </a:lnTo>
                  <a:lnTo>
                    <a:pt x="13038" y="3027"/>
                  </a:lnTo>
                  <a:lnTo>
                    <a:pt x="13180" y="2752"/>
                  </a:lnTo>
                  <a:lnTo>
                    <a:pt x="13286" y="2477"/>
                  </a:lnTo>
                  <a:lnTo>
                    <a:pt x="13322" y="2175"/>
                  </a:lnTo>
                  <a:lnTo>
                    <a:pt x="13357" y="1874"/>
                  </a:lnTo>
                  <a:lnTo>
                    <a:pt x="13286" y="1572"/>
                  </a:lnTo>
                  <a:lnTo>
                    <a:pt x="13180" y="1271"/>
                  </a:lnTo>
                  <a:lnTo>
                    <a:pt x="13038" y="983"/>
                  </a:lnTo>
                  <a:lnTo>
                    <a:pt x="12949" y="865"/>
                  </a:lnTo>
                  <a:lnTo>
                    <a:pt x="12807" y="733"/>
                  </a:lnTo>
                  <a:lnTo>
                    <a:pt x="12665" y="616"/>
                  </a:lnTo>
                  <a:lnTo>
                    <a:pt x="12505" y="511"/>
                  </a:lnTo>
                  <a:lnTo>
                    <a:pt x="12327" y="406"/>
                  </a:lnTo>
                  <a:lnTo>
                    <a:pt x="12132" y="314"/>
                  </a:lnTo>
                  <a:lnTo>
                    <a:pt x="11883" y="235"/>
                  </a:lnTo>
                  <a:lnTo>
                    <a:pt x="11652" y="183"/>
                  </a:lnTo>
                  <a:lnTo>
                    <a:pt x="11368" y="104"/>
                  </a:lnTo>
                  <a:lnTo>
                    <a:pt x="11101" y="78"/>
                  </a:lnTo>
                  <a:lnTo>
                    <a:pt x="10800" y="52"/>
                  </a:lnTo>
                  <a:lnTo>
                    <a:pt x="10444" y="52"/>
                  </a:lnTo>
                  <a:lnTo>
                    <a:pt x="10142" y="52"/>
                  </a:lnTo>
                  <a:lnTo>
                    <a:pt x="9840" y="78"/>
                  </a:lnTo>
                  <a:lnTo>
                    <a:pt x="9574" y="104"/>
                  </a:lnTo>
                  <a:lnTo>
                    <a:pt x="9325" y="157"/>
                  </a:lnTo>
                  <a:lnTo>
                    <a:pt x="9094" y="209"/>
                  </a:lnTo>
                  <a:lnTo>
                    <a:pt x="8846" y="262"/>
                  </a:lnTo>
                  <a:lnTo>
                    <a:pt x="8650" y="340"/>
                  </a:lnTo>
                  <a:lnTo>
                    <a:pt x="8437" y="432"/>
                  </a:lnTo>
                  <a:lnTo>
                    <a:pt x="8277" y="511"/>
                  </a:lnTo>
                  <a:lnTo>
                    <a:pt x="8100" y="616"/>
                  </a:lnTo>
                  <a:lnTo>
                    <a:pt x="7957" y="707"/>
                  </a:lnTo>
                  <a:lnTo>
                    <a:pt x="7833" y="838"/>
                  </a:lnTo>
                  <a:lnTo>
                    <a:pt x="7620" y="1061"/>
                  </a:lnTo>
                  <a:lnTo>
                    <a:pt x="7442" y="1336"/>
                  </a:lnTo>
                  <a:lnTo>
                    <a:pt x="7353" y="1599"/>
                  </a:lnTo>
                  <a:lnTo>
                    <a:pt x="7318" y="1900"/>
                  </a:lnTo>
                  <a:lnTo>
                    <a:pt x="7318" y="2175"/>
                  </a:lnTo>
                  <a:lnTo>
                    <a:pt x="7353" y="2450"/>
                  </a:lnTo>
                  <a:lnTo>
                    <a:pt x="7442" y="2726"/>
                  </a:lnTo>
                  <a:lnTo>
                    <a:pt x="7620" y="2975"/>
                  </a:lnTo>
                  <a:lnTo>
                    <a:pt x="7833" y="3198"/>
                  </a:lnTo>
                  <a:lnTo>
                    <a:pt x="8064" y="3433"/>
                  </a:lnTo>
                  <a:lnTo>
                    <a:pt x="8295" y="3630"/>
                  </a:lnTo>
                  <a:lnTo>
                    <a:pt x="8508" y="3853"/>
                  </a:lnTo>
                  <a:lnTo>
                    <a:pt x="8686" y="4089"/>
                  </a:lnTo>
                  <a:lnTo>
                    <a:pt x="8775" y="4312"/>
                  </a:lnTo>
                  <a:lnTo>
                    <a:pt x="8846" y="4561"/>
                  </a:lnTo>
                  <a:lnTo>
                    <a:pt x="8846" y="4810"/>
                  </a:lnTo>
                  <a:lnTo>
                    <a:pt x="8810" y="5059"/>
                  </a:lnTo>
                  <a:lnTo>
                    <a:pt x="8721" y="5295"/>
                  </a:lnTo>
                  <a:lnTo>
                    <a:pt x="8579" y="5544"/>
                  </a:lnTo>
                  <a:lnTo>
                    <a:pt x="8366" y="5766"/>
                  </a:lnTo>
                  <a:lnTo>
                    <a:pt x="8135" y="5976"/>
                  </a:lnTo>
                  <a:lnTo>
                    <a:pt x="7833" y="6199"/>
                  </a:lnTo>
                  <a:lnTo>
                    <a:pt x="7478" y="6369"/>
                  </a:lnTo>
                  <a:lnTo>
                    <a:pt x="7069" y="6527"/>
                  </a:lnTo>
                  <a:lnTo>
                    <a:pt x="6590" y="6671"/>
                  </a:lnTo>
                  <a:lnTo>
                    <a:pt x="6092" y="6802"/>
                  </a:lnTo>
                  <a:lnTo>
                    <a:pt x="5684" y="6802"/>
                  </a:lnTo>
                  <a:lnTo>
                    <a:pt x="5133" y="6802"/>
                  </a:lnTo>
                  <a:lnTo>
                    <a:pt x="4547" y="6802"/>
                  </a:lnTo>
                  <a:lnTo>
                    <a:pt x="3872" y="6802"/>
                  </a:lnTo>
                  <a:lnTo>
                    <a:pt x="3144" y="6802"/>
                  </a:lnTo>
                  <a:lnTo>
                    <a:pt x="2362" y="6802"/>
                  </a:lnTo>
                  <a:lnTo>
                    <a:pt x="1545" y="6802"/>
                  </a:lnTo>
                  <a:lnTo>
                    <a:pt x="692" y="6802"/>
                  </a:lnTo>
                  <a:lnTo>
                    <a:pt x="586" y="7234"/>
                  </a:lnTo>
                  <a:lnTo>
                    <a:pt x="461" y="7837"/>
                  </a:lnTo>
                  <a:lnTo>
                    <a:pt x="355" y="8493"/>
                  </a:lnTo>
                  <a:lnTo>
                    <a:pt x="248" y="9187"/>
                  </a:lnTo>
                  <a:lnTo>
                    <a:pt x="142" y="9869"/>
                  </a:lnTo>
                  <a:lnTo>
                    <a:pt x="106" y="10498"/>
                  </a:lnTo>
                  <a:lnTo>
                    <a:pt x="106" y="10983"/>
                  </a:lnTo>
                  <a:lnTo>
                    <a:pt x="106" y="11311"/>
                  </a:lnTo>
                  <a:lnTo>
                    <a:pt x="213" y="11481"/>
                  </a:lnTo>
                  <a:lnTo>
                    <a:pt x="319" y="11651"/>
                  </a:lnTo>
                  <a:lnTo>
                    <a:pt x="497" y="11783"/>
                  </a:lnTo>
                  <a:lnTo>
                    <a:pt x="692" y="11914"/>
                  </a:lnTo>
                  <a:lnTo>
                    <a:pt x="941" y="12032"/>
                  </a:lnTo>
                  <a:lnTo>
                    <a:pt x="1207" y="12110"/>
                  </a:lnTo>
                  <a:lnTo>
                    <a:pt x="1509" y="12189"/>
                  </a:lnTo>
                  <a:lnTo>
                    <a:pt x="1794" y="12241"/>
                  </a:lnTo>
                  <a:lnTo>
                    <a:pt x="2131" y="12267"/>
                  </a:lnTo>
                  <a:lnTo>
                    <a:pt x="2433" y="12281"/>
                  </a:lnTo>
                  <a:lnTo>
                    <a:pt x="2735" y="12267"/>
                  </a:lnTo>
                  <a:lnTo>
                    <a:pt x="3055" y="12241"/>
                  </a:lnTo>
                  <a:lnTo>
                    <a:pt x="3357" y="12189"/>
                  </a:lnTo>
                  <a:lnTo>
                    <a:pt x="3623" y="12084"/>
                  </a:lnTo>
                  <a:lnTo>
                    <a:pt x="3872" y="11979"/>
                  </a:lnTo>
                  <a:lnTo>
                    <a:pt x="4103" y="11861"/>
                  </a:lnTo>
                  <a:lnTo>
                    <a:pt x="4316" y="11704"/>
                  </a:lnTo>
                  <a:lnTo>
                    <a:pt x="4582" y="11612"/>
                  </a:lnTo>
                  <a:lnTo>
                    <a:pt x="4849" y="11533"/>
                  </a:lnTo>
                  <a:lnTo>
                    <a:pt x="5169" y="11507"/>
                  </a:lnTo>
                  <a:lnTo>
                    <a:pt x="5506" y="11481"/>
                  </a:lnTo>
                  <a:lnTo>
                    <a:pt x="5808" y="11507"/>
                  </a:lnTo>
                  <a:lnTo>
                    <a:pt x="6146" y="11560"/>
                  </a:lnTo>
                  <a:lnTo>
                    <a:pt x="6501" y="11651"/>
                  </a:lnTo>
                  <a:lnTo>
                    <a:pt x="6803" y="11783"/>
                  </a:lnTo>
                  <a:lnTo>
                    <a:pt x="7105" y="11940"/>
                  </a:lnTo>
                  <a:lnTo>
                    <a:pt x="7353" y="12110"/>
                  </a:lnTo>
                  <a:lnTo>
                    <a:pt x="7584" y="12333"/>
                  </a:lnTo>
                  <a:lnTo>
                    <a:pt x="7798" y="12595"/>
                  </a:lnTo>
                  <a:lnTo>
                    <a:pt x="7922" y="12870"/>
                  </a:lnTo>
                  <a:lnTo>
                    <a:pt x="8028" y="13198"/>
                  </a:lnTo>
                  <a:lnTo>
                    <a:pt x="8064" y="13526"/>
                  </a:lnTo>
                  <a:lnTo>
                    <a:pt x="8028" y="13775"/>
                  </a:lnTo>
                  <a:lnTo>
                    <a:pt x="7922" y="13998"/>
                  </a:lnTo>
                  <a:lnTo>
                    <a:pt x="7798" y="14220"/>
                  </a:lnTo>
                  <a:lnTo>
                    <a:pt x="7584" y="14404"/>
                  </a:lnTo>
                  <a:lnTo>
                    <a:pt x="7353" y="14574"/>
                  </a:lnTo>
                  <a:lnTo>
                    <a:pt x="7105" y="14732"/>
                  </a:lnTo>
                  <a:lnTo>
                    <a:pt x="6803" y="14850"/>
                  </a:lnTo>
                  <a:lnTo>
                    <a:pt x="6501" y="14954"/>
                  </a:lnTo>
                  <a:lnTo>
                    <a:pt x="6146" y="15033"/>
                  </a:lnTo>
                  <a:lnTo>
                    <a:pt x="5808" y="15085"/>
                  </a:lnTo>
                  <a:lnTo>
                    <a:pt x="5506" y="15085"/>
                  </a:lnTo>
                  <a:lnTo>
                    <a:pt x="5169" y="15059"/>
                  </a:lnTo>
                  <a:lnTo>
                    <a:pt x="4849" y="15007"/>
                  </a:lnTo>
                  <a:lnTo>
                    <a:pt x="4582" y="14902"/>
                  </a:lnTo>
                  <a:lnTo>
                    <a:pt x="4316" y="14784"/>
                  </a:lnTo>
                  <a:lnTo>
                    <a:pt x="4103" y="14600"/>
                  </a:lnTo>
                  <a:lnTo>
                    <a:pt x="3907" y="14430"/>
                  </a:lnTo>
                  <a:lnTo>
                    <a:pt x="3659" y="14299"/>
                  </a:lnTo>
                  <a:lnTo>
                    <a:pt x="3428" y="14194"/>
                  </a:lnTo>
                  <a:lnTo>
                    <a:pt x="3179" y="14129"/>
                  </a:lnTo>
                  <a:lnTo>
                    <a:pt x="2913" y="14102"/>
                  </a:lnTo>
                  <a:lnTo>
                    <a:pt x="2646" y="14102"/>
                  </a:lnTo>
                  <a:lnTo>
                    <a:pt x="2362" y="14129"/>
                  </a:lnTo>
                  <a:lnTo>
                    <a:pt x="2096" y="14168"/>
                  </a:lnTo>
                  <a:lnTo>
                    <a:pt x="1811" y="14273"/>
                  </a:lnTo>
                  <a:lnTo>
                    <a:pt x="1545" y="14378"/>
                  </a:lnTo>
                  <a:lnTo>
                    <a:pt x="1314" y="14496"/>
                  </a:lnTo>
                  <a:lnTo>
                    <a:pt x="1065" y="14653"/>
                  </a:lnTo>
                  <a:lnTo>
                    <a:pt x="870" y="14797"/>
                  </a:lnTo>
                  <a:lnTo>
                    <a:pt x="657" y="14981"/>
                  </a:lnTo>
                  <a:lnTo>
                    <a:pt x="497" y="15177"/>
                  </a:lnTo>
                  <a:lnTo>
                    <a:pt x="390" y="15413"/>
                  </a:lnTo>
                  <a:lnTo>
                    <a:pt x="284" y="15636"/>
                  </a:lnTo>
                  <a:lnTo>
                    <a:pt x="248" y="15911"/>
                  </a:lnTo>
                  <a:lnTo>
                    <a:pt x="284" y="16239"/>
                  </a:lnTo>
                  <a:lnTo>
                    <a:pt x="319" y="16566"/>
                  </a:lnTo>
                  <a:lnTo>
                    <a:pt x="497" y="17340"/>
                  </a:lnTo>
                  <a:lnTo>
                    <a:pt x="692" y="18152"/>
                  </a:lnTo>
                  <a:lnTo>
                    <a:pt x="799" y="18559"/>
                  </a:lnTo>
                  <a:lnTo>
                    <a:pt x="905" y="18978"/>
                  </a:lnTo>
                  <a:lnTo>
                    <a:pt x="959" y="19384"/>
                  </a:lnTo>
                  <a:lnTo>
                    <a:pt x="994" y="19791"/>
                  </a:lnTo>
                  <a:lnTo>
                    <a:pt x="994" y="20132"/>
                  </a:lnTo>
                  <a:lnTo>
                    <a:pt x="959" y="20485"/>
                  </a:lnTo>
                  <a:lnTo>
                    <a:pt x="941" y="20669"/>
                  </a:lnTo>
                  <a:lnTo>
                    <a:pt x="870" y="20813"/>
                  </a:lnTo>
                  <a:lnTo>
                    <a:pt x="799" y="20970"/>
                  </a:lnTo>
                  <a:lnTo>
                    <a:pt x="692" y="21088"/>
                  </a:lnTo>
                  <a:lnTo>
                    <a:pt x="1474" y="20997"/>
                  </a:lnTo>
                  <a:lnTo>
                    <a:pt x="2291" y="20866"/>
                  </a:lnTo>
                  <a:lnTo>
                    <a:pt x="3108" y="20787"/>
                  </a:lnTo>
                  <a:lnTo>
                    <a:pt x="3907" y="20721"/>
                  </a:lnTo>
                  <a:lnTo>
                    <a:pt x="4653" y="20695"/>
                  </a:lnTo>
                  <a:lnTo>
                    <a:pt x="5364" y="20695"/>
                  </a:lnTo>
                  <a:lnTo>
                    <a:pt x="5701" y="20721"/>
                  </a:lnTo>
                  <a:lnTo>
                    <a:pt x="6057" y="20761"/>
                  </a:lnTo>
                  <a:lnTo>
                    <a:pt x="6323" y="20813"/>
                  </a:lnTo>
                  <a:lnTo>
                    <a:pt x="6625" y="20892"/>
                  </a:lnTo>
                  <a:close/>
                </a:path>
              </a:pathLst>
            </a:custGeom>
            <a:solidFill>
              <a:srgbClr val="FFBE7D"/>
            </a:solidFill>
            <a:ln w="28575">
              <a:solidFill>
                <a:srgbClr val="000000"/>
              </a:solidFill>
              <a:miter lim="800000"/>
              <a:headEnd/>
              <a:tailEnd/>
            </a:ln>
          </p:spPr>
          <p:txBody>
            <a:bodyPr/>
            <a:lstStyle/>
            <a:p>
              <a:endParaRPr lang="zh-CN" altLang="en-US">
                <a:latin typeface="+mn-ea"/>
                <a:ea typeface="+mn-ea"/>
              </a:endParaRPr>
            </a:p>
          </p:txBody>
        </p:sp>
        <p:sp>
          <p:nvSpPr>
            <p:cNvPr id="46" name="Puzzle2"/>
            <p:cNvSpPr>
              <a:spLocks noEditPoints="1" noChangeArrowheads="1"/>
            </p:cNvSpPr>
            <p:nvPr/>
          </p:nvSpPr>
          <p:spPr bwMode="auto">
            <a:xfrm>
              <a:off x="2880" y="1736"/>
              <a:ext cx="1778" cy="1379"/>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5394 w 21600"/>
                <a:gd name="T25" fmla="*/ 6735 h 21600"/>
                <a:gd name="T26" fmla="*/ 16182 w 21600"/>
                <a:gd name="T27" fmla="*/ 2044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4247" y="12354"/>
                  </a:moveTo>
                  <a:lnTo>
                    <a:pt x="4134" y="12468"/>
                  </a:lnTo>
                  <a:lnTo>
                    <a:pt x="4010" y="12581"/>
                  </a:lnTo>
                  <a:lnTo>
                    <a:pt x="3897" y="12637"/>
                  </a:lnTo>
                  <a:lnTo>
                    <a:pt x="3773" y="12694"/>
                  </a:lnTo>
                  <a:lnTo>
                    <a:pt x="3637" y="12694"/>
                  </a:lnTo>
                  <a:lnTo>
                    <a:pt x="3524" y="12694"/>
                  </a:lnTo>
                  <a:lnTo>
                    <a:pt x="3400" y="12665"/>
                  </a:lnTo>
                  <a:lnTo>
                    <a:pt x="3287" y="12609"/>
                  </a:lnTo>
                  <a:lnTo>
                    <a:pt x="3027" y="12496"/>
                  </a:lnTo>
                  <a:lnTo>
                    <a:pt x="2790" y="12340"/>
                  </a:lnTo>
                  <a:lnTo>
                    <a:pt x="2530" y="12142"/>
                  </a:lnTo>
                  <a:lnTo>
                    <a:pt x="2293" y="11987"/>
                  </a:lnTo>
                  <a:lnTo>
                    <a:pt x="2033" y="11817"/>
                  </a:lnTo>
                  <a:lnTo>
                    <a:pt x="1773" y="11676"/>
                  </a:lnTo>
                  <a:lnTo>
                    <a:pt x="1638" y="11662"/>
                  </a:lnTo>
                  <a:lnTo>
                    <a:pt x="1513" y="11634"/>
                  </a:lnTo>
                  <a:lnTo>
                    <a:pt x="1378" y="11634"/>
                  </a:lnTo>
                  <a:lnTo>
                    <a:pt x="1253" y="11634"/>
                  </a:lnTo>
                  <a:lnTo>
                    <a:pt x="1118" y="11662"/>
                  </a:lnTo>
                  <a:lnTo>
                    <a:pt x="971" y="11732"/>
                  </a:lnTo>
                  <a:lnTo>
                    <a:pt x="835" y="11817"/>
                  </a:lnTo>
                  <a:lnTo>
                    <a:pt x="711" y="11959"/>
                  </a:lnTo>
                  <a:lnTo>
                    <a:pt x="553" y="12086"/>
                  </a:lnTo>
                  <a:lnTo>
                    <a:pt x="429" y="12284"/>
                  </a:lnTo>
                  <a:lnTo>
                    <a:pt x="271" y="12524"/>
                  </a:lnTo>
                  <a:lnTo>
                    <a:pt x="146" y="12793"/>
                  </a:lnTo>
                  <a:lnTo>
                    <a:pt x="79" y="12962"/>
                  </a:lnTo>
                  <a:lnTo>
                    <a:pt x="33" y="13146"/>
                  </a:lnTo>
                  <a:lnTo>
                    <a:pt x="11" y="13386"/>
                  </a:lnTo>
                  <a:lnTo>
                    <a:pt x="11" y="13641"/>
                  </a:lnTo>
                  <a:lnTo>
                    <a:pt x="33" y="13881"/>
                  </a:lnTo>
                  <a:lnTo>
                    <a:pt x="101" y="14150"/>
                  </a:lnTo>
                  <a:lnTo>
                    <a:pt x="192" y="14404"/>
                  </a:lnTo>
                  <a:lnTo>
                    <a:pt x="293" y="14645"/>
                  </a:lnTo>
                  <a:lnTo>
                    <a:pt x="451" y="14857"/>
                  </a:lnTo>
                  <a:lnTo>
                    <a:pt x="621" y="15054"/>
                  </a:lnTo>
                  <a:lnTo>
                    <a:pt x="734" y="15125"/>
                  </a:lnTo>
                  <a:lnTo>
                    <a:pt x="835" y="15210"/>
                  </a:lnTo>
                  <a:lnTo>
                    <a:pt x="948" y="15267"/>
                  </a:lnTo>
                  <a:lnTo>
                    <a:pt x="1084" y="15323"/>
                  </a:lnTo>
                  <a:lnTo>
                    <a:pt x="1208" y="15351"/>
                  </a:lnTo>
                  <a:lnTo>
                    <a:pt x="1355" y="15380"/>
                  </a:lnTo>
                  <a:lnTo>
                    <a:pt x="1513" y="15380"/>
                  </a:lnTo>
                  <a:lnTo>
                    <a:pt x="1683" y="15380"/>
                  </a:lnTo>
                  <a:lnTo>
                    <a:pt x="1864" y="15351"/>
                  </a:lnTo>
                  <a:lnTo>
                    <a:pt x="2033" y="15323"/>
                  </a:lnTo>
                  <a:lnTo>
                    <a:pt x="2225" y="15238"/>
                  </a:lnTo>
                  <a:lnTo>
                    <a:pt x="2428" y="15153"/>
                  </a:lnTo>
                  <a:lnTo>
                    <a:pt x="2745" y="15026"/>
                  </a:lnTo>
                  <a:lnTo>
                    <a:pt x="3005" y="14913"/>
                  </a:lnTo>
                  <a:lnTo>
                    <a:pt x="3264" y="14828"/>
                  </a:lnTo>
                  <a:lnTo>
                    <a:pt x="3513" y="14800"/>
                  </a:lnTo>
                  <a:lnTo>
                    <a:pt x="3615" y="14828"/>
                  </a:lnTo>
                  <a:lnTo>
                    <a:pt x="3728" y="14857"/>
                  </a:lnTo>
                  <a:lnTo>
                    <a:pt x="3807" y="14913"/>
                  </a:lnTo>
                  <a:lnTo>
                    <a:pt x="3920" y="14998"/>
                  </a:lnTo>
                  <a:lnTo>
                    <a:pt x="4010" y="15097"/>
                  </a:lnTo>
                  <a:lnTo>
                    <a:pt x="4089" y="15238"/>
                  </a:lnTo>
                  <a:lnTo>
                    <a:pt x="4179" y="15408"/>
                  </a:lnTo>
                  <a:lnTo>
                    <a:pt x="4247" y="15620"/>
                  </a:lnTo>
                  <a:lnTo>
                    <a:pt x="4326" y="15860"/>
                  </a:lnTo>
                  <a:lnTo>
                    <a:pt x="4394" y="16129"/>
                  </a:lnTo>
                  <a:lnTo>
                    <a:pt x="4439" y="16440"/>
                  </a:lnTo>
                  <a:lnTo>
                    <a:pt x="4507" y="16737"/>
                  </a:lnTo>
                  <a:lnTo>
                    <a:pt x="4552" y="17090"/>
                  </a:lnTo>
                  <a:lnTo>
                    <a:pt x="4575" y="17443"/>
                  </a:lnTo>
                  <a:lnTo>
                    <a:pt x="4586" y="17825"/>
                  </a:lnTo>
                  <a:lnTo>
                    <a:pt x="4586" y="18193"/>
                  </a:lnTo>
                  <a:lnTo>
                    <a:pt x="4586" y="18574"/>
                  </a:lnTo>
                  <a:lnTo>
                    <a:pt x="4586" y="18984"/>
                  </a:lnTo>
                  <a:lnTo>
                    <a:pt x="4552" y="19366"/>
                  </a:lnTo>
                  <a:lnTo>
                    <a:pt x="4507" y="19748"/>
                  </a:lnTo>
                  <a:lnTo>
                    <a:pt x="4462" y="20129"/>
                  </a:lnTo>
                  <a:lnTo>
                    <a:pt x="4371" y="20483"/>
                  </a:lnTo>
                  <a:lnTo>
                    <a:pt x="4292" y="20836"/>
                  </a:lnTo>
                  <a:lnTo>
                    <a:pt x="4202" y="21161"/>
                  </a:lnTo>
                  <a:lnTo>
                    <a:pt x="4744" y="21161"/>
                  </a:lnTo>
                  <a:lnTo>
                    <a:pt x="5264" y="21161"/>
                  </a:lnTo>
                  <a:lnTo>
                    <a:pt x="5784" y="21161"/>
                  </a:lnTo>
                  <a:lnTo>
                    <a:pt x="6235" y="21161"/>
                  </a:lnTo>
                  <a:lnTo>
                    <a:pt x="6676" y="21161"/>
                  </a:lnTo>
                  <a:lnTo>
                    <a:pt x="7060" y="21161"/>
                  </a:lnTo>
                  <a:lnTo>
                    <a:pt x="7410" y="21161"/>
                  </a:lnTo>
                  <a:lnTo>
                    <a:pt x="7670" y="21161"/>
                  </a:lnTo>
                  <a:lnTo>
                    <a:pt x="8020" y="21020"/>
                  </a:lnTo>
                  <a:lnTo>
                    <a:pt x="8303" y="20893"/>
                  </a:lnTo>
                  <a:lnTo>
                    <a:pt x="8563" y="20695"/>
                  </a:lnTo>
                  <a:lnTo>
                    <a:pt x="8800" y="20511"/>
                  </a:lnTo>
                  <a:lnTo>
                    <a:pt x="8969" y="20285"/>
                  </a:lnTo>
                  <a:lnTo>
                    <a:pt x="9150" y="20045"/>
                  </a:lnTo>
                  <a:lnTo>
                    <a:pt x="9252" y="19804"/>
                  </a:lnTo>
                  <a:lnTo>
                    <a:pt x="9342" y="19550"/>
                  </a:lnTo>
                  <a:lnTo>
                    <a:pt x="9410" y="19281"/>
                  </a:lnTo>
                  <a:lnTo>
                    <a:pt x="9433" y="19013"/>
                  </a:lnTo>
                  <a:lnTo>
                    <a:pt x="9433" y="18744"/>
                  </a:lnTo>
                  <a:lnTo>
                    <a:pt x="9387" y="18504"/>
                  </a:lnTo>
                  <a:lnTo>
                    <a:pt x="9320" y="18221"/>
                  </a:lnTo>
                  <a:lnTo>
                    <a:pt x="9207" y="17981"/>
                  </a:lnTo>
                  <a:lnTo>
                    <a:pt x="9105" y="17740"/>
                  </a:lnTo>
                  <a:lnTo>
                    <a:pt x="8924" y="17514"/>
                  </a:lnTo>
                  <a:lnTo>
                    <a:pt x="8777" y="17274"/>
                  </a:lnTo>
                  <a:lnTo>
                    <a:pt x="8642" y="17034"/>
                  </a:lnTo>
                  <a:lnTo>
                    <a:pt x="8563" y="16765"/>
                  </a:lnTo>
                  <a:lnTo>
                    <a:pt x="8472" y="16468"/>
                  </a:lnTo>
                  <a:lnTo>
                    <a:pt x="8450" y="16157"/>
                  </a:lnTo>
                  <a:lnTo>
                    <a:pt x="8450" y="15860"/>
                  </a:lnTo>
                  <a:lnTo>
                    <a:pt x="8472" y="15563"/>
                  </a:lnTo>
                  <a:lnTo>
                    <a:pt x="8540" y="15267"/>
                  </a:lnTo>
                  <a:lnTo>
                    <a:pt x="8642" y="14998"/>
                  </a:lnTo>
                  <a:lnTo>
                    <a:pt x="8777" y="14729"/>
                  </a:lnTo>
                  <a:lnTo>
                    <a:pt x="8868" y="14616"/>
                  </a:lnTo>
                  <a:lnTo>
                    <a:pt x="8969" y="14475"/>
                  </a:lnTo>
                  <a:lnTo>
                    <a:pt x="9060" y="14376"/>
                  </a:lnTo>
                  <a:lnTo>
                    <a:pt x="9184" y="14291"/>
                  </a:lnTo>
                  <a:lnTo>
                    <a:pt x="9297" y="14206"/>
                  </a:lnTo>
                  <a:lnTo>
                    <a:pt x="9433" y="14121"/>
                  </a:lnTo>
                  <a:lnTo>
                    <a:pt x="9579" y="14051"/>
                  </a:lnTo>
                  <a:lnTo>
                    <a:pt x="9726" y="13994"/>
                  </a:lnTo>
                  <a:lnTo>
                    <a:pt x="9884" y="13938"/>
                  </a:lnTo>
                  <a:lnTo>
                    <a:pt x="10054" y="13909"/>
                  </a:lnTo>
                  <a:lnTo>
                    <a:pt x="10257" y="13881"/>
                  </a:lnTo>
                  <a:lnTo>
                    <a:pt x="10449" y="13881"/>
                  </a:lnTo>
                  <a:lnTo>
                    <a:pt x="10664" y="13881"/>
                  </a:lnTo>
                  <a:lnTo>
                    <a:pt x="10856" y="13909"/>
                  </a:lnTo>
                  <a:lnTo>
                    <a:pt x="11037" y="13966"/>
                  </a:lnTo>
                  <a:lnTo>
                    <a:pt x="11206" y="14023"/>
                  </a:lnTo>
                  <a:lnTo>
                    <a:pt x="11353" y="14093"/>
                  </a:lnTo>
                  <a:lnTo>
                    <a:pt x="11511" y="14178"/>
                  </a:lnTo>
                  <a:lnTo>
                    <a:pt x="11635" y="14263"/>
                  </a:lnTo>
                  <a:lnTo>
                    <a:pt x="11748" y="14376"/>
                  </a:lnTo>
                  <a:lnTo>
                    <a:pt x="11861" y="14475"/>
                  </a:lnTo>
                  <a:lnTo>
                    <a:pt x="11941" y="14616"/>
                  </a:lnTo>
                  <a:lnTo>
                    <a:pt x="12031" y="14758"/>
                  </a:lnTo>
                  <a:lnTo>
                    <a:pt x="12099" y="14885"/>
                  </a:lnTo>
                  <a:lnTo>
                    <a:pt x="12200" y="15210"/>
                  </a:lnTo>
                  <a:lnTo>
                    <a:pt x="12268" y="15507"/>
                  </a:lnTo>
                  <a:lnTo>
                    <a:pt x="12291" y="15832"/>
                  </a:lnTo>
                  <a:lnTo>
                    <a:pt x="12291" y="16157"/>
                  </a:lnTo>
                  <a:lnTo>
                    <a:pt x="12246" y="16482"/>
                  </a:lnTo>
                  <a:lnTo>
                    <a:pt x="12178" y="16807"/>
                  </a:lnTo>
                  <a:lnTo>
                    <a:pt x="12099" y="17090"/>
                  </a:lnTo>
                  <a:lnTo>
                    <a:pt x="12008" y="17330"/>
                  </a:lnTo>
                  <a:lnTo>
                    <a:pt x="11884" y="17542"/>
                  </a:lnTo>
                  <a:lnTo>
                    <a:pt x="11748" y="17712"/>
                  </a:lnTo>
                  <a:lnTo>
                    <a:pt x="11613" y="17839"/>
                  </a:lnTo>
                  <a:lnTo>
                    <a:pt x="11489" y="18037"/>
                  </a:lnTo>
                  <a:lnTo>
                    <a:pt x="11398" y="18221"/>
                  </a:lnTo>
                  <a:lnTo>
                    <a:pt x="11319" y="18447"/>
                  </a:lnTo>
                  <a:lnTo>
                    <a:pt x="11251" y="18659"/>
                  </a:lnTo>
                  <a:lnTo>
                    <a:pt x="11206" y="18900"/>
                  </a:lnTo>
                  <a:lnTo>
                    <a:pt x="11184" y="19154"/>
                  </a:lnTo>
                  <a:lnTo>
                    <a:pt x="11184" y="19423"/>
                  </a:lnTo>
                  <a:lnTo>
                    <a:pt x="11229" y="19663"/>
                  </a:lnTo>
                  <a:lnTo>
                    <a:pt x="11297" y="19903"/>
                  </a:lnTo>
                  <a:lnTo>
                    <a:pt x="11376" y="20158"/>
                  </a:lnTo>
                  <a:lnTo>
                    <a:pt x="11511" y="20398"/>
                  </a:lnTo>
                  <a:lnTo>
                    <a:pt x="11681" y="20610"/>
                  </a:lnTo>
                  <a:lnTo>
                    <a:pt x="11884" y="20808"/>
                  </a:lnTo>
                  <a:lnTo>
                    <a:pt x="12121" y="20992"/>
                  </a:lnTo>
                  <a:lnTo>
                    <a:pt x="12404" y="21161"/>
                  </a:lnTo>
                  <a:lnTo>
                    <a:pt x="12528" y="21190"/>
                  </a:lnTo>
                  <a:lnTo>
                    <a:pt x="12856" y="21274"/>
                  </a:lnTo>
                  <a:lnTo>
                    <a:pt x="13330" y="21373"/>
                  </a:lnTo>
                  <a:lnTo>
                    <a:pt x="13963" y="21486"/>
                  </a:lnTo>
                  <a:lnTo>
                    <a:pt x="14313" y="21543"/>
                  </a:lnTo>
                  <a:lnTo>
                    <a:pt x="14652" y="21571"/>
                  </a:lnTo>
                  <a:lnTo>
                    <a:pt x="15025" y="21600"/>
                  </a:lnTo>
                  <a:lnTo>
                    <a:pt x="15409" y="21600"/>
                  </a:lnTo>
                  <a:lnTo>
                    <a:pt x="15782" y="21600"/>
                  </a:lnTo>
                  <a:lnTo>
                    <a:pt x="16177" y="21571"/>
                  </a:lnTo>
                  <a:lnTo>
                    <a:pt x="16516" y="21486"/>
                  </a:lnTo>
                  <a:lnTo>
                    <a:pt x="16889" y="21402"/>
                  </a:lnTo>
                  <a:lnTo>
                    <a:pt x="16821" y="21190"/>
                  </a:lnTo>
                  <a:lnTo>
                    <a:pt x="16776" y="20935"/>
                  </a:lnTo>
                  <a:lnTo>
                    <a:pt x="16742" y="20667"/>
                  </a:lnTo>
                  <a:lnTo>
                    <a:pt x="16719" y="20370"/>
                  </a:lnTo>
                  <a:lnTo>
                    <a:pt x="16697" y="19719"/>
                  </a:lnTo>
                  <a:lnTo>
                    <a:pt x="16697" y="19013"/>
                  </a:lnTo>
                  <a:lnTo>
                    <a:pt x="16719" y="18306"/>
                  </a:lnTo>
                  <a:lnTo>
                    <a:pt x="16753" y="17599"/>
                  </a:lnTo>
                  <a:lnTo>
                    <a:pt x="16821" y="16949"/>
                  </a:lnTo>
                  <a:lnTo>
                    <a:pt x="16889" y="16383"/>
                  </a:lnTo>
                  <a:lnTo>
                    <a:pt x="16934" y="16129"/>
                  </a:lnTo>
                  <a:lnTo>
                    <a:pt x="17002" y="15945"/>
                  </a:lnTo>
                  <a:lnTo>
                    <a:pt x="17081" y="15790"/>
                  </a:lnTo>
                  <a:lnTo>
                    <a:pt x="17194" y="15648"/>
                  </a:lnTo>
                  <a:lnTo>
                    <a:pt x="17318" y="15563"/>
                  </a:lnTo>
                  <a:lnTo>
                    <a:pt x="17453" y="15507"/>
                  </a:lnTo>
                  <a:lnTo>
                    <a:pt x="17600" y="15450"/>
                  </a:lnTo>
                  <a:lnTo>
                    <a:pt x="17758" y="15450"/>
                  </a:lnTo>
                  <a:lnTo>
                    <a:pt x="17905" y="15479"/>
                  </a:lnTo>
                  <a:lnTo>
                    <a:pt x="18064" y="15535"/>
                  </a:lnTo>
                  <a:lnTo>
                    <a:pt x="18233" y="15620"/>
                  </a:lnTo>
                  <a:lnTo>
                    <a:pt x="18380" y="15733"/>
                  </a:lnTo>
                  <a:lnTo>
                    <a:pt x="18561" y="15832"/>
                  </a:lnTo>
                  <a:lnTo>
                    <a:pt x="18707" y="15973"/>
                  </a:lnTo>
                  <a:lnTo>
                    <a:pt x="18866" y="16129"/>
                  </a:lnTo>
                  <a:lnTo>
                    <a:pt x="18990" y="16327"/>
                  </a:lnTo>
                  <a:lnTo>
                    <a:pt x="19125" y="16482"/>
                  </a:lnTo>
                  <a:lnTo>
                    <a:pt x="19295" y="16624"/>
                  </a:lnTo>
                  <a:lnTo>
                    <a:pt x="19464" y="16737"/>
                  </a:lnTo>
                  <a:lnTo>
                    <a:pt x="19668" y="16807"/>
                  </a:lnTo>
                  <a:lnTo>
                    <a:pt x="19860" y="16836"/>
                  </a:lnTo>
                  <a:lnTo>
                    <a:pt x="20052" y="16864"/>
                  </a:lnTo>
                  <a:lnTo>
                    <a:pt x="20266" y="16836"/>
                  </a:lnTo>
                  <a:lnTo>
                    <a:pt x="20470" y="16793"/>
                  </a:lnTo>
                  <a:lnTo>
                    <a:pt x="20662" y="16708"/>
                  </a:lnTo>
                  <a:lnTo>
                    <a:pt x="20854" y="16567"/>
                  </a:lnTo>
                  <a:lnTo>
                    <a:pt x="21035" y="16412"/>
                  </a:lnTo>
                  <a:lnTo>
                    <a:pt x="21182" y="16214"/>
                  </a:lnTo>
                  <a:lnTo>
                    <a:pt x="21340" y="16002"/>
                  </a:lnTo>
                  <a:lnTo>
                    <a:pt x="21441" y="15733"/>
                  </a:lnTo>
                  <a:lnTo>
                    <a:pt x="21532" y="15436"/>
                  </a:lnTo>
                  <a:lnTo>
                    <a:pt x="21600" y="15083"/>
                  </a:lnTo>
                  <a:lnTo>
                    <a:pt x="21600" y="14885"/>
                  </a:lnTo>
                  <a:lnTo>
                    <a:pt x="21600" y="14729"/>
                  </a:lnTo>
                  <a:lnTo>
                    <a:pt x="21600" y="14531"/>
                  </a:lnTo>
                  <a:lnTo>
                    <a:pt x="21577" y="14376"/>
                  </a:lnTo>
                  <a:lnTo>
                    <a:pt x="21532" y="14206"/>
                  </a:lnTo>
                  <a:lnTo>
                    <a:pt x="21487" y="14051"/>
                  </a:lnTo>
                  <a:lnTo>
                    <a:pt x="21419" y="13909"/>
                  </a:lnTo>
                  <a:lnTo>
                    <a:pt x="21351" y="13768"/>
                  </a:lnTo>
                  <a:lnTo>
                    <a:pt x="21204" y="13500"/>
                  </a:lnTo>
                  <a:lnTo>
                    <a:pt x="21035" y="13287"/>
                  </a:lnTo>
                  <a:lnTo>
                    <a:pt x="20809" y="13090"/>
                  </a:lnTo>
                  <a:lnTo>
                    <a:pt x="20594" y="12962"/>
                  </a:lnTo>
                  <a:lnTo>
                    <a:pt x="20357" y="12821"/>
                  </a:lnTo>
                  <a:lnTo>
                    <a:pt x="20120" y="12764"/>
                  </a:lnTo>
                  <a:lnTo>
                    <a:pt x="19882" y="12708"/>
                  </a:lnTo>
                  <a:lnTo>
                    <a:pt x="19645" y="12736"/>
                  </a:lnTo>
                  <a:lnTo>
                    <a:pt x="19430" y="12793"/>
                  </a:lnTo>
                  <a:lnTo>
                    <a:pt x="19227" y="12906"/>
                  </a:lnTo>
                  <a:lnTo>
                    <a:pt x="19148" y="12962"/>
                  </a:lnTo>
                  <a:lnTo>
                    <a:pt x="19058" y="13047"/>
                  </a:lnTo>
                  <a:lnTo>
                    <a:pt x="18990" y="13146"/>
                  </a:lnTo>
                  <a:lnTo>
                    <a:pt x="18911" y="13259"/>
                  </a:lnTo>
                  <a:lnTo>
                    <a:pt x="18775" y="13471"/>
                  </a:lnTo>
                  <a:lnTo>
                    <a:pt x="18628" y="13641"/>
                  </a:lnTo>
                  <a:lnTo>
                    <a:pt x="18470" y="13740"/>
                  </a:lnTo>
                  <a:lnTo>
                    <a:pt x="18301" y="13825"/>
                  </a:lnTo>
                  <a:lnTo>
                    <a:pt x="18143" y="13853"/>
                  </a:lnTo>
                  <a:lnTo>
                    <a:pt x="17973" y="13881"/>
                  </a:lnTo>
                  <a:lnTo>
                    <a:pt x="17804" y="13853"/>
                  </a:lnTo>
                  <a:lnTo>
                    <a:pt x="17646" y="13796"/>
                  </a:lnTo>
                  <a:lnTo>
                    <a:pt x="17499" y="13726"/>
                  </a:lnTo>
                  <a:lnTo>
                    <a:pt x="17341" y="13641"/>
                  </a:lnTo>
                  <a:lnTo>
                    <a:pt x="17216" y="13528"/>
                  </a:lnTo>
                  <a:lnTo>
                    <a:pt x="17103" y="13386"/>
                  </a:lnTo>
                  <a:lnTo>
                    <a:pt x="17024" y="13259"/>
                  </a:lnTo>
                  <a:lnTo>
                    <a:pt x="16934" y="13118"/>
                  </a:lnTo>
                  <a:lnTo>
                    <a:pt x="16889" y="12991"/>
                  </a:lnTo>
                  <a:lnTo>
                    <a:pt x="16889" y="12849"/>
                  </a:lnTo>
                  <a:lnTo>
                    <a:pt x="16889" y="12383"/>
                  </a:lnTo>
                  <a:lnTo>
                    <a:pt x="16889" y="11662"/>
                  </a:lnTo>
                  <a:lnTo>
                    <a:pt x="16889" y="10701"/>
                  </a:lnTo>
                  <a:lnTo>
                    <a:pt x="16889" y="9640"/>
                  </a:lnTo>
                  <a:lnTo>
                    <a:pt x="16889" y="8566"/>
                  </a:lnTo>
                  <a:lnTo>
                    <a:pt x="16889" y="7478"/>
                  </a:lnTo>
                  <a:lnTo>
                    <a:pt x="16889" y="6502"/>
                  </a:lnTo>
                  <a:lnTo>
                    <a:pt x="16889" y="5739"/>
                  </a:lnTo>
                  <a:lnTo>
                    <a:pt x="16674" y="5894"/>
                  </a:lnTo>
                  <a:lnTo>
                    <a:pt x="16414" y="6036"/>
                  </a:lnTo>
                  <a:lnTo>
                    <a:pt x="16154" y="6177"/>
                  </a:lnTo>
                  <a:lnTo>
                    <a:pt x="15849" y="6248"/>
                  </a:lnTo>
                  <a:lnTo>
                    <a:pt x="15544" y="6304"/>
                  </a:lnTo>
                  <a:lnTo>
                    <a:pt x="15217" y="6332"/>
                  </a:lnTo>
                  <a:lnTo>
                    <a:pt x="14866" y="6361"/>
                  </a:lnTo>
                  <a:lnTo>
                    <a:pt x="14550" y="6361"/>
                  </a:lnTo>
                  <a:lnTo>
                    <a:pt x="14200" y="6332"/>
                  </a:lnTo>
                  <a:lnTo>
                    <a:pt x="13850" y="6276"/>
                  </a:lnTo>
                  <a:lnTo>
                    <a:pt x="13522" y="6219"/>
                  </a:lnTo>
                  <a:lnTo>
                    <a:pt x="13206" y="6149"/>
                  </a:lnTo>
                  <a:lnTo>
                    <a:pt x="12901" y="6064"/>
                  </a:lnTo>
                  <a:lnTo>
                    <a:pt x="12618" y="5951"/>
                  </a:lnTo>
                  <a:lnTo>
                    <a:pt x="12358" y="5838"/>
                  </a:lnTo>
                  <a:lnTo>
                    <a:pt x="12121" y="5739"/>
                  </a:lnTo>
                  <a:lnTo>
                    <a:pt x="11941" y="5626"/>
                  </a:lnTo>
                  <a:lnTo>
                    <a:pt x="11794" y="5513"/>
                  </a:lnTo>
                  <a:lnTo>
                    <a:pt x="11658" y="5414"/>
                  </a:lnTo>
                  <a:lnTo>
                    <a:pt x="11556" y="5301"/>
                  </a:lnTo>
                  <a:lnTo>
                    <a:pt x="11466" y="5187"/>
                  </a:lnTo>
                  <a:lnTo>
                    <a:pt x="11398" y="5089"/>
                  </a:lnTo>
                  <a:lnTo>
                    <a:pt x="11376" y="4947"/>
                  </a:lnTo>
                  <a:lnTo>
                    <a:pt x="11353" y="4834"/>
                  </a:lnTo>
                  <a:lnTo>
                    <a:pt x="11353" y="4707"/>
                  </a:lnTo>
                  <a:lnTo>
                    <a:pt x="11376" y="4565"/>
                  </a:lnTo>
                  <a:lnTo>
                    <a:pt x="11443" y="4410"/>
                  </a:lnTo>
                  <a:lnTo>
                    <a:pt x="11511" y="4240"/>
                  </a:lnTo>
                  <a:lnTo>
                    <a:pt x="11703" y="3887"/>
                  </a:lnTo>
                  <a:lnTo>
                    <a:pt x="11986" y="3505"/>
                  </a:lnTo>
                  <a:lnTo>
                    <a:pt x="12144" y="3265"/>
                  </a:lnTo>
                  <a:lnTo>
                    <a:pt x="12246" y="3025"/>
                  </a:lnTo>
                  <a:lnTo>
                    <a:pt x="12336" y="2756"/>
                  </a:lnTo>
                  <a:lnTo>
                    <a:pt x="12404" y="2445"/>
                  </a:lnTo>
                  <a:lnTo>
                    <a:pt x="12438" y="2176"/>
                  </a:lnTo>
                  <a:lnTo>
                    <a:pt x="12438" y="1880"/>
                  </a:lnTo>
                  <a:lnTo>
                    <a:pt x="12404" y="1583"/>
                  </a:lnTo>
                  <a:lnTo>
                    <a:pt x="12336" y="1314"/>
                  </a:lnTo>
                  <a:lnTo>
                    <a:pt x="12246" y="1046"/>
                  </a:lnTo>
                  <a:lnTo>
                    <a:pt x="12099" y="791"/>
                  </a:lnTo>
                  <a:lnTo>
                    <a:pt x="12008" y="692"/>
                  </a:lnTo>
                  <a:lnTo>
                    <a:pt x="11918" y="579"/>
                  </a:lnTo>
                  <a:lnTo>
                    <a:pt x="11816" y="466"/>
                  </a:lnTo>
                  <a:lnTo>
                    <a:pt x="11703" y="381"/>
                  </a:lnTo>
                  <a:lnTo>
                    <a:pt x="11579" y="310"/>
                  </a:lnTo>
                  <a:lnTo>
                    <a:pt x="11443" y="226"/>
                  </a:lnTo>
                  <a:lnTo>
                    <a:pt x="11297" y="169"/>
                  </a:lnTo>
                  <a:lnTo>
                    <a:pt x="11138" y="113"/>
                  </a:lnTo>
                  <a:lnTo>
                    <a:pt x="10969" y="56"/>
                  </a:lnTo>
                  <a:lnTo>
                    <a:pt x="10800" y="28"/>
                  </a:lnTo>
                  <a:lnTo>
                    <a:pt x="10619" y="28"/>
                  </a:lnTo>
                  <a:lnTo>
                    <a:pt x="10404" y="28"/>
                  </a:lnTo>
                  <a:lnTo>
                    <a:pt x="10257" y="28"/>
                  </a:lnTo>
                  <a:lnTo>
                    <a:pt x="10076" y="56"/>
                  </a:lnTo>
                  <a:lnTo>
                    <a:pt x="9952" y="84"/>
                  </a:lnTo>
                  <a:lnTo>
                    <a:pt x="9794" y="141"/>
                  </a:lnTo>
                  <a:lnTo>
                    <a:pt x="9692" y="226"/>
                  </a:lnTo>
                  <a:lnTo>
                    <a:pt x="9557" y="282"/>
                  </a:lnTo>
                  <a:lnTo>
                    <a:pt x="9455" y="381"/>
                  </a:lnTo>
                  <a:lnTo>
                    <a:pt x="9365" y="466"/>
                  </a:lnTo>
                  <a:lnTo>
                    <a:pt x="9274" y="579"/>
                  </a:lnTo>
                  <a:lnTo>
                    <a:pt x="9184" y="692"/>
                  </a:lnTo>
                  <a:lnTo>
                    <a:pt x="9128" y="791"/>
                  </a:lnTo>
                  <a:lnTo>
                    <a:pt x="9060" y="932"/>
                  </a:lnTo>
                  <a:lnTo>
                    <a:pt x="8969" y="1201"/>
                  </a:lnTo>
                  <a:lnTo>
                    <a:pt x="8913" y="1498"/>
                  </a:lnTo>
                  <a:lnTo>
                    <a:pt x="8890" y="1795"/>
                  </a:lnTo>
                  <a:lnTo>
                    <a:pt x="8890" y="2120"/>
                  </a:lnTo>
                  <a:lnTo>
                    <a:pt x="8913" y="2445"/>
                  </a:lnTo>
                  <a:lnTo>
                    <a:pt x="8969" y="2756"/>
                  </a:lnTo>
                  <a:lnTo>
                    <a:pt x="9060" y="3081"/>
                  </a:lnTo>
                  <a:lnTo>
                    <a:pt x="9173" y="3378"/>
                  </a:lnTo>
                  <a:lnTo>
                    <a:pt x="9297" y="3647"/>
                  </a:lnTo>
                  <a:lnTo>
                    <a:pt x="9466" y="3887"/>
                  </a:lnTo>
                  <a:lnTo>
                    <a:pt x="9579" y="4085"/>
                  </a:lnTo>
                  <a:lnTo>
                    <a:pt x="9670" y="4269"/>
                  </a:lnTo>
                  <a:lnTo>
                    <a:pt x="9726" y="4467"/>
                  </a:lnTo>
                  <a:lnTo>
                    <a:pt x="9771" y="4650"/>
                  </a:lnTo>
                  <a:lnTo>
                    <a:pt x="9771" y="4834"/>
                  </a:lnTo>
                  <a:lnTo>
                    <a:pt x="9749" y="5032"/>
                  </a:lnTo>
                  <a:lnTo>
                    <a:pt x="9715" y="5216"/>
                  </a:lnTo>
                  <a:lnTo>
                    <a:pt x="9625" y="5385"/>
                  </a:lnTo>
                  <a:lnTo>
                    <a:pt x="9534" y="5513"/>
                  </a:lnTo>
                  <a:lnTo>
                    <a:pt x="9410" y="5626"/>
                  </a:lnTo>
                  <a:lnTo>
                    <a:pt x="9229" y="5710"/>
                  </a:lnTo>
                  <a:lnTo>
                    <a:pt x="9060" y="5767"/>
                  </a:lnTo>
                  <a:lnTo>
                    <a:pt x="8845" y="5767"/>
                  </a:lnTo>
                  <a:lnTo>
                    <a:pt x="8585" y="5739"/>
                  </a:lnTo>
                  <a:lnTo>
                    <a:pt x="8325" y="5654"/>
                  </a:lnTo>
                  <a:lnTo>
                    <a:pt x="8020" y="5513"/>
                  </a:lnTo>
                  <a:lnTo>
                    <a:pt x="7840" y="5442"/>
                  </a:lnTo>
                  <a:lnTo>
                    <a:pt x="7648" y="5385"/>
                  </a:lnTo>
                  <a:lnTo>
                    <a:pt x="7433" y="5329"/>
                  </a:lnTo>
                  <a:lnTo>
                    <a:pt x="7241" y="5301"/>
                  </a:lnTo>
                  <a:lnTo>
                    <a:pt x="6755" y="5301"/>
                  </a:lnTo>
                  <a:lnTo>
                    <a:pt x="6281" y="5329"/>
                  </a:lnTo>
                  <a:lnTo>
                    <a:pt x="5784" y="5385"/>
                  </a:lnTo>
                  <a:lnTo>
                    <a:pt x="5264" y="5498"/>
                  </a:lnTo>
                  <a:lnTo>
                    <a:pt x="4744" y="5597"/>
                  </a:lnTo>
                  <a:lnTo>
                    <a:pt x="4247" y="5739"/>
                  </a:lnTo>
                  <a:lnTo>
                    <a:pt x="4202" y="5894"/>
                  </a:lnTo>
                  <a:lnTo>
                    <a:pt x="4202" y="6191"/>
                  </a:lnTo>
                  <a:lnTo>
                    <a:pt x="4202" y="6545"/>
                  </a:lnTo>
                  <a:lnTo>
                    <a:pt x="4225" y="6954"/>
                  </a:lnTo>
                  <a:lnTo>
                    <a:pt x="4315" y="7930"/>
                  </a:lnTo>
                  <a:lnTo>
                    <a:pt x="4394" y="9018"/>
                  </a:lnTo>
                  <a:lnTo>
                    <a:pt x="4439" y="9570"/>
                  </a:lnTo>
                  <a:lnTo>
                    <a:pt x="4462" y="10107"/>
                  </a:lnTo>
                  <a:lnTo>
                    <a:pt x="4484" y="10630"/>
                  </a:lnTo>
                  <a:lnTo>
                    <a:pt x="4507" y="11082"/>
                  </a:lnTo>
                  <a:lnTo>
                    <a:pt x="4484" y="11520"/>
                  </a:lnTo>
                  <a:lnTo>
                    <a:pt x="4439" y="11874"/>
                  </a:lnTo>
                  <a:lnTo>
                    <a:pt x="4394" y="12029"/>
                  </a:lnTo>
                  <a:lnTo>
                    <a:pt x="4349" y="12171"/>
                  </a:lnTo>
                  <a:lnTo>
                    <a:pt x="4315" y="12284"/>
                  </a:lnTo>
                  <a:lnTo>
                    <a:pt x="4247" y="12354"/>
                  </a:lnTo>
                  <a:close/>
                </a:path>
              </a:pathLst>
            </a:custGeom>
            <a:solidFill>
              <a:srgbClr val="FFFFCC"/>
            </a:solidFill>
            <a:ln w="28575">
              <a:solidFill>
                <a:srgbClr val="000000"/>
              </a:solidFill>
              <a:miter lim="800000"/>
              <a:headEnd/>
              <a:tailEnd/>
            </a:ln>
          </p:spPr>
          <p:txBody>
            <a:bodyPr/>
            <a:lstStyle/>
            <a:p>
              <a:endParaRPr lang="zh-CN" altLang="en-US">
                <a:latin typeface="+mn-ea"/>
                <a:ea typeface="+mn-ea"/>
              </a:endParaRPr>
            </a:p>
          </p:txBody>
        </p:sp>
        <p:sp>
          <p:nvSpPr>
            <p:cNvPr id="47" name="Puzzle4"/>
            <p:cNvSpPr>
              <a:spLocks noEditPoints="1" noChangeArrowheads="1"/>
            </p:cNvSpPr>
            <p:nvPr/>
          </p:nvSpPr>
          <p:spPr bwMode="auto">
            <a:xfrm>
              <a:off x="2192" y="1719"/>
              <a:ext cx="1072" cy="176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2075 w 21600"/>
                <a:gd name="T25" fmla="*/ 5660 h 21600"/>
                <a:gd name="T26" fmla="*/ 20210 w 21600"/>
                <a:gd name="T27" fmla="*/ 15976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3813" y="10590"/>
                  </a:moveTo>
                  <a:lnTo>
                    <a:pt x="3927" y="10513"/>
                  </a:lnTo>
                  <a:lnTo>
                    <a:pt x="4078" y="10425"/>
                  </a:lnTo>
                  <a:lnTo>
                    <a:pt x="4210" y="10359"/>
                  </a:lnTo>
                  <a:lnTo>
                    <a:pt x="4361" y="10315"/>
                  </a:lnTo>
                  <a:lnTo>
                    <a:pt x="4682" y="10237"/>
                  </a:lnTo>
                  <a:lnTo>
                    <a:pt x="5041" y="10193"/>
                  </a:lnTo>
                  <a:lnTo>
                    <a:pt x="5456" y="10171"/>
                  </a:lnTo>
                  <a:lnTo>
                    <a:pt x="5853" y="10193"/>
                  </a:lnTo>
                  <a:lnTo>
                    <a:pt x="6249" y="10260"/>
                  </a:lnTo>
                  <a:lnTo>
                    <a:pt x="6646" y="10337"/>
                  </a:lnTo>
                  <a:lnTo>
                    <a:pt x="7004" y="10469"/>
                  </a:lnTo>
                  <a:lnTo>
                    <a:pt x="7363" y="10612"/>
                  </a:lnTo>
                  <a:lnTo>
                    <a:pt x="7665" y="10788"/>
                  </a:lnTo>
                  <a:lnTo>
                    <a:pt x="7911" y="10998"/>
                  </a:lnTo>
                  <a:lnTo>
                    <a:pt x="8024" y="11097"/>
                  </a:lnTo>
                  <a:lnTo>
                    <a:pt x="8137" y="11207"/>
                  </a:lnTo>
                  <a:lnTo>
                    <a:pt x="8194" y="11340"/>
                  </a:lnTo>
                  <a:lnTo>
                    <a:pt x="8269" y="11461"/>
                  </a:lnTo>
                  <a:lnTo>
                    <a:pt x="8307" y="11593"/>
                  </a:lnTo>
                  <a:lnTo>
                    <a:pt x="8307" y="11714"/>
                  </a:lnTo>
                  <a:lnTo>
                    <a:pt x="8307" y="11868"/>
                  </a:lnTo>
                  <a:lnTo>
                    <a:pt x="8307" y="12012"/>
                  </a:lnTo>
                  <a:lnTo>
                    <a:pt x="8194" y="12265"/>
                  </a:lnTo>
                  <a:lnTo>
                    <a:pt x="8062" y="12519"/>
                  </a:lnTo>
                  <a:lnTo>
                    <a:pt x="7873" y="12706"/>
                  </a:lnTo>
                  <a:lnTo>
                    <a:pt x="7627" y="12904"/>
                  </a:lnTo>
                  <a:lnTo>
                    <a:pt x="7363" y="13048"/>
                  </a:lnTo>
                  <a:lnTo>
                    <a:pt x="7080" y="13180"/>
                  </a:lnTo>
                  <a:lnTo>
                    <a:pt x="6759" y="13257"/>
                  </a:lnTo>
                  <a:lnTo>
                    <a:pt x="6419" y="13345"/>
                  </a:lnTo>
                  <a:lnTo>
                    <a:pt x="6098" y="13389"/>
                  </a:lnTo>
                  <a:lnTo>
                    <a:pt x="5739" y="13389"/>
                  </a:lnTo>
                  <a:lnTo>
                    <a:pt x="5418" y="13389"/>
                  </a:lnTo>
                  <a:lnTo>
                    <a:pt x="5079" y="13345"/>
                  </a:lnTo>
                  <a:lnTo>
                    <a:pt x="4758" y="13301"/>
                  </a:lnTo>
                  <a:lnTo>
                    <a:pt x="4474" y="13213"/>
                  </a:lnTo>
                  <a:lnTo>
                    <a:pt x="4172" y="13114"/>
                  </a:lnTo>
                  <a:lnTo>
                    <a:pt x="3965" y="12982"/>
                  </a:lnTo>
                  <a:lnTo>
                    <a:pt x="3738" y="12838"/>
                  </a:lnTo>
                  <a:lnTo>
                    <a:pt x="3493" y="12706"/>
                  </a:lnTo>
                  <a:lnTo>
                    <a:pt x="3228" y="12607"/>
                  </a:lnTo>
                  <a:lnTo>
                    <a:pt x="2945" y="12519"/>
                  </a:lnTo>
                  <a:lnTo>
                    <a:pt x="2700" y="12431"/>
                  </a:lnTo>
                  <a:lnTo>
                    <a:pt x="2397" y="12375"/>
                  </a:lnTo>
                  <a:lnTo>
                    <a:pt x="2152" y="12331"/>
                  </a:lnTo>
                  <a:lnTo>
                    <a:pt x="1888" y="12309"/>
                  </a:lnTo>
                  <a:lnTo>
                    <a:pt x="1642" y="12309"/>
                  </a:lnTo>
                  <a:lnTo>
                    <a:pt x="1397" y="12331"/>
                  </a:lnTo>
                  <a:lnTo>
                    <a:pt x="1170" y="12397"/>
                  </a:lnTo>
                  <a:lnTo>
                    <a:pt x="962" y="12453"/>
                  </a:lnTo>
                  <a:lnTo>
                    <a:pt x="774" y="12563"/>
                  </a:lnTo>
                  <a:lnTo>
                    <a:pt x="623" y="12684"/>
                  </a:lnTo>
                  <a:lnTo>
                    <a:pt x="528" y="12838"/>
                  </a:lnTo>
                  <a:lnTo>
                    <a:pt x="453" y="13026"/>
                  </a:lnTo>
                  <a:lnTo>
                    <a:pt x="339" y="13477"/>
                  </a:lnTo>
                  <a:lnTo>
                    <a:pt x="226" y="13984"/>
                  </a:lnTo>
                  <a:lnTo>
                    <a:pt x="151" y="14535"/>
                  </a:lnTo>
                  <a:lnTo>
                    <a:pt x="113" y="15075"/>
                  </a:lnTo>
                  <a:lnTo>
                    <a:pt x="113" y="15626"/>
                  </a:lnTo>
                  <a:lnTo>
                    <a:pt x="151" y="16133"/>
                  </a:lnTo>
                  <a:lnTo>
                    <a:pt x="188" y="16376"/>
                  </a:lnTo>
                  <a:lnTo>
                    <a:pt x="264" y="16585"/>
                  </a:lnTo>
                  <a:lnTo>
                    <a:pt x="339" y="16773"/>
                  </a:lnTo>
                  <a:lnTo>
                    <a:pt x="453" y="16938"/>
                  </a:lnTo>
                  <a:lnTo>
                    <a:pt x="1095" y="16883"/>
                  </a:lnTo>
                  <a:lnTo>
                    <a:pt x="1963" y="16795"/>
                  </a:lnTo>
                  <a:lnTo>
                    <a:pt x="2945" y="16751"/>
                  </a:lnTo>
                  <a:lnTo>
                    <a:pt x="3965" y="16706"/>
                  </a:lnTo>
                  <a:lnTo>
                    <a:pt x="5022" y="16684"/>
                  </a:lnTo>
                  <a:lnTo>
                    <a:pt x="5947" y="16684"/>
                  </a:lnTo>
                  <a:lnTo>
                    <a:pt x="6759" y="16706"/>
                  </a:lnTo>
                  <a:lnTo>
                    <a:pt x="7363" y="16751"/>
                  </a:lnTo>
                  <a:lnTo>
                    <a:pt x="7948" y="16839"/>
                  </a:lnTo>
                  <a:lnTo>
                    <a:pt x="8458" y="16916"/>
                  </a:lnTo>
                  <a:lnTo>
                    <a:pt x="8893" y="17026"/>
                  </a:lnTo>
                  <a:lnTo>
                    <a:pt x="9289" y="17158"/>
                  </a:lnTo>
                  <a:lnTo>
                    <a:pt x="9572" y="17280"/>
                  </a:lnTo>
                  <a:lnTo>
                    <a:pt x="9799" y="17412"/>
                  </a:lnTo>
                  <a:lnTo>
                    <a:pt x="9969" y="17555"/>
                  </a:lnTo>
                  <a:lnTo>
                    <a:pt x="10120" y="17687"/>
                  </a:lnTo>
                  <a:lnTo>
                    <a:pt x="10158" y="17831"/>
                  </a:lnTo>
                  <a:lnTo>
                    <a:pt x="10195" y="17974"/>
                  </a:lnTo>
                  <a:lnTo>
                    <a:pt x="10158" y="18128"/>
                  </a:lnTo>
                  <a:lnTo>
                    <a:pt x="10082" y="18271"/>
                  </a:lnTo>
                  <a:lnTo>
                    <a:pt x="9969" y="18426"/>
                  </a:lnTo>
                  <a:lnTo>
                    <a:pt x="9837" y="18569"/>
                  </a:lnTo>
                  <a:lnTo>
                    <a:pt x="9648" y="18701"/>
                  </a:lnTo>
                  <a:lnTo>
                    <a:pt x="9440" y="18822"/>
                  </a:lnTo>
                  <a:lnTo>
                    <a:pt x="9213" y="18999"/>
                  </a:lnTo>
                  <a:lnTo>
                    <a:pt x="9044" y="19186"/>
                  </a:lnTo>
                  <a:lnTo>
                    <a:pt x="8893" y="19395"/>
                  </a:lnTo>
                  <a:lnTo>
                    <a:pt x="8817" y="19627"/>
                  </a:lnTo>
                  <a:lnTo>
                    <a:pt x="8779" y="19858"/>
                  </a:lnTo>
                  <a:lnTo>
                    <a:pt x="8779" y="20112"/>
                  </a:lnTo>
                  <a:lnTo>
                    <a:pt x="8855" y="20354"/>
                  </a:lnTo>
                  <a:lnTo>
                    <a:pt x="8968" y="20586"/>
                  </a:lnTo>
                  <a:lnTo>
                    <a:pt x="9138" y="20817"/>
                  </a:lnTo>
                  <a:lnTo>
                    <a:pt x="9365" y="21026"/>
                  </a:lnTo>
                  <a:lnTo>
                    <a:pt x="9610" y="21192"/>
                  </a:lnTo>
                  <a:lnTo>
                    <a:pt x="9950" y="21368"/>
                  </a:lnTo>
                  <a:lnTo>
                    <a:pt x="10120" y="21445"/>
                  </a:lnTo>
                  <a:lnTo>
                    <a:pt x="10346" y="21511"/>
                  </a:lnTo>
                  <a:lnTo>
                    <a:pt x="10516" y="21555"/>
                  </a:lnTo>
                  <a:lnTo>
                    <a:pt x="10743" y="21600"/>
                  </a:lnTo>
                  <a:lnTo>
                    <a:pt x="10988" y="21644"/>
                  </a:lnTo>
                  <a:lnTo>
                    <a:pt x="11215" y="21666"/>
                  </a:lnTo>
                  <a:lnTo>
                    <a:pt x="11498" y="21666"/>
                  </a:lnTo>
                  <a:lnTo>
                    <a:pt x="11762" y="21666"/>
                  </a:lnTo>
                  <a:lnTo>
                    <a:pt x="12253" y="21644"/>
                  </a:lnTo>
                  <a:lnTo>
                    <a:pt x="12763" y="21577"/>
                  </a:lnTo>
                  <a:lnTo>
                    <a:pt x="13197" y="21467"/>
                  </a:lnTo>
                  <a:lnTo>
                    <a:pt x="13556" y="21346"/>
                  </a:lnTo>
                  <a:lnTo>
                    <a:pt x="13896" y="21192"/>
                  </a:lnTo>
                  <a:lnTo>
                    <a:pt x="14179" y="21026"/>
                  </a:lnTo>
                  <a:lnTo>
                    <a:pt x="14444" y="20839"/>
                  </a:lnTo>
                  <a:lnTo>
                    <a:pt x="14576" y="20641"/>
                  </a:lnTo>
                  <a:lnTo>
                    <a:pt x="14727" y="20431"/>
                  </a:lnTo>
                  <a:lnTo>
                    <a:pt x="14765" y="20200"/>
                  </a:lnTo>
                  <a:lnTo>
                    <a:pt x="14802" y="19991"/>
                  </a:lnTo>
                  <a:lnTo>
                    <a:pt x="14727" y="19759"/>
                  </a:lnTo>
                  <a:lnTo>
                    <a:pt x="14613" y="19550"/>
                  </a:lnTo>
                  <a:lnTo>
                    <a:pt x="14444" y="19307"/>
                  </a:lnTo>
                  <a:lnTo>
                    <a:pt x="14217" y="19098"/>
                  </a:lnTo>
                  <a:lnTo>
                    <a:pt x="13934" y="18911"/>
                  </a:lnTo>
                  <a:lnTo>
                    <a:pt x="13669" y="18745"/>
                  </a:lnTo>
                  <a:lnTo>
                    <a:pt x="13462" y="18547"/>
                  </a:lnTo>
                  <a:lnTo>
                    <a:pt x="13311" y="18337"/>
                  </a:lnTo>
                  <a:lnTo>
                    <a:pt x="13197" y="18150"/>
                  </a:lnTo>
                  <a:lnTo>
                    <a:pt x="13122" y="17941"/>
                  </a:lnTo>
                  <a:lnTo>
                    <a:pt x="13122" y="17720"/>
                  </a:lnTo>
                  <a:lnTo>
                    <a:pt x="13122" y="17533"/>
                  </a:lnTo>
                  <a:lnTo>
                    <a:pt x="13197" y="17346"/>
                  </a:lnTo>
                  <a:lnTo>
                    <a:pt x="13273" y="17158"/>
                  </a:lnTo>
                  <a:lnTo>
                    <a:pt x="13386" y="16982"/>
                  </a:lnTo>
                  <a:lnTo>
                    <a:pt x="13537" y="16839"/>
                  </a:lnTo>
                  <a:lnTo>
                    <a:pt x="13707" y="16706"/>
                  </a:lnTo>
                  <a:lnTo>
                    <a:pt x="13896" y="16607"/>
                  </a:lnTo>
                  <a:lnTo>
                    <a:pt x="14104" y="16519"/>
                  </a:lnTo>
                  <a:lnTo>
                    <a:pt x="14330" y="16453"/>
                  </a:lnTo>
                  <a:lnTo>
                    <a:pt x="14538" y="16431"/>
                  </a:lnTo>
                  <a:lnTo>
                    <a:pt x="14897" y="16453"/>
                  </a:lnTo>
                  <a:lnTo>
                    <a:pt x="15406" y="16497"/>
                  </a:lnTo>
                  <a:lnTo>
                    <a:pt x="16105" y="16541"/>
                  </a:lnTo>
                  <a:lnTo>
                    <a:pt x="16898" y="16607"/>
                  </a:lnTo>
                  <a:lnTo>
                    <a:pt x="17804" y="16651"/>
                  </a:lnTo>
                  <a:lnTo>
                    <a:pt x="18786" y="16684"/>
                  </a:lnTo>
                  <a:lnTo>
                    <a:pt x="19844" y="16728"/>
                  </a:lnTo>
                  <a:lnTo>
                    <a:pt x="20920" y="16751"/>
                  </a:lnTo>
                  <a:lnTo>
                    <a:pt x="21109" y="16497"/>
                  </a:lnTo>
                  <a:lnTo>
                    <a:pt x="21241" y="16222"/>
                  </a:lnTo>
                  <a:lnTo>
                    <a:pt x="21392" y="15946"/>
                  </a:lnTo>
                  <a:lnTo>
                    <a:pt x="21467" y="15648"/>
                  </a:lnTo>
                  <a:lnTo>
                    <a:pt x="21543" y="15351"/>
                  </a:lnTo>
                  <a:lnTo>
                    <a:pt x="21618" y="15042"/>
                  </a:lnTo>
                  <a:lnTo>
                    <a:pt x="21618" y="14745"/>
                  </a:lnTo>
                  <a:lnTo>
                    <a:pt x="21618" y="14447"/>
                  </a:lnTo>
                  <a:lnTo>
                    <a:pt x="21618" y="14150"/>
                  </a:lnTo>
                  <a:lnTo>
                    <a:pt x="21581" y="13852"/>
                  </a:lnTo>
                  <a:lnTo>
                    <a:pt x="21505" y="13577"/>
                  </a:lnTo>
                  <a:lnTo>
                    <a:pt x="21430" y="13301"/>
                  </a:lnTo>
                  <a:lnTo>
                    <a:pt x="21354" y="13048"/>
                  </a:lnTo>
                  <a:lnTo>
                    <a:pt x="21241" y="12816"/>
                  </a:lnTo>
                  <a:lnTo>
                    <a:pt x="21146" y="12607"/>
                  </a:lnTo>
                  <a:lnTo>
                    <a:pt x="21033" y="12431"/>
                  </a:lnTo>
                  <a:lnTo>
                    <a:pt x="20920" y="12265"/>
                  </a:lnTo>
                  <a:lnTo>
                    <a:pt x="20769" y="12144"/>
                  </a:lnTo>
                  <a:lnTo>
                    <a:pt x="20637" y="12034"/>
                  </a:lnTo>
                  <a:lnTo>
                    <a:pt x="20486" y="11946"/>
                  </a:lnTo>
                  <a:lnTo>
                    <a:pt x="20297" y="11891"/>
                  </a:lnTo>
                  <a:lnTo>
                    <a:pt x="20165" y="11846"/>
                  </a:lnTo>
                  <a:lnTo>
                    <a:pt x="19976" y="11824"/>
                  </a:lnTo>
                  <a:lnTo>
                    <a:pt x="19806" y="11802"/>
                  </a:lnTo>
                  <a:lnTo>
                    <a:pt x="19390" y="11824"/>
                  </a:lnTo>
                  <a:lnTo>
                    <a:pt x="18956" y="11891"/>
                  </a:lnTo>
                  <a:lnTo>
                    <a:pt x="18503" y="11968"/>
                  </a:lnTo>
                  <a:lnTo>
                    <a:pt x="17993" y="12078"/>
                  </a:lnTo>
                  <a:lnTo>
                    <a:pt x="17653" y="12144"/>
                  </a:lnTo>
                  <a:lnTo>
                    <a:pt x="17332" y="12199"/>
                  </a:lnTo>
                  <a:lnTo>
                    <a:pt x="17049" y="12221"/>
                  </a:lnTo>
                  <a:lnTo>
                    <a:pt x="16747" y="12243"/>
                  </a:lnTo>
                  <a:lnTo>
                    <a:pt x="16464" y="12243"/>
                  </a:lnTo>
                  <a:lnTo>
                    <a:pt x="16218" y="12243"/>
                  </a:lnTo>
                  <a:lnTo>
                    <a:pt x="15992" y="12221"/>
                  </a:lnTo>
                  <a:lnTo>
                    <a:pt x="15746" y="12199"/>
                  </a:lnTo>
                  <a:lnTo>
                    <a:pt x="15520" y="12155"/>
                  </a:lnTo>
                  <a:lnTo>
                    <a:pt x="15350" y="12122"/>
                  </a:lnTo>
                  <a:lnTo>
                    <a:pt x="15161" y="12056"/>
                  </a:lnTo>
                  <a:lnTo>
                    <a:pt x="14972" y="11990"/>
                  </a:lnTo>
                  <a:lnTo>
                    <a:pt x="14689" y="11846"/>
                  </a:lnTo>
                  <a:lnTo>
                    <a:pt x="14444" y="11670"/>
                  </a:lnTo>
                  <a:lnTo>
                    <a:pt x="14255" y="11483"/>
                  </a:lnTo>
                  <a:lnTo>
                    <a:pt x="14104" y="11295"/>
                  </a:lnTo>
                  <a:lnTo>
                    <a:pt x="14028" y="11086"/>
                  </a:lnTo>
                  <a:lnTo>
                    <a:pt x="13972" y="10888"/>
                  </a:lnTo>
                  <a:lnTo>
                    <a:pt x="13972" y="10700"/>
                  </a:lnTo>
                  <a:lnTo>
                    <a:pt x="14009" y="10513"/>
                  </a:lnTo>
                  <a:lnTo>
                    <a:pt x="14066" y="10359"/>
                  </a:lnTo>
                  <a:lnTo>
                    <a:pt x="14179" y="10215"/>
                  </a:lnTo>
                  <a:lnTo>
                    <a:pt x="14406" y="10006"/>
                  </a:lnTo>
                  <a:lnTo>
                    <a:pt x="14651" y="9830"/>
                  </a:lnTo>
                  <a:lnTo>
                    <a:pt x="14878" y="9686"/>
                  </a:lnTo>
                  <a:lnTo>
                    <a:pt x="15123" y="9554"/>
                  </a:lnTo>
                  <a:lnTo>
                    <a:pt x="15350" y="9477"/>
                  </a:lnTo>
                  <a:lnTo>
                    <a:pt x="15558" y="9411"/>
                  </a:lnTo>
                  <a:lnTo>
                    <a:pt x="15803" y="9345"/>
                  </a:lnTo>
                  <a:lnTo>
                    <a:pt x="16030" y="9323"/>
                  </a:lnTo>
                  <a:lnTo>
                    <a:pt x="16256" y="9301"/>
                  </a:lnTo>
                  <a:lnTo>
                    <a:pt x="16464" y="9323"/>
                  </a:lnTo>
                  <a:lnTo>
                    <a:pt x="16690" y="9345"/>
                  </a:lnTo>
                  <a:lnTo>
                    <a:pt x="16898" y="9367"/>
                  </a:lnTo>
                  <a:lnTo>
                    <a:pt x="17332" y="9477"/>
                  </a:lnTo>
                  <a:lnTo>
                    <a:pt x="17767" y="9598"/>
                  </a:lnTo>
                  <a:lnTo>
                    <a:pt x="18163" y="9731"/>
                  </a:lnTo>
                  <a:lnTo>
                    <a:pt x="18597" y="9874"/>
                  </a:lnTo>
                  <a:lnTo>
                    <a:pt x="18994" y="10006"/>
                  </a:lnTo>
                  <a:lnTo>
                    <a:pt x="19428" y="10083"/>
                  </a:lnTo>
                  <a:lnTo>
                    <a:pt x="19617" y="10127"/>
                  </a:lnTo>
                  <a:lnTo>
                    <a:pt x="19844" y="10149"/>
                  </a:lnTo>
                  <a:lnTo>
                    <a:pt x="20013" y="10149"/>
                  </a:lnTo>
                  <a:lnTo>
                    <a:pt x="20240" y="10127"/>
                  </a:lnTo>
                  <a:lnTo>
                    <a:pt x="20410" y="10105"/>
                  </a:lnTo>
                  <a:lnTo>
                    <a:pt x="20637" y="10061"/>
                  </a:lnTo>
                  <a:lnTo>
                    <a:pt x="20844" y="9984"/>
                  </a:lnTo>
                  <a:lnTo>
                    <a:pt x="21033" y="9896"/>
                  </a:lnTo>
                  <a:lnTo>
                    <a:pt x="21146" y="9830"/>
                  </a:lnTo>
                  <a:lnTo>
                    <a:pt x="21203" y="9753"/>
                  </a:lnTo>
                  <a:lnTo>
                    <a:pt x="21279" y="9642"/>
                  </a:lnTo>
                  <a:lnTo>
                    <a:pt x="21354" y="9521"/>
                  </a:lnTo>
                  <a:lnTo>
                    <a:pt x="21430" y="9246"/>
                  </a:lnTo>
                  <a:lnTo>
                    <a:pt x="21430" y="8904"/>
                  </a:lnTo>
                  <a:lnTo>
                    <a:pt x="21430" y="8540"/>
                  </a:lnTo>
                  <a:lnTo>
                    <a:pt x="21392" y="8144"/>
                  </a:lnTo>
                  <a:lnTo>
                    <a:pt x="21354" y="7714"/>
                  </a:lnTo>
                  <a:lnTo>
                    <a:pt x="21279" y="7295"/>
                  </a:lnTo>
                  <a:lnTo>
                    <a:pt x="21146" y="6446"/>
                  </a:lnTo>
                  <a:lnTo>
                    <a:pt x="20995" y="5686"/>
                  </a:lnTo>
                  <a:lnTo>
                    <a:pt x="20958" y="5366"/>
                  </a:lnTo>
                  <a:lnTo>
                    <a:pt x="20958" y="5091"/>
                  </a:lnTo>
                  <a:lnTo>
                    <a:pt x="20958" y="4860"/>
                  </a:lnTo>
                  <a:lnTo>
                    <a:pt x="21033" y="4716"/>
                  </a:lnTo>
                  <a:lnTo>
                    <a:pt x="20637" y="4860"/>
                  </a:lnTo>
                  <a:lnTo>
                    <a:pt x="20127" y="4992"/>
                  </a:lnTo>
                  <a:lnTo>
                    <a:pt x="19617" y="5069"/>
                  </a:lnTo>
                  <a:lnTo>
                    <a:pt x="19032" y="5157"/>
                  </a:lnTo>
                  <a:lnTo>
                    <a:pt x="18465" y="5201"/>
                  </a:lnTo>
                  <a:lnTo>
                    <a:pt x="17842" y="5245"/>
                  </a:lnTo>
                  <a:lnTo>
                    <a:pt x="17219" y="5267"/>
                  </a:lnTo>
                  <a:lnTo>
                    <a:pt x="16615" y="5267"/>
                  </a:lnTo>
                  <a:lnTo>
                    <a:pt x="15992" y="5245"/>
                  </a:lnTo>
                  <a:lnTo>
                    <a:pt x="15369" y="5201"/>
                  </a:lnTo>
                  <a:lnTo>
                    <a:pt x="14840" y="5157"/>
                  </a:lnTo>
                  <a:lnTo>
                    <a:pt x="14293" y="5091"/>
                  </a:lnTo>
                  <a:lnTo>
                    <a:pt x="13783" y="5014"/>
                  </a:lnTo>
                  <a:lnTo>
                    <a:pt x="13386" y="4926"/>
                  </a:lnTo>
                  <a:lnTo>
                    <a:pt x="13027" y="4815"/>
                  </a:lnTo>
                  <a:lnTo>
                    <a:pt x="12725" y="4716"/>
                  </a:lnTo>
                  <a:lnTo>
                    <a:pt x="12480" y="4606"/>
                  </a:lnTo>
                  <a:lnTo>
                    <a:pt x="12291" y="4496"/>
                  </a:lnTo>
                  <a:lnTo>
                    <a:pt x="12197" y="4397"/>
                  </a:lnTo>
                  <a:lnTo>
                    <a:pt x="12083" y="4286"/>
                  </a:lnTo>
                  <a:lnTo>
                    <a:pt x="12046" y="4187"/>
                  </a:lnTo>
                  <a:lnTo>
                    <a:pt x="12008" y="4077"/>
                  </a:lnTo>
                  <a:lnTo>
                    <a:pt x="12046" y="3967"/>
                  </a:lnTo>
                  <a:lnTo>
                    <a:pt x="12121" y="3868"/>
                  </a:lnTo>
                  <a:lnTo>
                    <a:pt x="12197" y="3735"/>
                  </a:lnTo>
                  <a:lnTo>
                    <a:pt x="12291" y="3614"/>
                  </a:lnTo>
                  <a:lnTo>
                    <a:pt x="12442" y="3482"/>
                  </a:lnTo>
                  <a:lnTo>
                    <a:pt x="12631" y="3361"/>
                  </a:lnTo>
                  <a:lnTo>
                    <a:pt x="13065" y="3085"/>
                  </a:lnTo>
                  <a:lnTo>
                    <a:pt x="13537" y="2766"/>
                  </a:lnTo>
                  <a:lnTo>
                    <a:pt x="13783" y="2578"/>
                  </a:lnTo>
                  <a:lnTo>
                    <a:pt x="13934" y="2380"/>
                  </a:lnTo>
                  <a:lnTo>
                    <a:pt x="14028" y="2171"/>
                  </a:lnTo>
                  <a:lnTo>
                    <a:pt x="14104" y="1961"/>
                  </a:lnTo>
                  <a:lnTo>
                    <a:pt x="14104" y="1730"/>
                  </a:lnTo>
                  <a:lnTo>
                    <a:pt x="14066" y="1498"/>
                  </a:lnTo>
                  <a:lnTo>
                    <a:pt x="13972" y="1267"/>
                  </a:lnTo>
                  <a:lnTo>
                    <a:pt x="13820" y="1057"/>
                  </a:lnTo>
                  <a:lnTo>
                    <a:pt x="13594" y="837"/>
                  </a:lnTo>
                  <a:lnTo>
                    <a:pt x="13386" y="628"/>
                  </a:lnTo>
                  <a:lnTo>
                    <a:pt x="13103" y="462"/>
                  </a:lnTo>
                  <a:lnTo>
                    <a:pt x="12763" y="308"/>
                  </a:lnTo>
                  <a:lnTo>
                    <a:pt x="12404" y="187"/>
                  </a:lnTo>
                  <a:lnTo>
                    <a:pt x="12008" y="77"/>
                  </a:lnTo>
                  <a:lnTo>
                    <a:pt x="11574" y="33"/>
                  </a:lnTo>
                  <a:lnTo>
                    <a:pt x="11102" y="11"/>
                  </a:lnTo>
                  <a:lnTo>
                    <a:pt x="10667" y="11"/>
                  </a:lnTo>
                  <a:lnTo>
                    <a:pt x="10233" y="77"/>
                  </a:lnTo>
                  <a:lnTo>
                    <a:pt x="9837" y="187"/>
                  </a:lnTo>
                  <a:lnTo>
                    <a:pt x="9440" y="286"/>
                  </a:lnTo>
                  <a:lnTo>
                    <a:pt x="9062" y="462"/>
                  </a:lnTo>
                  <a:lnTo>
                    <a:pt x="8741" y="628"/>
                  </a:lnTo>
                  <a:lnTo>
                    <a:pt x="8458" y="815"/>
                  </a:lnTo>
                  <a:lnTo>
                    <a:pt x="8232" y="1035"/>
                  </a:lnTo>
                  <a:lnTo>
                    <a:pt x="8062" y="1245"/>
                  </a:lnTo>
                  <a:lnTo>
                    <a:pt x="7911" y="1476"/>
                  </a:lnTo>
                  <a:lnTo>
                    <a:pt x="7835" y="1708"/>
                  </a:lnTo>
                  <a:lnTo>
                    <a:pt x="7797" y="1961"/>
                  </a:lnTo>
                  <a:lnTo>
                    <a:pt x="7835" y="2193"/>
                  </a:lnTo>
                  <a:lnTo>
                    <a:pt x="7948" y="2402"/>
                  </a:lnTo>
                  <a:lnTo>
                    <a:pt x="8062" y="2534"/>
                  </a:lnTo>
                  <a:lnTo>
                    <a:pt x="8175" y="2644"/>
                  </a:lnTo>
                  <a:lnTo>
                    <a:pt x="8269" y="2744"/>
                  </a:lnTo>
                  <a:lnTo>
                    <a:pt x="8420" y="2832"/>
                  </a:lnTo>
                  <a:lnTo>
                    <a:pt x="8704" y="3019"/>
                  </a:lnTo>
                  <a:lnTo>
                    <a:pt x="8968" y="3206"/>
                  </a:lnTo>
                  <a:lnTo>
                    <a:pt x="9138" y="3405"/>
                  </a:lnTo>
                  <a:lnTo>
                    <a:pt x="9327" y="3570"/>
                  </a:lnTo>
                  <a:lnTo>
                    <a:pt x="9440" y="3735"/>
                  </a:lnTo>
                  <a:lnTo>
                    <a:pt x="9516" y="3890"/>
                  </a:lnTo>
                  <a:lnTo>
                    <a:pt x="9534" y="4033"/>
                  </a:lnTo>
                  <a:lnTo>
                    <a:pt x="9534" y="4165"/>
                  </a:lnTo>
                  <a:lnTo>
                    <a:pt x="9516" y="4286"/>
                  </a:lnTo>
                  <a:lnTo>
                    <a:pt x="9440" y="4397"/>
                  </a:lnTo>
                  <a:lnTo>
                    <a:pt x="9327" y="4496"/>
                  </a:lnTo>
                  <a:lnTo>
                    <a:pt x="9176" y="4562"/>
                  </a:lnTo>
                  <a:lnTo>
                    <a:pt x="9006" y="4628"/>
                  </a:lnTo>
                  <a:lnTo>
                    <a:pt x="8779" y="4694"/>
                  </a:lnTo>
                  <a:lnTo>
                    <a:pt x="8534" y="4716"/>
                  </a:lnTo>
                  <a:lnTo>
                    <a:pt x="8232" y="4716"/>
                  </a:lnTo>
                  <a:lnTo>
                    <a:pt x="7118" y="4738"/>
                  </a:lnTo>
                  <a:lnTo>
                    <a:pt x="5947" y="4771"/>
                  </a:lnTo>
                  <a:lnTo>
                    <a:pt x="4795" y="4815"/>
                  </a:lnTo>
                  <a:lnTo>
                    <a:pt x="3681" y="4860"/>
                  </a:lnTo>
                  <a:lnTo>
                    <a:pt x="2662" y="4882"/>
                  </a:lnTo>
                  <a:lnTo>
                    <a:pt x="1755" y="4882"/>
                  </a:lnTo>
                  <a:lnTo>
                    <a:pt x="1359" y="4860"/>
                  </a:lnTo>
                  <a:lnTo>
                    <a:pt x="981" y="4837"/>
                  </a:lnTo>
                  <a:lnTo>
                    <a:pt x="698" y="4771"/>
                  </a:lnTo>
                  <a:lnTo>
                    <a:pt x="453" y="4716"/>
                  </a:lnTo>
                  <a:lnTo>
                    <a:pt x="453" y="5322"/>
                  </a:lnTo>
                  <a:lnTo>
                    <a:pt x="453" y="6083"/>
                  </a:lnTo>
                  <a:lnTo>
                    <a:pt x="453" y="6909"/>
                  </a:lnTo>
                  <a:lnTo>
                    <a:pt x="453" y="7780"/>
                  </a:lnTo>
                  <a:lnTo>
                    <a:pt x="453" y="8606"/>
                  </a:lnTo>
                  <a:lnTo>
                    <a:pt x="453" y="9345"/>
                  </a:lnTo>
                  <a:lnTo>
                    <a:pt x="453" y="9918"/>
                  </a:lnTo>
                  <a:lnTo>
                    <a:pt x="453" y="10282"/>
                  </a:lnTo>
                  <a:lnTo>
                    <a:pt x="490" y="10381"/>
                  </a:lnTo>
                  <a:lnTo>
                    <a:pt x="547" y="10491"/>
                  </a:lnTo>
                  <a:lnTo>
                    <a:pt x="660" y="10590"/>
                  </a:lnTo>
                  <a:lnTo>
                    <a:pt x="811" y="10700"/>
                  </a:lnTo>
                  <a:lnTo>
                    <a:pt x="981" y="10811"/>
                  </a:lnTo>
                  <a:lnTo>
                    <a:pt x="1208" y="10888"/>
                  </a:lnTo>
                  <a:lnTo>
                    <a:pt x="1453" y="10954"/>
                  </a:lnTo>
                  <a:lnTo>
                    <a:pt x="1718" y="11020"/>
                  </a:lnTo>
                  <a:lnTo>
                    <a:pt x="1963" y="11064"/>
                  </a:lnTo>
                  <a:lnTo>
                    <a:pt x="2265" y="11086"/>
                  </a:lnTo>
                  <a:lnTo>
                    <a:pt x="2548" y="11064"/>
                  </a:lnTo>
                  <a:lnTo>
                    <a:pt x="2794" y="11042"/>
                  </a:lnTo>
                  <a:lnTo>
                    <a:pt x="3096" y="10976"/>
                  </a:lnTo>
                  <a:lnTo>
                    <a:pt x="3341" y="10888"/>
                  </a:lnTo>
                  <a:lnTo>
                    <a:pt x="3606" y="10766"/>
                  </a:lnTo>
                  <a:lnTo>
                    <a:pt x="3813" y="10590"/>
                  </a:lnTo>
                  <a:close/>
                </a:path>
              </a:pathLst>
            </a:custGeom>
            <a:solidFill>
              <a:srgbClr val="D8EBB3"/>
            </a:solidFill>
            <a:ln w="28575">
              <a:solidFill>
                <a:srgbClr val="000000"/>
              </a:solidFill>
              <a:miter lim="800000"/>
              <a:headEnd/>
              <a:tailEnd/>
            </a:ln>
          </p:spPr>
          <p:txBody>
            <a:bodyPr/>
            <a:lstStyle/>
            <a:p>
              <a:endParaRPr lang="zh-CN" altLang="en-US">
                <a:latin typeface="+mn-ea"/>
                <a:ea typeface="+mn-ea"/>
              </a:endParaRPr>
            </a:p>
          </p:txBody>
        </p:sp>
        <p:sp>
          <p:nvSpPr>
            <p:cNvPr id="48" name="Puzzle1"/>
            <p:cNvSpPr>
              <a:spLocks noEditPoints="1" noChangeArrowheads="1"/>
            </p:cNvSpPr>
            <p:nvPr/>
          </p:nvSpPr>
          <p:spPr bwMode="auto">
            <a:xfrm>
              <a:off x="1824" y="1091"/>
              <a:ext cx="1800" cy="105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6084 w 21600"/>
                <a:gd name="T25" fmla="*/ 2569 h 21600"/>
                <a:gd name="T26" fmla="*/ 16128 w 21600"/>
                <a:gd name="T27" fmla="*/ 19545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0" y="20836"/>
                  </a:moveTo>
                  <a:lnTo>
                    <a:pt x="9528" y="20836"/>
                  </a:lnTo>
                  <a:lnTo>
                    <a:pt x="9686" y="20762"/>
                  </a:lnTo>
                  <a:lnTo>
                    <a:pt x="9810" y="20687"/>
                  </a:lnTo>
                  <a:lnTo>
                    <a:pt x="9922" y="20575"/>
                  </a:lnTo>
                  <a:lnTo>
                    <a:pt x="10012" y="20426"/>
                  </a:lnTo>
                  <a:lnTo>
                    <a:pt x="10068" y="20296"/>
                  </a:lnTo>
                  <a:lnTo>
                    <a:pt x="10113" y="20110"/>
                  </a:lnTo>
                  <a:lnTo>
                    <a:pt x="10136" y="19905"/>
                  </a:lnTo>
                  <a:lnTo>
                    <a:pt x="10136" y="19682"/>
                  </a:lnTo>
                  <a:lnTo>
                    <a:pt x="10113" y="19440"/>
                  </a:lnTo>
                  <a:lnTo>
                    <a:pt x="10068" y="19142"/>
                  </a:lnTo>
                  <a:lnTo>
                    <a:pt x="10012" y="18900"/>
                  </a:lnTo>
                  <a:lnTo>
                    <a:pt x="9900" y="18620"/>
                  </a:lnTo>
                  <a:lnTo>
                    <a:pt x="9787" y="18285"/>
                  </a:lnTo>
                  <a:lnTo>
                    <a:pt x="9641" y="17968"/>
                  </a:lnTo>
                  <a:lnTo>
                    <a:pt x="9472" y="17652"/>
                  </a:lnTo>
                  <a:lnTo>
                    <a:pt x="9382" y="17466"/>
                  </a:lnTo>
                  <a:lnTo>
                    <a:pt x="9315" y="17298"/>
                  </a:lnTo>
                  <a:lnTo>
                    <a:pt x="9258" y="17112"/>
                  </a:lnTo>
                  <a:lnTo>
                    <a:pt x="9191" y="16926"/>
                  </a:lnTo>
                  <a:lnTo>
                    <a:pt x="9123" y="16535"/>
                  </a:lnTo>
                  <a:lnTo>
                    <a:pt x="9101" y="16144"/>
                  </a:lnTo>
                  <a:lnTo>
                    <a:pt x="9101" y="15753"/>
                  </a:lnTo>
                  <a:lnTo>
                    <a:pt x="9168" y="15362"/>
                  </a:lnTo>
                  <a:lnTo>
                    <a:pt x="9236" y="14971"/>
                  </a:lnTo>
                  <a:lnTo>
                    <a:pt x="9360" y="14580"/>
                  </a:lnTo>
                  <a:lnTo>
                    <a:pt x="9495" y="14244"/>
                  </a:lnTo>
                  <a:lnTo>
                    <a:pt x="9663" y="13891"/>
                  </a:lnTo>
                  <a:lnTo>
                    <a:pt x="9855" y="13611"/>
                  </a:lnTo>
                  <a:lnTo>
                    <a:pt x="10068" y="13351"/>
                  </a:lnTo>
                  <a:lnTo>
                    <a:pt x="10293" y="13146"/>
                  </a:lnTo>
                  <a:lnTo>
                    <a:pt x="10552" y="12997"/>
                  </a:lnTo>
                  <a:lnTo>
                    <a:pt x="10811" y="12885"/>
                  </a:lnTo>
                  <a:lnTo>
                    <a:pt x="11069" y="12866"/>
                  </a:lnTo>
                  <a:lnTo>
                    <a:pt x="11351" y="12885"/>
                  </a:lnTo>
                  <a:lnTo>
                    <a:pt x="11610" y="12997"/>
                  </a:lnTo>
                  <a:lnTo>
                    <a:pt x="11846" y="13183"/>
                  </a:lnTo>
                  <a:lnTo>
                    <a:pt x="12060" y="13388"/>
                  </a:lnTo>
                  <a:lnTo>
                    <a:pt x="12251" y="13648"/>
                  </a:lnTo>
                  <a:lnTo>
                    <a:pt x="12419" y="13928"/>
                  </a:lnTo>
                  <a:lnTo>
                    <a:pt x="12555" y="14244"/>
                  </a:lnTo>
                  <a:lnTo>
                    <a:pt x="12690" y="14617"/>
                  </a:lnTo>
                  <a:lnTo>
                    <a:pt x="12768" y="15008"/>
                  </a:lnTo>
                  <a:lnTo>
                    <a:pt x="12836" y="15399"/>
                  </a:lnTo>
                  <a:lnTo>
                    <a:pt x="12858" y="15753"/>
                  </a:lnTo>
                  <a:lnTo>
                    <a:pt x="12858" y="16144"/>
                  </a:lnTo>
                  <a:lnTo>
                    <a:pt x="12813" y="16535"/>
                  </a:lnTo>
                  <a:lnTo>
                    <a:pt x="12746" y="16888"/>
                  </a:lnTo>
                  <a:lnTo>
                    <a:pt x="12667" y="17224"/>
                  </a:lnTo>
                  <a:lnTo>
                    <a:pt x="12510" y="17503"/>
                  </a:lnTo>
                  <a:lnTo>
                    <a:pt x="12228" y="18043"/>
                  </a:lnTo>
                  <a:lnTo>
                    <a:pt x="11970" y="18546"/>
                  </a:lnTo>
                  <a:lnTo>
                    <a:pt x="11868" y="18751"/>
                  </a:lnTo>
                  <a:lnTo>
                    <a:pt x="11778" y="18974"/>
                  </a:lnTo>
                  <a:lnTo>
                    <a:pt x="11711" y="19179"/>
                  </a:lnTo>
                  <a:lnTo>
                    <a:pt x="11666" y="19365"/>
                  </a:lnTo>
                  <a:lnTo>
                    <a:pt x="11632" y="19570"/>
                  </a:lnTo>
                  <a:lnTo>
                    <a:pt x="11632" y="19756"/>
                  </a:lnTo>
                  <a:lnTo>
                    <a:pt x="11632" y="19942"/>
                  </a:lnTo>
                  <a:lnTo>
                    <a:pt x="11643" y="20110"/>
                  </a:lnTo>
                  <a:lnTo>
                    <a:pt x="11711" y="20296"/>
                  </a:lnTo>
                  <a:lnTo>
                    <a:pt x="11801" y="20464"/>
                  </a:lnTo>
                  <a:lnTo>
                    <a:pt x="11891" y="20650"/>
                  </a:lnTo>
                  <a:lnTo>
                    <a:pt x="12037" y="20836"/>
                  </a:lnTo>
                  <a:lnTo>
                    <a:pt x="12206" y="21004"/>
                  </a:lnTo>
                  <a:lnTo>
                    <a:pt x="12419" y="21190"/>
                  </a:lnTo>
                  <a:lnTo>
                    <a:pt x="12667" y="21320"/>
                  </a:lnTo>
                  <a:lnTo>
                    <a:pt x="12960" y="21432"/>
                  </a:lnTo>
                  <a:lnTo>
                    <a:pt x="13286" y="21544"/>
                  </a:lnTo>
                  <a:lnTo>
                    <a:pt x="13612" y="21655"/>
                  </a:lnTo>
                  <a:lnTo>
                    <a:pt x="13983" y="21693"/>
                  </a:lnTo>
                  <a:lnTo>
                    <a:pt x="14343" y="21730"/>
                  </a:lnTo>
                  <a:lnTo>
                    <a:pt x="14715" y="21730"/>
                  </a:lnTo>
                  <a:lnTo>
                    <a:pt x="15075" y="21730"/>
                  </a:lnTo>
                  <a:lnTo>
                    <a:pt x="15446" y="21655"/>
                  </a:lnTo>
                  <a:lnTo>
                    <a:pt x="15794" y="21581"/>
                  </a:lnTo>
                  <a:lnTo>
                    <a:pt x="16132" y="21432"/>
                  </a:lnTo>
                  <a:lnTo>
                    <a:pt x="16458" y="21302"/>
                  </a:lnTo>
                  <a:lnTo>
                    <a:pt x="16740" y="21078"/>
                  </a:lnTo>
                  <a:lnTo>
                    <a:pt x="16976" y="20836"/>
                  </a:lnTo>
                  <a:lnTo>
                    <a:pt x="17043" y="20650"/>
                  </a:lnTo>
                  <a:lnTo>
                    <a:pt x="17088" y="20426"/>
                  </a:lnTo>
                  <a:lnTo>
                    <a:pt x="17133" y="20222"/>
                  </a:lnTo>
                  <a:lnTo>
                    <a:pt x="17156" y="19980"/>
                  </a:lnTo>
                  <a:lnTo>
                    <a:pt x="17167" y="19477"/>
                  </a:lnTo>
                  <a:lnTo>
                    <a:pt x="17167" y="18974"/>
                  </a:lnTo>
                  <a:lnTo>
                    <a:pt x="17156" y="18397"/>
                  </a:lnTo>
                  <a:lnTo>
                    <a:pt x="17111" y="17820"/>
                  </a:lnTo>
                  <a:lnTo>
                    <a:pt x="17066" y="17261"/>
                  </a:lnTo>
                  <a:lnTo>
                    <a:pt x="16998" y="16646"/>
                  </a:lnTo>
                  <a:lnTo>
                    <a:pt x="16852" y="15511"/>
                  </a:lnTo>
                  <a:lnTo>
                    <a:pt x="16740" y="14393"/>
                  </a:lnTo>
                  <a:lnTo>
                    <a:pt x="16717" y="13928"/>
                  </a:lnTo>
                  <a:lnTo>
                    <a:pt x="16695" y="13462"/>
                  </a:lnTo>
                  <a:lnTo>
                    <a:pt x="16717" y="13071"/>
                  </a:lnTo>
                  <a:lnTo>
                    <a:pt x="16785" y="12755"/>
                  </a:lnTo>
                  <a:lnTo>
                    <a:pt x="16852" y="12419"/>
                  </a:lnTo>
                  <a:lnTo>
                    <a:pt x="16953" y="12140"/>
                  </a:lnTo>
                  <a:lnTo>
                    <a:pt x="17088" y="11898"/>
                  </a:lnTo>
                  <a:lnTo>
                    <a:pt x="17212" y="11675"/>
                  </a:lnTo>
                  <a:lnTo>
                    <a:pt x="17370" y="11470"/>
                  </a:lnTo>
                  <a:lnTo>
                    <a:pt x="17516" y="11284"/>
                  </a:lnTo>
                  <a:lnTo>
                    <a:pt x="17696" y="11135"/>
                  </a:lnTo>
                  <a:lnTo>
                    <a:pt x="17865" y="11042"/>
                  </a:lnTo>
                  <a:lnTo>
                    <a:pt x="18033" y="10930"/>
                  </a:lnTo>
                  <a:lnTo>
                    <a:pt x="18213" y="10893"/>
                  </a:lnTo>
                  <a:lnTo>
                    <a:pt x="18382" y="10893"/>
                  </a:lnTo>
                  <a:lnTo>
                    <a:pt x="18551" y="10967"/>
                  </a:lnTo>
                  <a:lnTo>
                    <a:pt x="18708" y="11042"/>
                  </a:lnTo>
                  <a:lnTo>
                    <a:pt x="18855" y="11172"/>
                  </a:lnTo>
                  <a:lnTo>
                    <a:pt x="19012" y="11358"/>
                  </a:lnTo>
                  <a:lnTo>
                    <a:pt x="19136" y="11600"/>
                  </a:lnTo>
                  <a:lnTo>
                    <a:pt x="19271" y="11861"/>
                  </a:lnTo>
                  <a:lnTo>
                    <a:pt x="19440" y="12028"/>
                  </a:lnTo>
                  <a:lnTo>
                    <a:pt x="19608" y="12177"/>
                  </a:lnTo>
                  <a:lnTo>
                    <a:pt x="19822" y="12289"/>
                  </a:lnTo>
                  <a:lnTo>
                    <a:pt x="20025" y="12289"/>
                  </a:lnTo>
                  <a:lnTo>
                    <a:pt x="20238" y="12289"/>
                  </a:lnTo>
                  <a:lnTo>
                    <a:pt x="20452" y="12215"/>
                  </a:lnTo>
                  <a:lnTo>
                    <a:pt x="20643" y="12103"/>
                  </a:lnTo>
                  <a:lnTo>
                    <a:pt x="20846" y="11973"/>
                  </a:lnTo>
                  <a:lnTo>
                    <a:pt x="21037" y="11786"/>
                  </a:lnTo>
                  <a:lnTo>
                    <a:pt x="21206" y="11563"/>
                  </a:lnTo>
                  <a:lnTo>
                    <a:pt x="21363" y="11321"/>
                  </a:lnTo>
                  <a:lnTo>
                    <a:pt x="21465" y="11079"/>
                  </a:lnTo>
                  <a:lnTo>
                    <a:pt x="21577" y="10744"/>
                  </a:lnTo>
                  <a:lnTo>
                    <a:pt x="21622" y="10427"/>
                  </a:lnTo>
                  <a:lnTo>
                    <a:pt x="21645" y="10111"/>
                  </a:lnTo>
                  <a:lnTo>
                    <a:pt x="21622" y="9608"/>
                  </a:lnTo>
                  <a:lnTo>
                    <a:pt x="21577" y="9142"/>
                  </a:lnTo>
                  <a:lnTo>
                    <a:pt x="21465" y="8751"/>
                  </a:lnTo>
                  <a:lnTo>
                    <a:pt x="21363" y="8397"/>
                  </a:lnTo>
                  <a:lnTo>
                    <a:pt x="21206" y="8062"/>
                  </a:lnTo>
                  <a:lnTo>
                    <a:pt x="21037" y="7820"/>
                  </a:lnTo>
                  <a:lnTo>
                    <a:pt x="20846" y="7597"/>
                  </a:lnTo>
                  <a:lnTo>
                    <a:pt x="20643" y="7429"/>
                  </a:lnTo>
                  <a:lnTo>
                    <a:pt x="20452" y="7317"/>
                  </a:lnTo>
                  <a:lnTo>
                    <a:pt x="20238" y="7206"/>
                  </a:lnTo>
                  <a:lnTo>
                    <a:pt x="20025" y="7168"/>
                  </a:lnTo>
                  <a:lnTo>
                    <a:pt x="19822" y="7206"/>
                  </a:lnTo>
                  <a:lnTo>
                    <a:pt x="19608" y="7243"/>
                  </a:lnTo>
                  <a:lnTo>
                    <a:pt x="19440" y="7355"/>
                  </a:lnTo>
                  <a:lnTo>
                    <a:pt x="19271" y="7504"/>
                  </a:lnTo>
                  <a:lnTo>
                    <a:pt x="19136" y="7708"/>
                  </a:lnTo>
                  <a:lnTo>
                    <a:pt x="19012" y="7895"/>
                  </a:lnTo>
                  <a:lnTo>
                    <a:pt x="18832" y="8025"/>
                  </a:lnTo>
                  <a:lnTo>
                    <a:pt x="18663" y="8174"/>
                  </a:lnTo>
                  <a:lnTo>
                    <a:pt x="18472" y="8248"/>
                  </a:lnTo>
                  <a:lnTo>
                    <a:pt x="18270" y="8286"/>
                  </a:lnTo>
                  <a:lnTo>
                    <a:pt x="18078" y="8323"/>
                  </a:lnTo>
                  <a:lnTo>
                    <a:pt x="17887" y="8323"/>
                  </a:lnTo>
                  <a:lnTo>
                    <a:pt x="17696" y="8248"/>
                  </a:lnTo>
                  <a:lnTo>
                    <a:pt x="17493" y="8174"/>
                  </a:lnTo>
                  <a:lnTo>
                    <a:pt x="17302" y="8062"/>
                  </a:lnTo>
                  <a:lnTo>
                    <a:pt x="17133" y="7969"/>
                  </a:lnTo>
                  <a:lnTo>
                    <a:pt x="16976" y="7783"/>
                  </a:lnTo>
                  <a:lnTo>
                    <a:pt x="16852" y="7597"/>
                  </a:lnTo>
                  <a:lnTo>
                    <a:pt x="16740" y="7429"/>
                  </a:lnTo>
                  <a:lnTo>
                    <a:pt x="16672" y="7168"/>
                  </a:lnTo>
                  <a:lnTo>
                    <a:pt x="16638" y="6926"/>
                  </a:lnTo>
                  <a:lnTo>
                    <a:pt x="16616" y="6498"/>
                  </a:lnTo>
                  <a:lnTo>
                    <a:pt x="16616" y="5772"/>
                  </a:lnTo>
                  <a:lnTo>
                    <a:pt x="16650" y="4915"/>
                  </a:lnTo>
                  <a:lnTo>
                    <a:pt x="16695" y="3928"/>
                  </a:lnTo>
                  <a:lnTo>
                    <a:pt x="16762" y="2960"/>
                  </a:lnTo>
                  <a:lnTo>
                    <a:pt x="16830" y="1992"/>
                  </a:lnTo>
                  <a:lnTo>
                    <a:pt x="16908" y="1173"/>
                  </a:lnTo>
                  <a:lnTo>
                    <a:pt x="16976" y="521"/>
                  </a:lnTo>
                  <a:lnTo>
                    <a:pt x="16953" y="521"/>
                  </a:lnTo>
                  <a:lnTo>
                    <a:pt x="16931" y="521"/>
                  </a:lnTo>
                  <a:lnTo>
                    <a:pt x="16267" y="484"/>
                  </a:lnTo>
                  <a:lnTo>
                    <a:pt x="15637" y="428"/>
                  </a:lnTo>
                  <a:lnTo>
                    <a:pt x="15063" y="353"/>
                  </a:lnTo>
                  <a:lnTo>
                    <a:pt x="14523" y="279"/>
                  </a:lnTo>
                  <a:lnTo>
                    <a:pt x="14040" y="167"/>
                  </a:lnTo>
                  <a:lnTo>
                    <a:pt x="13635" y="93"/>
                  </a:lnTo>
                  <a:lnTo>
                    <a:pt x="13331" y="18"/>
                  </a:lnTo>
                  <a:lnTo>
                    <a:pt x="13117" y="18"/>
                  </a:lnTo>
                  <a:lnTo>
                    <a:pt x="12982" y="18"/>
                  </a:lnTo>
                  <a:lnTo>
                    <a:pt x="12858" y="130"/>
                  </a:lnTo>
                  <a:lnTo>
                    <a:pt x="12723" y="279"/>
                  </a:lnTo>
                  <a:lnTo>
                    <a:pt x="12622" y="446"/>
                  </a:lnTo>
                  <a:lnTo>
                    <a:pt x="12510" y="670"/>
                  </a:lnTo>
                  <a:lnTo>
                    <a:pt x="12419" y="912"/>
                  </a:lnTo>
                  <a:lnTo>
                    <a:pt x="12363" y="1210"/>
                  </a:lnTo>
                  <a:lnTo>
                    <a:pt x="12318" y="1526"/>
                  </a:lnTo>
                  <a:lnTo>
                    <a:pt x="12273" y="1843"/>
                  </a:lnTo>
                  <a:lnTo>
                    <a:pt x="12251" y="2215"/>
                  </a:lnTo>
                  <a:lnTo>
                    <a:pt x="12273" y="2532"/>
                  </a:lnTo>
                  <a:lnTo>
                    <a:pt x="12318" y="2886"/>
                  </a:lnTo>
                  <a:lnTo>
                    <a:pt x="12386" y="3240"/>
                  </a:lnTo>
                  <a:lnTo>
                    <a:pt x="12464" y="3556"/>
                  </a:lnTo>
                  <a:lnTo>
                    <a:pt x="12577" y="3891"/>
                  </a:lnTo>
                  <a:lnTo>
                    <a:pt x="12746" y="4171"/>
                  </a:lnTo>
                  <a:lnTo>
                    <a:pt x="12926" y="4487"/>
                  </a:lnTo>
                  <a:lnTo>
                    <a:pt x="13050" y="4860"/>
                  </a:lnTo>
                  <a:lnTo>
                    <a:pt x="13162" y="5251"/>
                  </a:lnTo>
                  <a:lnTo>
                    <a:pt x="13218" y="5604"/>
                  </a:lnTo>
                  <a:lnTo>
                    <a:pt x="13263" y="5995"/>
                  </a:lnTo>
                  <a:lnTo>
                    <a:pt x="13241" y="6386"/>
                  </a:lnTo>
                  <a:lnTo>
                    <a:pt x="13218" y="6740"/>
                  </a:lnTo>
                  <a:lnTo>
                    <a:pt x="13139" y="7094"/>
                  </a:lnTo>
                  <a:lnTo>
                    <a:pt x="13050" y="7429"/>
                  </a:lnTo>
                  <a:lnTo>
                    <a:pt x="12903" y="7746"/>
                  </a:lnTo>
                  <a:lnTo>
                    <a:pt x="12723" y="8025"/>
                  </a:lnTo>
                  <a:lnTo>
                    <a:pt x="12532" y="8286"/>
                  </a:lnTo>
                  <a:lnTo>
                    <a:pt x="12318" y="8491"/>
                  </a:lnTo>
                  <a:lnTo>
                    <a:pt x="12060" y="8677"/>
                  </a:lnTo>
                  <a:lnTo>
                    <a:pt x="11756" y="8788"/>
                  </a:lnTo>
                  <a:lnTo>
                    <a:pt x="11452" y="8826"/>
                  </a:lnTo>
                  <a:lnTo>
                    <a:pt x="11283" y="8826"/>
                  </a:lnTo>
                  <a:lnTo>
                    <a:pt x="11126" y="8826"/>
                  </a:lnTo>
                  <a:lnTo>
                    <a:pt x="11002" y="8788"/>
                  </a:lnTo>
                  <a:lnTo>
                    <a:pt x="10845" y="8714"/>
                  </a:lnTo>
                  <a:lnTo>
                    <a:pt x="10721" y="8640"/>
                  </a:lnTo>
                  <a:lnTo>
                    <a:pt x="10608" y="8565"/>
                  </a:lnTo>
                  <a:lnTo>
                    <a:pt x="10485" y="8453"/>
                  </a:lnTo>
                  <a:lnTo>
                    <a:pt x="10372" y="8323"/>
                  </a:lnTo>
                  <a:lnTo>
                    <a:pt x="10181" y="8062"/>
                  </a:lnTo>
                  <a:lnTo>
                    <a:pt x="10035" y="7746"/>
                  </a:lnTo>
                  <a:lnTo>
                    <a:pt x="9900" y="7392"/>
                  </a:lnTo>
                  <a:lnTo>
                    <a:pt x="9787" y="7001"/>
                  </a:lnTo>
                  <a:lnTo>
                    <a:pt x="9731" y="6610"/>
                  </a:lnTo>
                  <a:lnTo>
                    <a:pt x="9686" y="6219"/>
                  </a:lnTo>
                  <a:lnTo>
                    <a:pt x="9663" y="5772"/>
                  </a:lnTo>
                  <a:lnTo>
                    <a:pt x="9686" y="5381"/>
                  </a:lnTo>
                  <a:lnTo>
                    <a:pt x="9753" y="4990"/>
                  </a:lnTo>
                  <a:lnTo>
                    <a:pt x="9832" y="4636"/>
                  </a:lnTo>
                  <a:lnTo>
                    <a:pt x="9945" y="4320"/>
                  </a:lnTo>
                  <a:lnTo>
                    <a:pt x="10068" y="4022"/>
                  </a:lnTo>
                  <a:lnTo>
                    <a:pt x="10203" y="3817"/>
                  </a:lnTo>
                  <a:lnTo>
                    <a:pt x="10316" y="3593"/>
                  </a:lnTo>
                  <a:lnTo>
                    <a:pt x="10395" y="3351"/>
                  </a:lnTo>
                  <a:lnTo>
                    <a:pt x="10462" y="3109"/>
                  </a:lnTo>
                  <a:lnTo>
                    <a:pt x="10507" y="2848"/>
                  </a:lnTo>
                  <a:lnTo>
                    <a:pt x="10530" y="2606"/>
                  </a:lnTo>
                  <a:lnTo>
                    <a:pt x="10507" y="2346"/>
                  </a:lnTo>
                  <a:lnTo>
                    <a:pt x="10462" y="2141"/>
                  </a:lnTo>
                  <a:lnTo>
                    <a:pt x="10395" y="1880"/>
                  </a:lnTo>
                  <a:lnTo>
                    <a:pt x="10293" y="1638"/>
                  </a:lnTo>
                  <a:lnTo>
                    <a:pt x="10158" y="1415"/>
                  </a:lnTo>
                  <a:lnTo>
                    <a:pt x="9967" y="1210"/>
                  </a:lnTo>
                  <a:lnTo>
                    <a:pt x="9753" y="986"/>
                  </a:lnTo>
                  <a:lnTo>
                    <a:pt x="9495" y="819"/>
                  </a:lnTo>
                  <a:lnTo>
                    <a:pt x="9191" y="670"/>
                  </a:lnTo>
                  <a:lnTo>
                    <a:pt x="8842" y="521"/>
                  </a:lnTo>
                  <a:lnTo>
                    <a:pt x="8471" y="446"/>
                  </a:lnTo>
                  <a:lnTo>
                    <a:pt x="7998" y="428"/>
                  </a:lnTo>
                  <a:lnTo>
                    <a:pt x="7413" y="428"/>
                  </a:lnTo>
                  <a:lnTo>
                    <a:pt x="6817" y="446"/>
                  </a:lnTo>
                  <a:lnTo>
                    <a:pt x="6187" y="521"/>
                  </a:lnTo>
                  <a:lnTo>
                    <a:pt x="5602" y="633"/>
                  </a:lnTo>
                  <a:lnTo>
                    <a:pt x="5107" y="744"/>
                  </a:lnTo>
                  <a:lnTo>
                    <a:pt x="4725" y="856"/>
                  </a:lnTo>
                  <a:lnTo>
                    <a:pt x="4848" y="1564"/>
                  </a:lnTo>
                  <a:lnTo>
                    <a:pt x="5028" y="2495"/>
                  </a:lnTo>
                  <a:lnTo>
                    <a:pt x="5175" y="3556"/>
                  </a:lnTo>
                  <a:lnTo>
                    <a:pt x="5298" y="4673"/>
                  </a:lnTo>
                  <a:lnTo>
                    <a:pt x="5343" y="5213"/>
                  </a:lnTo>
                  <a:lnTo>
                    <a:pt x="5388" y="5753"/>
                  </a:lnTo>
                  <a:lnTo>
                    <a:pt x="5411" y="6275"/>
                  </a:lnTo>
                  <a:lnTo>
                    <a:pt x="5411" y="6740"/>
                  </a:lnTo>
                  <a:lnTo>
                    <a:pt x="5366" y="7168"/>
                  </a:lnTo>
                  <a:lnTo>
                    <a:pt x="5321" y="7541"/>
                  </a:lnTo>
                  <a:lnTo>
                    <a:pt x="5287" y="7708"/>
                  </a:lnTo>
                  <a:lnTo>
                    <a:pt x="5242" y="7857"/>
                  </a:lnTo>
                  <a:lnTo>
                    <a:pt x="5197" y="7969"/>
                  </a:lnTo>
                  <a:lnTo>
                    <a:pt x="5130" y="8062"/>
                  </a:lnTo>
                  <a:lnTo>
                    <a:pt x="5006" y="8248"/>
                  </a:lnTo>
                  <a:lnTo>
                    <a:pt x="4848" y="8397"/>
                  </a:lnTo>
                  <a:lnTo>
                    <a:pt x="4725" y="8528"/>
                  </a:lnTo>
                  <a:lnTo>
                    <a:pt x="4567" y="8640"/>
                  </a:lnTo>
                  <a:lnTo>
                    <a:pt x="4421" y="8714"/>
                  </a:lnTo>
                  <a:lnTo>
                    <a:pt x="4263" y="8751"/>
                  </a:lnTo>
                  <a:lnTo>
                    <a:pt x="4095" y="8788"/>
                  </a:lnTo>
                  <a:lnTo>
                    <a:pt x="3948" y="8788"/>
                  </a:lnTo>
                  <a:lnTo>
                    <a:pt x="3791" y="8751"/>
                  </a:lnTo>
                  <a:lnTo>
                    <a:pt x="3667" y="8714"/>
                  </a:lnTo>
                  <a:lnTo>
                    <a:pt x="3510" y="8677"/>
                  </a:lnTo>
                  <a:lnTo>
                    <a:pt x="3386" y="8602"/>
                  </a:lnTo>
                  <a:lnTo>
                    <a:pt x="3251" y="8491"/>
                  </a:lnTo>
                  <a:lnTo>
                    <a:pt x="3127" y="8360"/>
                  </a:lnTo>
                  <a:lnTo>
                    <a:pt x="3015" y="8248"/>
                  </a:lnTo>
                  <a:lnTo>
                    <a:pt x="2925" y="8062"/>
                  </a:lnTo>
                  <a:lnTo>
                    <a:pt x="2778" y="7857"/>
                  </a:lnTo>
                  <a:lnTo>
                    <a:pt x="2610" y="7671"/>
                  </a:lnTo>
                  <a:lnTo>
                    <a:pt x="2407" y="7541"/>
                  </a:lnTo>
                  <a:lnTo>
                    <a:pt x="2171" y="7466"/>
                  </a:lnTo>
                  <a:lnTo>
                    <a:pt x="1957" y="7429"/>
                  </a:lnTo>
                  <a:lnTo>
                    <a:pt x="1698" y="7429"/>
                  </a:lnTo>
                  <a:lnTo>
                    <a:pt x="1462" y="7466"/>
                  </a:lnTo>
                  <a:lnTo>
                    <a:pt x="1226" y="7559"/>
                  </a:lnTo>
                  <a:lnTo>
                    <a:pt x="989" y="7708"/>
                  </a:lnTo>
                  <a:lnTo>
                    <a:pt x="776" y="7932"/>
                  </a:lnTo>
                  <a:lnTo>
                    <a:pt x="551" y="8211"/>
                  </a:lnTo>
                  <a:lnTo>
                    <a:pt x="382" y="8528"/>
                  </a:lnTo>
                  <a:lnTo>
                    <a:pt x="315" y="8714"/>
                  </a:lnTo>
                  <a:lnTo>
                    <a:pt x="236" y="8919"/>
                  </a:lnTo>
                  <a:lnTo>
                    <a:pt x="191" y="9142"/>
                  </a:lnTo>
                  <a:lnTo>
                    <a:pt x="123" y="9347"/>
                  </a:lnTo>
                  <a:lnTo>
                    <a:pt x="78" y="9608"/>
                  </a:lnTo>
                  <a:lnTo>
                    <a:pt x="56" y="9887"/>
                  </a:lnTo>
                  <a:lnTo>
                    <a:pt x="33" y="10185"/>
                  </a:lnTo>
                  <a:lnTo>
                    <a:pt x="33" y="10464"/>
                  </a:lnTo>
                  <a:lnTo>
                    <a:pt x="33" y="10706"/>
                  </a:lnTo>
                  <a:lnTo>
                    <a:pt x="56" y="10967"/>
                  </a:lnTo>
                  <a:lnTo>
                    <a:pt x="78" y="11172"/>
                  </a:lnTo>
                  <a:lnTo>
                    <a:pt x="123" y="11395"/>
                  </a:lnTo>
                  <a:lnTo>
                    <a:pt x="168" y="11600"/>
                  </a:lnTo>
                  <a:lnTo>
                    <a:pt x="236" y="11786"/>
                  </a:lnTo>
                  <a:lnTo>
                    <a:pt x="292" y="11973"/>
                  </a:lnTo>
                  <a:lnTo>
                    <a:pt x="382" y="12140"/>
                  </a:lnTo>
                  <a:lnTo>
                    <a:pt x="540" y="12419"/>
                  </a:lnTo>
                  <a:lnTo>
                    <a:pt x="731" y="12680"/>
                  </a:lnTo>
                  <a:lnTo>
                    <a:pt x="944" y="12866"/>
                  </a:lnTo>
                  <a:lnTo>
                    <a:pt x="1158" y="12997"/>
                  </a:lnTo>
                  <a:lnTo>
                    <a:pt x="1395" y="13108"/>
                  </a:lnTo>
                  <a:lnTo>
                    <a:pt x="1608" y="13183"/>
                  </a:lnTo>
                  <a:lnTo>
                    <a:pt x="1856" y="13183"/>
                  </a:lnTo>
                  <a:lnTo>
                    <a:pt x="2070" y="13146"/>
                  </a:lnTo>
                  <a:lnTo>
                    <a:pt x="2261" y="13071"/>
                  </a:lnTo>
                  <a:lnTo>
                    <a:pt x="2430" y="12960"/>
                  </a:lnTo>
                  <a:lnTo>
                    <a:pt x="2587" y="12792"/>
                  </a:lnTo>
                  <a:lnTo>
                    <a:pt x="2688" y="12606"/>
                  </a:lnTo>
                  <a:lnTo>
                    <a:pt x="2801" y="12419"/>
                  </a:lnTo>
                  <a:lnTo>
                    <a:pt x="2925" y="12289"/>
                  </a:lnTo>
                  <a:lnTo>
                    <a:pt x="3082" y="12177"/>
                  </a:lnTo>
                  <a:lnTo>
                    <a:pt x="3228" y="12103"/>
                  </a:lnTo>
                  <a:lnTo>
                    <a:pt x="3408" y="12103"/>
                  </a:lnTo>
                  <a:lnTo>
                    <a:pt x="3577" y="12103"/>
                  </a:lnTo>
                  <a:lnTo>
                    <a:pt x="3723" y="12177"/>
                  </a:lnTo>
                  <a:lnTo>
                    <a:pt x="3903" y="12252"/>
                  </a:lnTo>
                  <a:lnTo>
                    <a:pt x="4072" y="12364"/>
                  </a:lnTo>
                  <a:lnTo>
                    <a:pt x="4230" y="12494"/>
                  </a:lnTo>
                  <a:lnTo>
                    <a:pt x="4353" y="12643"/>
                  </a:lnTo>
                  <a:lnTo>
                    <a:pt x="4488" y="12829"/>
                  </a:lnTo>
                  <a:lnTo>
                    <a:pt x="4567" y="13034"/>
                  </a:lnTo>
                  <a:lnTo>
                    <a:pt x="4657" y="13257"/>
                  </a:lnTo>
                  <a:lnTo>
                    <a:pt x="4702" y="13462"/>
                  </a:lnTo>
                  <a:lnTo>
                    <a:pt x="4725" y="13686"/>
                  </a:lnTo>
                  <a:lnTo>
                    <a:pt x="4702" y="14282"/>
                  </a:lnTo>
                  <a:lnTo>
                    <a:pt x="4657" y="15045"/>
                  </a:lnTo>
                  <a:lnTo>
                    <a:pt x="4612" y="15976"/>
                  </a:lnTo>
                  <a:lnTo>
                    <a:pt x="4590" y="16926"/>
                  </a:lnTo>
                  <a:lnTo>
                    <a:pt x="4567" y="17968"/>
                  </a:lnTo>
                  <a:lnTo>
                    <a:pt x="4567" y="19011"/>
                  </a:lnTo>
                  <a:lnTo>
                    <a:pt x="4590" y="19514"/>
                  </a:lnTo>
                  <a:lnTo>
                    <a:pt x="4612" y="19980"/>
                  </a:lnTo>
                  <a:lnTo>
                    <a:pt x="4657" y="20426"/>
                  </a:lnTo>
                  <a:lnTo>
                    <a:pt x="4725" y="20836"/>
                  </a:lnTo>
                  <a:lnTo>
                    <a:pt x="4848" y="20929"/>
                  </a:lnTo>
                  <a:lnTo>
                    <a:pt x="5040" y="21004"/>
                  </a:lnTo>
                  <a:lnTo>
                    <a:pt x="5265" y="21078"/>
                  </a:lnTo>
                  <a:lnTo>
                    <a:pt x="5478" y="21115"/>
                  </a:lnTo>
                  <a:lnTo>
                    <a:pt x="6041" y="21115"/>
                  </a:lnTo>
                  <a:lnTo>
                    <a:pt x="6637" y="21078"/>
                  </a:lnTo>
                  <a:lnTo>
                    <a:pt x="7312" y="21004"/>
                  </a:lnTo>
                  <a:lnTo>
                    <a:pt x="7998" y="20929"/>
                  </a:lnTo>
                  <a:lnTo>
                    <a:pt x="8696" y="20855"/>
                  </a:lnTo>
                  <a:lnTo>
                    <a:pt x="9360" y="20836"/>
                  </a:lnTo>
                  <a:close/>
                </a:path>
              </a:pathLst>
            </a:custGeom>
            <a:solidFill>
              <a:srgbClr val="CCCCFF"/>
            </a:solidFill>
            <a:ln w="28575">
              <a:solidFill>
                <a:srgbClr val="000000"/>
              </a:solidFill>
              <a:miter lim="800000"/>
              <a:headEnd/>
              <a:tailEnd/>
            </a:ln>
          </p:spPr>
          <p:txBody>
            <a:bodyPr/>
            <a:lstStyle/>
            <a:p>
              <a:endParaRPr lang="zh-CN" altLang="en-US">
                <a:latin typeface="+mn-ea"/>
                <a:ea typeface="+mn-ea"/>
              </a:endParaRPr>
            </a:p>
          </p:txBody>
        </p:sp>
      </p:grpSp>
      <p:sp>
        <p:nvSpPr>
          <p:cNvPr id="49" name="Text Box 20"/>
          <p:cNvSpPr txBox="1">
            <a:spLocks noChangeArrowheads="1"/>
          </p:cNvSpPr>
          <p:nvPr/>
        </p:nvSpPr>
        <p:spPr bwMode="auto">
          <a:xfrm>
            <a:off x="5056108" y="3665537"/>
            <a:ext cx="1259046" cy="292100"/>
          </a:xfrm>
          <a:prstGeom prst="rect">
            <a:avLst/>
          </a:prstGeom>
          <a:noFill/>
          <a:ln w="9525">
            <a:noFill/>
            <a:miter lim="800000"/>
            <a:headEnd/>
            <a:tailEnd/>
          </a:ln>
        </p:spPr>
        <p:txBody>
          <a:bodyPr>
            <a:spAutoFit/>
          </a:bodyPr>
          <a:lstStyle/>
          <a:p>
            <a:r>
              <a:rPr lang="zh-CN" altLang="en-US" sz="1300" b="1">
                <a:solidFill>
                  <a:schemeClr val="tx2">
                    <a:lumMod val="95000"/>
                    <a:lumOff val="5000"/>
                  </a:schemeClr>
                </a:solidFill>
                <a:latin typeface="+mn-ea"/>
                <a:ea typeface="+mn-ea"/>
              </a:rPr>
              <a:t>仪表盘</a:t>
            </a:r>
          </a:p>
        </p:txBody>
      </p:sp>
      <p:sp>
        <p:nvSpPr>
          <p:cNvPr id="50" name="Rectangle 48"/>
          <p:cNvSpPr>
            <a:spLocks noChangeArrowheads="1"/>
          </p:cNvSpPr>
          <p:nvPr/>
        </p:nvSpPr>
        <p:spPr bwMode="auto">
          <a:xfrm>
            <a:off x="4977765" y="2168380"/>
            <a:ext cx="712470" cy="415636"/>
          </a:xfrm>
          <a:prstGeom prst="rect">
            <a:avLst/>
          </a:prstGeom>
          <a:solidFill>
            <a:srgbClr val="00B0F0"/>
          </a:solidFill>
          <a:ln>
            <a:solidFill>
              <a:srgbClr val="00B0F0"/>
            </a:solidFill>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a:spcBef>
                <a:spcPct val="50000"/>
              </a:spcBef>
              <a:defRPr/>
            </a:pPr>
            <a:endParaRPr lang="zh-CN" altLang="en-US" sz="1100" b="1">
              <a:solidFill>
                <a:schemeClr val="bg1"/>
              </a:solidFill>
              <a:latin typeface="+mn-ea"/>
              <a:ea typeface="+mn-ea"/>
            </a:endParaRPr>
          </a:p>
        </p:txBody>
      </p:sp>
      <p:sp>
        <p:nvSpPr>
          <p:cNvPr id="51" name="AutoShape 49"/>
          <p:cNvSpPr>
            <a:spLocks noChangeArrowheads="1"/>
          </p:cNvSpPr>
          <p:nvPr/>
        </p:nvSpPr>
        <p:spPr bwMode="auto">
          <a:xfrm>
            <a:off x="845265" y="2717223"/>
            <a:ext cx="6759733" cy="597477"/>
          </a:xfrm>
          <a:prstGeom prst="roundRect">
            <a:avLst>
              <a:gd name="adj" fmla="val 16667"/>
            </a:avLst>
          </a:prstGeom>
          <a:solidFill>
            <a:srgbClr val="CCFFCC"/>
          </a:solidFill>
          <a:ln w="12700">
            <a:solidFill>
              <a:srgbClr val="CCFFCC"/>
            </a:solidFill>
            <a:round/>
            <a:headEnd/>
            <a:tailEnd/>
          </a:ln>
        </p:spPr>
        <p:txBody>
          <a:bodyPr wrap="none" anchor="ctr"/>
          <a:lstStyle/>
          <a:p>
            <a:endParaRPr lang="zh-CN" altLang="en-US">
              <a:latin typeface="+mn-ea"/>
              <a:ea typeface="+mn-ea"/>
            </a:endParaRPr>
          </a:p>
        </p:txBody>
      </p:sp>
      <p:pic>
        <p:nvPicPr>
          <p:cNvPr id="52" name="Picture 7" descr="StackBar"/>
          <p:cNvPicPr preferRelativeResize="0">
            <a:picLocks noChangeArrowheads="1"/>
          </p:cNvPicPr>
          <p:nvPr/>
        </p:nvPicPr>
        <p:blipFill>
          <a:blip r:embed="rId5" cstate="print"/>
          <a:srcRect/>
          <a:stretch>
            <a:fillRect/>
          </a:stretch>
        </p:blipFill>
        <p:spPr bwMode="auto">
          <a:xfrm>
            <a:off x="2151063" y="2928649"/>
            <a:ext cx="593725" cy="360362"/>
          </a:xfrm>
          <a:prstGeom prst="rect">
            <a:avLst/>
          </a:prstGeom>
          <a:solidFill>
            <a:schemeClr val="accent1"/>
          </a:solidFill>
          <a:ln w="9525">
            <a:solidFill>
              <a:srgbClr val="777777"/>
            </a:solidFill>
            <a:miter lim="800000"/>
            <a:headEnd/>
            <a:tailEnd/>
          </a:ln>
        </p:spPr>
      </p:pic>
      <p:pic>
        <p:nvPicPr>
          <p:cNvPr id="53" name="Picture 10"/>
          <p:cNvPicPr preferRelativeResize="0">
            <a:picLocks noChangeArrowheads="1"/>
          </p:cNvPicPr>
          <p:nvPr/>
        </p:nvPicPr>
        <p:blipFill>
          <a:blip r:embed="rId6" cstate="print"/>
          <a:srcRect/>
          <a:stretch>
            <a:fillRect/>
          </a:stretch>
        </p:blipFill>
        <p:spPr bwMode="auto">
          <a:xfrm>
            <a:off x="3176588" y="2928649"/>
            <a:ext cx="593725" cy="360362"/>
          </a:xfrm>
          <a:prstGeom prst="rect">
            <a:avLst/>
          </a:prstGeom>
          <a:solidFill>
            <a:schemeClr val="accent1"/>
          </a:solidFill>
          <a:ln w="9525">
            <a:noFill/>
            <a:miter lim="800000"/>
            <a:headEnd/>
            <a:tailEnd/>
          </a:ln>
        </p:spPr>
      </p:pic>
      <p:pic>
        <p:nvPicPr>
          <p:cNvPr id="54" name="Picture 11"/>
          <p:cNvPicPr preferRelativeResize="0">
            <a:picLocks noChangeArrowheads="1"/>
          </p:cNvPicPr>
          <p:nvPr/>
        </p:nvPicPr>
        <p:blipFill>
          <a:blip r:embed="rId7" cstate="print"/>
          <a:srcRect/>
          <a:stretch>
            <a:fillRect/>
          </a:stretch>
        </p:blipFill>
        <p:spPr bwMode="auto">
          <a:xfrm>
            <a:off x="6043613" y="2922299"/>
            <a:ext cx="593725" cy="360362"/>
          </a:xfrm>
          <a:prstGeom prst="rect">
            <a:avLst/>
          </a:prstGeom>
          <a:solidFill>
            <a:schemeClr val="accent1"/>
          </a:solidFill>
          <a:ln w="9525">
            <a:noFill/>
            <a:miter lim="800000"/>
            <a:headEnd/>
            <a:tailEnd/>
          </a:ln>
        </p:spPr>
      </p:pic>
      <p:pic>
        <p:nvPicPr>
          <p:cNvPr id="55" name="Picture 12"/>
          <p:cNvPicPr preferRelativeResize="0">
            <a:picLocks noChangeArrowheads="1"/>
          </p:cNvPicPr>
          <p:nvPr/>
        </p:nvPicPr>
        <p:blipFill>
          <a:blip r:embed="rId8" cstate="print"/>
          <a:srcRect/>
          <a:stretch>
            <a:fillRect/>
          </a:stretch>
        </p:blipFill>
        <p:spPr bwMode="auto">
          <a:xfrm>
            <a:off x="4187826" y="2928649"/>
            <a:ext cx="593725" cy="360362"/>
          </a:xfrm>
          <a:prstGeom prst="rect">
            <a:avLst/>
          </a:prstGeom>
          <a:solidFill>
            <a:schemeClr val="accent1"/>
          </a:solidFill>
          <a:ln w="9525">
            <a:noFill/>
            <a:miter lim="800000"/>
            <a:headEnd/>
            <a:tailEnd/>
          </a:ln>
        </p:spPr>
      </p:pic>
      <p:sp>
        <p:nvSpPr>
          <p:cNvPr id="56" name="Rectangle 14"/>
          <p:cNvSpPr>
            <a:spLocks noChangeArrowheads="1"/>
          </p:cNvSpPr>
          <p:nvPr/>
        </p:nvSpPr>
        <p:spPr bwMode="blackWhite">
          <a:xfrm>
            <a:off x="1811575" y="2763549"/>
            <a:ext cx="1286986" cy="169862"/>
          </a:xfrm>
          <a:prstGeom prst="rect">
            <a:avLst/>
          </a:prstGeom>
          <a:noFill/>
          <a:ln w="6350" algn="ctr">
            <a:noFill/>
            <a:miter lim="800000"/>
            <a:headEnd/>
            <a:tailEnd/>
          </a:ln>
        </p:spPr>
        <p:txBody>
          <a:bodyPr lIns="0" tIns="0" rIns="0" bIns="0">
            <a:spAutoFit/>
          </a:bodyPr>
          <a:lstStyle/>
          <a:p>
            <a:pPr algn="ctr" eaLnBrk="0" hangingPunct="0">
              <a:lnSpc>
                <a:spcPct val="85000"/>
              </a:lnSpc>
              <a:defRPr/>
            </a:pPr>
            <a:r>
              <a:rPr lang="zh-CN" altLang="en-US" sz="1300" b="1" dirty="0">
                <a:latin typeface="+mn-ea"/>
                <a:ea typeface="+mn-ea"/>
              </a:rPr>
              <a:t>查询</a:t>
            </a:r>
          </a:p>
        </p:txBody>
      </p:sp>
      <p:sp>
        <p:nvSpPr>
          <p:cNvPr id="57" name="Rectangle 15"/>
          <p:cNvSpPr>
            <a:spLocks noChangeArrowheads="1"/>
          </p:cNvSpPr>
          <p:nvPr/>
        </p:nvSpPr>
        <p:spPr bwMode="blackWhite">
          <a:xfrm>
            <a:off x="5955665" y="2754024"/>
            <a:ext cx="782320" cy="169862"/>
          </a:xfrm>
          <a:prstGeom prst="rect">
            <a:avLst/>
          </a:prstGeom>
          <a:noFill/>
          <a:ln w="6350" algn="ctr">
            <a:noFill/>
            <a:miter lim="800000"/>
            <a:headEnd/>
            <a:tailEnd/>
          </a:ln>
        </p:spPr>
        <p:txBody>
          <a:bodyPr lIns="0" tIns="0" rIns="0" bIns="0">
            <a:spAutoFit/>
          </a:bodyPr>
          <a:lstStyle/>
          <a:p>
            <a:pPr algn="ctr" eaLnBrk="0" hangingPunct="0">
              <a:lnSpc>
                <a:spcPct val="85000"/>
              </a:lnSpc>
              <a:defRPr/>
            </a:pPr>
            <a:r>
              <a:rPr lang="zh-CN" altLang="en-US" sz="1300" b="1" dirty="0">
                <a:latin typeface="+mn-ea"/>
                <a:ea typeface="+mn-ea"/>
              </a:rPr>
              <a:t>预警</a:t>
            </a:r>
          </a:p>
        </p:txBody>
      </p:sp>
      <p:sp>
        <p:nvSpPr>
          <p:cNvPr id="58" name="Rectangle 17"/>
          <p:cNvSpPr>
            <a:spLocks noChangeArrowheads="1"/>
          </p:cNvSpPr>
          <p:nvPr/>
        </p:nvSpPr>
        <p:spPr bwMode="blackWhite">
          <a:xfrm>
            <a:off x="2833925" y="2760374"/>
            <a:ext cx="1286986" cy="169862"/>
          </a:xfrm>
          <a:prstGeom prst="rect">
            <a:avLst/>
          </a:prstGeom>
          <a:noFill/>
          <a:ln w="6350" algn="ctr">
            <a:noFill/>
            <a:miter lim="800000"/>
            <a:headEnd/>
            <a:tailEnd/>
          </a:ln>
        </p:spPr>
        <p:txBody>
          <a:bodyPr lIns="0" tIns="0" rIns="0" bIns="0">
            <a:spAutoFit/>
          </a:bodyPr>
          <a:lstStyle/>
          <a:p>
            <a:pPr algn="ctr" eaLnBrk="0" hangingPunct="0">
              <a:lnSpc>
                <a:spcPct val="85000"/>
              </a:lnSpc>
              <a:defRPr/>
            </a:pPr>
            <a:r>
              <a:rPr lang="zh-CN" altLang="en-US" sz="1300" b="1" dirty="0">
                <a:latin typeface="+mn-ea"/>
                <a:ea typeface="+mn-ea"/>
              </a:rPr>
              <a:t>报表</a:t>
            </a:r>
          </a:p>
        </p:txBody>
      </p:sp>
      <p:sp>
        <p:nvSpPr>
          <p:cNvPr id="59" name="Rectangle 18"/>
          <p:cNvSpPr>
            <a:spLocks noChangeArrowheads="1"/>
          </p:cNvSpPr>
          <p:nvPr/>
        </p:nvSpPr>
        <p:spPr bwMode="blackWhite">
          <a:xfrm>
            <a:off x="3849846" y="2752436"/>
            <a:ext cx="1288733" cy="169863"/>
          </a:xfrm>
          <a:prstGeom prst="rect">
            <a:avLst/>
          </a:prstGeom>
          <a:noFill/>
          <a:ln w="6350" algn="ctr">
            <a:noFill/>
            <a:miter lim="800000"/>
            <a:headEnd/>
            <a:tailEnd/>
          </a:ln>
        </p:spPr>
        <p:txBody>
          <a:bodyPr lIns="0" tIns="0" rIns="0" bIns="0">
            <a:spAutoFit/>
          </a:bodyPr>
          <a:lstStyle/>
          <a:p>
            <a:pPr algn="ctr" eaLnBrk="0" hangingPunct="0">
              <a:lnSpc>
                <a:spcPct val="85000"/>
              </a:lnSpc>
              <a:defRPr/>
            </a:pPr>
            <a:r>
              <a:rPr lang="zh-CN" altLang="en-US" sz="1300" b="1" dirty="0">
                <a:latin typeface="+mn-ea"/>
                <a:ea typeface="+mn-ea"/>
              </a:rPr>
              <a:t>分析</a:t>
            </a:r>
          </a:p>
        </p:txBody>
      </p:sp>
      <p:sp>
        <p:nvSpPr>
          <p:cNvPr id="60" name="Rectangle 19"/>
          <p:cNvSpPr>
            <a:spLocks noChangeArrowheads="1"/>
          </p:cNvSpPr>
          <p:nvPr/>
        </p:nvSpPr>
        <p:spPr bwMode="blackWhite">
          <a:xfrm>
            <a:off x="4899025" y="2750849"/>
            <a:ext cx="1117600" cy="169862"/>
          </a:xfrm>
          <a:prstGeom prst="rect">
            <a:avLst/>
          </a:prstGeom>
          <a:noFill/>
          <a:ln w="6350" algn="ctr">
            <a:noFill/>
            <a:miter lim="800000"/>
            <a:headEnd/>
            <a:tailEnd/>
          </a:ln>
        </p:spPr>
        <p:txBody>
          <a:bodyPr lIns="0" tIns="0" rIns="0" bIns="0">
            <a:spAutoFit/>
          </a:bodyPr>
          <a:lstStyle/>
          <a:p>
            <a:pPr algn="ctr" eaLnBrk="0" hangingPunct="0">
              <a:lnSpc>
                <a:spcPct val="85000"/>
              </a:lnSpc>
              <a:defRPr/>
            </a:pPr>
            <a:r>
              <a:rPr lang="zh-CN" altLang="en-US" sz="1300" b="1" dirty="0">
                <a:latin typeface="+mn-ea"/>
                <a:ea typeface="+mn-ea"/>
              </a:rPr>
              <a:t>仪表盘</a:t>
            </a:r>
          </a:p>
        </p:txBody>
      </p:sp>
      <p:graphicFrame>
        <p:nvGraphicFramePr>
          <p:cNvPr id="61" name="Object 59"/>
          <p:cNvGraphicFramePr>
            <a:graphicFrameLocks/>
          </p:cNvGraphicFramePr>
          <p:nvPr>
            <p:extLst>
              <p:ext uri="{D42A27DB-BD31-4B8C-83A1-F6EECF244321}">
                <p14:modId xmlns:p14="http://schemas.microsoft.com/office/powerpoint/2010/main" val="2397937260"/>
              </p:ext>
            </p:extLst>
          </p:nvPr>
        </p:nvGraphicFramePr>
        <p:xfrm>
          <a:off x="5175648" y="2906424"/>
          <a:ext cx="515143" cy="395287"/>
        </p:xfrm>
        <a:graphic>
          <a:graphicData uri="http://schemas.openxmlformats.org/presentationml/2006/ole">
            <mc:AlternateContent xmlns:mc="http://schemas.openxmlformats.org/markup-compatibility/2006">
              <mc:Choice xmlns:v="urn:schemas-microsoft-com:vml" Requires="v">
                <p:oleObj spid="_x0000_s3327" name="ﾋﾞｯﾄﾏｯﾌﾟ ｲﾒｰｼﾞ" r:id="rId9" imgW="9867874" imgH="5858672" progId="PBrush">
                  <p:embed/>
                </p:oleObj>
              </mc:Choice>
              <mc:Fallback>
                <p:oleObj name="ﾋﾞｯﾄﾏｯﾌﾟ ｲﾒｰｼﾞ" r:id="rId9" imgW="9867874" imgH="5858672" progId="PBrush">
                  <p:embed/>
                  <p:pic>
                    <p:nvPicPr>
                      <p:cNvPr id="0" name=""/>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gray">
                      <a:xfrm>
                        <a:off x="5175648" y="2906424"/>
                        <a:ext cx="515143"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 name="Line 60"/>
          <p:cNvSpPr>
            <a:spLocks noChangeShapeType="1"/>
          </p:cNvSpPr>
          <p:nvPr/>
        </p:nvSpPr>
        <p:spPr bwMode="auto">
          <a:xfrm flipV="1">
            <a:off x="2424112" y="3462338"/>
            <a:ext cx="0" cy="144462"/>
          </a:xfrm>
          <a:prstGeom prst="line">
            <a:avLst/>
          </a:prstGeom>
          <a:noFill/>
          <a:ln w="9525">
            <a:solidFill>
              <a:srgbClr val="000000"/>
            </a:solidFill>
            <a:round/>
            <a:headEnd/>
            <a:tailEnd type="triangle" w="med" len="med"/>
          </a:ln>
        </p:spPr>
        <p:txBody>
          <a:bodyPr>
            <a:spAutoFit/>
          </a:bodyPr>
          <a:lstStyle/>
          <a:p>
            <a:endParaRPr lang="zh-CN" altLang="en-US">
              <a:latin typeface="+mn-ea"/>
              <a:ea typeface="+mn-ea"/>
            </a:endParaRPr>
          </a:p>
        </p:txBody>
      </p:sp>
      <p:sp>
        <p:nvSpPr>
          <p:cNvPr id="63" name="Line 61"/>
          <p:cNvSpPr>
            <a:spLocks noChangeShapeType="1"/>
          </p:cNvSpPr>
          <p:nvPr/>
        </p:nvSpPr>
        <p:spPr bwMode="auto">
          <a:xfrm flipV="1">
            <a:off x="3498850" y="3462338"/>
            <a:ext cx="0" cy="144462"/>
          </a:xfrm>
          <a:prstGeom prst="line">
            <a:avLst/>
          </a:prstGeom>
          <a:noFill/>
          <a:ln w="9525">
            <a:solidFill>
              <a:srgbClr val="000000"/>
            </a:solidFill>
            <a:round/>
            <a:headEnd/>
            <a:tailEnd type="triangle" w="med" len="med"/>
          </a:ln>
        </p:spPr>
        <p:txBody>
          <a:bodyPr>
            <a:spAutoFit/>
          </a:bodyPr>
          <a:lstStyle/>
          <a:p>
            <a:endParaRPr lang="zh-CN" altLang="en-US">
              <a:latin typeface="+mn-ea"/>
              <a:ea typeface="+mn-ea"/>
            </a:endParaRPr>
          </a:p>
        </p:txBody>
      </p:sp>
      <p:sp>
        <p:nvSpPr>
          <p:cNvPr id="64" name="Line 62"/>
          <p:cNvSpPr>
            <a:spLocks noChangeShapeType="1"/>
          </p:cNvSpPr>
          <p:nvPr/>
        </p:nvSpPr>
        <p:spPr bwMode="auto">
          <a:xfrm flipV="1">
            <a:off x="4468813" y="3462338"/>
            <a:ext cx="0" cy="144462"/>
          </a:xfrm>
          <a:prstGeom prst="line">
            <a:avLst/>
          </a:prstGeom>
          <a:noFill/>
          <a:ln w="9525">
            <a:solidFill>
              <a:srgbClr val="000000"/>
            </a:solidFill>
            <a:round/>
            <a:headEnd/>
            <a:tailEnd type="triangle" w="med" len="med"/>
          </a:ln>
        </p:spPr>
        <p:txBody>
          <a:bodyPr>
            <a:spAutoFit/>
          </a:bodyPr>
          <a:lstStyle/>
          <a:p>
            <a:endParaRPr lang="zh-CN" altLang="en-US">
              <a:latin typeface="+mn-ea"/>
              <a:ea typeface="+mn-ea"/>
            </a:endParaRPr>
          </a:p>
        </p:txBody>
      </p:sp>
      <p:sp>
        <p:nvSpPr>
          <p:cNvPr id="65" name="Line 63"/>
          <p:cNvSpPr>
            <a:spLocks noChangeShapeType="1"/>
          </p:cNvSpPr>
          <p:nvPr/>
        </p:nvSpPr>
        <p:spPr bwMode="auto">
          <a:xfrm flipV="1">
            <a:off x="5472113" y="3462338"/>
            <a:ext cx="0" cy="144462"/>
          </a:xfrm>
          <a:prstGeom prst="line">
            <a:avLst/>
          </a:prstGeom>
          <a:noFill/>
          <a:ln w="9525">
            <a:solidFill>
              <a:srgbClr val="000000"/>
            </a:solidFill>
            <a:round/>
            <a:headEnd/>
            <a:tailEnd type="triangle" w="med" len="med"/>
          </a:ln>
        </p:spPr>
        <p:txBody>
          <a:bodyPr>
            <a:spAutoFit/>
          </a:bodyPr>
          <a:lstStyle/>
          <a:p>
            <a:endParaRPr lang="zh-CN" altLang="en-US">
              <a:latin typeface="+mn-ea"/>
              <a:ea typeface="+mn-ea"/>
            </a:endParaRPr>
          </a:p>
        </p:txBody>
      </p:sp>
      <p:sp>
        <p:nvSpPr>
          <p:cNvPr id="66" name="Line 64"/>
          <p:cNvSpPr>
            <a:spLocks noChangeShapeType="1"/>
          </p:cNvSpPr>
          <p:nvPr/>
        </p:nvSpPr>
        <p:spPr bwMode="auto">
          <a:xfrm flipV="1">
            <a:off x="6335712" y="3455988"/>
            <a:ext cx="0" cy="144462"/>
          </a:xfrm>
          <a:prstGeom prst="line">
            <a:avLst/>
          </a:prstGeom>
          <a:noFill/>
          <a:ln w="9525">
            <a:solidFill>
              <a:srgbClr val="000000"/>
            </a:solidFill>
            <a:round/>
            <a:headEnd/>
            <a:tailEnd type="triangle" w="med" len="med"/>
          </a:ln>
        </p:spPr>
        <p:txBody>
          <a:bodyPr>
            <a:spAutoFit/>
          </a:bodyPr>
          <a:lstStyle/>
          <a:p>
            <a:endParaRPr lang="zh-CN" altLang="en-US">
              <a:latin typeface="+mn-ea"/>
              <a:ea typeface="+mn-ea"/>
            </a:endParaRPr>
          </a:p>
        </p:txBody>
      </p:sp>
      <p:sp>
        <p:nvSpPr>
          <p:cNvPr id="67" name="AutoShape 65"/>
          <p:cNvSpPr>
            <a:spLocks noChangeArrowheads="1"/>
          </p:cNvSpPr>
          <p:nvPr/>
        </p:nvSpPr>
        <p:spPr bwMode="auto">
          <a:xfrm>
            <a:off x="1330563" y="1407309"/>
            <a:ext cx="5862162" cy="383615"/>
          </a:xfrm>
          <a:prstGeom prst="roundRect">
            <a:avLst>
              <a:gd name="adj" fmla="val 7394"/>
            </a:avLst>
          </a:prstGeom>
          <a:noFill/>
          <a:ln w="9525">
            <a:solidFill>
              <a:srgbClr val="B2B2B2"/>
            </a:solidFill>
            <a:round/>
            <a:headEnd/>
            <a:tailEnd/>
          </a:ln>
        </p:spPr>
        <p:txBody>
          <a:bodyPr lIns="91435" tIns="45718" rIns="91435" bIns="45718" anchor="ctr">
            <a:spAutoFit/>
          </a:bodyPr>
          <a:lstStyle/>
          <a:p>
            <a:endParaRPr lang="zh-CN" altLang="en-US" b="1">
              <a:latin typeface="+mn-ea"/>
              <a:ea typeface="+mn-ea"/>
            </a:endParaRPr>
          </a:p>
        </p:txBody>
      </p:sp>
      <p:sp>
        <p:nvSpPr>
          <p:cNvPr id="68" name="Text Box 66"/>
          <p:cNvSpPr txBox="1">
            <a:spLocks noChangeArrowheads="1"/>
          </p:cNvSpPr>
          <p:nvPr/>
        </p:nvSpPr>
        <p:spPr bwMode="auto">
          <a:xfrm>
            <a:off x="4620022" y="1501485"/>
            <a:ext cx="1108869" cy="268288"/>
          </a:xfrm>
          <a:prstGeom prst="rect">
            <a:avLst/>
          </a:prstGeom>
          <a:noFill/>
          <a:ln w="9525">
            <a:noFill/>
            <a:miter lim="800000"/>
            <a:headEnd/>
            <a:tailEnd/>
          </a:ln>
          <a:effectLst/>
        </p:spPr>
        <p:txBody>
          <a:bodyPr lIns="82876" tIns="41439" rIns="82876" bIns="41439">
            <a:spAutoFit/>
          </a:bodyPr>
          <a:lstStyle/>
          <a:p>
            <a:pPr algn="ctr" defTabSz="823913" eaLnBrk="0" hangingPunct="0">
              <a:defRPr/>
            </a:pPr>
            <a:r>
              <a:rPr lang="zh-CN" altLang="en-US" sz="1200" b="1" dirty="0">
                <a:latin typeface="+mn-ea"/>
                <a:ea typeface="+mn-ea"/>
              </a:rPr>
              <a:t>管理层</a:t>
            </a:r>
          </a:p>
        </p:txBody>
      </p:sp>
      <p:sp>
        <p:nvSpPr>
          <p:cNvPr id="69" name="Text Box 67"/>
          <p:cNvSpPr txBox="1">
            <a:spLocks noChangeArrowheads="1"/>
          </p:cNvSpPr>
          <p:nvPr/>
        </p:nvSpPr>
        <p:spPr bwMode="auto">
          <a:xfrm>
            <a:off x="6050518" y="1493548"/>
            <a:ext cx="1594326" cy="268287"/>
          </a:xfrm>
          <a:prstGeom prst="rect">
            <a:avLst/>
          </a:prstGeom>
          <a:noFill/>
          <a:ln w="9525">
            <a:noFill/>
            <a:miter lim="800000"/>
            <a:headEnd/>
            <a:tailEnd/>
          </a:ln>
          <a:effectLst/>
        </p:spPr>
        <p:txBody>
          <a:bodyPr lIns="82876" tIns="41439" rIns="82876" bIns="41439">
            <a:spAutoFit/>
          </a:bodyPr>
          <a:lstStyle/>
          <a:p>
            <a:pPr defTabSz="823913" eaLnBrk="0" hangingPunct="0">
              <a:defRPr/>
            </a:pPr>
            <a:r>
              <a:rPr lang="zh-CN" altLang="en-US" sz="1200" b="1" dirty="0">
                <a:latin typeface="+mn-ea"/>
                <a:ea typeface="+mn-ea"/>
              </a:rPr>
              <a:t>决策层</a:t>
            </a:r>
          </a:p>
        </p:txBody>
      </p:sp>
      <p:sp>
        <p:nvSpPr>
          <p:cNvPr id="70" name="Text Box 68"/>
          <p:cNvSpPr txBox="1">
            <a:spLocks noChangeArrowheads="1"/>
          </p:cNvSpPr>
          <p:nvPr/>
        </p:nvSpPr>
        <p:spPr bwMode="auto">
          <a:xfrm>
            <a:off x="2259568" y="1480848"/>
            <a:ext cx="860902" cy="268287"/>
          </a:xfrm>
          <a:prstGeom prst="rect">
            <a:avLst/>
          </a:prstGeom>
          <a:noFill/>
          <a:ln w="9525">
            <a:noFill/>
            <a:miter lim="800000"/>
            <a:headEnd/>
            <a:tailEnd/>
          </a:ln>
          <a:effectLst/>
        </p:spPr>
        <p:txBody>
          <a:bodyPr wrap="none" lIns="82876" tIns="41439" rIns="82876" bIns="41439">
            <a:spAutoFit/>
          </a:bodyPr>
          <a:lstStyle/>
          <a:p>
            <a:pPr defTabSz="823913" eaLnBrk="0" hangingPunct="0">
              <a:defRPr/>
            </a:pPr>
            <a:r>
              <a:rPr lang="zh-CN" altLang="en-US" sz="1200" b="1" dirty="0">
                <a:latin typeface="+mn-ea"/>
                <a:ea typeface="+mn-ea"/>
              </a:rPr>
              <a:t>普通员工</a:t>
            </a:r>
          </a:p>
        </p:txBody>
      </p:sp>
      <p:sp>
        <p:nvSpPr>
          <p:cNvPr id="71" name="Text Box 69"/>
          <p:cNvSpPr txBox="1">
            <a:spLocks noChangeArrowheads="1"/>
          </p:cNvSpPr>
          <p:nvPr/>
        </p:nvSpPr>
        <p:spPr bwMode="auto">
          <a:xfrm>
            <a:off x="3368516" y="1501485"/>
            <a:ext cx="1330643" cy="268288"/>
          </a:xfrm>
          <a:prstGeom prst="rect">
            <a:avLst/>
          </a:prstGeom>
          <a:noFill/>
          <a:ln w="9525">
            <a:noFill/>
            <a:miter lim="800000"/>
            <a:headEnd/>
            <a:tailEnd/>
          </a:ln>
          <a:effectLst/>
        </p:spPr>
        <p:txBody>
          <a:bodyPr lIns="82876" tIns="41439" rIns="82876" bIns="41439">
            <a:spAutoFit/>
          </a:bodyPr>
          <a:lstStyle/>
          <a:p>
            <a:pPr algn="ctr" defTabSz="823913" eaLnBrk="0" hangingPunct="0">
              <a:defRPr/>
            </a:pPr>
            <a:r>
              <a:rPr lang="zh-CN" altLang="en-US" sz="1200" b="1" dirty="0">
                <a:latin typeface="+mn-ea"/>
                <a:ea typeface="+mn-ea"/>
              </a:rPr>
              <a:t>统计人员</a:t>
            </a:r>
          </a:p>
        </p:txBody>
      </p:sp>
      <p:pic>
        <p:nvPicPr>
          <p:cNvPr id="72" name="Picture 70" descr="people meeting"/>
          <p:cNvPicPr>
            <a:picLocks noChangeAspect="1" noChangeArrowheads="1"/>
          </p:cNvPicPr>
          <p:nvPr/>
        </p:nvPicPr>
        <p:blipFill>
          <a:blip r:embed="rId11" cstate="print"/>
          <a:srcRect/>
          <a:stretch>
            <a:fillRect/>
          </a:stretch>
        </p:blipFill>
        <p:spPr bwMode="auto">
          <a:xfrm>
            <a:off x="4408567" y="1373612"/>
            <a:ext cx="522129" cy="508159"/>
          </a:xfrm>
          <a:prstGeom prst="rect">
            <a:avLst/>
          </a:prstGeom>
          <a:noFill/>
          <a:ln w="9525">
            <a:noFill/>
            <a:miter lim="800000"/>
            <a:headEnd/>
            <a:tailEnd/>
          </a:ln>
          <a:effectLst>
            <a:outerShdw dist="35921" dir="2700000" algn="ctr" rotWithShape="0">
              <a:schemeClr val="tx1"/>
            </a:outerShdw>
          </a:effectLst>
        </p:spPr>
      </p:pic>
      <p:pic>
        <p:nvPicPr>
          <p:cNvPr id="73" name="Picture 71" descr="web"/>
          <p:cNvPicPr>
            <a:picLocks noChangeAspect="1" noChangeArrowheads="1"/>
          </p:cNvPicPr>
          <p:nvPr/>
        </p:nvPicPr>
        <p:blipFill>
          <a:blip r:embed="rId12" cstate="print"/>
          <a:srcRect/>
          <a:stretch>
            <a:fillRect/>
          </a:stretch>
        </p:blipFill>
        <p:spPr bwMode="auto">
          <a:xfrm>
            <a:off x="5676821" y="1362341"/>
            <a:ext cx="525621" cy="511651"/>
          </a:xfrm>
          <a:prstGeom prst="rect">
            <a:avLst/>
          </a:prstGeom>
          <a:noFill/>
          <a:ln w="9525">
            <a:noFill/>
            <a:miter lim="800000"/>
            <a:headEnd/>
            <a:tailEnd/>
          </a:ln>
          <a:effectLst>
            <a:outerShdw dist="35921" dir="2700000" algn="ctr" rotWithShape="0">
              <a:schemeClr val="tx1"/>
            </a:outerShdw>
          </a:effectLst>
        </p:spPr>
      </p:pic>
      <p:pic>
        <p:nvPicPr>
          <p:cNvPr id="74" name="Picture 72" descr="phone lady"/>
          <p:cNvPicPr>
            <a:picLocks noChangeAspect="1" noChangeArrowheads="1"/>
          </p:cNvPicPr>
          <p:nvPr/>
        </p:nvPicPr>
        <p:blipFill>
          <a:blip r:embed="rId13" cstate="print"/>
          <a:srcRect/>
          <a:stretch>
            <a:fillRect/>
          </a:stretch>
        </p:blipFill>
        <p:spPr bwMode="auto">
          <a:xfrm>
            <a:off x="1884442" y="1370437"/>
            <a:ext cx="522129" cy="508159"/>
          </a:xfrm>
          <a:prstGeom prst="rect">
            <a:avLst/>
          </a:prstGeom>
          <a:noFill/>
          <a:ln w="9525">
            <a:noFill/>
            <a:miter lim="800000"/>
            <a:headEnd/>
            <a:tailEnd/>
          </a:ln>
          <a:effectLst>
            <a:outerShdw dist="35921" dir="2700000" algn="ctr" rotWithShape="0">
              <a:schemeClr val="tx1"/>
            </a:outerShdw>
          </a:effectLst>
        </p:spPr>
      </p:pic>
      <p:pic>
        <p:nvPicPr>
          <p:cNvPr id="75" name="Picture 73" descr="woman puter"/>
          <p:cNvPicPr>
            <a:picLocks noChangeAspect="1" noChangeArrowheads="1"/>
          </p:cNvPicPr>
          <p:nvPr/>
        </p:nvPicPr>
        <p:blipFill>
          <a:blip r:embed="rId14" cstate="print"/>
          <a:srcRect/>
          <a:stretch>
            <a:fillRect/>
          </a:stretch>
        </p:blipFill>
        <p:spPr bwMode="auto">
          <a:xfrm>
            <a:off x="3128883" y="1365516"/>
            <a:ext cx="525622" cy="511651"/>
          </a:xfrm>
          <a:prstGeom prst="rect">
            <a:avLst/>
          </a:prstGeom>
          <a:noFill/>
          <a:ln w="9525">
            <a:noFill/>
            <a:miter lim="800000"/>
            <a:headEnd/>
            <a:tailEnd/>
          </a:ln>
          <a:effectLst>
            <a:outerShdw dist="35921" dir="2700000" algn="ctr" rotWithShape="0">
              <a:schemeClr val="tx1"/>
            </a:outerShdw>
          </a:effectLst>
        </p:spPr>
      </p:pic>
      <p:sp>
        <p:nvSpPr>
          <p:cNvPr id="76" name="AutoShape 74"/>
          <p:cNvSpPr>
            <a:spLocks noChangeArrowheads="1"/>
          </p:cNvSpPr>
          <p:nvPr/>
        </p:nvSpPr>
        <p:spPr bwMode="auto">
          <a:xfrm flipV="1">
            <a:off x="1118754" y="1871501"/>
            <a:ext cx="6218671" cy="174369"/>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4232 w 21600"/>
              <a:gd name="T13" fmla="*/ 4232 h 21600"/>
              <a:gd name="T14" fmla="*/ 17368 w 21600"/>
              <a:gd name="T15" fmla="*/ 17368 h 21600"/>
            </a:gdLst>
            <a:ahLst/>
            <a:cxnLst>
              <a:cxn ang="T8">
                <a:pos x="T0" y="T1"/>
              </a:cxn>
              <a:cxn ang="T9">
                <a:pos x="T2" y="T3"/>
              </a:cxn>
              <a:cxn ang="T10">
                <a:pos x="T4" y="T5"/>
              </a:cxn>
              <a:cxn ang="T11">
                <a:pos x="T6" y="T7"/>
              </a:cxn>
            </a:cxnLst>
            <a:rect l="T12" t="T13" r="T14" b="T15"/>
            <a:pathLst>
              <a:path w="21600" h="21600">
                <a:moveTo>
                  <a:pt x="0" y="0"/>
                </a:moveTo>
                <a:lnTo>
                  <a:pt x="4864" y="21600"/>
                </a:lnTo>
                <a:lnTo>
                  <a:pt x="16736" y="21600"/>
                </a:lnTo>
                <a:lnTo>
                  <a:pt x="21600" y="0"/>
                </a:lnTo>
                <a:close/>
              </a:path>
            </a:pathLst>
          </a:custGeom>
          <a:solidFill>
            <a:srgbClr val="0066FF"/>
          </a:solidFill>
          <a:ln w="9525">
            <a:solidFill>
              <a:srgbClr val="0033CC"/>
            </a:solidFill>
            <a:miter lim="800000"/>
            <a:headEnd/>
            <a:tailEnd/>
          </a:ln>
        </p:spPr>
        <p:txBody>
          <a:bodyPr wrap="none" anchor="ctr"/>
          <a:lstStyle/>
          <a:p>
            <a:pPr algn="ctr" latinLnBrk="1"/>
            <a:endParaRPr kumimoji="1" lang="ko-KR" altLang="en-US" sz="1000">
              <a:solidFill>
                <a:schemeClr val="tx2"/>
              </a:solidFill>
              <a:latin typeface="+mn-ea"/>
              <a:ea typeface="+mn-ea"/>
              <a:cs typeface="HGPｺﾞｼｯｸM"/>
            </a:endParaRPr>
          </a:p>
          <a:p>
            <a:pPr algn="ctr" latinLnBrk="1"/>
            <a:endParaRPr kumimoji="1" lang="ko-KR" altLang="en-US" sz="1000">
              <a:solidFill>
                <a:schemeClr val="tx2"/>
              </a:solidFill>
              <a:latin typeface="+mn-ea"/>
              <a:ea typeface="+mn-ea"/>
              <a:cs typeface="HGPｺﾞｼｯｸM"/>
            </a:endParaRPr>
          </a:p>
        </p:txBody>
      </p:sp>
      <p:sp>
        <p:nvSpPr>
          <p:cNvPr id="77" name="Text Box 75"/>
          <p:cNvSpPr txBox="1">
            <a:spLocks noChangeArrowheads="1"/>
          </p:cNvSpPr>
          <p:nvPr/>
        </p:nvSpPr>
        <p:spPr bwMode="auto">
          <a:xfrm>
            <a:off x="3825240" y="1804698"/>
            <a:ext cx="1725295" cy="274637"/>
          </a:xfrm>
          <a:prstGeom prst="rect">
            <a:avLst/>
          </a:prstGeom>
          <a:noFill/>
          <a:ln w="9525">
            <a:noFill/>
            <a:miter lim="800000"/>
            <a:headEnd/>
            <a:tailEnd/>
          </a:ln>
        </p:spPr>
        <p:txBody>
          <a:bodyPr>
            <a:spAutoFit/>
          </a:bodyPr>
          <a:lstStyle/>
          <a:p>
            <a:pPr latinLnBrk="1"/>
            <a:r>
              <a:rPr kumimoji="1" lang="zh-CN" altLang="en-US" sz="1200" b="1">
                <a:solidFill>
                  <a:schemeClr val="bg1"/>
                </a:solidFill>
                <a:latin typeface="+mn-ea"/>
                <a:ea typeface="+mn-ea"/>
              </a:rPr>
              <a:t>统一登陆管理</a:t>
            </a:r>
            <a:endParaRPr kumimoji="1" lang="zh-CN" altLang="en-US" sz="1200" b="1">
              <a:solidFill>
                <a:schemeClr val="bg1"/>
              </a:solidFill>
              <a:latin typeface="+mn-ea"/>
              <a:ea typeface="+mn-ea"/>
              <a:cs typeface="HGPｺﾞｼｯｸM"/>
            </a:endParaRPr>
          </a:p>
        </p:txBody>
      </p:sp>
      <p:sp>
        <p:nvSpPr>
          <p:cNvPr id="78" name="Line 76"/>
          <p:cNvSpPr>
            <a:spLocks noChangeShapeType="1"/>
          </p:cNvSpPr>
          <p:nvPr/>
        </p:nvSpPr>
        <p:spPr bwMode="auto">
          <a:xfrm flipH="1" flipV="1">
            <a:off x="1086088" y="2631786"/>
            <a:ext cx="553561" cy="144463"/>
          </a:xfrm>
          <a:prstGeom prst="line">
            <a:avLst/>
          </a:prstGeom>
          <a:ln>
            <a:solidFill>
              <a:srgbClr val="0070C0"/>
            </a:solidFill>
            <a:headEnd/>
            <a:tailEnd type="stealth" w="lg" len="lg"/>
          </a:ln>
        </p:spPr>
        <p:style>
          <a:lnRef idx="2">
            <a:schemeClr val="accent2"/>
          </a:lnRef>
          <a:fillRef idx="0">
            <a:schemeClr val="accent2"/>
          </a:fillRef>
          <a:effectRef idx="1">
            <a:schemeClr val="accent2"/>
          </a:effectRef>
          <a:fontRef idx="minor">
            <a:schemeClr val="tx1"/>
          </a:fontRef>
        </p:style>
        <p:txBody>
          <a:bodyPr>
            <a:spAutoFit/>
          </a:bodyPr>
          <a:lstStyle/>
          <a:p>
            <a:endParaRPr lang="zh-CN" altLang="en-US" b="1">
              <a:latin typeface="+mn-ea"/>
              <a:ea typeface="+mn-ea"/>
            </a:endParaRPr>
          </a:p>
        </p:txBody>
      </p:sp>
      <p:sp>
        <p:nvSpPr>
          <p:cNvPr id="79" name="Line 77"/>
          <p:cNvSpPr>
            <a:spLocks noChangeShapeType="1"/>
          </p:cNvSpPr>
          <p:nvPr/>
        </p:nvSpPr>
        <p:spPr bwMode="auto">
          <a:xfrm flipV="1">
            <a:off x="6838553" y="2580986"/>
            <a:ext cx="357982" cy="182563"/>
          </a:xfrm>
          <a:prstGeom prst="line">
            <a:avLst/>
          </a:prstGeom>
          <a:ln>
            <a:solidFill>
              <a:srgbClr val="0070C0"/>
            </a:solidFill>
            <a:headEnd/>
            <a:tailEnd type="stealth" w="lg" len="lg"/>
          </a:ln>
        </p:spPr>
        <p:style>
          <a:lnRef idx="2">
            <a:schemeClr val="accent2"/>
          </a:lnRef>
          <a:fillRef idx="0">
            <a:schemeClr val="accent2"/>
          </a:fillRef>
          <a:effectRef idx="1">
            <a:schemeClr val="accent2"/>
          </a:effectRef>
          <a:fontRef idx="minor">
            <a:schemeClr val="tx1"/>
          </a:fontRef>
        </p:style>
        <p:txBody>
          <a:bodyPr>
            <a:spAutoFit/>
          </a:bodyPr>
          <a:lstStyle/>
          <a:p>
            <a:endParaRPr lang="zh-CN" altLang="en-US" b="1">
              <a:latin typeface="+mn-ea"/>
              <a:ea typeface="+mn-ea"/>
            </a:endParaRPr>
          </a:p>
        </p:txBody>
      </p:sp>
      <p:sp>
        <p:nvSpPr>
          <p:cNvPr id="80" name="Line 78"/>
          <p:cNvSpPr>
            <a:spLocks noChangeShapeType="1"/>
          </p:cNvSpPr>
          <p:nvPr/>
        </p:nvSpPr>
        <p:spPr bwMode="auto">
          <a:xfrm flipH="1" flipV="1">
            <a:off x="1468437" y="4192586"/>
            <a:ext cx="1571625" cy="573088"/>
          </a:xfrm>
          <a:prstGeom prst="line">
            <a:avLst/>
          </a:prstGeom>
          <a:ln>
            <a:solidFill>
              <a:srgbClr val="0070C0"/>
            </a:solidFill>
            <a:headEnd/>
            <a:tailEnd type="stealth" w="lg" len="lg"/>
          </a:ln>
        </p:spPr>
        <p:style>
          <a:lnRef idx="2">
            <a:schemeClr val="accent2"/>
          </a:lnRef>
          <a:fillRef idx="0">
            <a:schemeClr val="accent2"/>
          </a:fillRef>
          <a:effectRef idx="1">
            <a:schemeClr val="accent2"/>
          </a:effectRef>
          <a:fontRef idx="minor">
            <a:schemeClr val="tx1"/>
          </a:fontRef>
        </p:style>
        <p:txBody>
          <a:bodyPr wrap="square">
            <a:spAutoFit/>
          </a:bodyPr>
          <a:lstStyle/>
          <a:p>
            <a:endParaRPr lang="zh-CN" altLang="en-US">
              <a:latin typeface="+mn-ea"/>
              <a:ea typeface="+mn-ea"/>
            </a:endParaRPr>
          </a:p>
        </p:txBody>
      </p:sp>
      <p:sp>
        <p:nvSpPr>
          <p:cNvPr id="81" name="Line 79"/>
          <p:cNvSpPr>
            <a:spLocks noChangeShapeType="1"/>
          </p:cNvSpPr>
          <p:nvPr/>
        </p:nvSpPr>
        <p:spPr bwMode="auto">
          <a:xfrm flipV="1">
            <a:off x="5502275" y="4192587"/>
            <a:ext cx="1538426" cy="492125"/>
          </a:xfrm>
          <a:prstGeom prst="line">
            <a:avLst/>
          </a:prstGeom>
          <a:ln>
            <a:solidFill>
              <a:srgbClr val="0070C0"/>
            </a:solidFill>
            <a:headEnd/>
            <a:tailEnd type="stealth" w="lg" len="lg"/>
          </a:ln>
        </p:spPr>
        <p:style>
          <a:lnRef idx="2">
            <a:schemeClr val="accent2"/>
          </a:lnRef>
          <a:fillRef idx="0">
            <a:schemeClr val="accent2"/>
          </a:fillRef>
          <a:effectRef idx="1">
            <a:schemeClr val="accent2"/>
          </a:effectRef>
          <a:fontRef idx="minor">
            <a:schemeClr val="tx1"/>
          </a:fontRef>
        </p:style>
        <p:txBody>
          <a:bodyPr wrap="square">
            <a:spAutoFit/>
          </a:bodyPr>
          <a:lstStyle/>
          <a:p>
            <a:endParaRPr lang="zh-CN" altLang="en-US">
              <a:latin typeface="+mn-ea"/>
              <a:ea typeface="+mn-ea"/>
            </a:endParaRPr>
          </a:p>
        </p:txBody>
      </p:sp>
      <p:sp>
        <p:nvSpPr>
          <p:cNvPr id="82" name="Line 80"/>
          <p:cNvSpPr>
            <a:spLocks noChangeShapeType="1"/>
          </p:cNvSpPr>
          <p:nvPr/>
        </p:nvSpPr>
        <p:spPr bwMode="auto">
          <a:xfrm>
            <a:off x="669925" y="2066635"/>
            <a:ext cx="7102475" cy="0"/>
          </a:xfrm>
          <a:prstGeom prst="line">
            <a:avLst/>
          </a:prstGeom>
          <a:noFill/>
          <a:ln w="15875">
            <a:solidFill>
              <a:srgbClr val="FF0000"/>
            </a:solidFill>
            <a:prstDash val="dash"/>
            <a:round/>
            <a:headEnd/>
            <a:tailEnd/>
          </a:ln>
        </p:spPr>
        <p:txBody>
          <a:bodyPr wrap="none" lIns="18000" tIns="10800" rIns="18000" bIns="10800" anchor="ctr"/>
          <a:lstStyle/>
          <a:p>
            <a:endParaRPr lang="zh-CN" altLang="en-US" b="1">
              <a:latin typeface="+mn-ea"/>
              <a:ea typeface="+mn-ea"/>
            </a:endParaRPr>
          </a:p>
        </p:txBody>
      </p:sp>
      <p:sp>
        <p:nvSpPr>
          <p:cNvPr id="83" name="Text Box 6"/>
          <p:cNvSpPr txBox="1">
            <a:spLocks noChangeArrowheads="1"/>
          </p:cNvSpPr>
          <p:nvPr/>
        </p:nvSpPr>
        <p:spPr bwMode="auto">
          <a:xfrm>
            <a:off x="3716020" y="4797425"/>
            <a:ext cx="1403985" cy="246221"/>
          </a:xfrm>
          <a:prstGeom prst="rect">
            <a:avLst/>
          </a:prstGeom>
          <a:noFill/>
          <a:ln w="9525" algn="ctr">
            <a:noFill/>
            <a:miter lim="800000"/>
            <a:headEnd/>
            <a:tailEnd/>
          </a:ln>
        </p:spPr>
        <p:txBody>
          <a:bodyPr wrap="square" lIns="0" tIns="0" rIns="0" bIns="0">
            <a:spAutoFit/>
          </a:bodyPr>
          <a:lstStyle/>
          <a:p>
            <a:pPr algn="ctr" eaLnBrk="0" hangingPunct="0">
              <a:defRPr/>
            </a:pPr>
            <a:r>
              <a:rPr lang="zh-CN" altLang="en-US" sz="1600" b="1" dirty="0">
                <a:solidFill>
                  <a:srgbClr val="C00000"/>
                </a:solidFill>
                <a:effectLst>
                  <a:outerShdw blurRad="38100" dist="38100" dir="2700000" algn="tl">
                    <a:srgbClr val="C0C0C0"/>
                  </a:outerShdw>
                </a:effectLst>
                <a:latin typeface="+mn-ea"/>
                <a:ea typeface="+mn-ea"/>
              </a:rPr>
              <a:t>基础数据中心</a:t>
            </a:r>
            <a:endParaRPr lang="en-US" altLang="zh-CN" sz="1600" b="1" dirty="0">
              <a:solidFill>
                <a:srgbClr val="C00000"/>
              </a:solidFill>
              <a:effectLst>
                <a:outerShdw blurRad="38100" dist="38100" dir="2700000" algn="tl">
                  <a:srgbClr val="C0C0C0"/>
                </a:outerShdw>
              </a:effectLst>
              <a:latin typeface="+mn-ea"/>
              <a:ea typeface="+mn-ea"/>
            </a:endParaRPr>
          </a:p>
        </p:txBody>
      </p:sp>
      <p:sp>
        <p:nvSpPr>
          <p:cNvPr id="84" name="Text Box 6"/>
          <p:cNvSpPr txBox="1">
            <a:spLocks noChangeArrowheads="1"/>
          </p:cNvSpPr>
          <p:nvPr/>
        </p:nvSpPr>
        <p:spPr bwMode="auto">
          <a:xfrm>
            <a:off x="1196472" y="3521074"/>
            <a:ext cx="674025" cy="369332"/>
          </a:xfrm>
          <a:prstGeom prst="rect">
            <a:avLst/>
          </a:prstGeom>
          <a:noFill/>
          <a:ln w="9525" algn="ctr">
            <a:noFill/>
            <a:miter lim="800000"/>
            <a:headEnd/>
            <a:tailEnd/>
          </a:ln>
        </p:spPr>
        <p:txBody>
          <a:bodyPr wrap="square" lIns="0" tIns="0" rIns="0" bIns="0">
            <a:spAutoFit/>
          </a:bodyPr>
          <a:lstStyle/>
          <a:p>
            <a:pPr algn="ctr" eaLnBrk="0" hangingPunct="0">
              <a:defRPr/>
            </a:pPr>
            <a:r>
              <a:rPr lang="en-US" altLang="zh-CN" sz="1200" b="1" dirty="0">
                <a:solidFill>
                  <a:schemeClr val="tx2">
                    <a:lumMod val="95000"/>
                    <a:lumOff val="5000"/>
                  </a:schemeClr>
                </a:solidFill>
                <a:effectLst>
                  <a:outerShdw blurRad="38100" dist="38100" dir="2700000" algn="tl">
                    <a:srgbClr val="C0C0C0"/>
                  </a:outerShdw>
                </a:effectLst>
                <a:latin typeface="+mn-ea"/>
                <a:ea typeface="+mn-ea"/>
              </a:rPr>
              <a:t>BI</a:t>
            </a:r>
          </a:p>
          <a:p>
            <a:pPr algn="ctr" eaLnBrk="0" hangingPunct="0">
              <a:defRPr/>
            </a:pPr>
            <a:r>
              <a:rPr lang="zh-CN" altLang="en-US" sz="1200" b="1" dirty="0">
                <a:solidFill>
                  <a:schemeClr val="tx2">
                    <a:lumMod val="95000"/>
                    <a:lumOff val="5000"/>
                  </a:schemeClr>
                </a:solidFill>
                <a:effectLst>
                  <a:outerShdw blurRad="38100" dist="38100" dir="2700000" algn="tl">
                    <a:srgbClr val="C0C0C0"/>
                  </a:outerShdw>
                </a:effectLst>
                <a:latin typeface="+mn-ea"/>
                <a:ea typeface="+mn-ea"/>
              </a:rPr>
              <a:t>工具</a:t>
            </a:r>
          </a:p>
        </p:txBody>
      </p:sp>
      <p:sp>
        <p:nvSpPr>
          <p:cNvPr id="85" name="Text Box 6"/>
          <p:cNvSpPr txBox="1">
            <a:spLocks noChangeArrowheads="1"/>
          </p:cNvSpPr>
          <p:nvPr/>
        </p:nvSpPr>
        <p:spPr bwMode="auto">
          <a:xfrm>
            <a:off x="1214994" y="2901657"/>
            <a:ext cx="686250" cy="332399"/>
          </a:xfrm>
          <a:prstGeom prst="rect">
            <a:avLst/>
          </a:prstGeom>
          <a:noFill/>
          <a:ln w="9525" algn="ctr">
            <a:noFill/>
            <a:miter lim="800000"/>
            <a:headEnd/>
            <a:tailEnd/>
          </a:ln>
        </p:spPr>
        <p:txBody>
          <a:bodyPr wrap="square" lIns="0" tIns="0" rIns="0" bIns="0">
            <a:spAutoFit/>
          </a:bodyPr>
          <a:lstStyle/>
          <a:p>
            <a:pPr algn="ctr" eaLnBrk="0" hangingPunct="0">
              <a:lnSpc>
                <a:spcPct val="90000"/>
              </a:lnSpc>
              <a:defRPr/>
            </a:pPr>
            <a:r>
              <a:rPr lang="en-US" altLang="zh-CN" sz="1200" b="1" dirty="0">
                <a:effectLst>
                  <a:outerShdw blurRad="38100" dist="38100" dir="2700000" algn="tl">
                    <a:srgbClr val="C0C0C0"/>
                  </a:outerShdw>
                </a:effectLst>
                <a:latin typeface="+mn-ea"/>
                <a:ea typeface="+mn-ea"/>
              </a:rPr>
              <a:t>BI</a:t>
            </a:r>
            <a:r>
              <a:rPr lang="zh-CN" altLang="en-US" sz="1200" b="1" dirty="0">
                <a:effectLst>
                  <a:outerShdw blurRad="38100" dist="38100" dir="2700000" algn="tl">
                    <a:srgbClr val="C0C0C0"/>
                  </a:outerShdw>
                </a:effectLst>
                <a:latin typeface="+mn-ea"/>
                <a:ea typeface="+mn-ea"/>
              </a:rPr>
              <a:t>应用</a:t>
            </a:r>
            <a:endParaRPr lang="en-US" altLang="zh-CN" sz="1200" b="1" dirty="0">
              <a:effectLst>
                <a:outerShdw blurRad="38100" dist="38100" dir="2700000" algn="tl">
                  <a:srgbClr val="C0C0C0"/>
                </a:outerShdw>
              </a:effectLst>
              <a:latin typeface="+mn-ea"/>
              <a:ea typeface="+mn-ea"/>
            </a:endParaRPr>
          </a:p>
          <a:p>
            <a:pPr algn="ctr" eaLnBrk="0" hangingPunct="0">
              <a:lnSpc>
                <a:spcPct val="90000"/>
              </a:lnSpc>
              <a:defRPr/>
            </a:pPr>
            <a:r>
              <a:rPr lang="zh-CN" altLang="en-US" sz="1200" b="1" dirty="0">
                <a:effectLst>
                  <a:outerShdw blurRad="38100" dist="38100" dir="2700000" algn="tl">
                    <a:srgbClr val="C0C0C0"/>
                  </a:outerShdw>
                </a:effectLst>
                <a:latin typeface="+mn-ea"/>
                <a:ea typeface="+mn-ea"/>
              </a:rPr>
              <a:t>系统</a:t>
            </a:r>
          </a:p>
        </p:txBody>
      </p:sp>
      <p:sp>
        <p:nvSpPr>
          <p:cNvPr id="86" name="Text Box 50"/>
          <p:cNvSpPr txBox="1">
            <a:spLocks noChangeArrowheads="1"/>
          </p:cNvSpPr>
          <p:nvPr/>
        </p:nvSpPr>
        <p:spPr bwMode="auto">
          <a:xfrm>
            <a:off x="902811" y="2234144"/>
            <a:ext cx="394653" cy="302181"/>
          </a:xfrm>
          <a:prstGeom prst="rect">
            <a:avLst/>
          </a:prstGeom>
          <a:noFill/>
          <a:ln w="9525" algn="ctr">
            <a:noFill/>
            <a:miter lim="800000"/>
            <a:headEnd/>
            <a:tailEnd/>
          </a:ln>
          <a:effectLst/>
        </p:spPr>
        <p:txBody>
          <a:bodyPr lIns="0" tIns="0" rIns="0" bIns="0">
            <a:spAutoFit/>
          </a:bodyPr>
          <a:lstStyle/>
          <a:p>
            <a:pPr algn="ctr" eaLnBrk="0" hangingPunct="0">
              <a:lnSpc>
                <a:spcPct val="90000"/>
              </a:lnSpc>
              <a:defRPr/>
            </a:pPr>
            <a:r>
              <a:rPr lang="zh-CN" altLang="en-US" sz="1200" b="1" dirty="0">
                <a:solidFill>
                  <a:schemeClr val="tx2">
                    <a:lumMod val="95000"/>
                    <a:lumOff val="5000"/>
                  </a:schemeClr>
                </a:solidFill>
                <a:effectLst>
                  <a:outerShdw blurRad="38100" dist="38100" dir="2700000" algn="tl">
                    <a:srgbClr val="C0C0C0"/>
                  </a:outerShdw>
                </a:effectLst>
                <a:latin typeface="+mn-ea"/>
                <a:ea typeface="+mn-ea"/>
              </a:rPr>
              <a:t>智慧分析</a:t>
            </a:r>
          </a:p>
        </p:txBody>
      </p:sp>
      <p:sp>
        <p:nvSpPr>
          <p:cNvPr id="129" name="Rectangle 127"/>
          <p:cNvSpPr>
            <a:spLocks noChangeArrowheads="1"/>
          </p:cNvSpPr>
          <p:nvPr/>
        </p:nvSpPr>
        <p:spPr bwMode="auto">
          <a:xfrm>
            <a:off x="5726574" y="2266174"/>
            <a:ext cx="633888" cy="307776"/>
          </a:xfrm>
          <a:prstGeom prst="rect">
            <a:avLst/>
          </a:prstGeom>
          <a:noFill/>
          <a:ln w="9525">
            <a:noFill/>
            <a:miter lim="800000"/>
            <a:headEnd/>
            <a:tailEnd/>
          </a:ln>
        </p:spPr>
        <p:txBody>
          <a:bodyPr lIns="0" tIns="0" rIns="0" bIns="0">
            <a:spAutoFit/>
          </a:bodyPr>
          <a:lstStyle/>
          <a:p>
            <a:pPr algn="ctr"/>
            <a:r>
              <a:rPr lang="zh-CN" altLang="en-US" sz="1100" b="1" dirty="0">
                <a:solidFill>
                  <a:schemeClr val="bg1"/>
                </a:solidFill>
                <a:latin typeface="+mn-ea"/>
                <a:ea typeface="+mn-ea"/>
              </a:rPr>
              <a:t>车辆</a:t>
            </a:r>
            <a:endParaRPr lang="en-US" altLang="zh-CN" sz="1100" b="1" dirty="0">
              <a:solidFill>
                <a:schemeClr val="bg1"/>
              </a:solidFill>
              <a:latin typeface="+mn-ea"/>
              <a:ea typeface="+mn-ea"/>
            </a:endParaRPr>
          </a:p>
          <a:p>
            <a:pPr algn="ctr"/>
            <a:r>
              <a:rPr lang="zh-CN" altLang="en-US" sz="1100" b="1" dirty="0">
                <a:solidFill>
                  <a:schemeClr val="bg1"/>
                </a:solidFill>
                <a:latin typeface="+mn-ea"/>
                <a:ea typeface="+mn-ea"/>
              </a:rPr>
              <a:t>轨迹</a:t>
            </a:r>
          </a:p>
        </p:txBody>
      </p:sp>
      <p:sp>
        <p:nvSpPr>
          <p:cNvPr id="130" name="Rectangle 128"/>
          <p:cNvSpPr>
            <a:spLocks noChangeArrowheads="1"/>
          </p:cNvSpPr>
          <p:nvPr/>
        </p:nvSpPr>
        <p:spPr bwMode="auto">
          <a:xfrm>
            <a:off x="5041189" y="2248111"/>
            <a:ext cx="610796" cy="307776"/>
          </a:xfrm>
          <a:prstGeom prst="rect">
            <a:avLst/>
          </a:prstGeom>
          <a:noFill/>
          <a:ln w="9525">
            <a:noFill/>
            <a:miter lim="800000"/>
            <a:headEnd/>
            <a:tailEnd/>
          </a:ln>
        </p:spPr>
        <p:txBody>
          <a:bodyPr wrap="square" lIns="0" tIns="0" rIns="0" bIns="0">
            <a:spAutoFit/>
          </a:bodyPr>
          <a:lstStyle/>
          <a:p>
            <a:pPr algn="ctr"/>
            <a:r>
              <a:rPr lang="zh-CN" altLang="en-US" sz="1100" b="1" dirty="0">
                <a:solidFill>
                  <a:schemeClr val="bg1"/>
                </a:solidFill>
                <a:latin typeface="+mn-ea"/>
                <a:ea typeface="+mn-ea"/>
              </a:rPr>
              <a:t>应急</a:t>
            </a:r>
            <a:endParaRPr lang="en-US" altLang="zh-CN" sz="1100" b="1" dirty="0">
              <a:solidFill>
                <a:schemeClr val="bg1"/>
              </a:solidFill>
              <a:latin typeface="+mn-ea"/>
              <a:ea typeface="+mn-ea"/>
            </a:endParaRPr>
          </a:p>
          <a:p>
            <a:pPr algn="ctr"/>
            <a:r>
              <a:rPr lang="zh-CN" altLang="en-US" sz="1100" b="1" dirty="0">
                <a:solidFill>
                  <a:schemeClr val="bg1"/>
                </a:solidFill>
                <a:latin typeface="+mn-ea"/>
                <a:ea typeface="+mn-ea"/>
              </a:rPr>
              <a:t>预警</a:t>
            </a:r>
          </a:p>
        </p:txBody>
      </p:sp>
      <p:sp>
        <p:nvSpPr>
          <p:cNvPr id="134" name="Rectangle 132"/>
          <p:cNvSpPr>
            <a:spLocks noChangeArrowheads="1"/>
          </p:cNvSpPr>
          <p:nvPr/>
        </p:nvSpPr>
        <p:spPr bwMode="auto">
          <a:xfrm>
            <a:off x="7924800" y="2592689"/>
            <a:ext cx="1979612" cy="576262"/>
          </a:xfrm>
          <a:prstGeom prst="rect">
            <a:avLst/>
          </a:prstGeom>
          <a:noFill/>
          <a:ln w="9525" algn="ctr">
            <a:noFill/>
            <a:miter lim="800000"/>
            <a:headEnd/>
            <a:tailEnd/>
          </a:ln>
        </p:spPr>
        <p:txBody>
          <a:bodyPr lIns="91435" tIns="45718" rIns="91435" bIns="45718"/>
          <a:lstStyle/>
          <a:p>
            <a:pPr marL="236538" indent="-236538">
              <a:spcBef>
                <a:spcPct val="40000"/>
              </a:spcBef>
              <a:buClr>
                <a:schemeClr val="hlink"/>
              </a:buClr>
              <a:buFont typeface="Wingdings" pitchFamily="2" charset="2"/>
              <a:buChar char="ð"/>
            </a:pPr>
            <a:endParaRPr lang="zh-CN" altLang="en-US" sz="1200" dirty="0">
              <a:solidFill>
                <a:srgbClr val="004A94"/>
              </a:solidFill>
              <a:latin typeface="+mn-ea"/>
              <a:ea typeface="+mn-ea"/>
            </a:endParaRPr>
          </a:p>
        </p:txBody>
      </p:sp>
      <p:sp>
        <p:nvSpPr>
          <p:cNvPr id="135" name="Rectangle 133"/>
          <p:cNvSpPr>
            <a:spLocks noChangeArrowheads="1"/>
          </p:cNvSpPr>
          <p:nvPr/>
        </p:nvSpPr>
        <p:spPr bwMode="auto">
          <a:xfrm>
            <a:off x="3721216" y="5350089"/>
            <a:ext cx="1388074" cy="307777"/>
          </a:xfrm>
          <a:prstGeom prst="rect">
            <a:avLst/>
          </a:prstGeom>
          <a:noFill/>
          <a:ln w="12700">
            <a:noFill/>
            <a:miter lim="800000"/>
            <a:headEnd/>
            <a:tailEnd/>
          </a:ln>
        </p:spPr>
        <p:txBody>
          <a:bodyPr wrap="none" anchorCtr="1">
            <a:spAutoFit/>
          </a:bodyPr>
          <a:lstStyle/>
          <a:p>
            <a:pPr algn="ctr"/>
            <a:r>
              <a:rPr lang="zh-CN" altLang="en-US" sz="1400" b="1" dirty="0">
                <a:solidFill>
                  <a:schemeClr val="tx2">
                    <a:lumMod val="95000"/>
                    <a:lumOff val="5000"/>
                  </a:schemeClr>
                </a:solidFill>
                <a:latin typeface="+mn-ea"/>
                <a:ea typeface="+mn-ea"/>
              </a:rPr>
              <a:t>信息资源交换</a:t>
            </a:r>
          </a:p>
        </p:txBody>
      </p:sp>
      <p:sp>
        <p:nvSpPr>
          <p:cNvPr id="136" name="AutoShape 134"/>
          <p:cNvSpPr>
            <a:spLocks noChangeArrowheads="1"/>
          </p:cNvSpPr>
          <p:nvPr/>
        </p:nvSpPr>
        <p:spPr bwMode="auto">
          <a:xfrm>
            <a:off x="1080136" y="4084637"/>
            <a:ext cx="6342380" cy="45719"/>
          </a:xfrm>
          <a:prstGeom prst="roundRect">
            <a:avLst>
              <a:gd name="adj" fmla="val 16667"/>
            </a:avLst>
          </a:prstGeom>
          <a:solidFill>
            <a:srgbClr val="66CCFF"/>
          </a:solidFill>
          <a:ln w="12700">
            <a:solidFill>
              <a:srgbClr val="66CCFF"/>
            </a:solidFill>
            <a:round/>
            <a:headEnd/>
            <a:tailEnd/>
          </a:ln>
        </p:spPr>
        <p:txBody>
          <a:bodyPr wrap="none" anchor="ctr"/>
          <a:lstStyle/>
          <a:p>
            <a:endParaRPr lang="zh-CN" altLang="en-US">
              <a:latin typeface="+mn-ea"/>
              <a:ea typeface="+mn-ea"/>
            </a:endParaRPr>
          </a:p>
        </p:txBody>
      </p:sp>
      <p:sp>
        <p:nvSpPr>
          <p:cNvPr id="137" name="Text Box 6"/>
          <p:cNvSpPr txBox="1">
            <a:spLocks noChangeArrowheads="1"/>
          </p:cNvSpPr>
          <p:nvPr/>
        </p:nvSpPr>
        <p:spPr bwMode="auto">
          <a:xfrm>
            <a:off x="2734547" y="3906837"/>
            <a:ext cx="3089116" cy="215444"/>
          </a:xfrm>
          <a:prstGeom prst="rect">
            <a:avLst/>
          </a:prstGeom>
          <a:noFill/>
          <a:ln w="9525" algn="ctr">
            <a:noFill/>
            <a:miter lim="800000"/>
            <a:headEnd/>
            <a:tailEnd/>
          </a:ln>
        </p:spPr>
        <p:txBody>
          <a:bodyPr lIns="0" tIns="0" rIns="0" bIns="0">
            <a:spAutoFit/>
          </a:bodyPr>
          <a:lstStyle/>
          <a:p>
            <a:pPr algn="ctr" eaLnBrk="0" hangingPunct="0">
              <a:defRPr/>
            </a:pPr>
            <a:r>
              <a:rPr lang="en-US" altLang="zh-CN" sz="1400" b="1" dirty="0">
                <a:solidFill>
                  <a:srgbClr val="C00000"/>
                </a:solidFill>
                <a:effectLst>
                  <a:outerShdw blurRad="38100" dist="38100" dir="2700000" algn="tl">
                    <a:srgbClr val="C0C0C0"/>
                  </a:outerShdw>
                </a:effectLst>
                <a:latin typeface="+mn-ea"/>
                <a:ea typeface="+mn-ea"/>
              </a:rPr>
              <a:t>Unified Server</a:t>
            </a:r>
          </a:p>
        </p:txBody>
      </p:sp>
      <p:sp>
        <p:nvSpPr>
          <p:cNvPr id="151" name="圆柱形 150"/>
          <p:cNvSpPr/>
          <p:nvPr/>
        </p:nvSpPr>
        <p:spPr>
          <a:xfrm>
            <a:off x="1219200" y="5739933"/>
            <a:ext cx="718249" cy="396219"/>
          </a:xfrm>
          <a:prstGeom prst="can">
            <a:avLst/>
          </a:prstGeom>
          <a:solidFill>
            <a:srgbClr val="0070C0"/>
          </a:solidFill>
          <a:ln>
            <a:solidFill>
              <a:schemeClr val="bg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rPr>
              <a:t>民政</a:t>
            </a:r>
          </a:p>
        </p:txBody>
      </p:sp>
      <p:sp>
        <p:nvSpPr>
          <p:cNvPr id="152" name="圆柱形 151"/>
          <p:cNvSpPr/>
          <p:nvPr/>
        </p:nvSpPr>
        <p:spPr>
          <a:xfrm>
            <a:off x="2020932" y="5732790"/>
            <a:ext cx="718249" cy="396219"/>
          </a:xfrm>
          <a:prstGeom prst="can">
            <a:avLst/>
          </a:prstGeom>
          <a:solidFill>
            <a:srgbClr val="0070C0"/>
          </a:solidFill>
          <a:ln>
            <a:solidFill>
              <a:schemeClr val="bg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rPr>
              <a:t>交通</a:t>
            </a:r>
          </a:p>
        </p:txBody>
      </p:sp>
      <p:sp>
        <p:nvSpPr>
          <p:cNvPr id="153" name="圆柱形 152"/>
          <p:cNvSpPr/>
          <p:nvPr/>
        </p:nvSpPr>
        <p:spPr>
          <a:xfrm>
            <a:off x="2819400" y="5742315"/>
            <a:ext cx="718249" cy="396219"/>
          </a:xfrm>
          <a:prstGeom prst="can">
            <a:avLst/>
          </a:prstGeom>
          <a:solidFill>
            <a:srgbClr val="0070C0"/>
          </a:solidFill>
          <a:ln>
            <a:solidFill>
              <a:schemeClr val="bg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rPr>
              <a:t>公安</a:t>
            </a:r>
          </a:p>
        </p:txBody>
      </p:sp>
      <p:sp>
        <p:nvSpPr>
          <p:cNvPr id="154" name="圆柱形 153"/>
          <p:cNvSpPr/>
          <p:nvPr/>
        </p:nvSpPr>
        <p:spPr>
          <a:xfrm>
            <a:off x="3625151" y="5738812"/>
            <a:ext cx="718249" cy="396219"/>
          </a:xfrm>
          <a:prstGeom prst="can">
            <a:avLst/>
          </a:prstGeom>
          <a:solidFill>
            <a:srgbClr val="0070C0"/>
          </a:solidFill>
          <a:ln>
            <a:solidFill>
              <a:schemeClr val="bg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rPr>
              <a:t>医疗</a:t>
            </a:r>
          </a:p>
        </p:txBody>
      </p:sp>
      <p:sp>
        <p:nvSpPr>
          <p:cNvPr id="155" name="圆柱形 154"/>
          <p:cNvSpPr/>
          <p:nvPr/>
        </p:nvSpPr>
        <p:spPr>
          <a:xfrm>
            <a:off x="4387151" y="5744369"/>
            <a:ext cx="718249" cy="396219"/>
          </a:xfrm>
          <a:prstGeom prst="can">
            <a:avLst/>
          </a:prstGeom>
          <a:solidFill>
            <a:srgbClr val="0070C0"/>
          </a:solidFill>
          <a:ln>
            <a:solidFill>
              <a:schemeClr val="bg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rPr>
              <a:t>环保</a:t>
            </a:r>
          </a:p>
        </p:txBody>
      </p:sp>
      <p:sp>
        <p:nvSpPr>
          <p:cNvPr id="156" name="圆柱形 155"/>
          <p:cNvSpPr/>
          <p:nvPr/>
        </p:nvSpPr>
        <p:spPr>
          <a:xfrm>
            <a:off x="5149151" y="5741194"/>
            <a:ext cx="718249" cy="396219"/>
          </a:xfrm>
          <a:prstGeom prst="can">
            <a:avLst/>
          </a:prstGeom>
          <a:solidFill>
            <a:srgbClr val="0070C0"/>
          </a:solidFill>
          <a:ln>
            <a:solidFill>
              <a:schemeClr val="bg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rPr>
              <a:t>农业</a:t>
            </a:r>
          </a:p>
        </p:txBody>
      </p:sp>
      <p:sp>
        <p:nvSpPr>
          <p:cNvPr id="157" name="圆柱形 156"/>
          <p:cNvSpPr/>
          <p:nvPr/>
        </p:nvSpPr>
        <p:spPr>
          <a:xfrm>
            <a:off x="5911151" y="5738812"/>
            <a:ext cx="718249" cy="396219"/>
          </a:xfrm>
          <a:prstGeom prst="can">
            <a:avLst/>
          </a:prstGeom>
          <a:solidFill>
            <a:srgbClr val="0070C0"/>
          </a:solidFill>
          <a:ln>
            <a:solidFill>
              <a:schemeClr val="bg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rPr>
              <a:t>税务</a:t>
            </a:r>
          </a:p>
        </p:txBody>
      </p:sp>
      <p:sp>
        <p:nvSpPr>
          <p:cNvPr id="158" name="圆柱形 157"/>
          <p:cNvSpPr/>
          <p:nvPr/>
        </p:nvSpPr>
        <p:spPr>
          <a:xfrm>
            <a:off x="6673151" y="5748337"/>
            <a:ext cx="718249" cy="396219"/>
          </a:xfrm>
          <a:prstGeom prst="can">
            <a:avLst/>
          </a:prstGeom>
          <a:solidFill>
            <a:srgbClr val="0070C0"/>
          </a:solidFill>
          <a:ln>
            <a:solidFill>
              <a:schemeClr val="bg1"/>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en-US" altLang="zh-CN" sz="1200" b="1" dirty="0">
                <a:solidFill>
                  <a:schemeClr val="bg1"/>
                </a:solidFill>
              </a:rPr>
              <a:t>……</a:t>
            </a:r>
            <a:endParaRPr lang="zh-CN" altLang="en-US" sz="1200" b="1" dirty="0">
              <a:solidFill>
                <a:schemeClr val="bg1"/>
              </a:solidFill>
            </a:endParaRPr>
          </a:p>
        </p:txBody>
      </p:sp>
      <p:sp>
        <p:nvSpPr>
          <p:cNvPr id="162" name="内容占位符 2"/>
          <p:cNvSpPr>
            <a:spLocks noGrp="1"/>
          </p:cNvSpPr>
          <p:nvPr>
            <p:ph idx="1"/>
          </p:nvPr>
        </p:nvSpPr>
        <p:spPr>
          <a:xfrm>
            <a:off x="352781" y="833433"/>
            <a:ext cx="8791219" cy="2294447"/>
          </a:xfrm>
        </p:spPr>
        <p:txBody>
          <a:bodyPr/>
          <a:lstStyle/>
          <a:p>
            <a:pPr>
              <a:lnSpc>
                <a:spcPct val="150000"/>
              </a:lnSpc>
            </a:pPr>
            <a:r>
              <a:rPr lang="zh-CN" altLang="en-US" sz="1600" b="1" dirty="0">
                <a:solidFill>
                  <a:srgbClr val="002060"/>
                </a:solidFill>
              </a:rPr>
              <a:t>智慧数据分析引擎可为全业务域人员提供信息展现服务，提升政务决策的整体洞察能力</a:t>
            </a:r>
          </a:p>
          <a:p>
            <a:pPr>
              <a:lnSpc>
                <a:spcPct val="150000"/>
              </a:lnSpc>
            </a:pPr>
            <a:endParaRPr lang="zh-CN" altLang="en-US" sz="1600" b="1" dirty="0">
              <a:solidFill>
                <a:srgbClr val="002060"/>
              </a:solidFill>
            </a:endParaRPr>
          </a:p>
        </p:txBody>
      </p:sp>
    </p:spTree>
    <p:extLst>
      <p:ext uri="{BB962C8B-B14F-4D97-AF65-F5344CB8AC3E}">
        <p14:creationId xmlns:p14="http://schemas.microsoft.com/office/powerpoint/2010/main" val="735446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323850" y="0"/>
            <a:ext cx="8642350" cy="785813"/>
          </a:xfrm>
        </p:spPr>
        <p:txBody>
          <a:bodyPr/>
          <a:lstStyle/>
          <a:p>
            <a:r>
              <a:rPr lang="en-US" altLang="zh-CN" dirty="0">
                <a:latin typeface="微软雅黑" pitchFamily="34" charset="-122"/>
                <a:ea typeface="微软雅黑" pitchFamily="34" charset="-122"/>
              </a:rPr>
              <a:t>Dashboard</a:t>
            </a:r>
            <a:r>
              <a:rPr lang="zh-CN" altLang="en-US" dirty="0">
                <a:latin typeface="微软雅黑" pitchFamily="34" charset="-122"/>
                <a:ea typeface="微软雅黑" pitchFamily="34" charset="-122"/>
              </a:rPr>
              <a:t>展示</a:t>
            </a:r>
          </a:p>
        </p:txBody>
      </p:sp>
      <p:sp>
        <p:nvSpPr>
          <p:cNvPr id="21507" name="Rectangle 3"/>
          <p:cNvSpPr>
            <a:spLocks noGrp="1" noChangeArrowheads="1"/>
          </p:cNvSpPr>
          <p:nvPr>
            <p:ph idx="1"/>
          </p:nvPr>
        </p:nvSpPr>
        <p:spPr>
          <a:xfrm>
            <a:off x="457200" y="928671"/>
            <a:ext cx="8229600" cy="5505468"/>
          </a:xfrm>
        </p:spPr>
        <p:txBody>
          <a:bodyPr/>
          <a:lstStyle/>
          <a:p>
            <a:pPr>
              <a:lnSpc>
                <a:spcPct val="100000"/>
              </a:lnSpc>
            </a:pPr>
            <a:r>
              <a:rPr lang="zh-CN" altLang="en-US" sz="1800" b="0" dirty="0">
                <a:solidFill>
                  <a:srgbClr val="002060"/>
                </a:solidFill>
                <a:latin typeface="微软雅黑" pitchFamily="34" charset="-122"/>
                <a:ea typeface="微软雅黑" pitchFamily="34" charset="-122"/>
              </a:rPr>
              <a:t>表现形式丰富：内置表格、油量表、泡泡图、雷达图、地图、柱图、饼图、曲线图等多种丰富的数据展示形式</a:t>
            </a:r>
            <a:endParaRPr lang="en-US" altLang="zh-CN" sz="1800" b="0" dirty="0">
              <a:solidFill>
                <a:srgbClr val="002060"/>
              </a:solidFill>
              <a:latin typeface="微软雅黑" pitchFamily="34" charset="-122"/>
              <a:ea typeface="微软雅黑" pitchFamily="34" charset="-122"/>
            </a:endParaRPr>
          </a:p>
          <a:p>
            <a:pPr>
              <a:lnSpc>
                <a:spcPct val="100000"/>
              </a:lnSpc>
            </a:pPr>
            <a:r>
              <a:rPr lang="zh-CN" altLang="en-US" sz="1800" b="0" dirty="0">
                <a:solidFill>
                  <a:srgbClr val="002060"/>
                </a:solidFill>
                <a:latin typeface="微软雅黑" pitchFamily="34" charset="-122"/>
                <a:ea typeface="微软雅黑" pitchFamily="34" charset="-122"/>
              </a:rPr>
              <a:t>动态画图效果，生动形象 </a:t>
            </a:r>
            <a:r>
              <a:rPr lang="zh-CN" altLang="en-US" sz="2000" dirty="0">
                <a:solidFill>
                  <a:srgbClr val="002060"/>
                </a:solidFill>
                <a:latin typeface="微软雅黑" pitchFamily="34" charset="-122"/>
                <a:ea typeface="微软雅黑" pitchFamily="34" charset="-122"/>
              </a:rPr>
              <a:t> </a:t>
            </a:r>
          </a:p>
        </p:txBody>
      </p:sp>
      <p:pic>
        <p:nvPicPr>
          <p:cNvPr id="21508" name="Picture 4"/>
          <p:cNvPicPr>
            <a:picLocks noChangeAspect="1" noChangeArrowheads="1"/>
          </p:cNvPicPr>
          <p:nvPr/>
        </p:nvPicPr>
        <p:blipFill>
          <a:blip r:embed="rId3" cstate="print"/>
          <a:srcRect/>
          <a:stretch>
            <a:fillRect/>
          </a:stretch>
        </p:blipFill>
        <p:spPr bwMode="auto">
          <a:xfrm>
            <a:off x="571472" y="2071678"/>
            <a:ext cx="8137525" cy="3841750"/>
          </a:xfrm>
          <a:prstGeom prst="rect">
            <a:avLst/>
          </a:prstGeom>
          <a:noFill/>
          <a:ln w="9525">
            <a:noFill/>
            <a:miter lim="800000"/>
            <a:headEnd/>
            <a:tailEnd/>
          </a:ln>
        </p:spPr>
      </p:pic>
      <p:sp>
        <p:nvSpPr>
          <p:cNvPr id="5" name="页脚占位符 4"/>
          <p:cNvSpPr txBox="1">
            <a:spLocks/>
          </p:cNvSpPr>
          <p:nvPr/>
        </p:nvSpPr>
        <p:spPr bwMode="auto">
          <a:xfrm>
            <a:off x="8572528" y="6500834"/>
            <a:ext cx="571472" cy="357166"/>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fld id="{02DE4AFA-BB25-4F2B-9FDA-42FF4CCE3770}" type="slidenum">
              <a:rPr kumimoji="0" lang="en-US" altLang="zh-CN" sz="1400" i="0" u="none" strike="noStrike" kern="1200" cap="none" spc="0" normalizeH="0" baseline="0" noProof="0" smtClean="0">
                <a:ln>
                  <a:noFill/>
                </a:ln>
                <a:solidFill>
                  <a:srgbClr val="C00000"/>
                </a:solidFill>
                <a:effectLst/>
                <a:uLnTx/>
                <a:uFillTx/>
                <a:latin typeface="Verdana" pitchFamily="34" charset="0"/>
                <a:ea typeface="微软雅黑" pitchFamily="34" charset="-122"/>
              </a:rPr>
              <a:pPr marL="0" marR="0" lvl="0" indent="0" algn="l" defTabSz="914400" rtl="0" eaLnBrk="1" fontAlgn="base" latinLnBrk="0" hangingPunct="1">
                <a:lnSpc>
                  <a:spcPct val="100000"/>
                </a:lnSpc>
                <a:spcBef>
                  <a:spcPct val="0"/>
                </a:spcBef>
                <a:spcAft>
                  <a:spcPct val="0"/>
                </a:spcAft>
                <a:buClrTx/>
                <a:buSzTx/>
                <a:buFontTx/>
                <a:buNone/>
                <a:tabLst/>
                <a:defRPr/>
              </a:pPr>
              <a:t>22</a:t>
            </a:fld>
            <a:endParaRPr kumimoji="0" lang="en-US" altLang="zh-CN" sz="1400" i="0" u="none" strike="noStrike" kern="1200" cap="none" spc="0" normalizeH="0" baseline="0" noProof="0" dirty="0">
              <a:ln>
                <a:noFill/>
              </a:ln>
              <a:solidFill>
                <a:srgbClr val="C00000"/>
              </a:solidFill>
              <a:effectLst/>
              <a:uLnTx/>
              <a:uFillTx/>
              <a:latin typeface="Verdana" pitchFamily="34" charset="0"/>
              <a:ea typeface="微软雅黑" pitchFamily="34" charset="-122"/>
            </a:endParaRPr>
          </a:p>
        </p:txBody>
      </p:sp>
    </p:spTree>
    <p:extLst>
      <p:ext uri="{BB962C8B-B14F-4D97-AF65-F5344CB8AC3E}">
        <p14:creationId xmlns:p14="http://schemas.microsoft.com/office/powerpoint/2010/main" val="697826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4800" y="228600"/>
            <a:ext cx="8610600" cy="561975"/>
          </a:xfrm>
        </p:spPr>
        <p:txBody>
          <a:bodyPr/>
          <a:lstStyle/>
          <a:p>
            <a:r>
              <a:rPr lang="zh-CN" altLang="en-US" dirty="0"/>
              <a:t>移动应用</a:t>
            </a:r>
          </a:p>
        </p:txBody>
      </p:sp>
      <p:sp>
        <p:nvSpPr>
          <p:cNvPr id="4" name="页脚占位符 3"/>
          <p:cNvSpPr>
            <a:spLocks noGrp="1"/>
          </p:cNvSpPr>
          <p:nvPr>
            <p:ph type="ftr" sz="quarter" idx="10"/>
          </p:nvPr>
        </p:nvSpPr>
        <p:spPr/>
        <p:txBody>
          <a:bodyPr/>
          <a:lstStyle/>
          <a:p>
            <a:pPr>
              <a:defRPr/>
            </a:pPr>
            <a:fld id="{0542E175-872E-4BDA-8611-E22B03916BFC}" type="slidenum">
              <a:rPr lang="en-US" altLang="zh-CN" smtClean="0"/>
              <a:pPr>
                <a:defRPr/>
              </a:pPr>
              <a:t>23</a:t>
            </a:fld>
            <a:endParaRPr lang="en-US" altLang="zh-CN" dirty="0"/>
          </a:p>
        </p:txBody>
      </p:sp>
      <p:pic>
        <p:nvPicPr>
          <p:cNvPr id="5" name="Picture 7"/>
          <p:cNvPicPr>
            <a:picLocks noChangeAspect="1" noChangeArrowheads="1"/>
          </p:cNvPicPr>
          <p:nvPr/>
        </p:nvPicPr>
        <p:blipFill>
          <a:blip r:embed="rId2" cstate="print"/>
          <a:srcRect/>
          <a:stretch>
            <a:fillRect/>
          </a:stretch>
        </p:blipFill>
        <p:spPr bwMode="auto">
          <a:xfrm>
            <a:off x="827584" y="980728"/>
            <a:ext cx="7510272" cy="5632704"/>
          </a:xfrm>
          <a:prstGeom prst="rect">
            <a:avLst/>
          </a:prstGeom>
          <a:noFill/>
          <a:ln w="9525">
            <a:noFill/>
            <a:miter lim="800000"/>
            <a:headEnd/>
            <a:tailEnd/>
          </a:ln>
        </p:spPr>
      </p:pic>
    </p:spTree>
    <p:extLst>
      <p:ext uri="{BB962C8B-B14F-4D97-AF65-F5344CB8AC3E}">
        <p14:creationId xmlns:p14="http://schemas.microsoft.com/office/powerpoint/2010/main" val="91384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4800" y="228600"/>
            <a:ext cx="8610600" cy="561975"/>
          </a:xfrm>
        </p:spPr>
        <p:txBody>
          <a:bodyPr/>
          <a:lstStyle/>
          <a:p>
            <a:r>
              <a:rPr lang="zh-CN" altLang="en-US" dirty="0">
                <a:latin typeface="微软雅黑" pitchFamily="34" charset="-122"/>
                <a:ea typeface="微软雅黑" pitchFamily="34" charset="-122"/>
              </a:rPr>
              <a:t>城市交通监控</a:t>
            </a:r>
            <a:endParaRPr lang="zh-CN" altLang="en-US" dirty="0"/>
          </a:p>
        </p:txBody>
      </p:sp>
      <p:sp>
        <p:nvSpPr>
          <p:cNvPr id="4" name="页脚占位符 3"/>
          <p:cNvSpPr>
            <a:spLocks noGrp="1"/>
          </p:cNvSpPr>
          <p:nvPr>
            <p:ph type="ftr" sz="quarter" idx="10"/>
          </p:nvPr>
        </p:nvSpPr>
        <p:spPr/>
        <p:txBody>
          <a:bodyPr/>
          <a:lstStyle/>
          <a:p>
            <a:pPr>
              <a:defRPr/>
            </a:pPr>
            <a:fld id="{0542E175-872E-4BDA-8611-E22B03916BFC}" type="slidenum">
              <a:rPr lang="en-US" altLang="zh-CN" smtClean="0"/>
              <a:pPr>
                <a:defRPr/>
              </a:pPr>
              <a:t>24</a:t>
            </a:fld>
            <a:endParaRPr lang="en-US" altLang="zh-CN" dirty="0"/>
          </a:p>
        </p:txBody>
      </p:sp>
      <p:pic>
        <p:nvPicPr>
          <p:cNvPr id="811010" name="Picture 2"/>
          <p:cNvPicPr>
            <a:picLocks noChangeAspect="1" noChangeArrowheads="1"/>
          </p:cNvPicPr>
          <p:nvPr/>
        </p:nvPicPr>
        <p:blipFill>
          <a:blip r:embed="rId2" cstate="print"/>
          <a:srcRect/>
          <a:stretch>
            <a:fillRect/>
          </a:stretch>
        </p:blipFill>
        <p:spPr bwMode="auto">
          <a:xfrm>
            <a:off x="471488" y="854546"/>
            <a:ext cx="8201025" cy="5238750"/>
          </a:xfrm>
          <a:prstGeom prst="rect">
            <a:avLst/>
          </a:prstGeom>
          <a:noFill/>
          <a:ln w="9525">
            <a:noFill/>
            <a:miter lim="800000"/>
            <a:headEnd/>
            <a:tailEnd/>
          </a:ln>
        </p:spPr>
      </p:pic>
    </p:spTree>
    <p:extLst>
      <p:ext uri="{BB962C8B-B14F-4D97-AF65-F5344CB8AC3E}">
        <p14:creationId xmlns:p14="http://schemas.microsoft.com/office/powerpoint/2010/main" val="1141221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p:cNvSpPr>
            <a:spLocks noChangeArrowheads="1"/>
          </p:cNvSpPr>
          <p:nvPr/>
        </p:nvSpPr>
        <p:spPr bwMode="auto">
          <a:xfrm>
            <a:off x="379442" y="1457302"/>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a:solidFill>
                  <a:schemeClr val="bg1"/>
                </a:solidFill>
                <a:latin typeface="+mn-ea"/>
              </a:rPr>
              <a:t>1</a:t>
            </a:r>
          </a:p>
        </p:txBody>
      </p:sp>
      <p:sp>
        <p:nvSpPr>
          <p:cNvPr id="408579" name="Freeform 4"/>
          <p:cNvSpPr>
            <a:spLocks/>
          </p:cNvSpPr>
          <p:nvPr/>
        </p:nvSpPr>
        <p:spPr bwMode="auto">
          <a:xfrm>
            <a:off x="1143000" y="1457302"/>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chemeClr val="bg1"/>
          </a:solidFill>
          <a:ln w="3175" algn="ctr">
            <a:solidFill>
              <a:srgbClr val="C0C0C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408580" name="Rectangle 5"/>
          <p:cNvSpPr>
            <a:spLocks noChangeArrowheads="1"/>
          </p:cNvSpPr>
          <p:nvPr/>
        </p:nvSpPr>
        <p:spPr bwMode="auto">
          <a:xfrm>
            <a:off x="1476828" y="1511277"/>
            <a:ext cx="7100888" cy="546100"/>
          </a:xfrm>
          <a:prstGeom prst="rect">
            <a:avLst/>
          </a:prstGeom>
          <a:noFill/>
          <a:ln w="6350">
            <a:noFill/>
            <a:miter lim="800000"/>
            <a:headEnd/>
            <a:tailEnd/>
          </a:ln>
        </p:spPr>
        <p:txBody>
          <a:bodyPr lIns="0" tIns="0" rIns="0" bIns="0" anchor="ctr"/>
          <a:lstStyle/>
          <a:p>
            <a:pPr marL="190500" lvl="1" indent="266700">
              <a:spcBef>
                <a:spcPct val="20000"/>
              </a:spcBef>
              <a:tabLst>
                <a:tab pos="8521700" algn="r"/>
              </a:tabLst>
            </a:pPr>
            <a:r>
              <a:rPr kumimoji="1" lang="zh-CN" altLang="en-US" sz="2400" b="1" dirty="0">
                <a:latin typeface="+mn-ea"/>
                <a:ea typeface="+mn-ea"/>
              </a:rPr>
              <a:t>智慧城市信息资源交换平台建设背景</a:t>
            </a:r>
            <a:endParaRPr kumimoji="1" lang="zh-CN" altLang="de-DE" sz="2400" b="1" dirty="0">
              <a:latin typeface="+mn-ea"/>
              <a:ea typeface="+mn-ea"/>
            </a:endParaRPr>
          </a:p>
        </p:txBody>
      </p:sp>
      <p:sp>
        <p:nvSpPr>
          <p:cNvPr id="408581" name="Rectangle 2"/>
          <p:cNvSpPr>
            <a:spLocks noGrp="1" noChangeArrowheads="1"/>
          </p:cNvSpPr>
          <p:nvPr>
            <p:ph type="title" idx="4294967295"/>
          </p:nvPr>
        </p:nvSpPr>
        <p:spPr>
          <a:xfrm>
            <a:off x="352455" y="152400"/>
            <a:ext cx="8280400" cy="596900"/>
          </a:xfrm>
        </p:spPr>
        <p:txBody>
          <a:bodyPr/>
          <a:lstStyle/>
          <a:p>
            <a:r>
              <a:rPr lang="zh-CN" altLang="en-US" sz="3200" dirty="0">
                <a:latin typeface="+mn-ea"/>
                <a:ea typeface="+mn-ea"/>
              </a:rPr>
              <a:t>提纲</a:t>
            </a:r>
          </a:p>
        </p:txBody>
      </p:sp>
      <p:sp>
        <p:nvSpPr>
          <p:cNvPr id="2" name="AutoShape 2"/>
          <p:cNvSpPr>
            <a:spLocks noChangeArrowheads="1"/>
          </p:cNvSpPr>
          <p:nvPr/>
        </p:nvSpPr>
        <p:spPr bwMode="auto">
          <a:xfrm>
            <a:off x="379442" y="2243120"/>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a:solidFill>
                  <a:srgbClr val="FFFFFF"/>
                </a:solidFill>
                <a:latin typeface="+mn-ea"/>
              </a:rPr>
              <a:t>2</a:t>
            </a:r>
          </a:p>
        </p:txBody>
      </p:sp>
      <p:sp>
        <p:nvSpPr>
          <p:cNvPr id="408583" name="Freeform 4"/>
          <p:cNvSpPr>
            <a:spLocks/>
          </p:cNvSpPr>
          <p:nvPr/>
        </p:nvSpPr>
        <p:spPr bwMode="auto">
          <a:xfrm>
            <a:off x="1171605" y="2243120"/>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chemeClr val="bg1"/>
          </a:solidFill>
          <a:ln w="3175" algn="ctr">
            <a:solidFill>
              <a:srgbClr val="C0C0C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408584" name="Rectangle 5"/>
          <p:cNvSpPr>
            <a:spLocks noChangeArrowheads="1"/>
          </p:cNvSpPr>
          <p:nvPr/>
        </p:nvSpPr>
        <p:spPr bwMode="auto">
          <a:xfrm>
            <a:off x="1488425" y="2297095"/>
            <a:ext cx="7100888" cy="546100"/>
          </a:xfrm>
          <a:prstGeom prst="rect">
            <a:avLst/>
          </a:prstGeom>
          <a:noFill/>
          <a:ln w="6350" algn="ctr">
            <a:noFill/>
            <a:miter lim="800000"/>
            <a:headEnd/>
            <a:tailEnd/>
          </a:ln>
          <a:effectLst/>
        </p:spPr>
        <p:txBody>
          <a:bodyPr lIns="0" tIns="0" rIns="0" bIns="0" anchor="ctr"/>
          <a:lstStyle/>
          <a:p>
            <a:pPr marL="190500" lvl="1" indent="266700">
              <a:spcBef>
                <a:spcPct val="20000"/>
              </a:spcBef>
              <a:tabLst>
                <a:tab pos="8521700" algn="r"/>
              </a:tabLst>
            </a:pPr>
            <a:r>
              <a:rPr kumimoji="1" lang="zh-CN" altLang="en-US" sz="2400" b="1" dirty="0">
                <a:latin typeface="+mn-ea"/>
                <a:ea typeface="+mn-ea"/>
              </a:rPr>
              <a:t>智慧城市信息资源交换平台总体方案</a:t>
            </a:r>
            <a:endParaRPr kumimoji="1" lang="zh-CN" altLang="de-DE" sz="2400" b="1" dirty="0">
              <a:latin typeface="+mn-ea"/>
              <a:ea typeface="+mn-ea"/>
            </a:endParaRPr>
          </a:p>
        </p:txBody>
      </p:sp>
      <p:sp>
        <p:nvSpPr>
          <p:cNvPr id="24" name="AutoShape 2"/>
          <p:cNvSpPr>
            <a:spLocks noChangeArrowheads="1"/>
          </p:cNvSpPr>
          <p:nvPr/>
        </p:nvSpPr>
        <p:spPr bwMode="auto">
          <a:xfrm>
            <a:off x="363596" y="2995614"/>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dirty="0">
                <a:solidFill>
                  <a:srgbClr val="FFFFFF"/>
                </a:solidFill>
                <a:latin typeface="+mn-ea"/>
              </a:rPr>
              <a:t>3</a:t>
            </a:r>
          </a:p>
        </p:txBody>
      </p:sp>
      <p:sp>
        <p:nvSpPr>
          <p:cNvPr id="25" name="Freeform 4"/>
          <p:cNvSpPr>
            <a:spLocks/>
          </p:cNvSpPr>
          <p:nvPr/>
        </p:nvSpPr>
        <p:spPr bwMode="auto">
          <a:xfrm>
            <a:off x="1143000" y="3009903"/>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00B0F0"/>
          </a:solidFill>
          <a:ln w="3175" algn="ctr">
            <a:solidFill>
              <a:srgbClr val="00B0F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26" name="Rectangle 5"/>
          <p:cNvSpPr>
            <a:spLocks noChangeArrowheads="1"/>
          </p:cNvSpPr>
          <p:nvPr/>
        </p:nvSpPr>
        <p:spPr bwMode="auto">
          <a:xfrm>
            <a:off x="1516121" y="3049589"/>
            <a:ext cx="7100888" cy="546100"/>
          </a:xfrm>
          <a:prstGeom prst="rect">
            <a:avLst/>
          </a:prstGeom>
          <a:noFill/>
          <a:ln w="6350" algn="ctr">
            <a:noFill/>
            <a:miter lim="800000"/>
            <a:headEnd/>
            <a:tailEnd/>
          </a:ln>
          <a:effectLst/>
        </p:spPr>
        <p:txBody>
          <a:bodyPr lIns="0" tIns="0" rIns="0" bIns="0" anchor="ctr"/>
          <a:lstStyle/>
          <a:p>
            <a:pPr marL="190500" lvl="1" indent="266700">
              <a:spcBef>
                <a:spcPct val="20000"/>
              </a:spcBef>
              <a:tabLst>
                <a:tab pos="8521700" algn="r"/>
              </a:tabLst>
            </a:pPr>
            <a:r>
              <a:rPr kumimoji="1" lang="zh-CN" altLang="en-US" sz="2400" b="1" dirty="0">
                <a:solidFill>
                  <a:schemeClr val="bg1"/>
                </a:solidFill>
                <a:latin typeface="+mn-ea"/>
                <a:ea typeface="+mn-ea"/>
              </a:rPr>
              <a:t>智慧城市信息资源交换平台应用场景</a:t>
            </a:r>
            <a:endParaRPr kumimoji="1" lang="zh-CN" altLang="de-DE" sz="2400" b="1" dirty="0">
              <a:solidFill>
                <a:schemeClr val="bg1"/>
              </a:solidFill>
              <a:latin typeface="+mn-ea"/>
              <a:ea typeface="+mn-ea"/>
            </a:endParaRPr>
          </a:p>
        </p:txBody>
      </p:sp>
      <p:sp>
        <p:nvSpPr>
          <p:cNvPr id="12" name="AutoShape 2"/>
          <p:cNvSpPr>
            <a:spLocks noChangeArrowheads="1"/>
          </p:cNvSpPr>
          <p:nvPr/>
        </p:nvSpPr>
        <p:spPr bwMode="auto">
          <a:xfrm>
            <a:off x="363596" y="3781432"/>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dirty="0">
                <a:solidFill>
                  <a:srgbClr val="FFFFFF"/>
                </a:solidFill>
                <a:latin typeface="+mn-ea"/>
              </a:rPr>
              <a:t>4</a:t>
            </a:r>
          </a:p>
        </p:txBody>
      </p:sp>
      <p:sp>
        <p:nvSpPr>
          <p:cNvPr id="13" name="Freeform 4"/>
          <p:cNvSpPr>
            <a:spLocks/>
          </p:cNvSpPr>
          <p:nvPr/>
        </p:nvSpPr>
        <p:spPr bwMode="auto">
          <a:xfrm>
            <a:off x="1155759" y="3781432"/>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chemeClr val="bg1"/>
          </a:solidFill>
          <a:ln w="3175" algn="ctr">
            <a:solidFill>
              <a:srgbClr val="C0C0C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14" name="Rectangle 5"/>
          <p:cNvSpPr>
            <a:spLocks noChangeArrowheads="1"/>
          </p:cNvSpPr>
          <p:nvPr/>
        </p:nvSpPr>
        <p:spPr bwMode="auto">
          <a:xfrm>
            <a:off x="1516121" y="3835407"/>
            <a:ext cx="7100888" cy="546100"/>
          </a:xfrm>
          <a:prstGeom prst="rect">
            <a:avLst/>
          </a:prstGeom>
          <a:noFill/>
          <a:ln w="6350" algn="ctr">
            <a:noFill/>
            <a:miter lim="800000"/>
            <a:headEnd/>
            <a:tailEnd/>
          </a:ln>
          <a:effectLst/>
        </p:spPr>
        <p:txBody>
          <a:bodyPr lIns="0" tIns="0" rIns="0" bIns="0" anchor="ctr"/>
          <a:lstStyle/>
          <a:p>
            <a:pPr marL="190500" lvl="1" indent="266700">
              <a:spcBef>
                <a:spcPct val="20000"/>
              </a:spcBef>
              <a:tabLst>
                <a:tab pos="8521700" algn="r"/>
              </a:tabLst>
            </a:pPr>
            <a:r>
              <a:rPr kumimoji="1" lang="zh-CN" altLang="en-US" sz="2400" b="1" dirty="0">
                <a:latin typeface="+mn-ea"/>
                <a:ea typeface="+mn-ea"/>
              </a:rPr>
              <a:t>智慧城市信息资源交换平台关键特性</a:t>
            </a:r>
            <a:endParaRPr kumimoji="1" lang="zh-CN" altLang="de-DE" sz="2400" b="1" dirty="0">
              <a:latin typeface="+mn-ea"/>
              <a:ea typeface="+mn-ea"/>
            </a:endParaRPr>
          </a:p>
        </p:txBody>
      </p:sp>
      <p:sp>
        <p:nvSpPr>
          <p:cNvPr id="18" name="灯片编号占位符 3"/>
          <p:cNvSpPr txBox="1">
            <a:spLocks/>
          </p:cNvSpPr>
          <p:nvPr/>
        </p:nvSpPr>
        <p:spPr>
          <a:xfrm>
            <a:off x="3429000" y="6245225"/>
            <a:ext cx="2133600" cy="476250"/>
          </a:xfrm>
          <a:prstGeom prst="rect">
            <a:avLst/>
          </a:prstGeom>
        </p:spPr>
        <p:txBody>
          <a:bodyPr/>
          <a:lstStyle>
            <a:defPPr>
              <a:defRPr lang="en-US"/>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fld id="{BD61978C-FD3D-4268-8D6C-034E9AD544A3}" type="slidenum">
              <a:rPr lang="en-US" altLang="zh-CN" smtClean="0">
                <a:latin typeface="+mn-ea"/>
                <a:ea typeface="+mn-ea"/>
              </a:rPr>
              <a:pPr algn="ctr"/>
              <a:t>25</a:t>
            </a:fld>
            <a:endParaRPr lang="en-US" altLang="zh-CN">
              <a:latin typeface="+mn-ea"/>
              <a:ea typeface="+mn-ea"/>
            </a:endParaRPr>
          </a:p>
        </p:txBody>
      </p:sp>
    </p:spTree>
    <p:extLst>
      <p:ext uri="{BB962C8B-B14F-4D97-AF65-F5344CB8AC3E}">
        <p14:creationId xmlns:p14="http://schemas.microsoft.com/office/powerpoint/2010/main" val="39158175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矩形 56"/>
          <p:cNvSpPr/>
          <p:nvPr/>
        </p:nvSpPr>
        <p:spPr>
          <a:xfrm>
            <a:off x="5105400" y="2133600"/>
            <a:ext cx="2786353" cy="4267202"/>
          </a:xfrm>
          <a:prstGeom prst="rect">
            <a:avLst/>
          </a:prstGeom>
          <a:solidFill>
            <a:schemeClr val="accent5"/>
          </a:solidFill>
          <a:ln>
            <a:solidFill>
              <a:srgbClr val="CCFFCC"/>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56" name="矩形 55"/>
          <p:cNvSpPr/>
          <p:nvPr/>
        </p:nvSpPr>
        <p:spPr>
          <a:xfrm>
            <a:off x="533399" y="2133598"/>
            <a:ext cx="3048001" cy="4267202"/>
          </a:xfrm>
          <a:prstGeom prst="rect">
            <a:avLst/>
          </a:prstGeom>
          <a:solidFill>
            <a:schemeClr val="accent5"/>
          </a:solidFill>
          <a:ln>
            <a:solidFill>
              <a:srgbClr val="CCFFCC"/>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2" name="标题 1"/>
          <p:cNvSpPr>
            <a:spLocks noGrp="1"/>
          </p:cNvSpPr>
          <p:nvPr>
            <p:ph type="title"/>
          </p:nvPr>
        </p:nvSpPr>
        <p:spPr>
          <a:xfrm>
            <a:off x="152400" y="152400"/>
            <a:ext cx="8610600" cy="561975"/>
          </a:xfrm>
        </p:spPr>
        <p:txBody>
          <a:bodyPr/>
          <a:lstStyle/>
          <a:p>
            <a:r>
              <a:rPr lang="zh-CN" altLang="en-US" dirty="0">
                <a:latin typeface="+mn-ea"/>
                <a:ea typeface="+mn-ea"/>
              </a:rPr>
              <a:t>共享数据交换（</a:t>
            </a:r>
            <a:r>
              <a:rPr lang="en-US" altLang="zh-CN" dirty="0">
                <a:latin typeface="+mn-ea"/>
                <a:ea typeface="+mn-ea"/>
              </a:rPr>
              <a:t>1/4</a:t>
            </a:r>
            <a:r>
              <a:rPr lang="zh-CN" altLang="en-US" dirty="0">
                <a:latin typeface="+mn-ea"/>
                <a:ea typeface="+mn-ea"/>
              </a:rPr>
              <a:t>）总体过程</a:t>
            </a:r>
          </a:p>
        </p:txBody>
      </p:sp>
      <p:sp>
        <p:nvSpPr>
          <p:cNvPr id="4" name="灯片编号占位符 3"/>
          <p:cNvSpPr>
            <a:spLocks noGrp="1"/>
          </p:cNvSpPr>
          <p:nvPr>
            <p:ph type="sldNum" sz="quarter" idx="12"/>
          </p:nvPr>
        </p:nvSpPr>
        <p:spPr>
          <a:xfrm>
            <a:off x="3276600" y="6619875"/>
            <a:ext cx="2133600" cy="476250"/>
          </a:xfrm>
        </p:spPr>
        <p:txBody>
          <a:bodyPr/>
          <a:lstStyle/>
          <a:p>
            <a:fld id="{BD61978C-FD3D-4268-8D6C-034E9AD544A3}" type="slidenum">
              <a:rPr lang="en-US" altLang="zh-CN" smtClean="0">
                <a:latin typeface="+mn-ea"/>
                <a:ea typeface="+mn-ea"/>
              </a:rPr>
              <a:pPr/>
              <a:t>26</a:t>
            </a:fld>
            <a:endParaRPr lang="en-US" altLang="zh-CN">
              <a:latin typeface="+mn-ea"/>
              <a:ea typeface="+mn-ea"/>
            </a:endParaRPr>
          </a:p>
        </p:txBody>
      </p:sp>
      <p:sp>
        <p:nvSpPr>
          <p:cNvPr id="6" name="矩形 5"/>
          <p:cNvSpPr/>
          <p:nvPr/>
        </p:nvSpPr>
        <p:spPr>
          <a:xfrm>
            <a:off x="1828800" y="3276600"/>
            <a:ext cx="1447800" cy="364319"/>
          </a:xfrm>
          <a:prstGeom prst="rect">
            <a:avLst/>
          </a:prstGeom>
          <a:solidFill>
            <a:srgbClr val="FFC000"/>
          </a:solidFill>
          <a:ln>
            <a:solidFill>
              <a:srgbClr val="FFC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600" b="1" dirty="0">
                <a:solidFill>
                  <a:schemeClr val="bg1"/>
                </a:solidFill>
                <a:latin typeface="+mn-ea"/>
              </a:rPr>
              <a:t>元数据</a:t>
            </a:r>
          </a:p>
        </p:txBody>
      </p:sp>
      <p:sp>
        <p:nvSpPr>
          <p:cNvPr id="7" name="矩形 6"/>
          <p:cNvSpPr/>
          <p:nvPr/>
        </p:nvSpPr>
        <p:spPr>
          <a:xfrm>
            <a:off x="1828800" y="3902881"/>
            <a:ext cx="1447800" cy="364319"/>
          </a:xfrm>
          <a:prstGeom prst="rect">
            <a:avLst/>
          </a:prstGeom>
          <a:solidFill>
            <a:srgbClr val="FFC000"/>
          </a:solidFill>
          <a:ln>
            <a:solidFill>
              <a:srgbClr val="FFC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600" b="1" dirty="0">
                <a:solidFill>
                  <a:schemeClr val="bg1"/>
                </a:solidFill>
                <a:latin typeface="+mn-ea"/>
              </a:rPr>
              <a:t>编目</a:t>
            </a:r>
          </a:p>
        </p:txBody>
      </p:sp>
      <p:sp>
        <p:nvSpPr>
          <p:cNvPr id="8" name="矩形 7"/>
          <p:cNvSpPr/>
          <p:nvPr/>
        </p:nvSpPr>
        <p:spPr>
          <a:xfrm>
            <a:off x="1828800" y="4512481"/>
            <a:ext cx="1447800" cy="364319"/>
          </a:xfrm>
          <a:prstGeom prst="rect">
            <a:avLst/>
          </a:prstGeom>
          <a:solidFill>
            <a:srgbClr val="FFC000"/>
          </a:solidFill>
          <a:ln>
            <a:solidFill>
              <a:srgbClr val="FFC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600" b="1" dirty="0">
                <a:solidFill>
                  <a:schemeClr val="bg1"/>
                </a:solidFill>
                <a:latin typeface="+mn-ea"/>
              </a:rPr>
              <a:t>形成资源目录</a:t>
            </a:r>
          </a:p>
        </p:txBody>
      </p:sp>
      <p:sp>
        <p:nvSpPr>
          <p:cNvPr id="9" name="矩形 8"/>
          <p:cNvSpPr/>
          <p:nvPr/>
        </p:nvSpPr>
        <p:spPr>
          <a:xfrm>
            <a:off x="1828800" y="5105400"/>
            <a:ext cx="1447800" cy="364319"/>
          </a:xfrm>
          <a:prstGeom prst="rect">
            <a:avLst/>
          </a:prstGeom>
          <a:solidFill>
            <a:srgbClr val="FFC000"/>
          </a:solidFill>
          <a:ln>
            <a:solidFill>
              <a:srgbClr val="FFC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600" b="1" dirty="0">
                <a:solidFill>
                  <a:schemeClr val="bg1"/>
                </a:solidFill>
                <a:latin typeface="+mn-ea"/>
              </a:rPr>
              <a:t>目录驱动</a:t>
            </a:r>
          </a:p>
        </p:txBody>
      </p:sp>
      <p:sp>
        <p:nvSpPr>
          <p:cNvPr id="10" name="矩形 9"/>
          <p:cNvSpPr/>
          <p:nvPr/>
        </p:nvSpPr>
        <p:spPr>
          <a:xfrm>
            <a:off x="1828800" y="5731681"/>
            <a:ext cx="1447800" cy="364319"/>
          </a:xfrm>
          <a:prstGeom prst="rect">
            <a:avLst/>
          </a:prstGeom>
          <a:solidFill>
            <a:srgbClr val="FFC000"/>
          </a:solidFill>
          <a:ln>
            <a:solidFill>
              <a:srgbClr val="FFC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600" b="1" dirty="0">
                <a:solidFill>
                  <a:schemeClr val="bg1"/>
                </a:solidFill>
                <a:latin typeface="+mn-ea"/>
              </a:rPr>
              <a:t>目录传输</a:t>
            </a:r>
          </a:p>
        </p:txBody>
      </p:sp>
      <p:sp>
        <p:nvSpPr>
          <p:cNvPr id="11" name="矩形 10"/>
          <p:cNvSpPr/>
          <p:nvPr/>
        </p:nvSpPr>
        <p:spPr>
          <a:xfrm>
            <a:off x="5715000" y="3352798"/>
            <a:ext cx="1447800" cy="400751"/>
          </a:xfrm>
          <a:prstGeom prst="rect">
            <a:avLst/>
          </a:prstGeom>
          <a:solidFill>
            <a:srgbClr val="92D050"/>
          </a:solidFill>
          <a:ln>
            <a:solidFill>
              <a:srgbClr val="92D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600" b="1" dirty="0">
                <a:solidFill>
                  <a:schemeClr val="bg1"/>
                </a:solidFill>
                <a:latin typeface="+mn-ea"/>
              </a:rPr>
              <a:t>数据填充</a:t>
            </a:r>
          </a:p>
        </p:txBody>
      </p:sp>
      <p:sp>
        <p:nvSpPr>
          <p:cNvPr id="12" name="矩形 11"/>
          <p:cNvSpPr/>
          <p:nvPr/>
        </p:nvSpPr>
        <p:spPr>
          <a:xfrm>
            <a:off x="5715000" y="4038598"/>
            <a:ext cx="1447800" cy="400751"/>
          </a:xfrm>
          <a:prstGeom prst="rect">
            <a:avLst/>
          </a:prstGeom>
          <a:solidFill>
            <a:srgbClr val="92D050"/>
          </a:solidFill>
          <a:ln>
            <a:solidFill>
              <a:srgbClr val="92D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600" b="1" dirty="0">
                <a:solidFill>
                  <a:schemeClr val="bg1"/>
                </a:solidFill>
                <a:latin typeface="+mn-ea"/>
              </a:rPr>
              <a:t>数据传输</a:t>
            </a:r>
          </a:p>
        </p:txBody>
      </p:sp>
      <p:sp>
        <p:nvSpPr>
          <p:cNvPr id="13" name="矩形 12"/>
          <p:cNvSpPr/>
          <p:nvPr/>
        </p:nvSpPr>
        <p:spPr>
          <a:xfrm>
            <a:off x="5715000" y="4714523"/>
            <a:ext cx="1447800" cy="400751"/>
          </a:xfrm>
          <a:prstGeom prst="rect">
            <a:avLst/>
          </a:prstGeom>
          <a:solidFill>
            <a:srgbClr val="92D050"/>
          </a:solidFill>
          <a:ln>
            <a:solidFill>
              <a:srgbClr val="92D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600" b="1" dirty="0">
                <a:solidFill>
                  <a:schemeClr val="bg1"/>
                </a:solidFill>
                <a:latin typeface="+mn-ea"/>
              </a:rPr>
              <a:t>数据核检</a:t>
            </a:r>
          </a:p>
        </p:txBody>
      </p:sp>
      <p:sp>
        <p:nvSpPr>
          <p:cNvPr id="14" name="矩形 13"/>
          <p:cNvSpPr/>
          <p:nvPr/>
        </p:nvSpPr>
        <p:spPr>
          <a:xfrm>
            <a:off x="5715000" y="5390447"/>
            <a:ext cx="1447800" cy="400751"/>
          </a:xfrm>
          <a:prstGeom prst="rect">
            <a:avLst/>
          </a:prstGeom>
          <a:solidFill>
            <a:srgbClr val="92D050"/>
          </a:solidFill>
          <a:ln>
            <a:solidFill>
              <a:srgbClr val="92D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600" b="1" dirty="0">
                <a:solidFill>
                  <a:schemeClr val="bg1"/>
                </a:solidFill>
                <a:latin typeface="+mn-ea"/>
              </a:rPr>
              <a:t>入库</a:t>
            </a:r>
          </a:p>
        </p:txBody>
      </p:sp>
      <p:sp>
        <p:nvSpPr>
          <p:cNvPr id="17" name="TextBox 16"/>
          <p:cNvSpPr txBox="1"/>
          <p:nvPr/>
        </p:nvSpPr>
        <p:spPr>
          <a:xfrm>
            <a:off x="1676400" y="2297668"/>
            <a:ext cx="1676400" cy="369332"/>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zh-CN" altLang="en-US" b="1" dirty="0">
                <a:latin typeface="+mn-ea"/>
              </a:rPr>
              <a:t>目录传输</a:t>
            </a:r>
          </a:p>
        </p:txBody>
      </p:sp>
      <p:sp>
        <p:nvSpPr>
          <p:cNvPr id="18" name="TextBox 17"/>
          <p:cNvSpPr txBox="1"/>
          <p:nvPr/>
        </p:nvSpPr>
        <p:spPr>
          <a:xfrm>
            <a:off x="5562600" y="2286000"/>
            <a:ext cx="1905000" cy="369332"/>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r>
              <a:rPr lang="zh-CN" altLang="en-US" b="1" dirty="0">
                <a:latin typeface="+mn-ea"/>
              </a:rPr>
              <a:t>数据传输</a:t>
            </a:r>
          </a:p>
        </p:txBody>
      </p:sp>
      <p:sp>
        <p:nvSpPr>
          <p:cNvPr id="19" name="下箭头 18"/>
          <p:cNvSpPr/>
          <p:nvPr/>
        </p:nvSpPr>
        <p:spPr>
          <a:xfrm rot="16200000">
            <a:off x="4077803" y="1944203"/>
            <a:ext cx="597933" cy="1152461"/>
          </a:xfrm>
          <a:prstGeom prst="downArrow">
            <a:avLst/>
          </a:prstGeom>
          <a:solidFill>
            <a:srgbClr val="00B0F0"/>
          </a:solidFill>
          <a:ln>
            <a:solidFill>
              <a:srgbClr val="00B0F0"/>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20" name="流程图: 多文档 19"/>
          <p:cNvSpPr/>
          <p:nvPr/>
        </p:nvSpPr>
        <p:spPr>
          <a:xfrm>
            <a:off x="719169" y="2743200"/>
            <a:ext cx="1262031" cy="609600"/>
          </a:xfrm>
          <a:prstGeom prst="flowChartMultidocumen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600" b="1" dirty="0">
                <a:solidFill>
                  <a:schemeClr val="bg1"/>
                </a:solidFill>
              </a:rPr>
              <a:t>人口库数据标准</a:t>
            </a:r>
          </a:p>
        </p:txBody>
      </p:sp>
      <p:sp>
        <p:nvSpPr>
          <p:cNvPr id="21" name="矩形 20"/>
          <p:cNvSpPr/>
          <p:nvPr/>
        </p:nvSpPr>
        <p:spPr>
          <a:xfrm>
            <a:off x="228600" y="762000"/>
            <a:ext cx="8763000" cy="1294295"/>
          </a:xfrm>
          <a:prstGeom prst="rect">
            <a:avLst/>
          </a:prstGeom>
          <a:ln w="12700">
            <a:solidFill>
              <a:srgbClr val="FF0000"/>
            </a:solidFill>
          </a:ln>
        </p:spPr>
        <p:style>
          <a:lnRef idx="2">
            <a:schemeClr val="accent6"/>
          </a:lnRef>
          <a:fillRef idx="1">
            <a:schemeClr val="lt1"/>
          </a:fillRef>
          <a:effectRef idx="0">
            <a:schemeClr val="accent6"/>
          </a:effectRef>
          <a:fontRef idx="minor">
            <a:schemeClr val="dk1"/>
          </a:fontRef>
        </p:style>
        <p:txBody>
          <a:bodyPr lIns="0" rIns="0" rtlCol="0" anchor="t" anchorCtr="0"/>
          <a:lstStyle/>
          <a:p>
            <a:pPr>
              <a:lnSpc>
                <a:spcPct val="150000"/>
              </a:lnSpc>
            </a:pPr>
            <a:r>
              <a:rPr lang="zh-CN" altLang="en-US" sz="1600" b="1" dirty="0">
                <a:solidFill>
                  <a:srgbClr val="FF0000"/>
                </a:solidFill>
              </a:rPr>
              <a:t>共享数据交换是指将各委办局数据整合到基础数据中心的过程，分目录传输、数据传输两部分。</a:t>
            </a:r>
            <a:endParaRPr lang="en-US" altLang="zh-CN" sz="1600" b="1" dirty="0">
              <a:solidFill>
                <a:srgbClr val="FF0000"/>
              </a:solidFill>
            </a:endParaRPr>
          </a:p>
          <a:p>
            <a:pPr>
              <a:lnSpc>
                <a:spcPct val="150000"/>
              </a:lnSpc>
            </a:pPr>
            <a:r>
              <a:rPr lang="en-US" altLang="zh-CN" sz="1600" b="1" dirty="0">
                <a:solidFill>
                  <a:srgbClr val="002060"/>
                </a:solidFill>
              </a:rPr>
              <a:t>1</a:t>
            </a:r>
            <a:r>
              <a:rPr lang="zh-CN" altLang="en-US" sz="1600" b="1" dirty="0">
                <a:solidFill>
                  <a:srgbClr val="002060"/>
                </a:solidFill>
              </a:rPr>
              <a:t>、目录传输：根据数据标准形成资源目录，由目录驱动将目录信息下发到各委办局</a:t>
            </a:r>
            <a:endParaRPr lang="en-US" altLang="zh-CN" sz="1600" b="1" dirty="0">
              <a:solidFill>
                <a:srgbClr val="002060"/>
              </a:solidFill>
            </a:endParaRPr>
          </a:p>
          <a:p>
            <a:pPr>
              <a:lnSpc>
                <a:spcPct val="150000"/>
              </a:lnSpc>
            </a:pPr>
            <a:r>
              <a:rPr lang="en-US" altLang="zh-CN" sz="1600" b="1" dirty="0">
                <a:solidFill>
                  <a:srgbClr val="002060"/>
                </a:solidFill>
              </a:rPr>
              <a:t>2</a:t>
            </a:r>
            <a:r>
              <a:rPr lang="zh-CN" altLang="en-US" sz="1600" b="1" dirty="0">
                <a:solidFill>
                  <a:srgbClr val="002060"/>
                </a:solidFill>
              </a:rPr>
              <a:t>、数据传输：委办局根据资源目录进行数据填充，通过数据传输汇总至中心节点，经过核检入库</a:t>
            </a:r>
          </a:p>
        </p:txBody>
      </p:sp>
      <p:cxnSp>
        <p:nvCxnSpPr>
          <p:cNvPr id="23" name="肘形连接符 22"/>
          <p:cNvCxnSpPr>
            <a:stCxn id="20" idx="3"/>
            <a:endCxn id="6" idx="0"/>
          </p:cNvCxnSpPr>
          <p:nvPr/>
        </p:nvCxnSpPr>
        <p:spPr bwMode="auto">
          <a:xfrm>
            <a:off x="1981200" y="3048000"/>
            <a:ext cx="571500" cy="228600"/>
          </a:xfrm>
          <a:prstGeom prst="bentConnector2">
            <a:avLst/>
          </a:prstGeom>
          <a:solidFill>
            <a:schemeClr val="accent1"/>
          </a:solidFill>
          <a:ln w="25400" cap="flat" cmpd="sng" algn="ctr">
            <a:solidFill>
              <a:srgbClr val="FF0000"/>
            </a:solidFill>
            <a:prstDash val="solid"/>
            <a:round/>
            <a:headEnd type="none" w="med" len="med"/>
            <a:tailEnd type="triangle" w="lg" len="med"/>
          </a:ln>
          <a:effectLst/>
        </p:spPr>
      </p:cxnSp>
      <p:cxnSp>
        <p:nvCxnSpPr>
          <p:cNvPr id="27" name="直接箭头连接符 26"/>
          <p:cNvCxnSpPr>
            <a:stCxn id="6" idx="2"/>
            <a:endCxn id="7" idx="0"/>
          </p:cNvCxnSpPr>
          <p:nvPr/>
        </p:nvCxnSpPr>
        <p:spPr bwMode="auto">
          <a:xfrm>
            <a:off x="2552700" y="3640919"/>
            <a:ext cx="0" cy="261962"/>
          </a:xfrm>
          <a:prstGeom prst="straightConnector1">
            <a:avLst/>
          </a:prstGeom>
          <a:solidFill>
            <a:schemeClr val="accent1"/>
          </a:solidFill>
          <a:ln w="25400" cap="flat" cmpd="sng" algn="ctr">
            <a:solidFill>
              <a:srgbClr val="FF0000"/>
            </a:solidFill>
            <a:prstDash val="solid"/>
            <a:round/>
            <a:headEnd type="none" w="med" len="med"/>
            <a:tailEnd type="triangle" w="lg" len="med"/>
          </a:ln>
          <a:effectLst/>
        </p:spPr>
      </p:cxnSp>
      <p:cxnSp>
        <p:nvCxnSpPr>
          <p:cNvPr id="30" name="直接箭头连接符 29"/>
          <p:cNvCxnSpPr>
            <a:stCxn id="7" idx="2"/>
            <a:endCxn id="8" idx="0"/>
          </p:cNvCxnSpPr>
          <p:nvPr/>
        </p:nvCxnSpPr>
        <p:spPr bwMode="auto">
          <a:xfrm>
            <a:off x="2552700" y="4267200"/>
            <a:ext cx="0" cy="245281"/>
          </a:xfrm>
          <a:prstGeom prst="straightConnector1">
            <a:avLst/>
          </a:prstGeom>
          <a:solidFill>
            <a:schemeClr val="accent1"/>
          </a:solidFill>
          <a:ln w="25400" cap="flat" cmpd="sng" algn="ctr">
            <a:solidFill>
              <a:srgbClr val="FF0000"/>
            </a:solidFill>
            <a:prstDash val="solid"/>
            <a:round/>
            <a:headEnd type="none" w="med" len="med"/>
            <a:tailEnd type="triangle" w="lg" len="med"/>
          </a:ln>
          <a:effectLst/>
        </p:spPr>
      </p:cxnSp>
      <p:cxnSp>
        <p:nvCxnSpPr>
          <p:cNvPr id="33" name="直接箭头连接符 32"/>
          <p:cNvCxnSpPr>
            <a:stCxn id="8" idx="2"/>
            <a:endCxn id="9" idx="0"/>
          </p:cNvCxnSpPr>
          <p:nvPr/>
        </p:nvCxnSpPr>
        <p:spPr bwMode="auto">
          <a:xfrm>
            <a:off x="2552700" y="4876800"/>
            <a:ext cx="0" cy="228600"/>
          </a:xfrm>
          <a:prstGeom prst="straightConnector1">
            <a:avLst/>
          </a:prstGeom>
          <a:solidFill>
            <a:schemeClr val="accent1"/>
          </a:solidFill>
          <a:ln w="25400" cap="flat" cmpd="sng" algn="ctr">
            <a:solidFill>
              <a:srgbClr val="FF0000"/>
            </a:solidFill>
            <a:prstDash val="solid"/>
            <a:round/>
            <a:headEnd type="none" w="med" len="med"/>
            <a:tailEnd type="triangle" w="lg" len="med"/>
          </a:ln>
          <a:effectLst/>
        </p:spPr>
      </p:cxnSp>
      <p:cxnSp>
        <p:nvCxnSpPr>
          <p:cNvPr id="36" name="直接箭头连接符 35"/>
          <p:cNvCxnSpPr>
            <a:stCxn id="9" idx="2"/>
          </p:cNvCxnSpPr>
          <p:nvPr/>
        </p:nvCxnSpPr>
        <p:spPr bwMode="auto">
          <a:xfrm>
            <a:off x="2552700" y="5469719"/>
            <a:ext cx="0" cy="321481"/>
          </a:xfrm>
          <a:prstGeom prst="straightConnector1">
            <a:avLst/>
          </a:prstGeom>
          <a:solidFill>
            <a:schemeClr val="accent1"/>
          </a:solidFill>
          <a:ln w="25400" cap="flat" cmpd="sng" algn="ctr">
            <a:solidFill>
              <a:srgbClr val="FF0000"/>
            </a:solidFill>
            <a:prstDash val="solid"/>
            <a:round/>
            <a:headEnd type="none" w="med" len="med"/>
            <a:tailEnd type="triangle" w="lg" len="med"/>
          </a:ln>
          <a:effectLst/>
        </p:spPr>
      </p:cxnSp>
      <p:cxnSp>
        <p:nvCxnSpPr>
          <p:cNvPr id="42" name="直接箭头连接符 41"/>
          <p:cNvCxnSpPr>
            <a:stCxn id="11" idx="2"/>
            <a:endCxn id="12" idx="0"/>
          </p:cNvCxnSpPr>
          <p:nvPr/>
        </p:nvCxnSpPr>
        <p:spPr bwMode="auto">
          <a:xfrm>
            <a:off x="6438900" y="3753549"/>
            <a:ext cx="0" cy="285049"/>
          </a:xfrm>
          <a:prstGeom prst="straightConnector1">
            <a:avLst/>
          </a:prstGeom>
          <a:solidFill>
            <a:schemeClr val="accent1"/>
          </a:solidFill>
          <a:ln w="25400" cap="flat" cmpd="sng" algn="ctr">
            <a:solidFill>
              <a:srgbClr val="FF0000"/>
            </a:solidFill>
            <a:prstDash val="solid"/>
            <a:round/>
            <a:headEnd type="none" w="med" len="med"/>
            <a:tailEnd type="triangle" w="lg" len="med"/>
          </a:ln>
          <a:effectLst/>
        </p:spPr>
      </p:cxnSp>
      <p:cxnSp>
        <p:nvCxnSpPr>
          <p:cNvPr id="45" name="直接箭头连接符 44"/>
          <p:cNvCxnSpPr>
            <a:stCxn id="12" idx="2"/>
            <a:endCxn id="13" idx="0"/>
          </p:cNvCxnSpPr>
          <p:nvPr/>
        </p:nvCxnSpPr>
        <p:spPr bwMode="auto">
          <a:xfrm>
            <a:off x="6438900" y="4439349"/>
            <a:ext cx="0" cy="275174"/>
          </a:xfrm>
          <a:prstGeom prst="straightConnector1">
            <a:avLst/>
          </a:prstGeom>
          <a:solidFill>
            <a:schemeClr val="accent1"/>
          </a:solidFill>
          <a:ln w="25400" cap="flat" cmpd="sng" algn="ctr">
            <a:solidFill>
              <a:srgbClr val="FF0000"/>
            </a:solidFill>
            <a:prstDash val="solid"/>
            <a:round/>
            <a:headEnd type="none" w="med" len="med"/>
            <a:tailEnd type="triangle" w="lg" len="med"/>
          </a:ln>
          <a:effectLst/>
        </p:spPr>
      </p:cxnSp>
      <p:cxnSp>
        <p:nvCxnSpPr>
          <p:cNvPr id="49" name="直接箭头连接符 48"/>
          <p:cNvCxnSpPr>
            <a:stCxn id="13" idx="2"/>
            <a:endCxn id="14" idx="0"/>
          </p:cNvCxnSpPr>
          <p:nvPr/>
        </p:nvCxnSpPr>
        <p:spPr bwMode="auto">
          <a:xfrm>
            <a:off x="6438900" y="5115274"/>
            <a:ext cx="0" cy="275173"/>
          </a:xfrm>
          <a:prstGeom prst="straightConnector1">
            <a:avLst/>
          </a:prstGeom>
          <a:solidFill>
            <a:schemeClr val="accent1"/>
          </a:solidFill>
          <a:ln w="25400" cap="flat" cmpd="sng" algn="ctr">
            <a:solidFill>
              <a:srgbClr val="FF0000"/>
            </a:solidFill>
            <a:prstDash val="solid"/>
            <a:round/>
            <a:headEnd type="none" w="med" len="med"/>
            <a:tailEnd type="triangle" w="lg" len="med"/>
          </a:ln>
          <a:effectLst/>
        </p:spPr>
      </p:cxnSp>
    </p:spTree>
    <p:extLst>
      <p:ext uri="{BB962C8B-B14F-4D97-AF65-F5344CB8AC3E}">
        <p14:creationId xmlns:p14="http://schemas.microsoft.com/office/powerpoint/2010/main" val="30547235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圆角矩形 82"/>
          <p:cNvSpPr/>
          <p:nvPr/>
        </p:nvSpPr>
        <p:spPr>
          <a:xfrm>
            <a:off x="871630" y="2490798"/>
            <a:ext cx="4645507" cy="857256"/>
          </a:xfrm>
          <a:prstGeom prst="roundRect">
            <a:avLst/>
          </a:prstGeom>
          <a:solidFill>
            <a:schemeClr val="accent5"/>
          </a:solidFill>
          <a:ln>
            <a:solidFill>
              <a:schemeClr val="accent5"/>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ltLang="zh-CN" sz="1400" b="1" dirty="0">
              <a:solidFill>
                <a:schemeClr val="bg1"/>
              </a:solidFill>
              <a:latin typeface="+mn-ea"/>
            </a:endParaRPr>
          </a:p>
        </p:txBody>
      </p:sp>
      <p:sp>
        <p:nvSpPr>
          <p:cNvPr id="34" name="AutoShape 20"/>
          <p:cNvSpPr>
            <a:spLocks noChangeArrowheads="1"/>
          </p:cNvSpPr>
          <p:nvPr/>
        </p:nvSpPr>
        <p:spPr bwMode="auto">
          <a:xfrm rot="10800000">
            <a:off x="5753099" y="1143000"/>
            <a:ext cx="3136901" cy="5063731"/>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sz="1400" b="1" dirty="0">
              <a:latin typeface="+mn-ea"/>
              <a:ea typeface="+mn-ea"/>
            </a:endParaRPr>
          </a:p>
        </p:txBody>
      </p:sp>
      <p:sp>
        <p:nvSpPr>
          <p:cNvPr id="2" name="标题 1"/>
          <p:cNvSpPr>
            <a:spLocks noGrp="1"/>
          </p:cNvSpPr>
          <p:nvPr>
            <p:ph type="title"/>
          </p:nvPr>
        </p:nvSpPr>
        <p:spPr/>
        <p:txBody>
          <a:bodyPr/>
          <a:lstStyle/>
          <a:p>
            <a:r>
              <a:rPr lang="zh-CN" altLang="en-US" dirty="0">
                <a:latin typeface="+mn-ea"/>
                <a:ea typeface="+mn-ea"/>
              </a:rPr>
              <a:t>共享数据交换（</a:t>
            </a:r>
            <a:r>
              <a:rPr lang="en-US" altLang="zh-CN" dirty="0">
                <a:latin typeface="+mn-ea"/>
                <a:ea typeface="+mn-ea"/>
              </a:rPr>
              <a:t>2/4</a:t>
            </a:r>
            <a:r>
              <a:rPr lang="zh-CN" altLang="en-US" dirty="0">
                <a:latin typeface="+mn-ea"/>
                <a:ea typeface="+mn-ea"/>
              </a:rPr>
              <a:t>）</a:t>
            </a:r>
            <a:r>
              <a:rPr lang="en-US" altLang="zh-CN" dirty="0">
                <a:latin typeface="+mn-ea"/>
                <a:ea typeface="+mn-ea"/>
              </a:rPr>
              <a:t>-</a:t>
            </a:r>
            <a:r>
              <a:rPr lang="zh-CN" altLang="en-US" dirty="0">
                <a:latin typeface="+mn-ea"/>
                <a:ea typeface="+mn-ea"/>
              </a:rPr>
              <a:t>目录传输</a:t>
            </a:r>
          </a:p>
        </p:txBody>
      </p:sp>
      <p:sp>
        <p:nvSpPr>
          <p:cNvPr id="33" name="TextBox 32"/>
          <p:cNvSpPr txBox="1"/>
          <p:nvPr/>
        </p:nvSpPr>
        <p:spPr>
          <a:xfrm>
            <a:off x="5715000" y="1252053"/>
            <a:ext cx="3251201" cy="4939814"/>
          </a:xfrm>
          <a:prstGeom prst="rect">
            <a:avLst/>
          </a:prstGeom>
          <a:noFill/>
        </p:spPr>
        <p:txBody>
          <a:bodyPr wrap="square" rtlCol="0">
            <a:spAutoFit/>
          </a:bodyPr>
          <a:lstStyle/>
          <a:p>
            <a:pPr marL="342900" indent="-342900">
              <a:lnSpc>
                <a:spcPct val="150000"/>
              </a:lnSpc>
              <a:buFont typeface="+mj-ea"/>
              <a:buAutoNum type="circleNumDbPlain"/>
            </a:pPr>
            <a:r>
              <a:rPr lang="zh-CN" altLang="en-US" sz="1500" b="1" dirty="0">
                <a:solidFill>
                  <a:srgbClr val="C00000"/>
                </a:solidFill>
                <a:latin typeface="+mn-ea"/>
                <a:ea typeface="+mn-ea"/>
              </a:rPr>
              <a:t>标准：</a:t>
            </a:r>
            <a:r>
              <a:rPr lang="zh-CN" altLang="en-US" sz="1500" b="1" dirty="0">
                <a:solidFill>
                  <a:srgbClr val="002060"/>
                </a:solidFill>
                <a:latin typeface="+mn-ea"/>
                <a:ea typeface="+mn-ea"/>
              </a:rPr>
              <a:t>在整合与编目的过程中，需要遵循一定的标准与规范。</a:t>
            </a:r>
            <a:endParaRPr lang="en-US" altLang="zh-CN" sz="1500" b="1" dirty="0">
              <a:solidFill>
                <a:srgbClr val="002060"/>
              </a:solidFill>
              <a:latin typeface="+mn-ea"/>
              <a:ea typeface="+mn-ea"/>
            </a:endParaRPr>
          </a:p>
          <a:p>
            <a:pPr marL="342900" indent="-342900">
              <a:lnSpc>
                <a:spcPct val="150000"/>
              </a:lnSpc>
              <a:buFont typeface="+mj-ea"/>
              <a:buAutoNum type="circleNumDbPlain"/>
            </a:pPr>
            <a:r>
              <a:rPr lang="zh-CN" altLang="en-US" sz="1500" b="1" dirty="0">
                <a:solidFill>
                  <a:srgbClr val="C00000"/>
                </a:solidFill>
                <a:latin typeface="+mn-ea"/>
                <a:ea typeface="+mn-ea"/>
              </a:rPr>
              <a:t>编目注册：</a:t>
            </a:r>
            <a:r>
              <a:rPr lang="zh-CN" altLang="en-US" sz="1500" b="1" dirty="0">
                <a:solidFill>
                  <a:srgbClr val="002060"/>
                </a:solidFill>
                <a:latin typeface="+mn-ea"/>
                <a:ea typeface="+mn-ea"/>
              </a:rPr>
              <a:t>元数据技术可用于资源发现，用户将发现的资源元数据通过编目注册到资源目录中。</a:t>
            </a:r>
            <a:endParaRPr lang="en-US" altLang="zh-CN" sz="1500" b="1" dirty="0">
              <a:solidFill>
                <a:srgbClr val="002060"/>
              </a:solidFill>
              <a:latin typeface="+mn-ea"/>
              <a:ea typeface="+mn-ea"/>
            </a:endParaRPr>
          </a:p>
          <a:p>
            <a:pPr marL="342900" indent="-342900">
              <a:lnSpc>
                <a:spcPct val="150000"/>
              </a:lnSpc>
              <a:buFont typeface="+mj-ea"/>
              <a:buAutoNum type="circleNumDbPlain"/>
            </a:pPr>
            <a:r>
              <a:rPr lang="zh-CN" altLang="en-US" sz="1500" b="1" dirty="0">
                <a:solidFill>
                  <a:srgbClr val="C00000"/>
                </a:solidFill>
                <a:latin typeface="+mn-ea"/>
                <a:ea typeface="+mn-ea"/>
              </a:rPr>
              <a:t>注册审核、发布：</a:t>
            </a:r>
            <a:r>
              <a:rPr lang="zh-CN" altLang="en-US" sz="1500" b="1" dirty="0">
                <a:solidFill>
                  <a:srgbClr val="002060"/>
                </a:solidFill>
                <a:latin typeface="+mn-ea"/>
                <a:ea typeface="+mn-ea"/>
              </a:rPr>
              <a:t>注册成功后，资源清单中就会有资源，再由审核人员对信息进行审核。</a:t>
            </a:r>
            <a:endParaRPr lang="en-US" altLang="zh-CN" sz="1500" b="1" dirty="0">
              <a:solidFill>
                <a:srgbClr val="002060"/>
              </a:solidFill>
              <a:latin typeface="+mn-ea"/>
              <a:ea typeface="+mn-ea"/>
            </a:endParaRPr>
          </a:p>
          <a:p>
            <a:pPr marL="342900" indent="-342900">
              <a:lnSpc>
                <a:spcPct val="150000"/>
              </a:lnSpc>
              <a:buFont typeface="+mj-ea"/>
              <a:buAutoNum type="circleNumDbPlain"/>
            </a:pPr>
            <a:r>
              <a:rPr lang="zh-CN" altLang="en-US" sz="1500" b="1" dirty="0">
                <a:solidFill>
                  <a:srgbClr val="C00000"/>
                </a:solidFill>
                <a:latin typeface="+mn-ea"/>
                <a:ea typeface="+mn-ea"/>
              </a:rPr>
              <a:t>目录驱动：</a:t>
            </a:r>
            <a:r>
              <a:rPr lang="zh-CN" altLang="en-US" sz="1500" b="1" dirty="0">
                <a:solidFill>
                  <a:srgbClr val="002060"/>
                </a:solidFill>
                <a:latin typeface="+mn-ea"/>
                <a:ea typeface="+mn-ea"/>
              </a:rPr>
              <a:t>审核通过后，再由管理人员通过目录驱动将任务下发到数据交换平台进行目录传输</a:t>
            </a:r>
            <a:endParaRPr lang="en-US" altLang="zh-CN" sz="1500" b="1" dirty="0">
              <a:solidFill>
                <a:srgbClr val="002060"/>
              </a:solidFill>
              <a:latin typeface="+mn-ea"/>
              <a:ea typeface="+mn-ea"/>
            </a:endParaRPr>
          </a:p>
          <a:p>
            <a:pPr marL="342900" indent="-342900">
              <a:lnSpc>
                <a:spcPct val="150000"/>
              </a:lnSpc>
              <a:buFont typeface="+mj-ea"/>
              <a:buAutoNum type="circleNumDbPlain"/>
            </a:pPr>
            <a:r>
              <a:rPr lang="zh-CN" altLang="en-US" sz="1500" b="1" dirty="0">
                <a:solidFill>
                  <a:srgbClr val="C00000"/>
                </a:solidFill>
                <a:latin typeface="+mn-ea"/>
                <a:ea typeface="+mn-ea"/>
              </a:rPr>
              <a:t>目录传输：</a:t>
            </a:r>
            <a:r>
              <a:rPr lang="zh-CN" altLang="en-US" sz="1500" b="1" dirty="0">
                <a:solidFill>
                  <a:srgbClr val="002060"/>
                </a:solidFill>
                <a:latin typeface="+mn-ea"/>
                <a:ea typeface="+mn-ea"/>
              </a:rPr>
              <a:t>数据交换平台中由任务监控会监控到目录传输的传输过程。</a:t>
            </a:r>
          </a:p>
        </p:txBody>
      </p:sp>
      <p:sp>
        <p:nvSpPr>
          <p:cNvPr id="36" name="矩形 35"/>
          <p:cNvSpPr/>
          <p:nvPr/>
        </p:nvSpPr>
        <p:spPr>
          <a:xfrm>
            <a:off x="847692" y="1002742"/>
            <a:ext cx="4714908" cy="2428892"/>
          </a:xfrm>
          <a:prstGeom prst="rect">
            <a:avLst/>
          </a:prstGeom>
          <a:no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37" name="矩形 36"/>
          <p:cNvSpPr/>
          <p:nvPr/>
        </p:nvSpPr>
        <p:spPr>
          <a:xfrm>
            <a:off x="1868958" y="1347790"/>
            <a:ext cx="3500462" cy="940836"/>
          </a:xfrm>
          <a:prstGeom prst="rect">
            <a:avLst/>
          </a:prstGeom>
          <a:solidFill>
            <a:schemeClr val="bg1">
              <a:lumMod val="95000"/>
            </a:schemeClr>
          </a:solidFill>
          <a:ln>
            <a:solidFill>
              <a:schemeClr val="bg1">
                <a:lumMod val="9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b="1">
              <a:latin typeface="+mn-ea"/>
            </a:endParaRPr>
          </a:p>
        </p:txBody>
      </p:sp>
      <p:sp>
        <p:nvSpPr>
          <p:cNvPr id="39" name="TextBox 38"/>
          <p:cNvSpPr txBox="1"/>
          <p:nvPr/>
        </p:nvSpPr>
        <p:spPr>
          <a:xfrm>
            <a:off x="2797652" y="1407086"/>
            <a:ext cx="1714512" cy="369332"/>
          </a:xfrm>
          <a:prstGeom prst="rect">
            <a:avLst/>
          </a:prstGeom>
          <a:noFill/>
        </p:spPr>
        <p:txBody>
          <a:bodyPr wrap="square" rtlCol="0">
            <a:spAutoFit/>
          </a:bodyPr>
          <a:lstStyle/>
          <a:p>
            <a:r>
              <a:rPr lang="zh-CN" altLang="en-US" b="1" dirty="0">
                <a:latin typeface="+mn-ea"/>
                <a:ea typeface="+mn-ea"/>
              </a:rPr>
              <a:t>信息资源目录</a:t>
            </a:r>
          </a:p>
        </p:txBody>
      </p:sp>
      <p:sp>
        <p:nvSpPr>
          <p:cNvPr id="40" name="矩形 39"/>
          <p:cNvSpPr/>
          <p:nvPr/>
        </p:nvSpPr>
        <p:spPr>
          <a:xfrm>
            <a:off x="122966" y="3643581"/>
            <a:ext cx="589768" cy="252751"/>
          </a:xfrm>
          <a:prstGeom prst="rect">
            <a:avLst/>
          </a:prstGeom>
          <a:solidFill>
            <a:srgbClr val="0070C0"/>
          </a:solidFill>
          <a:ln>
            <a:solidFill>
              <a:srgbClr val="0070C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100" b="1" dirty="0">
                <a:solidFill>
                  <a:schemeClr val="bg1"/>
                </a:solidFill>
                <a:latin typeface="+mn-ea"/>
              </a:rPr>
              <a:t>标准</a:t>
            </a:r>
          </a:p>
        </p:txBody>
      </p:sp>
      <p:sp>
        <p:nvSpPr>
          <p:cNvPr id="41" name="矩形 40"/>
          <p:cNvSpPr/>
          <p:nvPr/>
        </p:nvSpPr>
        <p:spPr>
          <a:xfrm>
            <a:off x="2011834" y="1859998"/>
            <a:ext cx="928694" cy="262002"/>
          </a:xfrm>
          <a:prstGeom prst="rect">
            <a:avLst/>
          </a:prstGeom>
          <a:solidFill>
            <a:srgbClr val="FFC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100" b="1" dirty="0">
                <a:latin typeface="+mn-ea"/>
              </a:rPr>
              <a:t>编目注册</a:t>
            </a:r>
          </a:p>
        </p:txBody>
      </p:sp>
      <p:sp>
        <p:nvSpPr>
          <p:cNvPr id="42" name="矩形 41"/>
          <p:cNvSpPr/>
          <p:nvPr/>
        </p:nvSpPr>
        <p:spPr>
          <a:xfrm>
            <a:off x="3133708" y="1800435"/>
            <a:ext cx="949828" cy="379126"/>
          </a:xfrm>
          <a:prstGeom prst="rect">
            <a:avLst/>
          </a:prstGeom>
          <a:solidFill>
            <a:srgbClr val="FFC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100" b="1" dirty="0">
                <a:latin typeface="+mn-ea"/>
              </a:rPr>
              <a:t>注册审核</a:t>
            </a:r>
            <a:endParaRPr lang="en-US" altLang="zh-CN" sz="1100" b="1" dirty="0">
              <a:latin typeface="+mn-ea"/>
            </a:endParaRPr>
          </a:p>
          <a:p>
            <a:pPr algn="ctr"/>
            <a:r>
              <a:rPr lang="zh-CN" altLang="en-US" sz="1100" b="1" dirty="0">
                <a:latin typeface="+mn-ea"/>
              </a:rPr>
              <a:t>（发布）</a:t>
            </a:r>
          </a:p>
        </p:txBody>
      </p:sp>
      <p:sp>
        <p:nvSpPr>
          <p:cNvPr id="43" name="矩形 42"/>
          <p:cNvSpPr/>
          <p:nvPr/>
        </p:nvSpPr>
        <p:spPr>
          <a:xfrm>
            <a:off x="4297850" y="1857186"/>
            <a:ext cx="928694" cy="264814"/>
          </a:xfrm>
          <a:prstGeom prst="rect">
            <a:avLst/>
          </a:prstGeom>
          <a:solidFill>
            <a:srgbClr val="FFC000"/>
          </a:solidFill>
          <a:ln>
            <a:solidFill>
              <a:schemeClr val="bg1"/>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100" b="1" dirty="0">
                <a:latin typeface="+mn-ea"/>
              </a:rPr>
              <a:t>目录驱动</a:t>
            </a:r>
          </a:p>
        </p:txBody>
      </p:sp>
      <p:cxnSp>
        <p:nvCxnSpPr>
          <p:cNvPr id="44" name="直接箭头连接符 43"/>
          <p:cNvCxnSpPr>
            <a:stCxn id="82" idx="2"/>
            <a:endCxn id="40" idx="0"/>
          </p:cNvCxnSpPr>
          <p:nvPr/>
        </p:nvCxnSpPr>
        <p:spPr bwMode="auto">
          <a:xfrm>
            <a:off x="407407" y="2169688"/>
            <a:ext cx="10443" cy="1473893"/>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45" name="形状 44"/>
          <p:cNvCxnSpPr>
            <a:endCxn id="81" idx="1"/>
          </p:cNvCxnSpPr>
          <p:nvPr/>
        </p:nvCxnSpPr>
        <p:spPr bwMode="auto">
          <a:xfrm rot="16200000" flipH="1">
            <a:off x="-494575" y="4910895"/>
            <a:ext cx="2254692" cy="429842"/>
          </a:xfrm>
          <a:prstGeom prst="bentConnector2">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46" name="直接箭头连接符 45"/>
          <p:cNvCxnSpPr>
            <a:endCxn id="41" idx="1"/>
          </p:cNvCxnSpPr>
          <p:nvPr/>
        </p:nvCxnSpPr>
        <p:spPr bwMode="auto">
          <a:xfrm>
            <a:off x="703444" y="1979312"/>
            <a:ext cx="1308390" cy="1168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47" name="直接箭头连接符 46"/>
          <p:cNvCxnSpPr>
            <a:stCxn id="41" idx="3"/>
            <a:endCxn id="42" idx="1"/>
          </p:cNvCxnSpPr>
          <p:nvPr/>
        </p:nvCxnSpPr>
        <p:spPr bwMode="auto">
          <a:xfrm flipV="1">
            <a:off x="2940528" y="1989998"/>
            <a:ext cx="193180" cy="1001"/>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48" name="直接箭头连接符 47"/>
          <p:cNvCxnSpPr>
            <a:stCxn id="42" idx="3"/>
            <a:endCxn id="43" idx="1"/>
          </p:cNvCxnSpPr>
          <p:nvPr/>
        </p:nvCxnSpPr>
        <p:spPr bwMode="auto">
          <a:xfrm flipV="1">
            <a:off x="4083536" y="1989593"/>
            <a:ext cx="214314" cy="405"/>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49" name="肘形连接符 48"/>
          <p:cNvCxnSpPr>
            <a:stCxn id="43" idx="2"/>
            <a:endCxn id="51" idx="0"/>
          </p:cNvCxnSpPr>
          <p:nvPr/>
        </p:nvCxnSpPr>
        <p:spPr bwMode="auto">
          <a:xfrm rot="5400000">
            <a:off x="3781327" y="1831572"/>
            <a:ext cx="690442" cy="1271299"/>
          </a:xfrm>
          <a:prstGeom prst="bentConnector3">
            <a:avLst>
              <a:gd name="adj1" fmla="val 42642"/>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sp>
        <p:nvSpPr>
          <p:cNvPr id="50" name="TextBox 49"/>
          <p:cNvSpPr txBox="1"/>
          <p:nvPr/>
        </p:nvSpPr>
        <p:spPr>
          <a:xfrm>
            <a:off x="1133444" y="2717812"/>
            <a:ext cx="1571636" cy="369332"/>
          </a:xfrm>
          <a:prstGeom prst="rect">
            <a:avLst/>
          </a:prstGeom>
          <a:noFill/>
        </p:spPr>
        <p:txBody>
          <a:bodyPr wrap="square" rtlCol="0">
            <a:spAutoFit/>
          </a:bodyPr>
          <a:lstStyle/>
          <a:p>
            <a:r>
              <a:rPr lang="zh-CN" altLang="en-US" b="1" dirty="0">
                <a:latin typeface="+mn-ea"/>
                <a:ea typeface="+mn-ea"/>
              </a:rPr>
              <a:t>数据交换平台</a:t>
            </a:r>
          </a:p>
        </p:txBody>
      </p:sp>
      <p:sp>
        <p:nvSpPr>
          <p:cNvPr id="51" name="矩形 50"/>
          <p:cNvSpPr/>
          <p:nvPr/>
        </p:nvSpPr>
        <p:spPr>
          <a:xfrm>
            <a:off x="3062270" y="2812442"/>
            <a:ext cx="857256" cy="285752"/>
          </a:xfrm>
          <a:prstGeom prst="rect">
            <a:avLst/>
          </a:prstGeom>
          <a:solidFill>
            <a:srgbClr val="FFC000"/>
          </a:solidFill>
          <a:ln w="12700"/>
        </p:spPr>
        <p:style>
          <a:lnRef idx="3">
            <a:schemeClr val="lt1"/>
          </a:lnRef>
          <a:fillRef idx="1">
            <a:schemeClr val="accent5"/>
          </a:fillRef>
          <a:effectRef idx="1">
            <a:schemeClr val="accent5"/>
          </a:effectRef>
          <a:fontRef idx="minor">
            <a:schemeClr val="lt1"/>
          </a:fontRef>
        </p:style>
        <p:txBody>
          <a:bodyPr lIns="0" rIns="0" rtlCol="0" anchor="t" anchorCtr="0"/>
          <a:lstStyle/>
          <a:p>
            <a:pPr algn="ctr"/>
            <a:r>
              <a:rPr lang="zh-CN" altLang="en-US" sz="1100" b="1" dirty="0">
                <a:solidFill>
                  <a:schemeClr val="tx1"/>
                </a:solidFill>
                <a:latin typeface="+mn-ea"/>
              </a:rPr>
              <a:t>目录传输</a:t>
            </a:r>
          </a:p>
        </p:txBody>
      </p:sp>
      <p:sp>
        <p:nvSpPr>
          <p:cNvPr id="52" name="矩形 51"/>
          <p:cNvSpPr/>
          <p:nvPr/>
        </p:nvSpPr>
        <p:spPr>
          <a:xfrm>
            <a:off x="4440726" y="2622066"/>
            <a:ext cx="857256" cy="285752"/>
          </a:xfrm>
          <a:prstGeom prst="rect">
            <a:avLst/>
          </a:prstGeom>
          <a:solidFill>
            <a:schemeClr val="bg1">
              <a:lumMod val="65000"/>
            </a:schemeClr>
          </a:solidFill>
          <a:ln w="12700"/>
        </p:spPr>
        <p:style>
          <a:lnRef idx="3">
            <a:schemeClr val="lt1"/>
          </a:lnRef>
          <a:fillRef idx="1">
            <a:schemeClr val="accent5"/>
          </a:fillRef>
          <a:effectRef idx="1">
            <a:schemeClr val="accent5"/>
          </a:effectRef>
          <a:fontRef idx="minor">
            <a:schemeClr val="lt1"/>
          </a:fontRef>
        </p:style>
        <p:txBody>
          <a:bodyPr lIns="0" rIns="0" rtlCol="0" anchor="t" anchorCtr="0"/>
          <a:lstStyle/>
          <a:p>
            <a:pPr algn="ctr"/>
            <a:r>
              <a:rPr lang="zh-CN" altLang="en-US" sz="1100" b="1" dirty="0">
                <a:solidFill>
                  <a:schemeClr val="tx1"/>
                </a:solidFill>
                <a:latin typeface="+mn-ea"/>
              </a:rPr>
              <a:t>任务调度</a:t>
            </a:r>
          </a:p>
        </p:txBody>
      </p:sp>
      <p:sp>
        <p:nvSpPr>
          <p:cNvPr id="53" name="矩形 52"/>
          <p:cNvSpPr/>
          <p:nvPr/>
        </p:nvSpPr>
        <p:spPr>
          <a:xfrm>
            <a:off x="4440726" y="3003194"/>
            <a:ext cx="857256" cy="285752"/>
          </a:xfrm>
          <a:prstGeom prst="rect">
            <a:avLst/>
          </a:prstGeom>
          <a:solidFill>
            <a:schemeClr val="bg1">
              <a:lumMod val="65000"/>
            </a:schemeClr>
          </a:solidFill>
          <a:ln w="12700"/>
        </p:spPr>
        <p:style>
          <a:lnRef idx="3">
            <a:schemeClr val="lt1"/>
          </a:lnRef>
          <a:fillRef idx="1">
            <a:schemeClr val="accent5"/>
          </a:fillRef>
          <a:effectRef idx="1">
            <a:schemeClr val="accent5"/>
          </a:effectRef>
          <a:fontRef idx="minor">
            <a:schemeClr val="lt1"/>
          </a:fontRef>
        </p:style>
        <p:txBody>
          <a:bodyPr lIns="0" rIns="0" rtlCol="0" anchor="t" anchorCtr="0"/>
          <a:lstStyle/>
          <a:p>
            <a:pPr algn="ctr"/>
            <a:r>
              <a:rPr lang="zh-CN" altLang="en-US" sz="1100" b="1" dirty="0">
                <a:solidFill>
                  <a:schemeClr val="tx1"/>
                </a:solidFill>
                <a:latin typeface="+mn-ea"/>
              </a:rPr>
              <a:t>任务监控</a:t>
            </a:r>
          </a:p>
        </p:txBody>
      </p:sp>
      <p:sp>
        <p:nvSpPr>
          <p:cNvPr id="55" name="椭圆 54"/>
          <p:cNvSpPr/>
          <p:nvPr/>
        </p:nvSpPr>
        <p:spPr>
          <a:xfrm>
            <a:off x="940264" y="1741060"/>
            <a:ext cx="785818" cy="500066"/>
          </a:xfrm>
          <a:prstGeom prst="ellipse">
            <a:avLst/>
          </a:prstGeom>
          <a:solidFill>
            <a:schemeClr val="accent5">
              <a:lumMod val="90000"/>
            </a:schemeClr>
          </a:solidFill>
          <a:ln/>
        </p:spPr>
        <p:style>
          <a:lnRef idx="1">
            <a:schemeClr val="accent6"/>
          </a:lnRef>
          <a:fillRef idx="2">
            <a:schemeClr val="accent6"/>
          </a:fillRef>
          <a:effectRef idx="1">
            <a:schemeClr val="accent6"/>
          </a:effectRef>
          <a:fontRef idx="minor">
            <a:schemeClr val="dk1"/>
          </a:fontRef>
        </p:style>
        <p:txBody>
          <a:bodyPr lIns="0" rIns="0" rtlCol="0" anchor="ctr" anchorCtr="0"/>
          <a:lstStyle/>
          <a:p>
            <a:pPr algn="ctr"/>
            <a:r>
              <a:rPr lang="zh-CN" altLang="en-US" sz="1100" b="1" dirty="0">
                <a:solidFill>
                  <a:schemeClr val="tx1"/>
                </a:solidFill>
                <a:latin typeface="+mn-ea"/>
              </a:rPr>
              <a:t>元数据</a:t>
            </a:r>
          </a:p>
        </p:txBody>
      </p:sp>
      <p:sp>
        <p:nvSpPr>
          <p:cNvPr id="56" name="TextBox 55"/>
          <p:cNvSpPr txBox="1"/>
          <p:nvPr/>
        </p:nvSpPr>
        <p:spPr>
          <a:xfrm>
            <a:off x="1990700" y="990600"/>
            <a:ext cx="2357454" cy="369332"/>
          </a:xfrm>
          <a:prstGeom prst="rect">
            <a:avLst/>
          </a:prstGeom>
          <a:noFill/>
        </p:spPr>
        <p:txBody>
          <a:bodyPr wrap="square" rtlCol="0">
            <a:spAutoFit/>
          </a:bodyPr>
          <a:lstStyle/>
          <a:p>
            <a:pPr algn="ctr"/>
            <a:r>
              <a:rPr lang="zh-CN" altLang="en-US" b="1" dirty="0">
                <a:latin typeface="+mn-ea"/>
                <a:ea typeface="+mn-ea"/>
              </a:rPr>
              <a:t>数据中心</a:t>
            </a:r>
          </a:p>
        </p:txBody>
      </p:sp>
      <p:sp>
        <p:nvSpPr>
          <p:cNvPr id="57" name="矩形 56"/>
          <p:cNvSpPr/>
          <p:nvPr/>
        </p:nvSpPr>
        <p:spPr>
          <a:xfrm>
            <a:off x="4262340" y="4055524"/>
            <a:ext cx="1300260" cy="1157228"/>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58" name="矩形 57"/>
          <p:cNvSpPr/>
          <p:nvPr/>
        </p:nvSpPr>
        <p:spPr>
          <a:xfrm>
            <a:off x="2568578" y="4050824"/>
            <a:ext cx="1300260" cy="1161928"/>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59" name="矩形 58"/>
          <p:cNvSpPr/>
          <p:nvPr/>
        </p:nvSpPr>
        <p:spPr>
          <a:xfrm>
            <a:off x="836855" y="4075512"/>
            <a:ext cx="1300260" cy="1137240"/>
          </a:xfrm>
          <a:prstGeom prst="rect">
            <a:avLst/>
          </a:prstGeom>
          <a:solidFill>
            <a:schemeClr val="bg1"/>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60" name="流程图: 磁盘 59"/>
          <p:cNvSpPr/>
          <p:nvPr/>
        </p:nvSpPr>
        <p:spPr>
          <a:xfrm>
            <a:off x="936061" y="5529427"/>
            <a:ext cx="1048646" cy="504700"/>
          </a:xfrm>
          <a:prstGeom prst="flowChartMagneticDisk">
            <a:avLst/>
          </a:prstGeom>
          <a:solidFill>
            <a:schemeClr val="bg1">
              <a:lumMod val="7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业务信息库</a:t>
            </a:r>
          </a:p>
        </p:txBody>
      </p:sp>
      <p:sp>
        <p:nvSpPr>
          <p:cNvPr id="61" name="TextBox 60"/>
          <p:cNvSpPr txBox="1"/>
          <p:nvPr/>
        </p:nvSpPr>
        <p:spPr>
          <a:xfrm>
            <a:off x="1132653" y="6115048"/>
            <a:ext cx="646331" cy="276999"/>
          </a:xfrm>
          <a:prstGeom prst="rect">
            <a:avLst/>
          </a:prstGeom>
          <a:noFill/>
        </p:spPr>
        <p:txBody>
          <a:bodyPr wrap="none" rtlCol="0">
            <a:spAutoFit/>
          </a:bodyPr>
          <a:lstStyle/>
          <a:p>
            <a:pPr algn="ctr"/>
            <a:r>
              <a:rPr lang="zh-CN" altLang="en-US" sz="1200" b="1" dirty="0">
                <a:latin typeface="+mn-ea"/>
                <a:ea typeface="+mn-ea"/>
              </a:rPr>
              <a:t>规划局</a:t>
            </a:r>
          </a:p>
        </p:txBody>
      </p:sp>
      <p:sp>
        <p:nvSpPr>
          <p:cNvPr id="62" name="TextBox 61"/>
          <p:cNvSpPr txBox="1"/>
          <p:nvPr/>
        </p:nvSpPr>
        <p:spPr>
          <a:xfrm>
            <a:off x="2941547" y="6115048"/>
            <a:ext cx="646331" cy="276999"/>
          </a:xfrm>
          <a:prstGeom prst="rect">
            <a:avLst/>
          </a:prstGeom>
          <a:noFill/>
        </p:spPr>
        <p:txBody>
          <a:bodyPr wrap="none" rtlCol="0">
            <a:spAutoFit/>
          </a:bodyPr>
          <a:lstStyle/>
          <a:p>
            <a:pPr algn="ctr"/>
            <a:r>
              <a:rPr lang="zh-CN" altLang="en-US" sz="1200" b="1" dirty="0">
                <a:latin typeface="+mn-ea"/>
                <a:ea typeface="+mn-ea"/>
              </a:rPr>
              <a:t>国土局</a:t>
            </a:r>
          </a:p>
        </p:txBody>
      </p:sp>
      <p:sp>
        <p:nvSpPr>
          <p:cNvPr id="63" name="TextBox 62"/>
          <p:cNvSpPr txBox="1"/>
          <p:nvPr/>
        </p:nvSpPr>
        <p:spPr>
          <a:xfrm>
            <a:off x="4741647" y="6115048"/>
            <a:ext cx="646331" cy="276999"/>
          </a:xfrm>
          <a:prstGeom prst="rect">
            <a:avLst/>
          </a:prstGeom>
          <a:noFill/>
        </p:spPr>
        <p:txBody>
          <a:bodyPr wrap="none" rtlCol="0">
            <a:spAutoFit/>
          </a:bodyPr>
          <a:lstStyle/>
          <a:p>
            <a:pPr algn="ctr"/>
            <a:r>
              <a:rPr lang="zh-CN" altLang="en-US" sz="1200" b="1" dirty="0">
                <a:latin typeface="+mn-ea"/>
                <a:ea typeface="+mn-ea"/>
              </a:rPr>
              <a:t>林业局</a:t>
            </a:r>
          </a:p>
        </p:txBody>
      </p:sp>
      <p:sp>
        <p:nvSpPr>
          <p:cNvPr id="64" name="流程图: 磁盘 63"/>
          <p:cNvSpPr/>
          <p:nvPr/>
        </p:nvSpPr>
        <p:spPr>
          <a:xfrm>
            <a:off x="2739132" y="5570940"/>
            <a:ext cx="1048646" cy="504700"/>
          </a:xfrm>
          <a:prstGeom prst="flowChartMagneticDisk">
            <a:avLst/>
          </a:prstGeom>
          <a:solidFill>
            <a:schemeClr val="bg1">
              <a:lumMod val="7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业务信息库</a:t>
            </a:r>
          </a:p>
        </p:txBody>
      </p:sp>
      <p:sp>
        <p:nvSpPr>
          <p:cNvPr id="65" name="流程图: 磁盘 64"/>
          <p:cNvSpPr/>
          <p:nvPr/>
        </p:nvSpPr>
        <p:spPr>
          <a:xfrm>
            <a:off x="4491732" y="5570940"/>
            <a:ext cx="1048646" cy="504700"/>
          </a:xfrm>
          <a:prstGeom prst="flowChartMagneticDisk">
            <a:avLst/>
          </a:prstGeom>
          <a:solidFill>
            <a:schemeClr val="bg1">
              <a:lumMod val="7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业务信息库</a:t>
            </a:r>
          </a:p>
        </p:txBody>
      </p:sp>
      <p:sp>
        <p:nvSpPr>
          <p:cNvPr id="67" name="TextBox 66"/>
          <p:cNvSpPr txBox="1"/>
          <p:nvPr/>
        </p:nvSpPr>
        <p:spPr>
          <a:xfrm>
            <a:off x="1030724" y="4154825"/>
            <a:ext cx="1080654" cy="276999"/>
          </a:xfrm>
          <a:prstGeom prst="rect">
            <a:avLst/>
          </a:prstGeom>
          <a:noFill/>
        </p:spPr>
        <p:txBody>
          <a:bodyPr wrap="square" rtlCol="0">
            <a:spAutoFit/>
          </a:bodyPr>
          <a:lstStyle/>
          <a:p>
            <a:pPr algn="ctr"/>
            <a:r>
              <a:rPr lang="zh-CN" altLang="en-US" sz="1200" b="1" dirty="0">
                <a:latin typeface="+mn-ea"/>
                <a:ea typeface="+mn-ea"/>
              </a:rPr>
              <a:t>前置交换区</a:t>
            </a:r>
          </a:p>
        </p:txBody>
      </p:sp>
      <p:sp>
        <p:nvSpPr>
          <p:cNvPr id="69" name="TextBox 68"/>
          <p:cNvSpPr txBox="1"/>
          <p:nvPr/>
        </p:nvSpPr>
        <p:spPr>
          <a:xfrm>
            <a:off x="2709554" y="4154825"/>
            <a:ext cx="1080654" cy="276999"/>
          </a:xfrm>
          <a:prstGeom prst="rect">
            <a:avLst/>
          </a:prstGeom>
          <a:noFill/>
        </p:spPr>
        <p:txBody>
          <a:bodyPr wrap="square" rtlCol="0">
            <a:spAutoFit/>
          </a:bodyPr>
          <a:lstStyle/>
          <a:p>
            <a:pPr algn="ctr"/>
            <a:r>
              <a:rPr lang="zh-CN" altLang="en-US" sz="1200" b="1" dirty="0">
                <a:latin typeface="+mn-ea"/>
                <a:ea typeface="+mn-ea"/>
              </a:rPr>
              <a:t>前置交换区</a:t>
            </a:r>
          </a:p>
        </p:txBody>
      </p:sp>
      <p:sp>
        <p:nvSpPr>
          <p:cNvPr id="71" name="TextBox 70"/>
          <p:cNvSpPr txBox="1"/>
          <p:nvPr/>
        </p:nvSpPr>
        <p:spPr>
          <a:xfrm>
            <a:off x="4403316" y="4159525"/>
            <a:ext cx="1080654" cy="276999"/>
          </a:xfrm>
          <a:prstGeom prst="rect">
            <a:avLst/>
          </a:prstGeom>
          <a:noFill/>
        </p:spPr>
        <p:txBody>
          <a:bodyPr wrap="square" rtlCol="0">
            <a:spAutoFit/>
          </a:bodyPr>
          <a:lstStyle/>
          <a:p>
            <a:pPr algn="ctr"/>
            <a:r>
              <a:rPr lang="zh-CN" altLang="en-US" sz="1200" b="1" dirty="0">
                <a:latin typeface="+mn-ea"/>
                <a:ea typeface="+mn-ea"/>
              </a:rPr>
              <a:t>前置交换区</a:t>
            </a:r>
          </a:p>
        </p:txBody>
      </p:sp>
      <p:sp>
        <p:nvSpPr>
          <p:cNvPr id="72" name="上下箭头 71"/>
          <p:cNvSpPr/>
          <p:nvPr/>
        </p:nvSpPr>
        <p:spPr>
          <a:xfrm>
            <a:off x="1349378" y="5174815"/>
            <a:ext cx="221673" cy="383231"/>
          </a:xfrm>
          <a:prstGeom prst="upDown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73" name="上下箭头 72"/>
          <p:cNvSpPr/>
          <p:nvPr/>
        </p:nvSpPr>
        <p:spPr>
          <a:xfrm>
            <a:off x="3101978" y="5194029"/>
            <a:ext cx="248335" cy="369375"/>
          </a:xfrm>
          <a:prstGeom prst="upDown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74" name="上下箭头 73"/>
          <p:cNvSpPr/>
          <p:nvPr/>
        </p:nvSpPr>
        <p:spPr>
          <a:xfrm>
            <a:off x="4854578" y="5194029"/>
            <a:ext cx="248335" cy="369375"/>
          </a:xfrm>
          <a:prstGeom prst="upDownArrow">
            <a:avLst/>
          </a:prstGeom>
          <a:solidFill>
            <a:srgbClr val="0070C0"/>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75" name="圆角矩形 74"/>
          <p:cNvSpPr/>
          <p:nvPr/>
        </p:nvSpPr>
        <p:spPr>
          <a:xfrm>
            <a:off x="1065454" y="4907952"/>
            <a:ext cx="957847" cy="252349"/>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76" name="圆角矩形 75"/>
          <p:cNvSpPr/>
          <p:nvPr/>
        </p:nvSpPr>
        <p:spPr>
          <a:xfrm>
            <a:off x="2741855" y="4907952"/>
            <a:ext cx="957847" cy="252349"/>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77" name="圆角矩形 76"/>
          <p:cNvSpPr/>
          <p:nvPr/>
        </p:nvSpPr>
        <p:spPr>
          <a:xfrm>
            <a:off x="4451008" y="4907952"/>
            <a:ext cx="957847" cy="252349"/>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数据桥接</a:t>
            </a:r>
          </a:p>
        </p:txBody>
      </p:sp>
      <p:sp>
        <p:nvSpPr>
          <p:cNvPr id="81" name="矩形 80"/>
          <p:cNvSpPr/>
          <p:nvPr/>
        </p:nvSpPr>
        <p:spPr>
          <a:xfrm>
            <a:off x="847692" y="6105524"/>
            <a:ext cx="4714908" cy="295276"/>
          </a:xfrm>
          <a:prstGeom prst="rect">
            <a:avLst/>
          </a:prstGeom>
          <a:no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pic>
        <p:nvPicPr>
          <p:cNvPr id="82" name="Picture 4"/>
          <p:cNvPicPr>
            <a:picLocks noChangeAspect="1" noChangeArrowheads="1"/>
          </p:cNvPicPr>
          <p:nvPr/>
        </p:nvPicPr>
        <p:blipFill>
          <a:blip r:embed="rId2" cstate="print"/>
          <a:srcRect/>
          <a:stretch>
            <a:fillRect/>
          </a:stretch>
        </p:blipFill>
        <p:spPr bwMode="auto">
          <a:xfrm>
            <a:off x="133312" y="1792906"/>
            <a:ext cx="548190" cy="376782"/>
          </a:xfrm>
          <a:prstGeom prst="rect">
            <a:avLst/>
          </a:prstGeom>
          <a:noFill/>
          <a:ln w="9525">
            <a:noFill/>
            <a:miter lim="800000"/>
            <a:headEnd/>
            <a:tailEnd/>
          </a:ln>
          <a:effectLst/>
        </p:spPr>
      </p:pic>
      <p:sp>
        <p:nvSpPr>
          <p:cNvPr id="85" name="椭圆 84"/>
          <p:cNvSpPr/>
          <p:nvPr/>
        </p:nvSpPr>
        <p:spPr>
          <a:xfrm>
            <a:off x="383389" y="3181617"/>
            <a:ext cx="304800"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86" name="TextBox 85"/>
          <p:cNvSpPr txBox="1"/>
          <p:nvPr/>
        </p:nvSpPr>
        <p:spPr>
          <a:xfrm>
            <a:off x="387158" y="3135884"/>
            <a:ext cx="327334" cy="369332"/>
          </a:xfrm>
          <a:prstGeom prst="rect">
            <a:avLst/>
          </a:prstGeom>
          <a:noFill/>
        </p:spPr>
        <p:txBody>
          <a:bodyPr wrap="none" rtlCol="0">
            <a:spAutoFit/>
          </a:bodyPr>
          <a:lstStyle/>
          <a:p>
            <a:r>
              <a:rPr lang="en-US" altLang="zh-CN" b="1" dirty="0">
                <a:latin typeface="+mn-ea"/>
                <a:ea typeface="+mn-ea"/>
              </a:rPr>
              <a:t>1</a:t>
            </a:r>
            <a:endParaRPr lang="zh-CN" altLang="en-US" b="1" dirty="0">
              <a:latin typeface="+mn-ea"/>
              <a:ea typeface="+mn-ea"/>
            </a:endParaRPr>
          </a:p>
        </p:txBody>
      </p:sp>
      <p:sp>
        <p:nvSpPr>
          <p:cNvPr id="87" name="椭圆 86"/>
          <p:cNvSpPr/>
          <p:nvPr/>
        </p:nvSpPr>
        <p:spPr>
          <a:xfrm>
            <a:off x="1984707" y="1541059"/>
            <a:ext cx="304800"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88" name="TextBox 87"/>
          <p:cNvSpPr txBox="1"/>
          <p:nvPr/>
        </p:nvSpPr>
        <p:spPr>
          <a:xfrm>
            <a:off x="1988476" y="1495326"/>
            <a:ext cx="327334" cy="369332"/>
          </a:xfrm>
          <a:prstGeom prst="rect">
            <a:avLst/>
          </a:prstGeom>
          <a:noFill/>
        </p:spPr>
        <p:txBody>
          <a:bodyPr wrap="none" rtlCol="0">
            <a:spAutoFit/>
          </a:bodyPr>
          <a:lstStyle/>
          <a:p>
            <a:r>
              <a:rPr lang="en-US" altLang="zh-CN" b="1" dirty="0">
                <a:latin typeface="+mn-ea"/>
                <a:ea typeface="+mn-ea"/>
              </a:rPr>
              <a:t>2</a:t>
            </a:r>
            <a:endParaRPr lang="zh-CN" altLang="en-US" b="1" dirty="0">
              <a:latin typeface="+mn-ea"/>
              <a:ea typeface="+mn-ea"/>
            </a:endParaRPr>
          </a:p>
        </p:txBody>
      </p:sp>
      <p:sp>
        <p:nvSpPr>
          <p:cNvPr id="89" name="椭圆 88"/>
          <p:cNvSpPr/>
          <p:nvPr/>
        </p:nvSpPr>
        <p:spPr>
          <a:xfrm>
            <a:off x="3017027" y="2078613"/>
            <a:ext cx="304800"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90" name="TextBox 89"/>
          <p:cNvSpPr txBox="1"/>
          <p:nvPr/>
        </p:nvSpPr>
        <p:spPr>
          <a:xfrm>
            <a:off x="3020796" y="2032880"/>
            <a:ext cx="327334" cy="369332"/>
          </a:xfrm>
          <a:prstGeom prst="rect">
            <a:avLst/>
          </a:prstGeom>
          <a:noFill/>
        </p:spPr>
        <p:txBody>
          <a:bodyPr wrap="none" rtlCol="0">
            <a:spAutoFit/>
          </a:bodyPr>
          <a:lstStyle/>
          <a:p>
            <a:r>
              <a:rPr lang="en-US" altLang="zh-CN" b="1" dirty="0">
                <a:latin typeface="+mn-ea"/>
                <a:ea typeface="+mn-ea"/>
              </a:rPr>
              <a:t>3</a:t>
            </a:r>
            <a:endParaRPr lang="zh-CN" altLang="en-US" b="1" dirty="0">
              <a:latin typeface="+mn-ea"/>
              <a:ea typeface="+mn-ea"/>
            </a:endParaRPr>
          </a:p>
        </p:txBody>
      </p:sp>
      <p:sp>
        <p:nvSpPr>
          <p:cNvPr id="91" name="椭圆 90"/>
          <p:cNvSpPr/>
          <p:nvPr/>
        </p:nvSpPr>
        <p:spPr>
          <a:xfrm>
            <a:off x="4207364" y="2078971"/>
            <a:ext cx="304800"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92" name="TextBox 91"/>
          <p:cNvSpPr txBox="1"/>
          <p:nvPr/>
        </p:nvSpPr>
        <p:spPr>
          <a:xfrm>
            <a:off x="4211133" y="2033238"/>
            <a:ext cx="327334" cy="369332"/>
          </a:xfrm>
          <a:prstGeom prst="rect">
            <a:avLst/>
          </a:prstGeom>
          <a:noFill/>
        </p:spPr>
        <p:txBody>
          <a:bodyPr wrap="none" rtlCol="0">
            <a:spAutoFit/>
          </a:bodyPr>
          <a:lstStyle/>
          <a:p>
            <a:r>
              <a:rPr lang="en-US" altLang="zh-CN" b="1" dirty="0">
                <a:latin typeface="+mn-ea"/>
                <a:ea typeface="+mn-ea"/>
              </a:rPr>
              <a:t>4</a:t>
            </a:r>
            <a:endParaRPr lang="zh-CN" altLang="en-US" b="1" dirty="0">
              <a:latin typeface="+mn-ea"/>
              <a:ea typeface="+mn-ea"/>
            </a:endParaRPr>
          </a:p>
        </p:txBody>
      </p:sp>
      <p:sp>
        <p:nvSpPr>
          <p:cNvPr id="93" name="椭圆 92"/>
          <p:cNvSpPr/>
          <p:nvPr/>
        </p:nvSpPr>
        <p:spPr>
          <a:xfrm>
            <a:off x="3543024" y="2553293"/>
            <a:ext cx="304800"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94" name="TextBox 93"/>
          <p:cNvSpPr txBox="1"/>
          <p:nvPr/>
        </p:nvSpPr>
        <p:spPr>
          <a:xfrm>
            <a:off x="3546793" y="2507560"/>
            <a:ext cx="327334" cy="369332"/>
          </a:xfrm>
          <a:prstGeom prst="rect">
            <a:avLst/>
          </a:prstGeom>
          <a:noFill/>
        </p:spPr>
        <p:txBody>
          <a:bodyPr wrap="none" rtlCol="0">
            <a:spAutoFit/>
          </a:bodyPr>
          <a:lstStyle/>
          <a:p>
            <a:r>
              <a:rPr lang="en-US" altLang="zh-CN" b="1" dirty="0">
                <a:latin typeface="+mn-ea"/>
                <a:ea typeface="+mn-ea"/>
              </a:rPr>
              <a:t>5</a:t>
            </a:r>
            <a:endParaRPr lang="zh-CN" altLang="en-US" b="1" dirty="0">
              <a:latin typeface="+mn-ea"/>
              <a:ea typeface="+mn-ea"/>
            </a:endParaRPr>
          </a:p>
        </p:txBody>
      </p:sp>
      <p:sp>
        <p:nvSpPr>
          <p:cNvPr id="95" name="圆柱形 94"/>
          <p:cNvSpPr/>
          <p:nvPr/>
        </p:nvSpPr>
        <p:spPr>
          <a:xfrm>
            <a:off x="1044692" y="4458299"/>
            <a:ext cx="990600" cy="385696"/>
          </a:xfrm>
          <a:prstGeom prst="can">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目录</a:t>
            </a:r>
            <a:r>
              <a:rPr lang="zh-CN" altLang="en-US" sz="1200" b="1" dirty="0">
                <a:solidFill>
                  <a:schemeClr val="bg1"/>
                </a:solidFill>
                <a:latin typeface="+mn-ea"/>
                <a:ea typeface="+mn-ea"/>
              </a:rPr>
              <a:t>信息库</a:t>
            </a:r>
          </a:p>
        </p:txBody>
      </p:sp>
      <p:sp>
        <p:nvSpPr>
          <p:cNvPr id="96" name="圆柱形 95"/>
          <p:cNvSpPr/>
          <p:nvPr/>
        </p:nvSpPr>
        <p:spPr>
          <a:xfrm>
            <a:off x="2714563" y="4443251"/>
            <a:ext cx="990600" cy="385696"/>
          </a:xfrm>
          <a:prstGeom prst="can">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目录</a:t>
            </a:r>
            <a:r>
              <a:rPr lang="zh-CN" altLang="en-US" sz="1200" b="1" dirty="0">
                <a:solidFill>
                  <a:schemeClr val="bg1"/>
                </a:solidFill>
                <a:latin typeface="+mn-ea"/>
                <a:ea typeface="+mn-ea"/>
              </a:rPr>
              <a:t>信息库</a:t>
            </a:r>
          </a:p>
        </p:txBody>
      </p:sp>
      <p:sp>
        <p:nvSpPr>
          <p:cNvPr id="97" name="圆柱形 96"/>
          <p:cNvSpPr/>
          <p:nvPr/>
        </p:nvSpPr>
        <p:spPr>
          <a:xfrm>
            <a:off x="4434631" y="4443251"/>
            <a:ext cx="990600" cy="385696"/>
          </a:xfrm>
          <a:prstGeom prst="can">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目录</a:t>
            </a:r>
            <a:r>
              <a:rPr lang="zh-CN" altLang="en-US" sz="1200" b="1" dirty="0">
                <a:solidFill>
                  <a:schemeClr val="bg1"/>
                </a:solidFill>
                <a:latin typeface="+mn-ea"/>
                <a:ea typeface="+mn-ea"/>
              </a:rPr>
              <a:t>信息库</a:t>
            </a:r>
          </a:p>
        </p:txBody>
      </p:sp>
      <p:sp>
        <p:nvSpPr>
          <p:cNvPr id="99" name="圆柱形 98"/>
          <p:cNvSpPr/>
          <p:nvPr/>
        </p:nvSpPr>
        <p:spPr>
          <a:xfrm rot="5400000">
            <a:off x="3042171" y="1401482"/>
            <a:ext cx="315110" cy="4725746"/>
          </a:xfrm>
          <a:prstGeom prst="can">
            <a:avLst/>
          </a:prstGeom>
          <a:solidFill>
            <a:srgbClr val="0070C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400" b="1" dirty="0">
              <a:solidFill>
                <a:schemeClr val="bg1"/>
              </a:solidFill>
              <a:latin typeface="+mn-ea"/>
            </a:endParaRPr>
          </a:p>
        </p:txBody>
      </p:sp>
      <p:sp>
        <p:nvSpPr>
          <p:cNvPr id="100" name="TextBox 99"/>
          <p:cNvSpPr txBox="1"/>
          <p:nvPr/>
        </p:nvSpPr>
        <p:spPr>
          <a:xfrm>
            <a:off x="1497507" y="3614133"/>
            <a:ext cx="3462947" cy="307777"/>
          </a:xfrm>
          <a:prstGeom prst="rect">
            <a:avLst/>
          </a:prstGeom>
          <a:noFill/>
        </p:spPr>
        <p:txBody>
          <a:bodyPr wrap="square" rtlCol="0">
            <a:spAutoFit/>
          </a:bodyPr>
          <a:lstStyle/>
          <a:p>
            <a:pPr algn="ctr"/>
            <a:r>
              <a:rPr lang="zh-CN" altLang="en-US" sz="1400" b="1" dirty="0">
                <a:solidFill>
                  <a:schemeClr val="bg1"/>
                </a:solidFill>
                <a:latin typeface="+mn-ea"/>
                <a:ea typeface="+mn-ea"/>
              </a:rPr>
              <a:t>数据传输链路</a:t>
            </a:r>
            <a:r>
              <a:rPr lang="en-US" altLang="zh-CN" sz="1400" b="1" dirty="0">
                <a:solidFill>
                  <a:schemeClr val="bg1"/>
                </a:solidFill>
                <a:latin typeface="+mn-ea"/>
                <a:ea typeface="+mn-ea"/>
              </a:rPr>
              <a:t>(P2P/FTP/Socket)</a:t>
            </a:r>
            <a:endParaRPr lang="zh-CN" altLang="en-US" sz="1400" b="1" dirty="0">
              <a:solidFill>
                <a:schemeClr val="bg1"/>
              </a:solidFill>
              <a:latin typeface="+mn-ea"/>
              <a:ea typeface="+mn-ea"/>
            </a:endParaRPr>
          </a:p>
        </p:txBody>
      </p:sp>
    </p:spTree>
    <p:extLst>
      <p:ext uri="{BB962C8B-B14F-4D97-AF65-F5344CB8AC3E}">
        <p14:creationId xmlns:p14="http://schemas.microsoft.com/office/powerpoint/2010/main" val="2110950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ea typeface="+mn-ea"/>
              </a:rPr>
              <a:t>共享数据交换（</a:t>
            </a:r>
            <a:r>
              <a:rPr lang="en-US" altLang="zh-CN" dirty="0">
                <a:latin typeface="+mn-ea"/>
                <a:ea typeface="+mn-ea"/>
              </a:rPr>
              <a:t>3/4</a:t>
            </a:r>
            <a:r>
              <a:rPr lang="zh-CN" altLang="en-US" dirty="0">
                <a:latin typeface="+mn-ea"/>
                <a:ea typeface="+mn-ea"/>
              </a:rPr>
              <a:t>）</a:t>
            </a:r>
            <a:r>
              <a:rPr lang="en-US" altLang="zh-CN" dirty="0">
                <a:latin typeface="+mn-ea"/>
                <a:ea typeface="+mn-ea"/>
              </a:rPr>
              <a:t>-</a:t>
            </a:r>
            <a:r>
              <a:rPr lang="zh-CN" altLang="en-US" dirty="0">
                <a:latin typeface="+mn-ea"/>
                <a:ea typeface="+mn-ea"/>
              </a:rPr>
              <a:t>数据传输</a:t>
            </a:r>
          </a:p>
        </p:txBody>
      </p:sp>
      <p:sp>
        <p:nvSpPr>
          <p:cNvPr id="3" name="矩形 2"/>
          <p:cNvSpPr/>
          <p:nvPr/>
        </p:nvSpPr>
        <p:spPr>
          <a:xfrm>
            <a:off x="446065" y="5097757"/>
            <a:ext cx="4691962" cy="1181550"/>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4" name="矩形 3"/>
          <p:cNvSpPr/>
          <p:nvPr/>
        </p:nvSpPr>
        <p:spPr>
          <a:xfrm>
            <a:off x="395109" y="1143000"/>
            <a:ext cx="4645507" cy="2023775"/>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5" name="矩形 4"/>
          <p:cNvSpPr/>
          <p:nvPr/>
        </p:nvSpPr>
        <p:spPr>
          <a:xfrm>
            <a:off x="395109" y="4081175"/>
            <a:ext cx="4645507" cy="699534"/>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6" name="圆柱形 5"/>
          <p:cNvSpPr/>
          <p:nvPr/>
        </p:nvSpPr>
        <p:spPr>
          <a:xfrm>
            <a:off x="654089" y="4155038"/>
            <a:ext cx="990600" cy="466693"/>
          </a:xfrm>
          <a:prstGeom prst="can">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ea typeface="+mn-ea"/>
              </a:rPr>
              <a:t>交换信息库</a:t>
            </a:r>
          </a:p>
        </p:txBody>
      </p:sp>
      <p:sp>
        <p:nvSpPr>
          <p:cNvPr id="7" name="圆柱形 6"/>
          <p:cNvSpPr/>
          <p:nvPr/>
        </p:nvSpPr>
        <p:spPr>
          <a:xfrm>
            <a:off x="1743597" y="1919876"/>
            <a:ext cx="1113903" cy="466721"/>
          </a:xfrm>
          <a:prstGeom prst="can">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ea typeface="+mn-ea"/>
              </a:rPr>
              <a:t>交换信息库</a:t>
            </a:r>
          </a:p>
        </p:txBody>
      </p:sp>
      <p:sp>
        <p:nvSpPr>
          <p:cNvPr id="8" name="圆柱形 7"/>
          <p:cNvSpPr/>
          <p:nvPr/>
        </p:nvSpPr>
        <p:spPr>
          <a:xfrm>
            <a:off x="1743597" y="1201529"/>
            <a:ext cx="1102029" cy="368638"/>
          </a:xfrm>
          <a:prstGeom prst="can">
            <a:avLst/>
          </a:prstGeom>
          <a:solidFill>
            <a:schemeClr val="bg1">
              <a:lumMod val="7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共享信息库</a:t>
            </a:r>
          </a:p>
        </p:txBody>
      </p:sp>
      <p:grpSp>
        <p:nvGrpSpPr>
          <p:cNvPr id="9" name="Group 64"/>
          <p:cNvGrpSpPr>
            <a:grpSpLocks/>
          </p:cNvGrpSpPr>
          <p:nvPr/>
        </p:nvGrpSpPr>
        <p:grpSpPr bwMode="auto">
          <a:xfrm>
            <a:off x="453875" y="5194511"/>
            <a:ext cx="1127314" cy="538783"/>
            <a:chOff x="0" y="0"/>
            <a:chExt cx="864" cy="576"/>
          </a:xfrm>
          <a:solidFill>
            <a:schemeClr val="bg1">
              <a:lumMod val="75000"/>
            </a:schemeClr>
          </a:solidFill>
        </p:grpSpPr>
        <p:sp>
          <p:nvSpPr>
            <p:cNvPr id="10" name="AutoShape 65"/>
            <p:cNvSpPr>
              <a:spLocks noChangeArrowheads="1"/>
            </p:cNvSpPr>
            <p:nvPr/>
          </p:nvSpPr>
          <p:spPr bwMode="auto">
            <a:xfrm>
              <a:off x="0" y="96"/>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1" name="AutoShape 66"/>
            <p:cNvSpPr>
              <a:spLocks noChangeArrowheads="1"/>
            </p:cNvSpPr>
            <p:nvPr/>
          </p:nvSpPr>
          <p:spPr bwMode="auto">
            <a:xfrm>
              <a:off x="192" y="0"/>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2" name="AutoShape 67"/>
            <p:cNvSpPr>
              <a:spLocks noChangeArrowheads="1"/>
            </p:cNvSpPr>
            <p:nvPr/>
          </p:nvSpPr>
          <p:spPr bwMode="auto">
            <a:xfrm>
              <a:off x="96" y="192"/>
              <a:ext cx="711"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a:t>
              </a:r>
              <a:r>
                <a:rPr lang="zh-CN" altLang="en-US" sz="1200" b="1" dirty="0">
                  <a:solidFill>
                    <a:schemeClr val="bg1"/>
                  </a:solidFill>
                  <a:latin typeface="+mn-ea"/>
                </a:rPr>
                <a:t>库</a:t>
              </a:r>
              <a:endParaRPr lang="zh-CN" sz="1200" b="1" dirty="0">
                <a:solidFill>
                  <a:schemeClr val="bg1"/>
                </a:solidFill>
                <a:latin typeface="+mn-ea"/>
              </a:endParaRPr>
            </a:p>
          </p:txBody>
        </p:sp>
      </p:grpSp>
      <p:grpSp>
        <p:nvGrpSpPr>
          <p:cNvPr id="13" name="Group 64"/>
          <p:cNvGrpSpPr>
            <a:grpSpLocks/>
          </p:cNvGrpSpPr>
          <p:nvPr/>
        </p:nvGrpSpPr>
        <p:grpSpPr bwMode="auto">
          <a:xfrm>
            <a:off x="2182497" y="5228366"/>
            <a:ext cx="1125453" cy="484531"/>
            <a:chOff x="0" y="0"/>
            <a:chExt cx="864" cy="576"/>
          </a:xfrm>
          <a:solidFill>
            <a:schemeClr val="bg1">
              <a:lumMod val="75000"/>
            </a:schemeClr>
          </a:solidFill>
        </p:grpSpPr>
        <p:sp>
          <p:nvSpPr>
            <p:cNvPr id="14" name="AutoShape 65"/>
            <p:cNvSpPr>
              <a:spLocks noChangeArrowheads="1"/>
            </p:cNvSpPr>
            <p:nvPr/>
          </p:nvSpPr>
          <p:spPr bwMode="auto">
            <a:xfrm>
              <a:off x="0" y="96"/>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5" name="AutoShape 66"/>
            <p:cNvSpPr>
              <a:spLocks noChangeArrowheads="1"/>
            </p:cNvSpPr>
            <p:nvPr/>
          </p:nvSpPr>
          <p:spPr bwMode="auto">
            <a:xfrm>
              <a:off x="192" y="0"/>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6" name="AutoShape 67"/>
            <p:cNvSpPr>
              <a:spLocks noChangeArrowheads="1"/>
            </p:cNvSpPr>
            <p:nvPr/>
          </p:nvSpPr>
          <p:spPr bwMode="auto">
            <a:xfrm>
              <a:off x="96" y="192"/>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a:t>
              </a:r>
              <a:r>
                <a:rPr lang="zh-CN" altLang="en-US" sz="1200" b="1" dirty="0">
                  <a:solidFill>
                    <a:schemeClr val="bg1"/>
                  </a:solidFill>
                  <a:latin typeface="+mn-ea"/>
                </a:rPr>
                <a:t>库</a:t>
              </a:r>
              <a:endParaRPr lang="zh-CN" sz="1200" b="1" dirty="0">
                <a:solidFill>
                  <a:schemeClr val="bg1"/>
                </a:solidFill>
                <a:latin typeface="+mn-ea"/>
              </a:endParaRPr>
            </a:p>
          </p:txBody>
        </p:sp>
      </p:grpSp>
      <p:sp>
        <p:nvSpPr>
          <p:cNvPr id="18" name="圆柱形 17"/>
          <p:cNvSpPr/>
          <p:nvPr/>
        </p:nvSpPr>
        <p:spPr>
          <a:xfrm>
            <a:off x="2317350" y="4176498"/>
            <a:ext cx="990600" cy="466693"/>
          </a:xfrm>
          <a:prstGeom prst="can">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ea typeface="+mn-ea"/>
              </a:rPr>
              <a:t>交换信息库</a:t>
            </a:r>
          </a:p>
        </p:txBody>
      </p:sp>
      <p:sp>
        <p:nvSpPr>
          <p:cNvPr id="20" name="圆柱形 19"/>
          <p:cNvSpPr/>
          <p:nvPr/>
        </p:nvSpPr>
        <p:spPr>
          <a:xfrm>
            <a:off x="3924300" y="4169277"/>
            <a:ext cx="990600" cy="466693"/>
          </a:xfrm>
          <a:prstGeom prst="can">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ea typeface="+mn-ea"/>
              </a:rPr>
              <a:t>交换信息库</a:t>
            </a:r>
          </a:p>
        </p:txBody>
      </p:sp>
      <p:grpSp>
        <p:nvGrpSpPr>
          <p:cNvPr id="21" name="组合 20"/>
          <p:cNvGrpSpPr/>
          <p:nvPr/>
        </p:nvGrpSpPr>
        <p:grpSpPr>
          <a:xfrm>
            <a:off x="3912282" y="1862762"/>
            <a:ext cx="1176781" cy="617454"/>
            <a:chOff x="5286380" y="3106248"/>
            <a:chExt cx="1000132" cy="585348"/>
          </a:xfrm>
        </p:grpSpPr>
        <p:pic>
          <p:nvPicPr>
            <p:cNvPr id="22" name="Picture 4"/>
            <p:cNvPicPr>
              <a:picLocks noChangeAspect="1" noChangeArrowheads="1"/>
            </p:cNvPicPr>
            <p:nvPr/>
          </p:nvPicPr>
          <p:blipFill>
            <a:blip r:embed="rId3" cstate="print"/>
            <a:srcRect/>
            <a:stretch>
              <a:fillRect/>
            </a:stretch>
          </p:blipFill>
          <p:spPr bwMode="auto">
            <a:xfrm>
              <a:off x="5414432" y="3106248"/>
              <a:ext cx="465900" cy="357190"/>
            </a:xfrm>
            <a:prstGeom prst="rect">
              <a:avLst/>
            </a:prstGeom>
            <a:noFill/>
            <a:ln w="9525">
              <a:noFill/>
              <a:miter lim="800000"/>
              <a:headEnd/>
              <a:tailEnd/>
            </a:ln>
            <a:effectLst/>
          </p:spPr>
        </p:pic>
        <p:sp>
          <p:nvSpPr>
            <p:cNvPr id="23" name="TextBox 22"/>
            <p:cNvSpPr txBox="1"/>
            <p:nvPr/>
          </p:nvSpPr>
          <p:spPr>
            <a:xfrm>
              <a:off x="5286380" y="3429000"/>
              <a:ext cx="1000132" cy="262596"/>
            </a:xfrm>
            <a:prstGeom prst="rect">
              <a:avLst/>
            </a:prstGeom>
            <a:noFill/>
          </p:spPr>
          <p:txBody>
            <a:bodyPr wrap="square" rtlCol="0">
              <a:spAutoFit/>
            </a:bodyPr>
            <a:lstStyle/>
            <a:p>
              <a:pPr algn="ctr"/>
              <a:r>
                <a:rPr lang="zh-CN" altLang="en-US" sz="1200" dirty="0">
                  <a:latin typeface="+mn-ea"/>
                  <a:ea typeface="+mn-ea"/>
                </a:rPr>
                <a:t>质量管理员</a:t>
              </a:r>
            </a:p>
          </p:txBody>
        </p:sp>
      </p:grpSp>
      <p:sp>
        <p:nvSpPr>
          <p:cNvPr id="24" name="左右箭头 23"/>
          <p:cNvSpPr/>
          <p:nvPr/>
        </p:nvSpPr>
        <p:spPr>
          <a:xfrm>
            <a:off x="2857500" y="2066202"/>
            <a:ext cx="1028027" cy="275943"/>
          </a:xfrm>
          <a:prstGeom prst="leftRightArrow">
            <a:avLst/>
          </a:prstGeom>
          <a:solidFill>
            <a:srgbClr val="FF0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25" name="TextBox 24"/>
          <p:cNvSpPr txBox="1"/>
          <p:nvPr/>
        </p:nvSpPr>
        <p:spPr>
          <a:xfrm>
            <a:off x="2971681" y="1880998"/>
            <a:ext cx="800219" cy="646331"/>
          </a:xfrm>
          <a:prstGeom prst="rect">
            <a:avLst/>
          </a:prstGeom>
          <a:noFill/>
        </p:spPr>
        <p:txBody>
          <a:bodyPr wrap="none" rtlCol="0">
            <a:spAutoFit/>
          </a:bodyPr>
          <a:lstStyle/>
          <a:p>
            <a:r>
              <a:rPr lang="zh-CN" altLang="en-US" sz="1200" dirty="0">
                <a:latin typeface="+mn-ea"/>
                <a:ea typeface="+mn-ea"/>
              </a:rPr>
              <a:t>数据核检</a:t>
            </a:r>
            <a:endParaRPr lang="en-US" altLang="zh-CN" sz="1200" dirty="0">
              <a:latin typeface="+mn-ea"/>
              <a:ea typeface="+mn-ea"/>
            </a:endParaRPr>
          </a:p>
          <a:p>
            <a:endParaRPr lang="en-US" altLang="zh-CN" sz="1200" dirty="0">
              <a:latin typeface="+mn-ea"/>
              <a:ea typeface="+mn-ea"/>
            </a:endParaRPr>
          </a:p>
          <a:p>
            <a:r>
              <a:rPr lang="zh-CN" altLang="en-US" sz="1200" dirty="0">
                <a:latin typeface="+mn-ea"/>
                <a:ea typeface="+mn-ea"/>
              </a:rPr>
              <a:t>数据修正</a:t>
            </a:r>
          </a:p>
        </p:txBody>
      </p:sp>
      <p:sp>
        <p:nvSpPr>
          <p:cNvPr id="27" name="TextBox 26"/>
          <p:cNvSpPr txBox="1"/>
          <p:nvPr/>
        </p:nvSpPr>
        <p:spPr>
          <a:xfrm>
            <a:off x="1523881" y="1652398"/>
            <a:ext cx="800219" cy="276999"/>
          </a:xfrm>
          <a:prstGeom prst="rect">
            <a:avLst/>
          </a:prstGeom>
          <a:noFill/>
        </p:spPr>
        <p:txBody>
          <a:bodyPr wrap="none" rtlCol="0">
            <a:spAutoFit/>
          </a:bodyPr>
          <a:lstStyle/>
          <a:p>
            <a:r>
              <a:rPr lang="zh-CN" altLang="en-US" sz="1200" dirty="0">
                <a:latin typeface="+mn-ea"/>
                <a:ea typeface="+mn-ea"/>
              </a:rPr>
              <a:t>数据桥接</a:t>
            </a:r>
            <a:endParaRPr lang="en-US" altLang="zh-CN" sz="1200" dirty="0">
              <a:latin typeface="+mn-ea"/>
              <a:ea typeface="+mn-ea"/>
            </a:endParaRPr>
          </a:p>
        </p:txBody>
      </p:sp>
      <p:sp>
        <p:nvSpPr>
          <p:cNvPr id="29" name="TextBox 28"/>
          <p:cNvSpPr txBox="1"/>
          <p:nvPr/>
        </p:nvSpPr>
        <p:spPr>
          <a:xfrm>
            <a:off x="399990" y="1570166"/>
            <a:ext cx="400110" cy="810478"/>
          </a:xfrm>
          <a:prstGeom prst="rect">
            <a:avLst/>
          </a:prstGeom>
          <a:noFill/>
        </p:spPr>
        <p:txBody>
          <a:bodyPr vert="eaVert" wrap="none" rtlCol="0">
            <a:spAutoFit/>
          </a:bodyPr>
          <a:lstStyle/>
          <a:p>
            <a:r>
              <a:rPr lang="zh-CN" altLang="en-US" sz="1400" b="1" dirty="0">
                <a:latin typeface="+mn-ea"/>
                <a:ea typeface="+mn-ea"/>
              </a:rPr>
              <a:t>数据中心</a:t>
            </a:r>
          </a:p>
        </p:txBody>
      </p:sp>
      <p:sp>
        <p:nvSpPr>
          <p:cNvPr id="31" name="TextBox 30"/>
          <p:cNvSpPr txBox="1"/>
          <p:nvPr/>
        </p:nvSpPr>
        <p:spPr>
          <a:xfrm>
            <a:off x="791246" y="5743007"/>
            <a:ext cx="492443" cy="276999"/>
          </a:xfrm>
          <a:prstGeom prst="rect">
            <a:avLst/>
          </a:prstGeom>
          <a:noFill/>
        </p:spPr>
        <p:txBody>
          <a:bodyPr wrap="none" rtlCol="0">
            <a:spAutoFit/>
          </a:bodyPr>
          <a:lstStyle/>
          <a:p>
            <a:pPr algn="ctr"/>
            <a:r>
              <a:rPr lang="zh-CN" altLang="en-US" sz="1200" b="1" dirty="0">
                <a:latin typeface="+mn-ea"/>
                <a:ea typeface="+mn-ea"/>
              </a:rPr>
              <a:t>公安</a:t>
            </a:r>
          </a:p>
        </p:txBody>
      </p:sp>
      <p:sp>
        <p:nvSpPr>
          <p:cNvPr id="32" name="TextBox 31"/>
          <p:cNvSpPr txBox="1"/>
          <p:nvPr/>
        </p:nvSpPr>
        <p:spPr>
          <a:xfrm>
            <a:off x="2542678" y="5768782"/>
            <a:ext cx="492443" cy="276999"/>
          </a:xfrm>
          <a:prstGeom prst="rect">
            <a:avLst/>
          </a:prstGeom>
          <a:noFill/>
        </p:spPr>
        <p:txBody>
          <a:bodyPr wrap="none" rtlCol="0">
            <a:spAutoFit/>
          </a:bodyPr>
          <a:lstStyle/>
          <a:p>
            <a:pPr algn="ctr"/>
            <a:r>
              <a:rPr lang="zh-CN" altLang="en-US" sz="1200" b="1" dirty="0">
                <a:latin typeface="+mn-ea"/>
                <a:ea typeface="+mn-ea"/>
              </a:rPr>
              <a:t>民政</a:t>
            </a:r>
          </a:p>
        </p:txBody>
      </p:sp>
      <p:sp>
        <p:nvSpPr>
          <p:cNvPr id="33" name="TextBox 32"/>
          <p:cNvSpPr txBox="1"/>
          <p:nvPr/>
        </p:nvSpPr>
        <p:spPr>
          <a:xfrm>
            <a:off x="4283163" y="5743932"/>
            <a:ext cx="492443" cy="276999"/>
          </a:xfrm>
          <a:prstGeom prst="rect">
            <a:avLst/>
          </a:prstGeom>
          <a:noFill/>
        </p:spPr>
        <p:txBody>
          <a:bodyPr wrap="none" rtlCol="0">
            <a:spAutoFit/>
          </a:bodyPr>
          <a:lstStyle/>
          <a:p>
            <a:pPr algn="ctr"/>
            <a:r>
              <a:rPr lang="zh-CN" altLang="en-US" sz="1200" b="1" dirty="0">
                <a:latin typeface="+mn-ea"/>
                <a:ea typeface="+mn-ea"/>
              </a:rPr>
              <a:t>社保</a:t>
            </a:r>
          </a:p>
        </p:txBody>
      </p:sp>
      <p:sp>
        <p:nvSpPr>
          <p:cNvPr id="34" name="右箭头 33"/>
          <p:cNvSpPr/>
          <p:nvPr/>
        </p:nvSpPr>
        <p:spPr>
          <a:xfrm rot="16200000">
            <a:off x="1011287" y="3794359"/>
            <a:ext cx="320325" cy="285499"/>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35" name="右箭头 34"/>
          <p:cNvSpPr/>
          <p:nvPr/>
        </p:nvSpPr>
        <p:spPr>
          <a:xfrm rot="16200000">
            <a:off x="2587088" y="3794360"/>
            <a:ext cx="320325" cy="285499"/>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36" name="右箭头 35"/>
          <p:cNvSpPr/>
          <p:nvPr/>
        </p:nvSpPr>
        <p:spPr>
          <a:xfrm rot="16200000">
            <a:off x="4230988" y="3794359"/>
            <a:ext cx="320325" cy="285499"/>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37" name="右箭头 36"/>
          <p:cNvSpPr/>
          <p:nvPr/>
        </p:nvSpPr>
        <p:spPr>
          <a:xfrm rot="16200000">
            <a:off x="1023392" y="4755488"/>
            <a:ext cx="317153" cy="303063"/>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38" name="右箭头 37"/>
          <p:cNvSpPr/>
          <p:nvPr/>
        </p:nvSpPr>
        <p:spPr>
          <a:xfrm rot="16200000">
            <a:off x="2654073" y="4790261"/>
            <a:ext cx="317153" cy="303063"/>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39" name="右箭头 38"/>
          <p:cNvSpPr/>
          <p:nvPr/>
        </p:nvSpPr>
        <p:spPr>
          <a:xfrm rot="16200000">
            <a:off x="4349624" y="4790261"/>
            <a:ext cx="317153" cy="303063"/>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grpSp>
        <p:nvGrpSpPr>
          <p:cNvPr id="40" name="Group 64"/>
          <p:cNvGrpSpPr>
            <a:grpSpLocks/>
          </p:cNvGrpSpPr>
          <p:nvPr/>
        </p:nvGrpSpPr>
        <p:grpSpPr bwMode="auto">
          <a:xfrm>
            <a:off x="3924300" y="5212507"/>
            <a:ext cx="1125453" cy="484531"/>
            <a:chOff x="0" y="0"/>
            <a:chExt cx="864" cy="576"/>
          </a:xfrm>
          <a:solidFill>
            <a:schemeClr val="bg1">
              <a:lumMod val="75000"/>
            </a:schemeClr>
          </a:solidFill>
        </p:grpSpPr>
        <p:sp>
          <p:nvSpPr>
            <p:cNvPr id="41" name="AutoShape 65"/>
            <p:cNvSpPr>
              <a:spLocks noChangeArrowheads="1"/>
            </p:cNvSpPr>
            <p:nvPr/>
          </p:nvSpPr>
          <p:spPr bwMode="auto">
            <a:xfrm>
              <a:off x="0" y="96"/>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42" name="AutoShape 66"/>
            <p:cNvSpPr>
              <a:spLocks noChangeArrowheads="1"/>
            </p:cNvSpPr>
            <p:nvPr/>
          </p:nvSpPr>
          <p:spPr bwMode="auto">
            <a:xfrm>
              <a:off x="192" y="0"/>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43" name="AutoShape 67"/>
            <p:cNvSpPr>
              <a:spLocks noChangeArrowheads="1"/>
            </p:cNvSpPr>
            <p:nvPr/>
          </p:nvSpPr>
          <p:spPr bwMode="auto">
            <a:xfrm>
              <a:off x="96" y="192"/>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a:t>
              </a:r>
              <a:r>
                <a:rPr lang="zh-CN" altLang="en-US" sz="1200" b="1" dirty="0">
                  <a:solidFill>
                    <a:schemeClr val="bg1"/>
                  </a:solidFill>
                  <a:latin typeface="+mn-ea"/>
                </a:rPr>
                <a:t>库</a:t>
              </a:r>
              <a:endParaRPr lang="zh-CN" sz="1200" b="1" dirty="0">
                <a:solidFill>
                  <a:schemeClr val="bg1"/>
                </a:solidFill>
                <a:latin typeface="+mn-ea"/>
              </a:endParaRPr>
            </a:p>
          </p:txBody>
        </p:sp>
      </p:grpSp>
      <p:sp>
        <p:nvSpPr>
          <p:cNvPr id="44" name="TextBox 43"/>
          <p:cNvSpPr txBox="1"/>
          <p:nvPr/>
        </p:nvSpPr>
        <p:spPr>
          <a:xfrm>
            <a:off x="2412175" y="4860207"/>
            <a:ext cx="800219" cy="276999"/>
          </a:xfrm>
          <a:prstGeom prst="rect">
            <a:avLst/>
          </a:prstGeom>
          <a:noFill/>
        </p:spPr>
        <p:txBody>
          <a:bodyPr wrap="none" rtlCol="0">
            <a:spAutoFit/>
          </a:bodyPr>
          <a:lstStyle/>
          <a:p>
            <a:pPr algn="ctr"/>
            <a:r>
              <a:rPr lang="zh-CN" altLang="en-US" sz="1200" b="1" dirty="0">
                <a:latin typeface="+mn-ea"/>
                <a:ea typeface="+mn-ea"/>
              </a:rPr>
              <a:t>数据桥接</a:t>
            </a:r>
          </a:p>
        </p:txBody>
      </p:sp>
      <p:pic>
        <p:nvPicPr>
          <p:cNvPr id="45" name="Picture 5"/>
          <p:cNvPicPr>
            <a:picLocks noChangeAspect="1" noChangeArrowheads="1"/>
          </p:cNvPicPr>
          <p:nvPr/>
        </p:nvPicPr>
        <p:blipFill>
          <a:blip r:embed="rId4" cstate="print"/>
          <a:srcRect/>
          <a:stretch>
            <a:fillRect/>
          </a:stretch>
        </p:blipFill>
        <p:spPr bwMode="auto">
          <a:xfrm>
            <a:off x="1667336" y="5721419"/>
            <a:ext cx="428628" cy="405488"/>
          </a:xfrm>
          <a:prstGeom prst="rect">
            <a:avLst/>
          </a:prstGeom>
          <a:noFill/>
          <a:ln w="9525">
            <a:noFill/>
            <a:miter lim="800000"/>
            <a:headEnd/>
            <a:tailEnd/>
          </a:ln>
          <a:effectLst/>
        </p:spPr>
      </p:pic>
      <p:pic>
        <p:nvPicPr>
          <p:cNvPr id="46" name="Picture 5"/>
          <p:cNvPicPr>
            <a:picLocks noChangeAspect="1" noChangeArrowheads="1"/>
          </p:cNvPicPr>
          <p:nvPr/>
        </p:nvPicPr>
        <p:blipFill>
          <a:blip r:embed="rId4" cstate="print"/>
          <a:srcRect/>
          <a:stretch>
            <a:fillRect/>
          </a:stretch>
        </p:blipFill>
        <p:spPr bwMode="auto">
          <a:xfrm>
            <a:off x="3480734" y="5721419"/>
            <a:ext cx="428628" cy="405488"/>
          </a:xfrm>
          <a:prstGeom prst="rect">
            <a:avLst/>
          </a:prstGeom>
          <a:noFill/>
          <a:ln w="9525">
            <a:noFill/>
            <a:miter lim="800000"/>
            <a:headEnd/>
            <a:tailEnd/>
          </a:ln>
          <a:effectLst/>
        </p:spPr>
      </p:pic>
      <p:grpSp>
        <p:nvGrpSpPr>
          <p:cNvPr id="47" name="组合 46"/>
          <p:cNvGrpSpPr/>
          <p:nvPr/>
        </p:nvGrpSpPr>
        <p:grpSpPr>
          <a:xfrm>
            <a:off x="1507272" y="5530006"/>
            <a:ext cx="663350" cy="226407"/>
            <a:chOff x="1785847" y="5668324"/>
            <a:chExt cx="663350" cy="226407"/>
          </a:xfrm>
        </p:grpSpPr>
        <p:cxnSp>
          <p:nvCxnSpPr>
            <p:cNvPr id="48" name="直接连接符 47"/>
            <p:cNvCxnSpPr/>
            <p:nvPr/>
          </p:nvCxnSpPr>
          <p:spPr bwMode="auto">
            <a:xfrm>
              <a:off x="1785847" y="5668324"/>
              <a:ext cx="66335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9" name="直接连接符 48"/>
            <p:cNvCxnSpPr/>
            <p:nvPr/>
          </p:nvCxnSpPr>
          <p:spPr bwMode="auto">
            <a:xfrm>
              <a:off x="2129667" y="5668324"/>
              <a:ext cx="0" cy="226407"/>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50" name="组合 49"/>
          <p:cNvGrpSpPr/>
          <p:nvPr/>
        </p:nvGrpSpPr>
        <p:grpSpPr>
          <a:xfrm>
            <a:off x="3307950" y="5530005"/>
            <a:ext cx="663350" cy="226407"/>
            <a:chOff x="1785847" y="5668324"/>
            <a:chExt cx="663350" cy="226407"/>
          </a:xfrm>
        </p:grpSpPr>
        <p:cxnSp>
          <p:nvCxnSpPr>
            <p:cNvPr id="51" name="直接连接符 50"/>
            <p:cNvCxnSpPr/>
            <p:nvPr/>
          </p:nvCxnSpPr>
          <p:spPr bwMode="auto">
            <a:xfrm>
              <a:off x="1785847" y="5668324"/>
              <a:ext cx="66335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2" name="直接连接符 51"/>
            <p:cNvCxnSpPr/>
            <p:nvPr/>
          </p:nvCxnSpPr>
          <p:spPr bwMode="auto">
            <a:xfrm>
              <a:off x="2129667" y="5668324"/>
              <a:ext cx="0" cy="226407"/>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53" name="组合 52"/>
          <p:cNvGrpSpPr/>
          <p:nvPr/>
        </p:nvGrpSpPr>
        <p:grpSpPr>
          <a:xfrm>
            <a:off x="1714500" y="5288707"/>
            <a:ext cx="316675" cy="369332"/>
            <a:chOff x="6096000" y="2309750"/>
            <a:chExt cx="316675" cy="369332"/>
          </a:xfrm>
        </p:grpSpPr>
        <p:sp>
          <p:nvSpPr>
            <p:cNvPr id="54" name="椭圆 53"/>
            <p:cNvSpPr/>
            <p:nvPr/>
          </p:nvSpPr>
          <p:spPr>
            <a:xfrm>
              <a:off x="6096000" y="2355483"/>
              <a:ext cx="304800"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55" name="TextBox 54"/>
            <p:cNvSpPr txBox="1"/>
            <p:nvPr/>
          </p:nvSpPr>
          <p:spPr>
            <a:xfrm>
              <a:off x="6099769" y="2309750"/>
              <a:ext cx="312906" cy="369332"/>
            </a:xfrm>
            <a:prstGeom prst="rect">
              <a:avLst/>
            </a:prstGeom>
            <a:noFill/>
          </p:spPr>
          <p:txBody>
            <a:bodyPr wrap="none" rtlCol="0">
              <a:spAutoFit/>
            </a:bodyPr>
            <a:lstStyle/>
            <a:p>
              <a:r>
                <a:rPr lang="en-US" altLang="zh-CN" dirty="0"/>
                <a:t>1</a:t>
              </a:r>
              <a:endParaRPr lang="zh-CN" altLang="en-US" dirty="0"/>
            </a:p>
          </p:txBody>
        </p:sp>
      </p:grpSp>
      <p:grpSp>
        <p:nvGrpSpPr>
          <p:cNvPr id="56" name="组合 55"/>
          <p:cNvGrpSpPr/>
          <p:nvPr/>
        </p:nvGrpSpPr>
        <p:grpSpPr>
          <a:xfrm>
            <a:off x="3467100" y="5288707"/>
            <a:ext cx="316675" cy="369332"/>
            <a:chOff x="6096000" y="2309750"/>
            <a:chExt cx="316675" cy="369332"/>
          </a:xfrm>
        </p:grpSpPr>
        <p:sp>
          <p:nvSpPr>
            <p:cNvPr id="57" name="椭圆 56"/>
            <p:cNvSpPr/>
            <p:nvPr/>
          </p:nvSpPr>
          <p:spPr>
            <a:xfrm>
              <a:off x="6096000" y="2355483"/>
              <a:ext cx="304800"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58" name="TextBox 57"/>
            <p:cNvSpPr txBox="1"/>
            <p:nvPr/>
          </p:nvSpPr>
          <p:spPr>
            <a:xfrm>
              <a:off x="6099769" y="2309750"/>
              <a:ext cx="312906" cy="369332"/>
            </a:xfrm>
            <a:prstGeom prst="rect">
              <a:avLst/>
            </a:prstGeom>
            <a:noFill/>
          </p:spPr>
          <p:txBody>
            <a:bodyPr wrap="none" rtlCol="0">
              <a:spAutoFit/>
            </a:bodyPr>
            <a:lstStyle/>
            <a:p>
              <a:r>
                <a:rPr lang="en-US" altLang="zh-CN" dirty="0"/>
                <a:t>1</a:t>
              </a:r>
              <a:endParaRPr lang="zh-CN" altLang="en-US" dirty="0"/>
            </a:p>
          </p:txBody>
        </p:sp>
      </p:grpSp>
      <p:grpSp>
        <p:nvGrpSpPr>
          <p:cNvPr id="59" name="组合 58"/>
          <p:cNvGrpSpPr/>
          <p:nvPr/>
        </p:nvGrpSpPr>
        <p:grpSpPr>
          <a:xfrm>
            <a:off x="3074347" y="4690775"/>
            <a:ext cx="316675" cy="369332"/>
            <a:chOff x="6096000" y="2309750"/>
            <a:chExt cx="316675" cy="369332"/>
          </a:xfrm>
        </p:grpSpPr>
        <p:sp>
          <p:nvSpPr>
            <p:cNvPr id="60" name="椭圆 59"/>
            <p:cNvSpPr/>
            <p:nvPr/>
          </p:nvSpPr>
          <p:spPr>
            <a:xfrm>
              <a:off x="6096000" y="2355483"/>
              <a:ext cx="304800"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61" name="TextBox 60"/>
            <p:cNvSpPr txBox="1"/>
            <p:nvPr/>
          </p:nvSpPr>
          <p:spPr>
            <a:xfrm>
              <a:off x="6099769" y="2309750"/>
              <a:ext cx="312906" cy="369332"/>
            </a:xfrm>
            <a:prstGeom prst="rect">
              <a:avLst/>
            </a:prstGeom>
            <a:noFill/>
          </p:spPr>
          <p:txBody>
            <a:bodyPr wrap="none" rtlCol="0">
              <a:spAutoFit/>
            </a:bodyPr>
            <a:lstStyle/>
            <a:p>
              <a:r>
                <a:rPr lang="en-US" altLang="zh-CN" dirty="0"/>
                <a:t>2</a:t>
              </a:r>
              <a:endParaRPr lang="zh-CN" altLang="en-US" dirty="0"/>
            </a:p>
          </p:txBody>
        </p:sp>
      </p:grpSp>
      <p:grpSp>
        <p:nvGrpSpPr>
          <p:cNvPr id="65" name="组合 64"/>
          <p:cNvGrpSpPr/>
          <p:nvPr/>
        </p:nvGrpSpPr>
        <p:grpSpPr>
          <a:xfrm>
            <a:off x="3695700" y="1776997"/>
            <a:ext cx="316675" cy="369332"/>
            <a:chOff x="6096000" y="2309750"/>
            <a:chExt cx="316675" cy="369332"/>
          </a:xfrm>
        </p:grpSpPr>
        <p:sp>
          <p:nvSpPr>
            <p:cNvPr id="66" name="椭圆 65"/>
            <p:cNvSpPr/>
            <p:nvPr/>
          </p:nvSpPr>
          <p:spPr>
            <a:xfrm>
              <a:off x="6096000" y="2355483"/>
              <a:ext cx="304800"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67" name="TextBox 66"/>
            <p:cNvSpPr txBox="1"/>
            <p:nvPr/>
          </p:nvSpPr>
          <p:spPr>
            <a:xfrm>
              <a:off x="6099769" y="2309750"/>
              <a:ext cx="312906" cy="369332"/>
            </a:xfrm>
            <a:prstGeom prst="rect">
              <a:avLst/>
            </a:prstGeom>
            <a:noFill/>
          </p:spPr>
          <p:txBody>
            <a:bodyPr wrap="none" rtlCol="0">
              <a:spAutoFit/>
            </a:bodyPr>
            <a:lstStyle/>
            <a:p>
              <a:r>
                <a:rPr lang="en-US" altLang="zh-CN" dirty="0"/>
                <a:t>4</a:t>
              </a:r>
              <a:endParaRPr lang="zh-CN" altLang="en-US" dirty="0"/>
            </a:p>
          </p:txBody>
        </p:sp>
      </p:grpSp>
      <p:grpSp>
        <p:nvGrpSpPr>
          <p:cNvPr id="68" name="组合 67"/>
          <p:cNvGrpSpPr/>
          <p:nvPr/>
        </p:nvGrpSpPr>
        <p:grpSpPr>
          <a:xfrm>
            <a:off x="2476500" y="1652398"/>
            <a:ext cx="316675" cy="369332"/>
            <a:chOff x="6096000" y="2309750"/>
            <a:chExt cx="316675" cy="369332"/>
          </a:xfrm>
        </p:grpSpPr>
        <p:sp>
          <p:nvSpPr>
            <p:cNvPr id="69" name="椭圆 68"/>
            <p:cNvSpPr/>
            <p:nvPr/>
          </p:nvSpPr>
          <p:spPr>
            <a:xfrm>
              <a:off x="6096000" y="2355483"/>
              <a:ext cx="304800"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70" name="TextBox 69"/>
            <p:cNvSpPr txBox="1"/>
            <p:nvPr/>
          </p:nvSpPr>
          <p:spPr>
            <a:xfrm>
              <a:off x="6099769" y="2309750"/>
              <a:ext cx="312906" cy="369332"/>
            </a:xfrm>
            <a:prstGeom prst="rect">
              <a:avLst/>
            </a:prstGeom>
            <a:noFill/>
          </p:spPr>
          <p:txBody>
            <a:bodyPr wrap="none" rtlCol="0">
              <a:spAutoFit/>
            </a:bodyPr>
            <a:lstStyle/>
            <a:p>
              <a:r>
                <a:rPr lang="en-US" altLang="zh-CN" dirty="0"/>
                <a:t>5</a:t>
              </a:r>
              <a:endParaRPr lang="zh-CN" altLang="en-US" dirty="0"/>
            </a:p>
          </p:txBody>
        </p:sp>
      </p:grpSp>
      <p:sp>
        <p:nvSpPr>
          <p:cNvPr id="71" name="AutoShape 20"/>
          <p:cNvSpPr>
            <a:spLocks noChangeArrowheads="1"/>
          </p:cNvSpPr>
          <p:nvPr/>
        </p:nvSpPr>
        <p:spPr bwMode="auto">
          <a:xfrm rot="10800000">
            <a:off x="5333999" y="1143246"/>
            <a:ext cx="3352801" cy="4961725"/>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sz="1200" dirty="0"/>
          </a:p>
        </p:txBody>
      </p:sp>
      <p:sp>
        <p:nvSpPr>
          <p:cNvPr id="72" name="TextBox 71"/>
          <p:cNvSpPr txBox="1"/>
          <p:nvPr/>
        </p:nvSpPr>
        <p:spPr>
          <a:xfrm>
            <a:off x="1338901" y="6047760"/>
            <a:ext cx="1024381" cy="261610"/>
          </a:xfrm>
          <a:prstGeom prst="rect">
            <a:avLst/>
          </a:prstGeom>
          <a:noFill/>
        </p:spPr>
        <p:txBody>
          <a:bodyPr wrap="square" rtlCol="0">
            <a:spAutoFit/>
          </a:bodyPr>
          <a:lstStyle/>
          <a:p>
            <a:pPr algn="ctr"/>
            <a:r>
              <a:rPr lang="zh-CN" altLang="en-US" sz="1100" dirty="0"/>
              <a:t>信息管理员</a:t>
            </a:r>
          </a:p>
        </p:txBody>
      </p:sp>
      <p:sp>
        <p:nvSpPr>
          <p:cNvPr id="73" name="TextBox 72"/>
          <p:cNvSpPr txBox="1"/>
          <p:nvPr/>
        </p:nvSpPr>
        <p:spPr>
          <a:xfrm>
            <a:off x="3180969" y="6065197"/>
            <a:ext cx="1024381" cy="261610"/>
          </a:xfrm>
          <a:prstGeom prst="rect">
            <a:avLst/>
          </a:prstGeom>
          <a:noFill/>
        </p:spPr>
        <p:txBody>
          <a:bodyPr wrap="square" rtlCol="0">
            <a:spAutoFit/>
          </a:bodyPr>
          <a:lstStyle/>
          <a:p>
            <a:pPr algn="ctr"/>
            <a:r>
              <a:rPr lang="zh-CN" altLang="en-US" sz="1100" dirty="0"/>
              <a:t>信息管理员</a:t>
            </a:r>
          </a:p>
        </p:txBody>
      </p:sp>
      <p:sp>
        <p:nvSpPr>
          <p:cNvPr id="74" name="矩形 73"/>
          <p:cNvSpPr/>
          <p:nvPr/>
        </p:nvSpPr>
        <p:spPr>
          <a:xfrm>
            <a:off x="5334000" y="1206500"/>
            <a:ext cx="3200400" cy="5262979"/>
          </a:xfrm>
          <a:prstGeom prst="rect">
            <a:avLst/>
          </a:prstGeom>
        </p:spPr>
        <p:txBody>
          <a:bodyPr wrap="square">
            <a:spAutoFit/>
          </a:bodyPr>
          <a:lstStyle/>
          <a:p>
            <a:pPr marL="342900" indent="-342900">
              <a:lnSpc>
                <a:spcPct val="150000"/>
              </a:lnSpc>
              <a:buFont typeface="+mj-ea"/>
              <a:buAutoNum type="circleNumDbPlain"/>
            </a:pPr>
            <a:r>
              <a:rPr lang="zh-CN" altLang="en-US" sz="1400" b="1" dirty="0">
                <a:solidFill>
                  <a:srgbClr val="C00000"/>
                </a:solidFill>
                <a:latin typeface="+mn-ea"/>
                <a:ea typeface="+mn-ea"/>
              </a:rPr>
              <a:t>数据填充：</a:t>
            </a:r>
            <a:r>
              <a:rPr lang="zh-CN" altLang="en-US" sz="1400" b="1" dirty="0">
                <a:solidFill>
                  <a:srgbClr val="002060"/>
                </a:solidFill>
                <a:latin typeface="+mn-ea"/>
                <a:ea typeface="+mn-ea"/>
              </a:rPr>
              <a:t>信息管理员根  据下发的目录规则进行数据准备，包括数据卸数、数据填充等</a:t>
            </a:r>
            <a:endParaRPr lang="en-US" altLang="zh-CN" sz="1400" b="1" dirty="0">
              <a:solidFill>
                <a:srgbClr val="002060"/>
              </a:solidFill>
              <a:latin typeface="+mn-ea"/>
              <a:ea typeface="+mn-ea"/>
            </a:endParaRPr>
          </a:p>
          <a:p>
            <a:pPr marL="342900" indent="-342900">
              <a:lnSpc>
                <a:spcPct val="150000"/>
              </a:lnSpc>
              <a:buFont typeface="+mj-ea"/>
              <a:buAutoNum type="circleNumDbPlain"/>
            </a:pPr>
            <a:r>
              <a:rPr lang="zh-CN" altLang="en-US" sz="1400" b="1" dirty="0">
                <a:solidFill>
                  <a:srgbClr val="C00000"/>
                </a:solidFill>
                <a:latin typeface="+mn-ea"/>
                <a:ea typeface="+mn-ea"/>
              </a:rPr>
              <a:t>数据桥接：</a:t>
            </a:r>
            <a:r>
              <a:rPr lang="zh-CN" altLang="en-US" sz="1400" b="1" dirty="0">
                <a:solidFill>
                  <a:srgbClr val="002060"/>
                </a:solidFill>
                <a:latin typeface="+mn-ea"/>
                <a:ea typeface="+mn-ea"/>
              </a:rPr>
              <a:t>数据准备完毕后通过数据桥接系统定期调度将数据传输到前置交换信息库</a:t>
            </a:r>
            <a:endParaRPr lang="en-US" altLang="zh-CN" sz="1400" b="1" dirty="0">
              <a:solidFill>
                <a:srgbClr val="002060"/>
              </a:solidFill>
              <a:latin typeface="+mn-ea"/>
              <a:ea typeface="+mn-ea"/>
            </a:endParaRPr>
          </a:p>
          <a:p>
            <a:pPr marL="342900" indent="-342900">
              <a:lnSpc>
                <a:spcPct val="150000"/>
              </a:lnSpc>
              <a:buFont typeface="+mj-ea"/>
              <a:buAutoNum type="circleNumDbPlain"/>
            </a:pPr>
            <a:r>
              <a:rPr lang="zh-CN" altLang="en-US" sz="1400" b="1" dirty="0">
                <a:solidFill>
                  <a:srgbClr val="C00000"/>
                </a:solidFill>
                <a:latin typeface="+mn-ea"/>
                <a:ea typeface="+mn-ea"/>
              </a:rPr>
              <a:t>数据上报：</a:t>
            </a:r>
            <a:r>
              <a:rPr lang="zh-CN" altLang="en-US" sz="1400" b="1" dirty="0">
                <a:solidFill>
                  <a:srgbClr val="002060"/>
                </a:solidFill>
                <a:latin typeface="+mn-ea"/>
                <a:ea typeface="+mn-ea"/>
              </a:rPr>
              <a:t>通过数据交换平台从交换信息库中定期调度抽取数据到中心交换信息库中</a:t>
            </a:r>
            <a:endParaRPr lang="en-US" altLang="zh-CN" sz="1400" b="1" dirty="0">
              <a:solidFill>
                <a:srgbClr val="002060"/>
              </a:solidFill>
              <a:latin typeface="+mn-ea"/>
              <a:ea typeface="+mn-ea"/>
            </a:endParaRPr>
          </a:p>
          <a:p>
            <a:pPr marL="342900" indent="-342900">
              <a:lnSpc>
                <a:spcPct val="150000"/>
              </a:lnSpc>
              <a:buFont typeface="+mj-ea"/>
              <a:buAutoNum type="circleNumDbPlain"/>
            </a:pPr>
            <a:r>
              <a:rPr lang="zh-CN" altLang="en-US" sz="1400" b="1" dirty="0">
                <a:solidFill>
                  <a:srgbClr val="C00000"/>
                </a:solidFill>
                <a:latin typeface="+mn-ea"/>
                <a:ea typeface="+mn-ea"/>
              </a:rPr>
              <a:t>数据核检：</a:t>
            </a:r>
            <a:r>
              <a:rPr lang="zh-CN" altLang="en-US" sz="1400" b="1" dirty="0">
                <a:solidFill>
                  <a:srgbClr val="002060"/>
                </a:solidFill>
                <a:latin typeface="+mn-ea"/>
                <a:ea typeface="+mn-ea"/>
              </a:rPr>
              <a:t>质量管理员对交换信息库中的数据进行核检修正，支持手工核检与自动自动核检</a:t>
            </a:r>
            <a:endParaRPr lang="en-US" altLang="zh-CN" sz="1400" b="1" dirty="0">
              <a:solidFill>
                <a:srgbClr val="002060"/>
              </a:solidFill>
              <a:latin typeface="+mn-ea"/>
              <a:ea typeface="+mn-ea"/>
            </a:endParaRPr>
          </a:p>
          <a:p>
            <a:pPr marL="342900" indent="-342900">
              <a:lnSpc>
                <a:spcPct val="150000"/>
              </a:lnSpc>
              <a:buFont typeface="+mj-ea"/>
              <a:buAutoNum type="circleNumDbPlain"/>
            </a:pPr>
            <a:r>
              <a:rPr lang="zh-CN" altLang="en-US" sz="1400" b="1" dirty="0">
                <a:solidFill>
                  <a:srgbClr val="C00000"/>
                </a:solidFill>
                <a:latin typeface="+mn-ea"/>
                <a:ea typeface="+mn-ea"/>
              </a:rPr>
              <a:t>数据入库：</a:t>
            </a:r>
            <a:r>
              <a:rPr lang="zh-CN" altLang="en-US" sz="1400" b="1" dirty="0">
                <a:solidFill>
                  <a:srgbClr val="002060"/>
                </a:solidFill>
                <a:latin typeface="+mn-ea"/>
                <a:ea typeface="+mn-ea"/>
              </a:rPr>
              <a:t>经过核检修正后的数据通过数据桥接定期调度抽取数据到共享信息库中</a:t>
            </a:r>
            <a:endParaRPr lang="en-US" altLang="zh-CN" sz="1400" b="1" dirty="0">
              <a:solidFill>
                <a:srgbClr val="002060"/>
              </a:solidFill>
              <a:latin typeface="+mn-ea"/>
              <a:ea typeface="+mn-ea"/>
            </a:endParaRPr>
          </a:p>
          <a:p>
            <a:pPr>
              <a:lnSpc>
                <a:spcPct val="150000"/>
              </a:lnSpc>
            </a:pPr>
            <a:endParaRPr lang="zh-CN" altLang="en-US" sz="1400" dirty="0">
              <a:solidFill>
                <a:srgbClr val="002060"/>
              </a:solidFill>
              <a:latin typeface="+mn-ea"/>
              <a:ea typeface="+mn-ea"/>
            </a:endParaRPr>
          </a:p>
        </p:txBody>
      </p:sp>
      <p:sp>
        <p:nvSpPr>
          <p:cNvPr id="81" name="圆柱形 80"/>
          <p:cNvSpPr/>
          <p:nvPr/>
        </p:nvSpPr>
        <p:spPr>
          <a:xfrm rot="5400000">
            <a:off x="2457031" y="1249738"/>
            <a:ext cx="399806" cy="4704268"/>
          </a:xfrm>
          <a:prstGeom prst="can">
            <a:avLst/>
          </a:prstGeom>
          <a:solidFill>
            <a:srgbClr val="0070C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400" b="1" dirty="0">
              <a:solidFill>
                <a:schemeClr val="bg1"/>
              </a:solidFill>
              <a:latin typeface="+mn-ea"/>
            </a:endParaRPr>
          </a:p>
        </p:txBody>
      </p:sp>
      <p:sp>
        <p:nvSpPr>
          <p:cNvPr id="82" name="TextBox 81"/>
          <p:cNvSpPr txBox="1"/>
          <p:nvPr/>
        </p:nvSpPr>
        <p:spPr>
          <a:xfrm>
            <a:off x="1164143" y="3468598"/>
            <a:ext cx="3255457" cy="307777"/>
          </a:xfrm>
          <a:prstGeom prst="rect">
            <a:avLst/>
          </a:prstGeom>
          <a:noFill/>
        </p:spPr>
        <p:txBody>
          <a:bodyPr wrap="square" rtlCol="0">
            <a:spAutoFit/>
          </a:bodyPr>
          <a:lstStyle/>
          <a:p>
            <a:pPr algn="ctr"/>
            <a:r>
              <a:rPr lang="zh-CN" altLang="en-US" sz="1400" b="1" dirty="0">
                <a:solidFill>
                  <a:schemeClr val="bg1"/>
                </a:solidFill>
                <a:latin typeface="+mn-ea"/>
                <a:ea typeface="+mn-ea"/>
              </a:rPr>
              <a:t>数据传输链路</a:t>
            </a:r>
            <a:r>
              <a:rPr lang="en-US" altLang="zh-CN" sz="1400" b="1" dirty="0">
                <a:solidFill>
                  <a:schemeClr val="bg1"/>
                </a:solidFill>
                <a:latin typeface="+mn-ea"/>
                <a:ea typeface="+mn-ea"/>
              </a:rPr>
              <a:t>(P2P/FTP/SOCKET)</a:t>
            </a:r>
            <a:endParaRPr lang="zh-CN" altLang="en-US" sz="1400" b="1" dirty="0">
              <a:solidFill>
                <a:schemeClr val="bg1"/>
              </a:solidFill>
              <a:latin typeface="+mn-ea"/>
              <a:ea typeface="+mn-ea"/>
            </a:endParaRPr>
          </a:p>
        </p:txBody>
      </p:sp>
      <p:sp>
        <p:nvSpPr>
          <p:cNvPr id="28" name="右箭头 27"/>
          <p:cNvSpPr/>
          <p:nvPr/>
        </p:nvSpPr>
        <p:spPr>
          <a:xfrm rot="16200000">
            <a:off x="2554468" y="3074716"/>
            <a:ext cx="318148" cy="303063"/>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grpSp>
        <p:nvGrpSpPr>
          <p:cNvPr id="62" name="组合 61"/>
          <p:cNvGrpSpPr/>
          <p:nvPr/>
        </p:nvGrpSpPr>
        <p:grpSpPr>
          <a:xfrm>
            <a:off x="2845625" y="3009918"/>
            <a:ext cx="316675" cy="369332"/>
            <a:chOff x="6096000" y="2309750"/>
            <a:chExt cx="316675" cy="369332"/>
          </a:xfrm>
        </p:grpSpPr>
        <p:sp>
          <p:nvSpPr>
            <p:cNvPr id="63" name="椭圆 62"/>
            <p:cNvSpPr/>
            <p:nvPr/>
          </p:nvSpPr>
          <p:spPr>
            <a:xfrm>
              <a:off x="6096000" y="2355483"/>
              <a:ext cx="304800" cy="277149"/>
            </a:xfrm>
            <a:prstGeom prst="ellipse">
              <a:avLst/>
            </a:prstGeom>
            <a:solidFill>
              <a:srgbClr val="99FF66"/>
            </a:solid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64" name="TextBox 63"/>
            <p:cNvSpPr txBox="1"/>
            <p:nvPr/>
          </p:nvSpPr>
          <p:spPr>
            <a:xfrm>
              <a:off x="6099769" y="2309750"/>
              <a:ext cx="312906" cy="369332"/>
            </a:xfrm>
            <a:prstGeom prst="rect">
              <a:avLst/>
            </a:prstGeom>
            <a:noFill/>
          </p:spPr>
          <p:txBody>
            <a:bodyPr wrap="none" rtlCol="0">
              <a:spAutoFit/>
            </a:bodyPr>
            <a:lstStyle/>
            <a:p>
              <a:r>
                <a:rPr lang="en-US" altLang="zh-CN" dirty="0"/>
                <a:t>3</a:t>
              </a:r>
              <a:endParaRPr lang="zh-CN" altLang="en-US" dirty="0"/>
            </a:p>
          </p:txBody>
        </p:sp>
      </p:grpSp>
      <p:sp>
        <p:nvSpPr>
          <p:cNvPr id="83" name="TextBox 82"/>
          <p:cNvSpPr txBox="1"/>
          <p:nvPr/>
        </p:nvSpPr>
        <p:spPr>
          <a:xfrm>
            <a:off x="342900" y="4185097"/>
            <a:ext cx="400110" cy="451406"/>
          </a:xfrm>
          <a:prstGeom prst="rect">
            <a:avLst/>
          </a:prstGeom>
          <a:noFill/>
        </p:spPr>
        <p:txBody>
          <a:bodyPr vert="eaVert" wrap="none" rtlCol="0">
            <a:spAutoFit/>
          </a:bodyPr>
          <a:lstStyle/>
          <a:p>
            <a:r>
              <a:rPr lang="zh-CN" altLang="en-US" sz="1400" b="1" dirty="0">
                <a:latin typeface="+mn-ea"/>
                <a:ea typeface="+mn-ea"/>
              </a:rPr>
              <a:t>前置</a:t>
            </a:r>
          </a:p>
        </p:txBody>
      </p:sp>
      <p:sp>
        <p:nvSpPr>
          <p:cNvPr id="84" name="矩形 83"/>
          <p:cNvSpPr/>
          <p:nvPr/>
        </p:nvSpPr>
        <p:spPr>
          <a:xfrm>
            <a:off x="1056039" y="2464829"/>
            <a:ext cx="3452161" cy="585657"/>
          </a:xfrm>
          <a:prstGeom prst="rect">
            <a:avLst/>
          </a:prstGeom>
          <a:solidFill>
            <a:srgbClr val="FFFFFF"/>
          </a:solidFill>
          <a:ln>
            <a:solidFill>
              <a:schemeClr val="bg2">
                <a:lumMod val="20000"/>
                <a:lumOff val="80000"/>
              </a:schemeClr>
            </a:solidFill>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85" name="右箭头 84"/>
          <p:cNvSpPr/>
          <p:nvPr/>
        </p:nvSpPr>
        <p:spPr>
          <a:xfrm rot="16200000">
            <a:off x="2154287" y="1578086"/>
            <a:ext cx="320325" cy="285499"/>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87" name="圆角矩形 86"/>
          <p:cNvSpPr/>
          <p:nvPr/>
        </p:nvSpPr>
        <p:spPr>
          <a:xfrm>
            <a:off x="1193590" y="2621827"/>
            <a:ext cx="901910" cy="346364"/>
          </a:xfrm>
          <a:prstGeom prst="roundRect">
            <a:avLst/>
          </a:prstGeom>
          <a:solidFill>
            <a:srgbClr val="FFC00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任务调度</a:t>
            </a:r>
          </a:p>
        </p:txBody>
      </p:sp>
      <p:sp>
        <p:nvSpPr>
          <p:cNvPr id="88" name="圆角矩形 87"/>
          <p:cNvSpPr/>
          <p:nvPr/>
        </p:nvSpPr>
        <p:spPr>
          <a:xfrm>
            <a:off x="3385037" y="2615866"/>
            <a:ext cx="990109" cy="346364"/>
          </a:xfrm>
          <a:prstGeom prst="roundRect">
            <a:avLst/>
          </a:prstGeom>
          <a:solidFill>
            <a:srgbClr val="FFC00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任务监控</a:t>
            </a:r>
          </a:p>
        </p:txBody>
      </p:sp>
      <p:sp>
        <p:nvSpPr>
          <p:cNvPr id="89" name="圆角矩形 88"/>
          <p:cNvSpPr/>
          <p:nvPr/>
        </p:nvSpPr>
        <p:spPr>
          <a:xfrm>
            <a:off x="2298490" y="2615866"/>
            <a:ext cx="901910" cy="346364"/>
          </a:xfrm>
          <a:prstGeom prst="roundRect">
            <a:avLst/>
          </a:prstGeom>
          <a:solidFill>
            <a:srgbClr val="FFC00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数据传输</a:t>
            </a:r>
          </a:p>
        </p:txBody>
      </p:sp>
    </p:spTree>
    <p:extLst>
      <p:ext uri="{BB962C8B-B14F-4D97-AF65-F5344CB8AC3E}">
        <p14:creationId xmlns:p14="http://schemas.microsoft.com/office/powerpoint/2010/main" val="41166937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内容占位符 2"/>
          <p:cNvSpPr>
            <a:spLocks noGrp="1"/>
          </p:cNvSpPr>
          <p:nvPr>
            <p:ph idx="1"/>
          </p:nvPr>
        </p:nvSpPr>
        <p:spPr>
          <a:xfrm>
            <a:off x="3276599" y="685801"/>
            <a:ext cx="5544000" cy="3657600"/>
          </a:xfrm>
          <a:ln w="9525">
            <a:solidFill>
              <a:schemeClr val="bg1">
                <a:lumMod val="85000"/>
              </a:schemeClr>
            </a:solidFill>
            <a:prstDash val="dash"/>
          </a:ln>
        </p:spPr>
        <p:txBody>
          <a:bodyPr/>
          <a:lstStyle/>
          <a:p>
            <a:pPr marL="0" indent="0">
              <a:buNone/>
            </a:pPr>
            <a:r>
              <a:rPr lang="en-US" altLang="zh-CN" dirty="0">
                <a:latin typeface="+mn-ea"/>
              </a:rPr>
              <a:t> </a:t>
            </a:r>
            <a:endParaRPr lang="zh-CN" altLang="en-US" dirty="0">
              <a:latin typeface="+mn-ea"/>
            </a:endParaRPr>
          </a:p>
        </p:txBody>
      </p:sp>
      <p:grpSp>
        <p:nvGrpSpPr>
          <p:cNvPr id="9" name="组合 8"/>
          <p:cNvGrpSpPr/>
          <p:nvPr/>
        </p:nvGrpSpPr>
        <p:grpSpPr>
          <a:xfrm>
            <a:off x="3388658" y="1231699"/>
            <a:ext cx="5679142" cy="3035502"/>
            <a:chOff x="3617258" y="1231698"/>
            <a:chExt cx="5679142" cy="3035502"/>
          </a:xfrm>
        </p:grpSpPr>
        <p:grpSp>
          <p:nvGrpSpPr>
            <p:cNvPr id="11" name="组合 10"/>
            <p:cNvGrpSpPr/>
            <p:nvPr/>
          </p:nvGrpSpPr>
          <p:grpSpPr>
            <a:xfrm>
              <a:off x="3617258" y="1231698"/>
              <a:ext cx="5679142" cy="3035502"/>
              <a:chOff x="807267" y="1277680"/>
              <a:chExt cx="7989314" cy="3035502"/>
            </a:xfrm>
          </p:grpSpPr>
          <p:grpSp>
            <p:nvGrpSpPr>
              <p:cNvPr id="10" name="组合 9"/>
              <p:cNvGrpSpPr/>
              <p:nvPr/>
            </p:nvGrpSpPr>
            <p:grpSpPr>
              <a:xfrm>
                <a:off x="807267" y="1277680"/>
                <a:ext cx="1847075" cy="3035502"/>
                <a:chOff x="807267" y="1624081"/>
                <a:chExt cx="1847075" cy="2650437"/>
              </a:xfrm>
            </p:grpSpPr>
            <p:sp>
              <p:nvSpPr>
                <p:cNvPr id="85" name="矩形 84"/>
                <p:cNvSpPr/>
                <p:nvPr/>
              </p:nvSpPr>
              <p:spPr>
                <a:xfrm>
                  <a:off x="829836" y="1624081"/>
                  <a:ext cx="1012883" cy="521357"/>
                </a:xfrm>
                <a:prstGeom prst="rect">
                  <a:avLst/>
                </a:prstGeom>
                <a:solidFill>
                  <a:srgbClr val="FAC09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dirty="0">
                      <a:solidFill>
                        <a:schemeClr val="tx1">
                          <a:lumMod val="75000"/>
                          <a:lumOff val="25000"/>
                        </a:schemeClr>
                      </a:solidFill>
                      <a:latin typeface="+mn-ea"/>
                    </a:rPr>
                    <a:t>数据</a:t>
                  </a:r>
                  <a:endParaRPr lang="en-US" altLang="zh-CN" sz="1300" dirty="0">
                    <a:solidFill>
                      <a:schemeClr val="tx1">
                        <a:lumMod val="75000"/>
                        <a:lumOff val="25000"/>
                      </a:schemeClr>
                    </a:solidFill>
                    <a:latin typeface="+mn-ea"/>
                  </a:endParaRPr>
                </a:p>
                <a:p>
                  <a:pPr algn="ctr"/>
                  <a:r>
                    <a:rPr lang="zh-CN" altLang="en-US" sz="1300" dirty="0">
                      <a:solidFill>
                        <a:schemeClr val="tx1">
                          <a:lumMod val="75000"/>
                          <a:lumOff val="25000"/>
                        </a:schemeClr>
                      </a:solidFill>
                      <a:latin typeface="+mn-ea"/>
                    </a:rPr>
                    <a:t>标准</a:t>
                  </a:r>
                </a:p>
              </p:txBody>
            </p:sp>
            <p:sp>
              <p:nvSpPr>
                <p:cNvPr id="86" name="矩形 85"/>
                <p:cNvSpPr/>
                <p:nvPr/>
              </p:nvSpPr>
              <p:spPr>
                <a:xfrm>
                  <a:off x="809117" y="2289419"/>
                  <a:ext cx="1012883" cy="521357"/>
                </a:xfrm>
                <a:prstGeom prst="rect">
                  <a:avLst/>
                </a:prstGeom>
                <a:solidFill>
                  <a:srgbClr val="00B0F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latin typeface="+mn-ea"/>
                    </a:rPr>
                    <a:t>业务管</a:t>
                  </a:r>
                  <a:endParaRPr lang="en-US" altLang="zh-CN" sz="1300" b="1" dirty="0">
                    <a:latin typeface="+mn-ea"/>
                  </a:endParaRPr>
                </a:p>
                <a:p>
                  <a:pPr algn="ctr"/>
                  <a:r>
                    <a:rPr lang="zh-CN" altLang="en-US" sz="1300" b="1" dirty="0">
                      <a:latin typeface="+mn-ea"/>
                    </a:rPr>
                    <a:t>理需要</a:t>
                  </a:r>
                </a:p>
              </p:txBody>
            </p:sp>
            <p:sp>
              <p:nvSpPr>
                <p:cNvPr id="87" name="矩形 86"/>
                <p:cNvSpPr/>
                <p:nvPr/>
              </p:nvSpPr>
              <p:spPr>
                <a:xfrm>
                  <a:off x="807267" y="3021290"/>
                  <a:ext cx="1012883" cy="521357"/>
                </a:xfrm>
                <a:prstGeom prst="rect">
                  <a:avLst/>
                </a:prstGeom>
                <a:solidFill>
                  <a:srgbClr val="00B0F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latin typeface="+mn-ea"/>
                    </a:rPr>
                    <a:t>外部监管需要</a:t>
                  </a:r>
                </a:p>
              </p:txBody>
            </p:sp>
            <p:sp>
              <p:nvSpPr>
                <p:cNvPr id="88" name="矩形 87"/>
                <p:cNvSpPr/>
                <p:nvPr/>
              </p:nvSpPr>
              <p:spPr>
                <a:xfrm>
                  <a:off x="809118" y="3742248"/>
                  <a:ext cx="1012883" cy="521357"/>
                </a:xfrm>
                <a:prstGeom prst="rect">
                  <a:avLst/>
                </a:prstGeom>
                <a:solidFill>
                  <a:srgbClr val="00B0F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a:latin typeface="+mn-ea"/>
                    </a:rPr>
                    <a:t>系统建设要求</a:t>
                  </a:r>
                </a:p>
              </p:txBody>
            </p:sp>
            <p:sp>
              <p:nvSpPr>
                <p:cNvPr id="89" name="梯形 88"/>
                <p:cNvSpPr/>
                <p:nvPr/>
              </p:nvSpPr>
              <p:spPr>
                <a:xfrm rot="16200000" flipV="1">
                  <a:off x="1040881" y="2661058"/>
                  <a:ext cx="2608961" cy="617960"/>
                </a:xfrm>
                <a:prstGeom prst="trapezoid">
                  <a:avLst>
                    <a:gd name="adj" fmla="val 9301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mn-ea"/>
                    </a:rPr>
                    <a:t>数据质量度量规则输入</a:t>
                  </a:r>
                </a:p>
              </p:txBody>
            </p:sp>
          </p:grpSp>
          <p:grpSp>
            <p:nvGrpSpPr>
              <p:cNvPr id="90" name="组合 89"/>
              <p:cNvGrpSpPr/>
              <p:nvPr/>
            </p:nvGrpSpPr>
            <p:grpSpPr>
              <a:xfrm>
                <a:off x="2793561" y="1798582"/>
                <a:ext cx="1977470" cy="2057399"/>
                <a:chOff x="2828052" y="2244180"/>
                <a:chExt cx="3096344" cy="2984241"/>
              </a:xfrm>
            </p:grpSpPr>
            <p:sp>
              <p:nvSpPr>
                <p:cNvPr id="98" name="矩形 97"/>
                <p:cNvSpPr/>
                <p:nvPr/>
              </p:nvSpPr>
              <p:spPr>
                <a:xfrm>
                  <a:off x="2828052" y="2244180"/>
                  <a:ext cx="3096344" cy="64135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mn-ea"/>
                    </a:rPr>
                    <a:t>数据质量度量规则</a:t>
                  </a:r>
                </a:p>
              </p:txBody>
            </p:sp>
            <p:sp>
              <p:nvSpPr>
                <p:cNvPr id="99" name="TextBox 98"/>
                <p:cNvSpPr txBox="1"/>
                <p:nvPr/>
              </p:nvSpPr>
              <p:spPr>
                <a:xfrm>
                  <a:off x="2828052" y="2951642"/>
                  <a:ext cx="3096344" cy="2276779"/>
                </a:xfrm>
                <a:prstGeom prst="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pPr>
                    <a:spcBef>
                      <a:spcPct val="20000"/>
                    </a:spcBef>
                    <a:buSzPct val="75000"/>
                    <a:defRPr/>
                  </a:pPr>
                  <a:r>
                    <a:rPr lang="zh-CN" altLang="en-US" sz="1200" b="1" dirty="0">
                      <a:solidFill>
                        <a:schemeClr val="tx1">
                          <a:lumMod val="75000"/>
                          <a:lumOff val="25000"/>
                        </a:schemeClr>
                      </a:solidFill>
                      <a:latin typeface="+mn-ea"/>
                      <a:ea typeface="+mn-ea"/>
                    </a:rPr>
                    <a:t>数据质量度量规则的五个重要属性：</a:t>
                  </a:r>
                  <a:endParaRPr lang="en-US" altLang="zh-CN" sz="1200" b="1" dirty="0">
                    <a:solidFill>
                      <a:schemeClr val="tx1">
                        <a:lumMod val="75000"/>
                        <a:lumOff val="25000"/>
                      </a:schemeClr>
                    </a:solidFill>
                    <a:latin typeface="+mn-ea"/>
                    <a:ea typeface="+mn-ea"/>
                  </a:endParaRPr>
                </a:p>
                <a:p>
                  <a:pPr>
                    <a:spcBef>
                      <a:spcPct val="20000"/>
                    </a:spcBef>
                    <a:buSzPct val="75000"/>
                    <a:defRPr/>
                  </a:pPr>
                  <a:r>
                    <a:rPr lang="en-US" altLang="zh-CN" sz="1200" dirty="0">
                      <a:solidFill>
                        <a:schemeClr val="tx1">
                          <a:lumMod val="50000"/>
                          <a:lumOff val="50000"/>
                        </a:schemeClr>
                      </a:solidFill>
                      <a:latin typeface="+mn-ea"/>
                      <a:ea typeface="+mn-ea"/>
                    </a:rPr>
                    <a:t>— </a:t>
                  </a:r>
                  <a:r>
                    <a:rPr lang="zh-CN" altLang="en-US" sz="1200" dirty="0">
                      <a:solidFill>
                        <a:schemeClr val="tx1">
                          <a:lumMod val="50000"/>
                          <a:lumOff val="50000"/>
                        </a:schemeClr>
                      </a:solidFill>
                      <a:latin typeface="+mn-ea"/>
                      <a:ea typeface="+mn-ea"/>
                    </a:rPr>
                    <a:t>完整性</a:t>
                  </a:r>
                  <a:endParaRPr lang="en-US" altLang="zh-CN" sz="1200" dirty="0">
                    <a:solidFill>
                      <a:schemeClr val="tx1">
                        <a:lumMod val="50000"/>
                        <a:lumOff val="50000"/>
                      </a:schemeClr>
                    </a:solidFill>
                    <a:latin typeface="+mn-ea"/>
                    <a:ea typeface="+mn-ea"/>
                  </a:endParaRPr>
                </a:p>
                <a:p>
                  <a:pPr>
                    <a:spcBef>
                      <a:spcPct val="20000"/>
                    </a:spcBef>
                    <a:buSzPct val="75000"/>
                    <a:defRPr/>
                  </a:pPr>
                  <a:r>
                    <a:rPr lang="en-US" altLang="zh-CN" sz="1200" dirty="0">
                      <a:solidFill>
                        <a:schemeClr val="tx1">
                          <a:lumMod val="50000"/>
                          <a:lumOff val="50000"/>
                        </a:schemeClr>
                      </a:solidFill>
                      <a:latin typeface="+mn-ea"/>
                      <a:ea typeface="+mn-ea"/>
                    </a:rPr>
                    <a:t>— </a:t>
                  </a:r>
                  <a:r>
                    <a:rPr lang="zh-CN" altLang="en-US" sz="1200" dirty="0">
                      <a:solidFill>
                        <a:schemeClr val="tx1">
                          <a:lumMod val="50000"/>
                          <a:lumOff val="50000"/>
                        </a:schemeClr>
                      </a:solidFill>
                      <a:latin typeface="+mn-ea"/>
                      <a:ea typeface="+mn-ea"/>
                    </a:rPr>
                    <a:t>准确性</a:t>
                  </a:r>
                  <a:endParaRPr lang="en-US" altLang="zh-CN" sz="1200" dirty="0">
                    <a:solidFill>
                      <a:schemeClr val="tx1">
                        <a:lumMod val="50000"/>
                        <a:lumOff val="50000"/>
                      </a:schemeClr>
                    </a:solidFill>
                    <a:latin typeface="+mn-ea"/>
                    <a:ea typeface="+mn-ea"/>
                  </a:endParaRPr>
                </a:p>
                <a:p>
                  <a:pPr>
                    <a:spcBef>
                      <a:spcPct val="20000"/>
                    </a:spcBef>
                    <a:buSzPct val="75000"/>
                    <a:defRPr/>
                  </a:pPr>
                  <a:r>
                    <a:rPr lang="en-US" altLang="zh-CN" sz="1200" dirty="0">
                      <a:solidFill>
                        <a:schemeClr val="tx1">
                          <a:lumMod val="50000"/>
                          <a:lumOff val="50000"/>
                        </a:schemeClr>
                      </a:solidFill>
                      <a:latin typeface="+mn-ea"/>
                      <a:ea typeface="+mn-ea"/>
                    </a:rPr>
                    <a:t>— </a:t>
                  </a:r>
                  <a:r>
                    <a:rPr lang="zh-CN" altLang="en-US" sz="1200" dirty="0">
                      <a:solidFill>
                        <a:schemeClr val="tx1">
                          <a:lumMod val="50000"/>
                          <a:lumOff val="50000"/>
                        </a:schemeClr>
                      </a:solidFill>
                      <a:latin typeface="+mn-ea"/>
                      <a:ea typeface="+mn-ea"/>
                    </a:rPr>
                    <a:t>一致性</a:t>
                  </a:r>
                  <a:endParaRPr lang="en-US" altLang="zh-CN" sz="1200" dirty="0">
                    <a:solidFill>
                      <a:schemeClr val="tx1">
                        <a:lumMod val="50000"/>
                        <a:lumOff val="50000"/>
                      </a:schemeClr>
                    </a:solidFill>
                    <a:latin typeface="+mn-ea"/>
                    <a:ea typeface="+mn-ea"/>
                  </a:endParaRPr>
                </a:p>
                <a:p>
                  <a:pPr>
                    <a:spcBef>
                      <a:spcPct val="20000"/>
                    </a:spcBef>
                    <a:buSzPct val="75000"/>
                    <a:defRPr/>
                  </a:pPr>
                  <a:r>
                    <a:rPr lang="en-US" altLang="zh-CN" sz="1200" dirty="0">
                      <a:solidFill>
                        <a:schemeClr val="tx1">
                          <a:lumMod val="50000"/>
                          <a:lumOff val="50000"/>
                        </a:schemeClr>
                      </a:solidFill>
                      <a:latin typeface="+mn-ea"/>
                      <a:ea typeface="+mn-ea"/>
                    </a:rPr>
                    <a:t>— </a:t>
                  </a:r>
                  <a:r>
                    <a:rPr lang="zh-CN" altLang="en-US" sz="1200" dirty="0">
                      <a:solidFill>
                        <a:schemeClr val="tx1">
                          <a:lumMod val="50000"/>
                          <a:lumOff val="50000"/>
                        </a:schemeClr>
                      </a:solidFill>
                      <a:latin typeface="+mn-ea"/>
                      <a:ea typeface="+mn-ea"/>
                    </a:rPr>
                    <a:t>时效性</a:t>
                  </a:r>
                  <a:endParaRPr lang="en-US" altLang="zh-CN" sz="1200" dirty="0">
                    <a:solidFill>
                      <a:schemeClr val="tx1">
                        <a:lumMod val="50000"/>
                        <a:lumOff val="50000"/>
                      </a:schemeClr>
                    </a:solidFill>
                    <a:latin typeface="+mn-ea"/>
                    <a:ea typeface="+mn-ea"/>
                  </a:endParaRPr>
                </a:p>
                <a:p>
                  <a:pPr>
                    <a:spcBef>
                      <a:spcPct val="20000"/>
                    </a:spcBef>
                    <a:buSzPct val="75000"/>
                    <a:defRPr/>
                  </a:pPr>
                  <a:r>
                    <a:rPr lang="en-US" altLang="zh-CN" sz="1200" dirty="0">
                      <a:solidFill>
                        <a:schemeClr val="tx1">
                          <a:lumMod val="50000"/>
                          <a:lumOff val="50000"/>
                        </a:schemeClr>
                      </a:solidFill>
                      <a:latin typeface="+mn-ea"/>
                      <a:ea typeface="+mn-ea"/>
                    </a:rPr>
                    <a:t>— </a:t>
                  </a:r>
                  <a:r>
                    <a:rPr lang="zh-CN" altLang="en-US" sz="1200" dirty="0">
                      <a:solidFill>
                        <a:schemeClr val="tx1">
                          <a:lumMod val="50000"/>
                          <a:lumOff val="50000"/>
                        </a:schemeClr>
                      </a:solidFill>
                      <a:latin typeface="+mn-ea"/>
                      <a:ea typeface="+mn-ea"/>
                    </a:rPr>
                    <a:t>适当性</a:t>
                  </a:r>
                  <a:endParaRPr lang="en-US" altLang="zh-CN" sz="1200" b="1" dirty="0">
                    <a:solidFill>
                      <a:schemeClr val="tx1">
                        <a:lumMod val="50000"/>
                        <a:lumOff val="50000"/>
                      </a:schemeClr>
                    </a:solidFill>
                    <a:latin typeface="+mn-ea"/>
                    <a:ea typeface="+mn-ea"/>
                  </a:endParaRPr>
                </a:p>
              </p:txBody>
            </p:sp>
          </p:grpSp>
          <p:sp>
            <p:nvSpPr>
              <p:cNvPr id="91" name="梯形 90"/>
              <p:cNvSpPr/>
              <p:nvPr/>
            </p:nvSpPr>
            <p:spPr>
              <a:xfrm rot="16200000" flipV="1">
                <a:off x="4101212" y="2538810"/>
                <a:ext cx="2229657" cy="557086"/>
              </a:xfrm>
              <a:prstGeom prst="trapezoid">
                <a:avLst>
                  <a:gd name="adj" fmla="val 9301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mn-ea"/>
                </a:endParaRPr>
              </a:p>
            </p:txBody>
          </p:sp>
          <p:grpSp>
            <p:nvGrpSpPr>
              <p:cNvPr id="3" name="组合 2"/>
              <p:cNvGrpSpPr/>
              <p:nvPr/>
            </p:nvGrpSpPr>
            <p:grpSpPr>
              <a:xfrm>
                <a:off x="5455829" y="1625757"/>
                <a:ext cx="3340752" cy="1885956"/>
                <a:chOff x="5532029" y="1239665"/>
                <a:chExt cx="3340752" cy="2152396"/>
              </a:xfrm>
            </p:grpSpPr>
            <p:sp>
              <p:nvSpPr>
                <p:cNvPr id="93" name="TextBox 92"/>
                <p:cNvSpPr txBox="1"/>
                <p:nvPr/>
              </p:nvSpPr>
              <p:spPr>
                <a:xfrm>
                  <a:off x="5703302" y="2654419"/>
                  <a:ext cx="2633495" cy="737642"/>
                </a:xfrm>
                <a:prstGeom prst="rect">
                  <a:avLst/>
                </a:prstGeom>
                <a:solidFill>
                  <a:schemeClr val="bg1">
                    <a:lumMod val="95000"/>
                  </a:schemeClr>
                </a:solidFill>
                <a:effectLst>
                  <a:outerShdw blurRad="50800" dist="38100" dir="2700000" algn="tl" rotWithShape="0">
                    <a:prstClr val="black">
                      <a:alpha val="40000"/>
                    </a:prstClr>
                  </a:outerShdw>
                </a:effectLst>
              </p:spPr>
              <p:txBody>
                <a:bodyPr wrap="square">
                  <a:spAutoFit/>
                </a:bodyPr>
                <a:lstStyle/>
                <a:p>
                  <a:pPr>
                    <a:lnSpc>
                      <a:spcPct val="150000"/>
                    </a:lnSpc>
                    <a:spcBef>
                      <a:spcPct val="20000"/>
                    </a:spcBef>
                    <a:buSzPct val="75000"/>
                    <a:defRPr/>
                  </a:pPr>
                  <a:r>
                    <a:rPr lang="zh-CN" altLang="en-US" sz="1200" dirty="0">
                      <a:solidFill>
                        <a:schemeClr val="tx1">
                          <a:lumMod val="50000"/>
                          <a:lumOff val="50000"/>
                        </a:schemeClr>
                      </a:solidFill>
                      <a:latin typeface="+mn-ea"/>
                      <a:ea typeface="+mn-ea"/>
                    </a:rPr>
                    <a:t>基于数据质量度量规则开展数据质量检查工作</a:t>
                  </a:r>
                  <a:endParaRPr lang="en-US" altLang="zh-CN" sz="1200" dirty="0">
                    <a:latin typeface="+mn-ea"/>
                    <a:ea typeface="+mn-ea"/>
                  </a:endParaRPr>
                </a:p>
              </p:txBody>
            </p:sp>
            <p:sp>
              <p:nvSpPr>
                <p:cNvPr id="94" name="文本框 5"/>
                <p:cNvSpPr txBox="1">
                  <a:spLocks noChangeArrowheads="1"/>
                </p:cNvSpPr>
                <p:nvPr/>
              </p:nvSpPr>
              <p:spPr bwMode="auto">
                <a:xfrm>
                  <a:off x="7047330" y="2251321"/>
                  <a:ext cx="1825451" cy="316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zh-CN" altLang="en-US" sz="1200" b="1" dirty="0">
                      <a:solidFill>
                        <a:schemeClr val="tx1">
                          <a:lumMod val="85000"/>
                          <a:lumOff val="15000"/>
                          <a:alpha val="60000"/>
                        </a:schemeClr>
                      </a:solidFill>
                      <a:latin typeface="+mn-ea"/>
                      <a:ea typeface="+mn-ea"/>
                      <a:sym typeface="Franklin Gothic Book" pitchFamily="34" charset="0"/>
                    </a:rPr>
                    <a:t>质量检核工具</a:t>
                  </a:r>
                  <a:endParaRPr lang="en-US" altLang="zh-CN" sz="1200" b="1" dirty="0">
                    <a:solidFill>
                      <a:schemeClr val="tx1">
                        <a:lumMod val="85000"/>
                        <a:lumOff val="15000"/>
                        <a:alpha val="60000"/>
                      </a:schemeClr>
                    </a:solidFill>
                    <a:latin typeface="+mn-ea"/>
                    <a:ea typeface="+mn-ea"/>
                    <a:sym typeface="Franklin Gothic Book" pitchFamily="34" charset="0"/>
                  </a:endParaRPr>
                </a:p>
              </p:txBody>
            </p:sp>
            <p:grpSp>
              <p:nvGrpSpPr>
                <p:cNvPr id="95" name="组合 10"/>
                <p:cNvGrpSpPr>
                  <a:grpSpLocks/>
                </p:cNvGrpSpPr>
                <p:nvPr/>
              </p:nvGrpSpPr>
              <p:grpSpPr bwMode="auto">
                <a:xfrm>
                  <a:off x="5532029" y="1239665"/>
                  <a:ext cx="1732800" cy="1327789"/>
                  <a:chOff x="3591305" y="2850363"/>
                  <a:chExt cx="2131020" cy="1697015"/>
                </a:xfrm>
              </p:grpSpPr>
              <p:graphicFrame>
                <p:nvGraphicFramePr>
                  <p:cNvPr id="96" name="图示 95"/>
                  <p:cNvGraphicFramePr/>
                  <p:nvPr>
                    <p:extLst>
                      <p:ext uri="{D42A27DB-BD31-4B8C-83A1-F6EECF244321}">
                        <p14:modId xmlns:p14="http://schemas.microsoft.com/office/powerpoint/2010/main" val="2572220956"/>
                      </p:ext>
                    </p:extLst>
                  </p:nvPr>
                </p:nvGraphicFramePr>
                <p:xfrm>
                  <a:off x="3591305" y="2850363"/>
                  <a:ext cx="1999186" cy="13635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7" name="文本框 5"/>
                  <p:cNvSpPr txBox="1">
                    <a:spLocks noChangeArrowheads="1"/>
                  </p:cNvSpPr>
                  <p:nvPr/>
                </p:nvSpPr>
                <p:spPr bwMode="auto">
                  <a:xfrm>
                    <a:off x="3641308" y="4143337"/>
                    <a:ext cx="2081017" cy="404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marL="742950" indent="-285750">
                      <a:defRPr>
                        <a:solidFill>
                          <a:schemeClr val="tx1"/>
                        </a:solidFill>
                        <a:latin typeface="Arial" pitchFamily="34" charset="0"/>
                        <a:ea typeface="宋体" pitchFamily="2" charset="-122"/>
                      </a:defRPr>
                    </a:lvl2pPr>
                    <a:lvl3pPr marL="1143000" indent="-228600">
                      <a:defRPr>
                        <a:solidFill>
                          <a:schemeClr val="tx1"/>
                        </a:solidFill>
                        <a:latin typeface="Arial" pitchFamily="34" charset="0"/>
                        <a:ea typeface="宋体" pitchFamily="2" charset="-122"/>
                      </a:defRPr>
                    </a:lvl3pPr>
                    <a:lvl4pPr marL="1600200" indent="-228600">
                      <a:defRPr>
                        <a:solidFill>
                          <a:schemeClr val="tx1"/>
                        </a:solidFill>
                        <a:latin typeface="Arial" pitchFamily="34" charset="0"/>
                        <a:ea typeface="宋体" pitchFamily="2" charset="-122"/>
                      </a:defRPr>
                    </a:lvl4pPr>
                    <a:lvl5pPr marL="2057400" indent="-22860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a:defRPr/>
                    </a:pPr>
                    <a:r>
                      <a:rPr lang="zh-CN" altLang="en-US" sz="1100" b="1" dirty="0">
                        <a:solidFill>
                          <a:schemeClr val="tx1">
                            <a:lumMod val="85000"/>
                            <a:lumOff val="15000"/>
                            <a:alpha val="60000"/>
                          </a:schemeClr>
                        </a:solidFill>
                        <a:latin typeface="+mn-ea"/>
                        <a:ea typeface="+mn-ea"/>
                        <a:sym typeface="Franklin Gothic Book" pitchFamily="34" charset="0"/>
                      </a:rPr>
                      <a:t>质量检核引</a:t>
                    </a:r>
                    <a:r>
                      <a:rPr lang="zh-CN" altLang="en-US" sz="1200" b="1" dirty="0">
                        <a:solidFill>
                          <a:schemeClr val="tx1">
                            <a:lumMod val="85000"/>
                            <a:lumOff val="15000"/>
                            <a:alpha val="60000"/>
                          </a:schemeClr>
                        </a:solidFill>
                        <a:latin typeface="+mn-ea"/>
                        <a:ea typeface="+mn-ea"/>
                        <a:sym typeface="Franklin Gothic Book" pitchFamily="34" charset="0"/>
                      </a:rPr>
                      <a:t>擎</a:t>
                    </a:r>
                    <a:endParaRPr lang="en-US" altLang="zh-CN" sz="1200" b="1" dirty="0">
                      <a:solidFill>
                        <a:schemeClr val="tx1">
                          <a:lumMod val="85000"/>
                          <a:lumOff val="15000"/>
                          <a:alpha val="60000"/>
                        </a:schemeClr>
                      </a:solidFill>
                      <a:latin typeface="+mn-ea"/>
                      <a:ea typeface="+mn-ea"/>
                      <a:sym typeface="Franklin Gothic Book" pitchFamily="34" charset="0"/>
                    </a:endParaRPr>
                  </a:p>
                </p:txBody>
              </p:sp>
            </p:grpSp>
          </p:grpSp>
        </p:grpSp>
        <p:grpSp>
          <p:nvGrpSpPr>
            <p:cNvPr id="22" name="Group 28"/>
            <p:cNvGrpSpPr>
              <a:grpSpLocks/>
            </p:cNvGrpSpPr>
            <p:nvPr/>
          </p:nvGrpSpPr>
          <p:grpSpPr bwMode="auto">
            <a:xfrm>
              <a:off x="8317779" y="1828805"/>
              <a:ext cx="445338" cy="591632"/>
              <a:chOff x="2076" y="1143"/>
              <a:chExt cx="290" cy="421"/>
            </a:xfrm>
          </p:grpSpPr>
          <p:sp>
            <p:nvSpPr>
              <p:cNvPr id="23" name="tower"/>
              <p:cNvSpPr>
                <a:spLocks noEditPoints="1" noChangeArrowheads="1"/>
              </p:cNvSpPr>
              <p:nvPr/>
            </p:nvSpPr>
            <p:spPr bwMode="auto">
              <a:xfrm>
                <a:off x="2076" y="1143"/>
                <a:ext cx="290" cy="421"/>
              </a:xfrm>
              <a:custGeom>
                <a:avLst/>
                <a:gdLst>
                  <a:gd name="T0" fmla="*/ 0 w 21600"/>
                  <a:gd name="T1" fmla="*/ 2 h 21600"/>
                  <a:gd name="T2" fmla="*/ 1 w 21600"/>
                  <a:gd name="T3" fmla="*/ 0 h 21600"/>
                  <a:gd name="T4" fmla="*/ 2 w 21600"/>
                  <a:gd name="T5" fmla="*/ 0 h 21600"/>
                  <a:gd name="T6" fmla="*/ 4 w 21600"/>
                  <a:gd name="T7" fmla="*/ 0 h 21600"/>
                  <a:gd name="T8" fmla="*/ 4 w 21600"/>
                  <a:gd name="T9" fmla="*/ 8 h 21600"/>
                  <a:gd name="T10" fmla="*/ 4 w 21600"/>
                  <a:gd name="T11" fmla="*/ 14 h 21600"/>
                  <a:gd name="T12" fmla="*/ 3 w 21600"/>
                  <a:gd name="T13" fmla="*/ 15 h 21600"/>
                  <a:gd name="T14" fmla="*/ 2 w 21600"/>
                  <a:gd name="T15" fmla="*/ 15 h 21600"/>
                  <a:gd name="T16" fmla="*/ 0 w 21600"/>
                  <a:gd name="T17" fmla="*/ 15 h 21600"/>
                  <a:gd name="T18" fmla="*/ 0 w 21600"/>
                  <a:gd name="T19" fmla="*/ 8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47 w 21600"/>
                  <a:gd name="T31" fmla="*/ 22534 h 21600"/>
                  <a:gd name="T32" fmla="*/ 21451 w 21600"/>
                  <a:gd name="T33" fmla="*/ 26981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chemeClr val="accent1"/>
              </a:solidFill>
              <a:ln w="9525">
                <a:solidFill>
                  <a:schemeClr val="tx2"/>
                </a:solidFill>
                <a:miter lim="800000"/>
                <a:headEnd/>
                <a:tailEnd/>
              </a:ln>
            </p:spPr>
            <p:txBody>
              <a:bodyPr/>
              <a:lstStyle/>
              <a:p>
                <a:endParaRPr lang="zh-CN" altLang="en-US" sz="1600" baseline="0">
                  <a:latin typeface="+mn-ea"/>
                  <a:ea typeface="+mn-ea"/>
                </a:endParaRPr>
              </a:p>
            </p:txBody>
          </p:sp>
          <p:sp>
            <p:nvSpPr>
              <p:cNvPr id="24" name="AutoShape 30"/>
              <p:cNvSpPr>
                <a:spLocks noChangeArrowheads="1"/>
              </p:cNvSpPr>
              <p:nvPr/>
            </p:nvSpPr>
            <p:spPr bwMode="auto">
              <a:xfrm>
                <a:off x="2104" y="1310"/>
                <a:ext cx="144" cy="165"/>
              </a:xfrm>
              <a:prstGeom prst="can">
                <a:avLst>
                  <a:gd name="adj" fmla="val 25000"/>
                </a:avLst>
              </a:prstGeom>
              <a:gradFill>
                <a:gsLst>
                  <a:gs pos="0">
                    <a:schemeClr val="accent1">
                      <a:lumMod val="75000"/>
                    </a:schemeClr>
                  </a:gs>
                  <a:gs pos="100000">
                    <a:schemeClr val="accent1">
                      <a:shade val="67500"/>
                      <a:satMod val="115000"/>
                    </a:schemeClr>
                  </a:gs>
                  <a:gs pos="100000">
                    <a:schemeClr val="accent1">
                      <a:shade val="100000"/>
                      <a:satMod val="115000"/>
                    </a:schemeClr>
                  </a:gs>
                </a:gsLst>
                <a:lin ang="5400000" scaled="0"/>
              </a:gradFill>
              <a:ln w="9525">
                <a:solidFill>
                  <a:schemeClr val="bg1"/>
                </a:solidFill>
                <a:round/>
                <a:headEnd/>
                <a:tailEnd/>
              </a:ln>
            </p:spPr>
            <p:txBody>
              <a:bodyPr wrap="none" anchor="ctr"/>
              <a:lstStyle/>
              <a:p>
                <a:pPr marL="342900" indent="-342900" algn="ctr">
                  <a:buClr>
                    <a:schemeClr val="bg2"/>
                  </a:buClr>
                  <a:buSzPct val="75000"/>
                  <a:buFont typeface="Wingdings" pitchFamily="2" charset="2"/>
                  <a:buNone/>
                </a:pPr>
                <a:endParaRPr lang="zh-CN" altLang="en-US" sz="1400" b="1" baseline="0">
                  <a:latin typeface="+mn-ea"/>
                  <a:ea typeface="+mn-ea"/>
                </a:endParaRPr>
              </a:p>
            </p:txBody>
          </p:sp>
        </p:grpSp>
      </p:grpSp>
      <p:grpSp>
        <p:nvGrpSpPr>
          <p:cNvPr id="7" name="组合 6"/>
          <p:cNvGrpSpPr/>
          <p:nvPr/>
        </p:nvGrpSpPr>
        <p:grpSpPr>
          <a:xfrm>
            <a:off x="442700" y="4419602"/>
            <a:ext cx="8372076" cy="2107523"/>
            <a:chOff x="603448" y="4218321"/>
            <a:chExt cx="8159552" cy="2404777"/>
          </a:xfrm>
          <a:effectLst>
            <a:outerShdw blurRad="50800" dist="38100" dir="2700000" algn="ctr" rotWithShape="0">
              <a:srgbClr val="000000">
                <a:alpha val="40000"/>
              </a:srgbClr>
            </a:outerShdw>
            <a:reflection stA="40000" endPos="20000" dir="5400000" sy="-100000" algn="bl" rotWithShape="0"/>
          </a:effectLst>
        </p:grpSpPr>
        <p:sp>
          <p:nvSpPr>
            <p:cNvPr id="101" name="AutoShape 20"/>
            <p:cNvSpPr>
              <a:spLocks noChangeArrowheads="1"/>
            </p:cNvSpPr>
            <p:nvPr/>
          </p:nvSpPr>
          <p:spPr bwMode="auto">
            <a:xfrm rot="10800000">
              <a:off x="603448" y="4218321"/>
              <a:ext cx="8159552" cy="2106278"/>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outerShdw dist="35921" dir="2700000" algn="ctr" rotWithShape="0">
                <a:schemeClr val="bg2"/>
              </a:outerShdw>
            </a:effectLst>
          </p:spPr>
          <p:txBody>
            <a:bodyPr rot="10800000" wrap="none" anchor="ctr"/>
            <a:lstStyle/>
            <a:p>
              <a:pPr algn="ctr">
                <a:lnSpc>
                  <a:spcPct val="120000"/>
                </a:lnSpc>
              </a:pPr>
              <a:endParaRPr lang="zh-CN" altLang="en-US" sz="1200" dirty="0">
                <a:latin typeface="+mn-ea"/>
                <a:ea typeface="+mn-ea"/>
              </a:endParaRPr>
            </a:p>
          </p:txBody>
        </p:sp>
        <p:sp>
          <p:nvSpPr>
            <p:cNvPr id="2" name="矩形 1"/>
            <p:cNvSpPr/>
            <p:nvPr/>
          </p:nvSpPr>
          <p:spPr>
            <a:xfrm>
              <a:off x="691846" y="4392215"/>
              <a:ext cx="3423402" cy="1703255"/>
            </a:xfrm>
            <a:prstGeom prst="rect">
              <a:avLst/>
            </a:prstGeom>
          </p:spPr>
          <p:txBody>
            <a:bodyPr wrap="square">
              <a:spAutoFit/>
            </a:bodyPr>
            <a:lstStyle/>
            <a:p>
              <a:r>
                <a:rPr lang="zh-CN" altLang="zh-CN" sz="1300" b="1" dirty="0">
                  <a:solidFill>
                    <a:srgbClr val="002060"/>
                  </a:solidFill>
                  <a:latin typeface="+mn-ea"/>
                  <a:ea typeface="+mn-ea"/>
                </a:rPr>
                <a:t>数据质量管理是</a:t>
              </a:r>
              <a:r>
                <a:rPr lang="zh-CN" altLang="en-US" sz="1300" b="1" dirty="0">
                  <a:solidFill>
                    <a:srgbClr val="002060"/>
                  </a:solidFill>
                  <a:latin typeface="+mn-ea"/>
                  <a:ea typeface="+mn-ea"/>
                </a:rPr>
                <a:t>整个信息资源交换平台关于</a:t>
              </a:r>
              <a:r>
                <a:rPr lang="zh-CN" altLang="zh-CN" sz="1300" b="1" dirty="0">
                  <a:solidFill>
                    <a:srgbClr val="002060"/>
                  </a:solidFill>
                  <a:latin typeface="+mn-ea"/>
                  <a:ea typeface="+mn-ea"/>
                </a:rPr>
                <a:t>质量评估、主动保证、清理提升、监控优化的重要载体。该模块旨在建立完善的评估体系、持续的质量监控优化与分析、以及清理提升和主动保证流程体系，把数据质量管控流程融入到系统功能中，实现对问题的监控、跟踪，为数据质量提供技术和业务的交互平台。</a:t>
              </a:r>
              <a:endParaRPr lang="en-US" altLang="zh-CN" sz="1300" b="1" dirty="0">
                <a:solidFill>
                  <a:srgbClr val="002060"/>
                </a:solidFill>
                <a:latin typeface="+mn-ea"/>
                <a:ea typeface="+mn-ea"/>
              </a:endParaRPr>
            </a:p>
          </p:txBody>
        </p:sp>
        <p:sp>
          <p:nvSpPr>
            <p:cNvPr id="4" name="矩形 3"/>
            <p:cNvSpPr/>
            <p:nvPr/>
          </p:nvSpPr>
          <p:spPr>
            <a:xfrm>
              <a:off x="4393149" y="4305267"/>
              <a:ext cx="3428201" cy="2317831"/>
            </a:xfrm>
            <a:prstGeom prst="rect">
              <a:avLst/>
            </a:prstGeom>
          </p:spPr>
          <p:txBody>
            <a:bodyPr wrap="square">
              <a:spAutoFit/>
            </a:bodyPr>
            <a:lstStyle/>
            <a:p>
              <a:pPr marL="171450" indent="-171450">
                <a:lnSpc>
                  <a:spcPct val="150000"/>
                </a:lnSpc>
                <a:buFont typeface="Wingdings" pitchFamily="2" charset="2"/>
                <a:buChar char="p"/>
              </a:pPr>
              <a:r>
                <a:rPr lang="zh-CN" altLang="en-US" sz="1200" b="1" dirty="0">
                  <a:solidFill>
                    <a:srgbClr val="C00000"/>
                  </a:solidFill>
                  <a:latin typeface="+mn-ea"/>
                  <a:ea typeface="+mn-ea"/>
                </a:rPr>
                <a:t>提高运营效率：</a:t>
              </a:r>
              <a:r>
                <a:rPr lang="zh-CN" altLang="en-US" sz="1200" dirty="0">
                  <a:solidFill>
                    <a:schemeClr val="tx1">
                      <a:lumMod val="75000"/>
                      <a:lumOff val="25000"/>
                    </a:schemeClr>
                  </a:solidFill>
                  <a:latin typeface="+mn-ea"/>
                  <a:ea typeface="+mn-ea"/>
                </a:rPr>
                <a:t>使业务部门能够参与数据质量流程，快速的解决业务问题。</a:t>
              </a:r>
            </a:p>
            <a:p>
              <a:pPr marL="171450" indent="-171450">
                <a:lnSpc>
                  <a:spcPct val="150000"/>
                </a:lnSpc>
                <a:buFont typeface="Wingdings" pitchFamily="2" charset="2"/>
                <a:buChar char="Ø"/>
              </a:pPr>
              <a:r>
                <a:rPr lang="zh-CN" altLang="en-US" sz="1200" b="1" dirty="0">
                  <a:solidFill>
                    <a:srgbClr val="C00000"/>
                  </a:solidFill>
                  <a:latin typeface="+mn-ea"/>
                  <a:ea typeface="+mn-ea"/>
                </a:rPr>
                <a:t>提高</a:t>
              </a:r>
              <a:r>
                <a:rPr lang="en-US" altLang="zh-CN" sz="1200" b="1" dirty="0">
                  <a:solidFill>
                    <a:srgbClr val="C00000"/>
                  </a:solidFill>
                  <a:latin typeface="+mn-ea"/>
                  <a:ea typeface="+mn-ea"/>
                </a:rPr>
                <a:t>IT</a:t>
              </a:r>
              <a:r>
                <a:rPr lang="zh-CN" altLang="en-US" sz="1200" b="1" dirty="0">
                  <a:solidFill>
                    <a:srgbClr val="C00000"/>
                  </a:solidFill>
                  <a:latin typeface="+mn-ea"/>
                  <a:ea typeface="+mn-ea"/>
                </a:rPr>
                <a:t>部门工作效率：</a:t>
              </a:r>
              <a:r>
                <a:rPr lang="zh-CN" altLang="en-US" sz="1200" dirty="0">
                  <a:solidFill>
                    <a:schemeClr val="tx1">
                      <a:lumMod val="75000"/>
                      <a:lumOff val="25000"/>
                    </a:schemeClr>
                  </a:solidFill>
                  <a:latin typeface="+mn-ea"/>
                  <a:ea typeface="+mn-ea"/>
                </a:rPr>
                <a:t>加速</a:t>
              </a:r>
              <a:r>
                <a:rPr lang="en-US" altLang="zh-CN" sz="1200" dirty="0">
                  <a:solidFill>
                    <a:schemeClr val="tx1">
                      <a:lumMod val="75000"/>
                      <a:lumOff val="25000"/>
                    </a:schemeClr>
                  </a:solidFill>
                  <a:latin typeface="+mn-ea"/>
                  <a:ea typeface="+mn-ea"/>
                </a:rPr>
                <a:t>IT</a:t>
              </a:r>
              <a:r>
                <a:rPr lang="zh-CN" altLang="en-US" sz="1200" dirty="0">
                  <a:solidFill>
                    <a:schemeClr val="tx1">
                      <a:lumMod val="75000"/>
                      <a:lumOff val="25000"/>
                    </a:schemeClr>
                  </a:solidFill>
                  <a:latin typeface="+mn-ea"/>
                  <a:ea typeface="+mn-ea"/>
                </a:rPr>
                <a:t>和业务部门之间的规范与复查问题的周期。</a:t>
              </a:r>
            </a:p>
            <a:p>
              <a:pPr marL="171450" indent="-171450">
                <a:lnSpc>
                  <a:spcPct val="150000"/>
                </a:lnSpc>
                <a:buFont typeface="Wingdings" pitchFamily="2" charset="2"/>
                <a:buChar char="Ø"/>
              </a:pPr>
              <a:r>
                <a:rPr lang="zh-CN" altLang="en-US" sz="1200" b="1" dirty="0">
                  <a:solidFill>
                    <a:srgbClr val="C00000"/>
                  </a:solidFill>
                  <a:latin typeface="+mn-ea"/>
                  <a:ea typeface="+mn-ea"/>
                </a:rPr>
                <a:t>降低风险：</a:t>
              </a:r>
              <a:r>
                <a:rPr lang="zh-CN" altLang="en-US" sz="1200" dirty="0">
                  <a:solidFill>
                    <a:schemeClr val="tx1">
                      <a:lumMod val="75000"/>
                      <a:lumOff val="25000"/>
                    </a:schemeClr>
                  </a:solidFill>
                  <a:latin typeface="+mn-ea"/>
                  <a:ea typeface="+mn-ea"/>
                </a:rPr>
                <a:t>防范于未然，找出、解决和避免数据交换过程中的数据质量问题。</a:t>
              </a:r>
              <a:endParaRPr lang="en-US" altLang="zh-CN" sz="1200" dirty="0">
                <a:solidFill>
                  <a:schemeClr val="tx1">
                    <a:lumMod val="75000"/>
                    <a:lumOff val="25000"/>
                  </a:schemeClr>
                </a:solidFill>
                <a:latin typeface="+mn-ea"/>
                <a:ea typeface="+mn-ea"/>
              </a:endParaRPr>
            </a:p>
            <a:p>
              <a:pPr>
                <a:lnSpc>
                  <a:spcPct val="150000"/>
                </a:lnSpc>
              </a:pPr>
              <a:endParaRPr lang="zh-CN" altLang="en-US" sz="1200" dirty="0">
                <a:solidFill>
                  <a:schemeClr val="tx1">
                    <a:lumMod val="75000"/>
                    <a:lumOff val="25000"/>
                  </a:schemeClr>
                </a:solidFill>
                <a:latin typeface="+mn-ea"/>
                <a:ea typeface="+mn-ea"/>
              </a:endParaRPr>
            </a:p>
          </p:txBody>
        </p:sp>
        <p:pic>
          <p:nvPicPr>
            <p:cNvPr id="27" name="Picture 170" descr="j0287375"/>
            <p:cNvPicPr>
              <a:picLocks noChangeAspect="1" noChangeArrowheads="1"/>
            </p:cNvPicPr>
            <p:nvPr/>
          </p:nvPicPr>
          <p:blipFill>
            <a:blip r:embed="rId8" cstate="print"/>
            <a:srcRect/>
            <a:stretch>
              <a:fillRect/>
            </a:stretch>
          </p:blipFill>
          <p:spPr bwMode="gray">
            <a:xfrm>
              <a:off x="7821350" y="4362225"/>
              <a:ext cx="612000" cy="484448"/>
            </a:xfrm>
            <a:prstGeom prst="rect">
              <a:avLst/>
            </a:prstGeom>
            <a:noFill/>
            <a:ln w="9525">
              <a:noFill/>
              <a:miter lim="800000"/>
              <a:headEnd/>
              <a:tailEnd/>
            </a:ln>
          </p:spPr>
        </p:pic>
        <p:pic>
          <p:nvPicPr>
            <p:cNvPr id="28" name="Picture 169" descr="pe01727_"/>
            <p:cNvPicPr>
              <a:picLocks noChangeAspect="1" noChangeArrowheads="1"/>
            </p:cNvPicPr>
            <p:nvPr/>
          </p:nvPicPr>
          <p:blipFill>
            <a:blip r:embed="rId9" cstate="print"/>
            <a:srcRect/>
            <a:stretch>
              <a:fillRect/>
            </a:stretch>
          </p:blipFill>
          <p:spPr bwMode="gray">
            <a:xfrm>
              <a:off x="7713608" y="5364868"/>
              <a:ext cx="762001" cy="559079"/>
            </a:xfrm>
            <a:prstGeom prst="rect">
              <a:avLst/>
            </a:prstGeom>
            <a:noFill/>
            <a:ln w="9525">
              <a:noFill/>
              <a:miter lim="800000"/>
              <a:headEnd/>
              <a:tailEnd/>
            </a:ln>
          </p:spPr>
        </p:pic>
      </p:grpSp>
      <p:sp>
        <p:nvSpPr>
          <p:cNvPr id="41" name="标题 1"/>
          <p:cNvSpPr>
            <a:spLocks noGrp="1"/>
          </p:cNvSpPr>
          <p:nvPr>
            <p:ph type="title"/>
          </p:nvPr>
        </p:nvSpPr>
        <p:spPr>
          <a:xfrm>
            <a:off x="457200" y="76200"/>
            <a:ext cx="7391400" cy="561975"/>
          </a:xfrm>
        </p:spPr>
        <p:txBody>
          <a:bodyPr/>
          <a:lstStyle/>
          <a:p>
            <a:r>
              <a:rPr lang="zh-CN" altLang="en-US" dirty="0">
                <a:latin typeface="+mn-ea"/>
                <a:ea typeface="+mn-ea"/>
              </a:rPr>
              <a:t>共享数据交换（</a:t>
            </a:r>
            <a:r>
              <a:rPr lang="en-US" altLang="zh-CN" dirty="0">
                <a:latin typeface="+mn-ea"/>
                <a:ea typeface="+mn-ea"/>
              </a:rPr>
              <a:t>4/4</a:t>
            </a:r>
            <a:r>
              <a:rPr lang="zh-CN" altLang="en-US" dirty="0">
                <a:latin typeface="+mn-ea"/>
                <a:ea typeface="+mn-ea"/>
              </a:rPr>
              <a:t>）</a:t>
            </a:r>
            <a:r>
              <a:rPr lang="en-US" altLang="zh-CN" dirty="0">
                <a:latin typeface="+mn-ea"/>
                <a:ea typeface="+mn-ea"/>
              </a:rPr>
              <a:t>-</a:t>
            </a:r>
            <a:r>
              <a:rPr lang="zh-CN" altLang="en-US" dirty="0">
                <a:latin typeface="+mn-ea"/>
                <a:ea typeface="+mn-ea"/>
              </a:rPr>
              <a:t>数据质量控制</a:t>
            </a:r>
          </a:p>
        </p:txBody>
      </p:sp>
      <p:grpSp>
        <p:nvGrpSpPr>
          <p:cNvPr id="8" name="组合 7"/>
          <p:cNvGrpSpPr/>
          <p:nvPr/>
        </p:nvGrpSpPr>
        <p:grpSpPr>
          <a:xfrm>
            <a:off x="488173" y="685800"/>
            <a:ext cx="2788427" cy="3657600"/>
            <a:chOff x="716773" y="685800"/>
            <a:chExt cx="2788427" cy="3581401"/>
          </a:xfrm>
        </p:grpSpPr>
        <p:sp>
          <p:nvSpPr>
            <p:cNvPr id="34" name="矩形 33"/>
            <p:cNvSpPr/>
            <p:nvPr/>
          </p:nvSpPr>
          <p:spPr>
            <a:xfrm>
              <a:off x="716773" y="685800"/>
              <a:ext cx="2667002" cy="3581401"/>
            </a:xfrm>
            <a:prstGeom prst="rect">
              <a:avLst/>
            </a:prstGeom>
            <a:solidFill>
              <a:schemeClr val="bg1">
                <a:lumMod val="95000"/>
              </a:schemeClr>
            </a:solidFill>
            <a:ln w="6350">
              <a:solidFill>
                <a:srgbClr val="D9D9D9"/>
              </a:solidFill>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37" name="圆柱形 36"/>
            <p:cNvSpPr/>
            <p:nvPr/>
          </p:nvSpPr>
          <p:spPr>
            <a:xfrm>
              <a:off x="893401" y="2743200"/>
              <a:ext cx="929181" cy="576000"/>
            </a:xfrm>
            <a:prstGeom prst="can">
              <a:avLst/>
            </a:prstGeom>
            <a:solidFill>
              <a:srgbClr val="00B050"/>
            </a:solidFill>
            <a:ln>
              <a:solidFill>
                <a:srgbClr val="FFFFFF"/>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a:t>
              </a:r>
              <a:endParaRPr lang="en-US" altLang="zh-CN" sz="1200" b="1" dirty="0">
                <a:solidFill>
                  <a:schemeClr val="bg1"/>
                </a:solidFill>
                <a:latin typeface="+mn-ea"/>
              </a:endParaRPr>
            </a:p>
            <a:p>
              <a:pPr algn="ctr"/>
              <a:r>
                <a:rPr lang="zh-CN" altLang="en-US" sz="1200" b="1" dirty="0">
                  <a:solidFill>
                    <a:schemeClr val="bg1"/>
                  </a:solidFill>
                  <a:latin typeface="+mn-ea"/>
                </a:rPr>
                <a:t>信息库</a:t>
              </a:r>
            </a:p>
          </p:txBody>
        </p:sp>
        <p:sp>
          <p:nvSpPr>
            <p:cNvPr id="38" name="圆柱形 37"/>
            <p:cNvSpPr/>
            <p:nvPr/>
          </p:nvSpPr>
          <p:spPr>
            <a:xfrm>
              <a:off x="893403" y="1324800"/>
              <a:ext cx="929180" cy="504000"/>
            </a:xfrm>
            <a:prstGeom prst="can">
              <a:avLst/>
            </a:prstGeom>
            <a:solidFill>
              <a:srgbClr val="0070C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共享</a:t>
              </a:r>
              <a:endParaRPr lang="en-US" altLang="zh-CN" sz="1200" b="1" dirty="0">
                <a:solidFill>
                  <a:schemeClr val="bg1"/>
                </a:solidFill>
                <a:latin typeface="+mn-ea"/>
              </a:endParaRPr>
            </a:p>
            <a:p>
              <a:pPr algn="ctr"/>
              <a:r>
                <a:rPr lang="zh-CN" altLang="en-US" sz="1200" b="1" dirty="0">
                  <a:solidFill>
                    <a:schemeClr val="bg1"/>
                  </a:solidFill>
                  <a:latin typeface="+mn-ea"/>
                </a:rPr>
                <a:t>信息库</a:t>
              </a:r>
            </a:p>
          </p:txBody>
        </p:sp>
        <p:grpSp>
          <p:nvGrpSpPr>
            <p:cNvPr id="47" name="组合 46"/>
            <p:cNvGrpSpPr/>
            <p:nvPr/>
          </p:nvGrpSpPr>
          <p:grpSpPr>
            <a:xfrm>
              <a:off x="2587017" y="2572155"/>
              <a:ext cx="918183" cy="757404"/>
              <a:chOff x="5428733" y="3592819"/>
              <a:chExt cx="1076424" cy="568537"/>
            </a:xfrm>
          </p:grpSpPr>
          <p:pic>
            <p:nvPicPr>
              <p:cNvPr id="112" name="Picture 4"/>
              <p:cNvPicPr>
                <a:picLocks noChangeAspect="1" noChangeArrowheads="1"/>
              </p:cNvPicPr>
              <p:nvPr/>
            </p:nvPicPr>
            <p:blipFill>
              <a:blip r:embed="rId10" cstate="print"/>
              <a:srcRect/>
              <a:stretch>
                <a:fillRect/>
              </a:stretch>
            </p:blipFill>
            <p:spPr bwMode="auto">
              <a:xfrm>
                <a:off x="5522502" y="3592819"/>
                <a:ext cx="714659" cy="357190"/>
              </a:xfrm>
              <a:prstGeom prst="rect">
                <a:avLst/>
              </a:prstGeom>
              <a:noFill/>
              <a:ln w="9525">
                <a:noFill/>
                <a:miter lim="800000"/>
                <a:headEnd/>
                <a:tailEnd/>
              </a:ln>
              <a:effectLst/>
            </p:spPr>
          </p:pic>
          <p:sp>
            <p:nvSpPr>
              <p:cNvPr id="113" name="TextBox 112"/>
              <p:cNvSpPr txBox="1"/>
              <p:nvPr/>
            </p:nvSpPr>
            <p:spPr>
              <a:xfrm>
                <a:off x="5428733" y="3969073"/>
                <a:ext cx="1076424" cy="192283"/>
              </a:xfrm>
              <a:prstGeom prst="rect">
                <a:avLst/>
              </a:prstGeom>
              <a:noFill/>
            </p:spPr>
            <p:txBody>
              <a:bodyPr wrap="square" rtlCol="0">
                <a:spAutoFit/>
              </a:bodyPr>
              <a:lstStyle/>
              <a:p>
                <a:pPr algn="ctr"/>
                <a:r>
                  <a:rPr lang="zh-CN" altLang="en-US" sz="1100" dirty="0">
                    <a:latin typeface="+mn-ea"/>
                    <a:ea typeface="+mn-ea"/>
                  </a:rPr>
                  <a:t>质量管理员</a:t>
                </a:r>
              </a:p>
            </p:txBody>
          </p:sp>
        </p:grpSp>
        <p:sp>
          <p:nvSpPr>
            <p:cNvPr id="48" name="左右箭头 47"/>
            <p:cNvSpPr/>
            <p:nvPr/>
          </p:nvSpPr>
          <p:spPr>
            <a:xfrm>
              <a:off x="1905000" y="2912400"/>
              <a:ext cx="720000" cy="288000"/>
            </a:xfrm>
            <a:prstGeom prst="leftRightArrow">
              <a:avLst/>
            </a:prstGeom>
            <a:solidFill>
              <a:srgbClr val="FF0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49" name="TextBox 48"/>
            <p:cNvSpPr txBox="1"/>
            <p:nvPr/>
          </p:nvSpPr>
          <p:spPr>
            <a:xfrm>
              <a:off x="1866780" y="2662535"/>
              <a:ext cx="800220" cy="461665"/>
            </a:xfrm>
            <a:prstGeom prst="rect">
              <a:avLst/>
            </a:prstGeom>
            <a:noFill/>
          </p:spPr>
          <p:txBody>
            <a:bodyPr wrap="none" rtlCol="0">
              <a:spAutoFit/>
            </a:bodyPr>
            <a:lstStyle/>
            <a:p>
              <a:r>
                <a:rPr lang="zh-CN" altLang="en-US" sz="1200" b="1" dirty="0">
                  <a:latin typeface="+mn-ea"/>
                  <a:ea typeface="+mn-ea"/>
                </a:rPr>
                <a:t>数据核检</a:t>
              </a:r>
              <a:endParaRPr lang="en-US" altLang="zh-CN" sz="1200" b="1" dirty="0">
                <a:latin typeface="+mn-ea"/>
                <a:ea typeface="+mn-ea"/>
              </a:endParaRPr>
            </a:p>
            <a:p>
              <a:endParaRPr lang="en-US" altLang="zh-CN" sz="1200" b="1" dirty="0">
                <a:latin typeface="+mn-ea"/>
                <a:ea typeface="+mn-ea"/>
              </a:endParaRPr>
            </a:p>
          </p:txBody>
        </p:sp>
        <p:sp>
          <p:nvSpPr>
            <p:cNvPr id="50" name="右箭头 49"/>
            <p:cNvSpPr/>
            <p:nvPr/>
          </p:nvSpPr>
          <p:spPr>
            <a:xfrm rot="16200000">
              <a:off x="1049794" y="2140800"/>
              <a:ext cx="648000" cy="252000"/>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51" name="TextBox 50"/>
            <p:cNvSpPr txBox="1"/>
            <p:nvPr/>
          </p:nvSpPr>
          <p:spPr>
            <a:xfrm>
              <a:off x="1477282" y="2164771"/>
              <a:ext cx="800219" cy="271228"/>
            </a:xfrm>
            <a:prstGeom prst="rect">
              <a:avLst/>
            </a:prstGeom>
            <a:noFill/>
          </p:spPr>
          <p:txBody>
            <a:bodyPr wrap="none" rtlCol="0">
              <a:spAutoFit/>
            </a:bodyPr>
            <a:lstStyle/>
            <a:p>
              <a:r>
                <a:rPr lang="zh-CN" altLang="en-US" sz="1200" b="1" dirty="0">
                  <a:latin typeface="+mn-ea"/>
                  <a:ea typeface="+mn-ea"/>
                </a:rPr>
                <a:t>数据入库</a:t>
              </a:r>
              <a:endParaRPr lang="en-US" altLang="zh-CN" sz="1200" b="1" dirty="0">
                <a:latin typeface="+mn-ea"/>
                <a:ea typeface="+mn-ea"/>
              </a:endParaRPr>
            </a:p>
          </p:txBody>
        </p:sp>
        <p:sp>
          <p:nvSpPr>
            <p:cNvPr id="53" name="TextBox 52"/>
            <p:cNvSpPr txBox="1"/>
            <p:nvPr/>
          </p:nvSpPr>
          <p:spPr>
            <a:xfrm>
              <a:off x="2891135" y="889337"/>
              <a:ext cx="461665" cy="1446551"/>
            </a:xfrm>
            <a:prstGeom prst="rect">
              <a:avLst/>
            </a:prstGeom>
            <a:noFill/>
          </p:spPr>
          <p:txBody>
            <a:bodyPr vert="eaVert" wrap="none" rtlCol="0">
              <a:spAutoFit/>
            </a:bodyPr>
            <a:lstStyle/>
            <a:p>
              <a:r>
                <a:rPr lang="zh-CN" altLang="en-US" b="1" dirty="0">
                  <a:solidFill>
                    <a:schemeClr val="tx1">
                      <a:lumMod val="50000"/>
                      <a:lumOff val="50000"/>
                    </a:schemeClr>
                  </a:solidFill>
                  <a:latin typeface="+mn-ea"/>
                  <a:ea typeface="+mn-ea"/>
                </a:rPr>
                <a:t>基础数据中心</a:t>
              </a:r>
            </a:p>
          </p:txBody>
        </p:sp>
      </p:grpSp>
      <p:sp>
        <p:nvSpPr>
          <p:cNvPr id="6" name="矩形 5"/>
          <p:cNvSpPr/>
          <p:nvPr/>
        </p:nvSpPr>
        <p:spPr>
          <a:xfrm>
            <a:off x="1638181" y="3244335"/>
            <a:ext cx="800219" cy="276999"/>
          </a:xfrm>
          <a:prstGeom prst="rect">
            <a:avLst/>
          </a:prstGeom>
        </p:spPr>
        <p:txBody>
          <a:bodyPr wrap="none">
            <a:spAutoFit/>
          </a:bodyPr>
          <a:lstStyle/>
          <a:p>
            <a:r>
              <a:rPr lang="zh-CN" altLang="en-US" sz="1200" b="1" dirty="0">
                <a:latin typeface="+mn-ea"/>
                <a:ea typeface="+mn-ea"/>
              </a:rPr>
              <a:t>数据修正</a:t>
            </a:r>
          </a:p>
        </p:txBody>
      </p:sp>
      <p:sp>
        <p:nvSpPr>
          <p:cNvPr id="120" name="矩形 119"/>
          <p:cNvSpPr/>
          <p:nvPr/>
        </p:nvSpPr>
        <p:spPr>
          <a:xfrm>
            <a:off x="4343400" y="659993"/>
            <a:ext cx="4572000" cy="1092607"/>
          </a:xfrm>
          <a:prstGeom prst="rect">
            <a:avLst/>
          </a:prstGeom>
        </p:spPr>
        <p:txBody>
          <a:bodyPr wrap="square">
            <a:spAutoFit/>
          </a:bodyPr>
          <a:lstStyle/>
          <a:p>
            <a:r>
              <a:rPr lang="zh-CN" altLang="en-US" sz="1300" b="1" dirty="0">
                <a:solidFill>
                  <a:srgbClr val="002060"/>
                </a:solidFill>
                <a:latin typeface="+mn-ea"/>
                <a:ea typeface="+mn-ea"/>
              </a:rPr>
              <a:t>针对信息资源交换区中的基础数据定义业务原则，识别数据质量问题，并进行有效的解决，同时持续监控和报告数据质量问题，确保数据质量持续提升，以满足业务预期，通过数据质量管理活动的反馈，修正数据标准等其他数据管理活动的内容等。</a:t>
            </a:r>
          </a:p>
        </p:txBody>
      </p:sp>
    </p:spTree>
    <p:extLst>
      <p:ext uri="{BB962C8B-B14F-4D97-AF65-F5344CB8AC3E}">
        <p14:creationId xmlns:p14="http://schemas.microsoft.com/office/powerpoint/2010/main" val="3363571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610600" cy="561975"/>
          </a:xfrm>
        </p:spPr>
        <p:txBody>
          <a:bodyPr/>
          <a:lstStyle/>
          <a:p>
            <a:r>
              <a:rPr lang="zh-CN" altLang="en-US" dirty="0"/>
              <a:t>实时数据交换</a:t>
            </a:r>
          </a:p>
        </p:txBody>
      </p:sp>
      <p:sp>
        <p:nvSpPr>
          <p:cNvPr id="4" name="灯片编号占位符 3"/>
          <p:cNvSpPr>
            <a:spLocks noGrp="1"/>
          </p:cNvSpPr>
          <p:nvPr>
            <p:ph type="sldNum" sz="quarter" idx="12"/>
          </p:nvPr>
        </p:nvSpPr>
        <p:spPr/>
        <p:txBody>
          <a:bodyPr/>
          <a:lstStyle/>
          <a:p>
            <a:fld id="{BD61978C-FD3D-4268-8D6C-034E9AD544A3}" type="slidenum">
              <a:rPr lang="en-US" altLang="zh-CN" smtClean="0"/>
              <a:pPr/>
              <a:t>30</a:t>
            </a:fld>
            <a:endParaRPr lang="en-US" altLang="zh-CN" dirty="0"/>
          </a:p>
        </p:txBody>
      </p:sp>
      <p:sp>
        <p:nvSpPr>
          <p:cNvPr id="5" name="矩形 4"/>
          <p:cNvSpPr/>
          <p:nvPr/>
        </p:nvSpPr>
        <p:spPr>
          <a:xfrm>
            <a:off x="609601" y="5435600"/>
            <a:ext cx="4666168" cy="914400"/>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6" name="矩形 5"/>
          <p:cNvSpPr/>
          <p:nvPr/>
        </p:nvSpPr>
        <p:spPr>
          <a:xfrm>
            <a:off x="609600" y="1397000"/>
            <a:ext cx="4645507" cy="1666777"/>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7" name="矩形 6"/>
          <p:cNvSpPr/>
          <p:nvPr/>
        </p:nvSpPr>
        <p:spPr>
          <a:xfrm>
            <a:off x="609601" y="4006833"/>
            <a:ext cx="4666167" cy="1187467"/>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8" name="圆柱形 7"/>
          <p:cNvSpPr/>
          <p:nvPr/>
        </p:nvSpPr>
        <p:spPr>
          <a:xfrm>
            <a:off x="882689" y="4702207"/>
            <a:ext cx="990600" cy="466693"/>
          </a:xfrm>
          <a:prstGeom prst="can">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ea typeface="+mn-ea"/>
              </a:rPr>
              <a:t>交换信息库</a:t>
            </a:r>
          </a:p>
        </p:txBody>
      </p:sp>
      <p:sp>
        <p:nvSpPr>
          <p:cNvPr id="9" name="圆柱形 8"/>
          <p:cNvSpPr/>
          <p:nvPr/>
        </p:nvSpPr>
        <p:spPr>
          <a:xfrm>
            <a:off x="1604297" y="1931916"/>
            <a:ext cx="1138903" cy="387315"/>
          </a:xfrm>
          <a:prstGeom prst="can">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ea typeface="+mn-ea"/>
              </a:rPr>
              <a:t>交换信息库</a:t>
            </a:r>
          </a:p>
        </p:txBody>
      </p:sp>
      <p:sp>
        <p:nvSpPr>
          <p:cNvPr id="10" name="圆柱形 9"/>
          <p:cNvSpPr/>
          <p:nvPr/>
        </p:nvSpPr>
        <p:spPr>
          <a:xfrm>
            <a:off x="3200400" y="1931916"/>
            <a:ext cx="1031053" cy="379484"/>
          </a:xfrm>
          <a:prstGeom prst="can">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共享信息库</a:t>
            </a:r>
          </a:p>
        </p:txBody>
      </p:sp>
      <p:grpSp>
        <p:nvGrpSpPr>
          <p:cNvPr id="11" name="Group 64"/>
          <p:cNvGrpSpPr>
            <a:grpSpLocks/>
          </p:cNvGrpSpPr>
          <p:nvPr/>
        </p:nvGrpSpPr>
        <p:grpSpPr bwMode="auto">
          <a:xfrm>
            <a:off x="720575" y="5574930"/>
            <a:ext cx="1127314" cy="538783"/>
            <a:chOff x="0" y="0"/>
            <a:chExt cx="864" cy="576"/>
          </a:xfrm>
          <a:solidFill>
            <a:schemeClr val="bg1">
              <a:lumMod val="75000"/>
            </a:schemeClr>
          </a:solidFill>
        </p:grpSpPr>
        <p:sp>
          <p:nvSpPr>
            <p:cNvPr id="12" name="AutoShape 65"/>
            <p:cNvSpPr>
              <a:spLocks noChangeArrowheads="1"/>
            </p:cNvSpPr>
            <p:nvPr/>
          </p:nvSpPr>
          <p:spPr bwMode="auto">
            <a:xfrm>
              <a:off x="0" y="96"/>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3" name="AutoShape 66"/>
            <p:cNvSpPr>
              <a:spLocks noChangeArrowheads="1"/>
            </p:cNvSpPr>
            <p:nvPr/>
          </p:nvSpPr>
          <p:spPr bwMode="auto">
            <a:xfrm>
              <a:off x="192" y="0"/>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4" name="AutoShape 67"/>
            <p:cNvSpPr>
              <a:spLocks noChangeArrowheads="1"/>
            </p:cNvSpPr>
            <p:nvPr/>
          </p:nvSpPr>
          <p:spPr bwMode="auto">
            <a:xfrm>
              <a:off x="96" y="192"/>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业务系统</a:t>
              </a:r>
            </a:p>
          </p:txBody>
        </p:sp>
      </p:grpSp>
      <p:grpSp>
        <p:nvGrpSpPr>
          <p:cNvPr id="15" name="Group 64"/>
          <p:cNvGrpSpPr>
            <a:grpSpLocks/>
          </p:cNvGrpSpPr>
          <p:nvPr/>
        </p:nvGrpSpPr>
        <p:grpSpPr bwMode="auto">
          <a:xfrm>
            <a:off x="2449197" y="5608785"/>
            <a:ext cx="1125453" cy="484531"/>
            <a:chOff x="0" y="0"/>
            <a:chExt cx="864" cy="576"/>
          </a:xfrm>
          <a:solidFill>
            <a:schemeClr val="bg1">
              <a:lumMod val="75000"/>
            </a:schemeClr>
          </a:solidFill>
        </p:grpSpPr>
        <p:sp>
          <p:nvSpPr>
            <p:cNvPr id="16" name="AutoShape 65"/>
            <p:cNvSpPr>
              <a:spLocks noChangeArrowheads="1"/>
            </p:cNvSpPr>
            <p:nvPr/>
          </p:nvSpPr>
          <p:spPr bwMode="auto">
            <a:xfrm>
              <a:off x="0" y="96"/>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7" name="AutoShape 66"/>
            <p:cNvSpPr>
              <a:spLocks noChangeArrowheads="1"/>
            </p:cNvSpPr>
            <p:nvPr/>
          </p:nvSpPr>
          <p:spPr bwMode="auto">
            <a:xfrm>
              <a:off x="192" y="0"/>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8" name="AutoShape 67"/>
            <p:cNvSpPr>
              <a:spLocks noChangeArrowheads="1"/>
            </p:cNvSpPr>
            <p:nvPr/>
          </p:nvSpPr>
          <p:spPr bwMode="auto">
            <a:xfrm>
              <a:off x="96" y="192"/>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业务系统</a:t>
              </a:r>
            </a:p>
          </p:txBody>
        </p:sp>
      </p:grpSp>
      <p:sp>
        <p:nvSpPr>
          <p:cNvPr id="20" name="圆柱形 19"/>
          <p:cNvSpPr/>
          <p:nvPr/>
        </p:nvSpPr>
        <p:spPr>
          <a:xfrm>
            <a:off x="2609450" y="4692723"/>
            <a:ext cx="990600" cy="466693"/>
          </a:xfrm>
          <a:prstGeom prst="can">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ea typeface="+mn-ea"/>
              </a:rPr>
              <a:t>交换信息库</a:t>
            </a:r>
          </a:p>
        </p:txBody>
      </p:sp>
      <p:sp>
        <p:nvSpPr>
          <p:cNvPr id="22" name="圆柱形 21"/>
          <p:cNvSpPr/>
          <p:nvPr/>
        </p:nvSpPr>
        <p:spPr>
          <a:xfrm>
            <a:off x="4114800" y="4710902"/>
            <a:ext cx="990600" cy="466693"/>
          </a:xfrm>
          <a:prstGeom prst="can">
            <a:avLst/>
          </a:prstGeom>
          <a:solidFill>
            <a:srgbClr val="00B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ea typeface="+mn-ea"/>
              </a:rPr>
              <a:t>交换信息库</a:t>
            </a:r>
          </a:p>
        </p:txBody>
      </p:sp>
      <p:sp>
        <p:nvSpPr>
          <p:cNvPr id="31" name="TextBox 30"/>
          <p:cNvSpPr txBox="1"/>
          <p:nvPr/>
        </p:nvSpPr>
        <p:spPr>
          <a:xfrm>
            <a:off x="609600" y="1467168"/>
            <a:ext cx="400110" cy="810478"/>
          </a:xfrm>
          <a:prstGeom prst="rect">
            <a:avLst/>
          </a:prstGeom>
          <a:noFill/>
        </p:spPr>
        <p:txBody>
          <a:bodyPr vert="eaVert" wrap="none" rtlCol="0">
            <a:spAutoFit/>
          </a:bodyPr>
          <a:lstStyle/>
          <a:p>
            <a:r>
              <a:rPr lang="zh-CN" altLang="en-US" sz="1400" b="1" dirty="0">
                <a:latin typeface="+mn-ea"/>
                <a:ea typeface="+mn-ea"/>
              </a:rPr>
              <a:t>中心节点</a:t>
            </a:r>
          </a:p>
        </p:txBody>
      </p:sp>
      <p:sp>
        <p:nvSpPr>
          <p:cNvPr id="33" name="TextBox 32"/>
          <p:cNvSpPr txBox="1"/>
          <p:nvPr/>
        </p:nvSpPr>
        <p:spPr>
          <a:xfrm>
            <a:off x="1057947" y="6098026"/>
            <a:ext cx="492443" cy="276999"/>
          </a:xfrm>
          <a:prstGeom prst="rect">
            <a:avLst/>
          </a:prstGeom>
          <a:noFill/>
        </p:spPr>
        <p:txBody>
          <a:bodyPr wrap="none" rtlCol="0">
            <a:spAutoFit/>
          </a:bodyPr>
          <a:lstStyle/>
          <a:p>
            <a:pPr algn="ctr"/>
            <a:r>
              <a:rPr lang="zh-CN" altLang="en-US" sz="1200" b="1" dirty="0">
                <a:latin typeface="+mn-ea"/>
                <a:ea typeface="+mn-ea"/>
              </a:rPr>
              <a:t>公安</a:t>
            </a:r>
          </a:p>
        </p:txBody>
      </p:sp>
      <p:sp>
        <p:nvSpPr>
          <p:cNvPr id="34" name="TextBox 33"/>
          <p:cNvSpPr txBox="1"/>
          <p:nvPr/>
        </p:nvSpPr>
        <p:spPr>
          <a:xfrm>
            <a:off x="2809378" y="6123801"/>
            <a:ext cx="492443" cy="276999"/>
          </a:xfrm>
          <a:prstGeom prst="rect">
            <a:avLst/>
          </a:prstGeom>
          <a:noFill/>
        </p:spPr>
        <p:txBody>
          <a:bodyPr wrap="none" rtlCol="0">
            <a:spAutoFit/>
          </a:bodyPr>
          <a:lstStyle/>
          <a:p>
            <a:pPr algn="ctr"/>
            <a:r>
              <a:rPr lang="zh-CN" altLang="en-US" sz="1200" b="1" dirty="0">
                <a:latin typeface="+mn-ea"/>
                <a:ea typeface="+mn-ea"/>
              </a:rPr>
              <a:t>民政</a:t>
            </a:r>
          </a:p>
        </p:txBody>
      </p:sp>
      <p:sp>
        <p:nvSpPr>
          <p:cNvPr id="35" name="TextBox 34"/>
          <p:cNvSpPr txBox="1"/>
          <p:nvPr/>
        </p:nvSpPr>
        <p:spPr>
          <a:xfrm>
            <a:off x="4420345" y="6098951"/>
            <a:ext cx="492443" cy="276999"/>
          </a:xfrm>
          <a:prstGeom prst="rect">
            <a:avLst/>
          </a:prstGeom>
          <a:noFill/>
        </p:spPr>
        <p:txBody>
          <a:bodyPr wrap="none" rtlCol="0">
            <a:spAutoFit/>
          </a:bodyPr>
          <a:lstStyle/>
          <a:p>
            <a:pPr algn="ctr"/>
            <a:r>
              <a:rPr lang="zh-CN" altLang="en-US" sz="1200" b="1" dirty="0">
                <a:latin typeface="+mn-ea"/>
                <a:ea typeface="+mn-ea"/>
              </a:rPr>
              <a:t>社保</a:t>
            </a:r>
          </a:p>
        </p:txBody>
      </p:sp>
      <p:sp>
        <p:nvSpPr>
          <p:cNvPr id="39" name="右箭头 38"/>
          <p:cNvSpPr/>
          <p:nvPr/>
        </p:nvSpPr>
        <p:spPr>
          <a:xfrm rot="16200000">
            <a:off x="1221864" y="5161978"/>
            <a:ext cx="316357" cy="381000"/>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40" name="右箭头 39"/>
          <p:cNvSpPr/>
          <p:nvPr/>
        </p:nvSpPr>
        <p:spPr>
          <a:xfrm rot="16200000">
            <a:off x="2903785" y="5179364"/>
            <a:ext cx="351130" cy="381000"/>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41" name="右箭头 40"/>
          <p:cNvSpPr/>
          <p:nvPr/>
        </p:nvSpPr>
        <p:spPr>
          <a:xfrm rot="16200000">
            <a:off x="4448885" y="5177716"/>
            <a:ext cx="322430" cy="381000"/>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grpSp>
        <p:nvGrpSpPr>
          <p:cNvPr id="42" name="Group 64"/>
          <p:cNvGrpSpPr>
            <a:grpSpLocks/>
          </p:cNvGrpSpPr>
          <p:nvPr/>
        </p:nvGrpSpPr>
        <p:grpSpPr bwMode="auto">
          <a:xfrm>
            <a:off x="4038600" y="5592926"/>
            <a:ext cx="1125453" cy="484531"/>
            <a:chOff x="0" y="0"/>
            <a:chExt cx="864" cy="576"/>
          </a:xfrm>
          <a:solidFill>
            <a:schemeClr val="bg1">
              <a:lumMod val="75000"/>
            </a:schemeClr>
          </a:solidFill>
        </p:grpSpPr>
        <p:sp>
          <p:nvSpPr>
            <p:cNvPr id="43" name="AutoShape 65"/>
            <p:cNvSpPr>
              <a:spLocks noChangeArrowheads="1"/>
            </p:cNvSpPr>
            <p:nvPr/>
          </p:nvSpPr>
          <p:spPr bwMode="auto">
            <a:xfrm>
              <a:off x="0" y="96"/>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44" name="AutoShape 66"/>
            <p:cNvSpPr>
              <a:spLocks noChangeArrowheads="1"/>
            </p:cNvSpPr>
            <p:nvPr/>
          </p:nvSpPr>
          <p:spPr bwMode="auto">
            <a:xfrm>
              <a:off x="192" y="0"/>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45" name="AutoShape 67"/>
            <p:cNvSpPr>
              <a:spLocks noChangeArrowheads="1"/>
            </p:cNvSpPr>
            <p:nvPr/>
          </p:nvSpPr>
          <p:spPr bwMode="auto">
            <a:xfrm>
              <a:off x="96" y="192"/>
              <a:ext cx="672" cy="384"/>
            </a:xfrm>
            <a:prstGeom prst="can">
              <a:avLst>
                <a:gd name="adj" fmla="val 25000"/>
              </a:avLst>
            </a:prstGeom>
            <a:grp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业务系统</a:t>
              </a:r>
            </a:p>
          </p:txBody>
        </p:sp>
      </p:grpSp>
      <p:sp>
        <p:nvSpPr>
          <p:cNvPr id="46" name="TextBox 45"/>
          <p:cNvSpPr txBox="1"/>
          <p:nvPr/>
        </p:nvSpPr>
        <p:spPr>
          <a:xfrm>
            <a:off x="2678875" y="5223000"/>
            <a:ext cx="800219" cy="276999"/>
          </a:xfrm>
          <a:prstGeom prst="rect">
            <a:avLst/>
          </a:prstGeom>
          <a:noFill/>
        </p:spPr>
        <p:txBody>
          <a:bodyPr wrap="none" rtlCol="0">
            <a:spAutoFit/>
          </a:bodyPr>
          <a:lstStyle/>
          <a:p>
            <a:pPr algn="ctr"/>
            <a:r>
              <a:rPr lang="zh-CN" altLang="en-US" sz="1200" b="1" dirty="0">
                <a:latin typeface="+mn-ea"/>
                <a:ea typeface="+mn-ea"/>
              </a:rPr>
              <a:t>数据桥接</a:t>
            </a:r>
          </a:p>
        </p:txBody>
      </p:sp>
      <p:sp>
        <p:nvSpPr>
          <p:cNvPr id="73" name="AutoShape 20"/>
          <p:cNvSpPr>
            <a:spLocks noChangeArrowheads="1"/>
          </p:cNvSpPr>
          <p:nvPr/>
        </p:nvSpPr>
        <p:spPr bwMode="auto">
          <a:xfrm rot="10800000">
            <a:off x="5575302" y="1156593"/>
            <a:ext cx="3263897" cy="5079932"/>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sz="1200" dirty="0"/>
          </a:p>
        </p:txBody>
      </p:sp>
      <p:sp>
        <p:nvSpPr>
          <p:cNvPr id="76" name="矩形 75"/>
          <p:cNvSpPr/>
          <p:nvPr/>
        </p:nvSpPr>
        <p:spPr>
          <a:xfrm>
            <a:off x="5638800" y="1429346"/>
            <a:ext cx="2959096" cy="4368888"/>
          </a:xfrm>
          <a:prstGeom prst="rect">
            <a:avLst/>
          </a:prstGeom>
        </p:spPr>
        <p:txBody>
          <a:bodyPr wrap="square">
            <a:spAutoFit/>
          </a:bodyPr>
          <a:lstStyle/>
          <a:p>
            <a:pPr marL="285750" indent="-285750">
              <a:lnSpc>
                <a:spcPct val="150000"/>
              </a:lnSpc>
              <a:buFont typeface="Wingdings" pitchFamily="2" charset="2"/>
              <a:buChar char="p"/>
            </a:pPr>
            <a:r>
              <a:rPr lang="zh-CN" altLang="en-US" sz="1400" b="1" dirty="0">
                <a:solidFill>
                  <a:schemeClr val="accent2">
                    <a:lumMod val="75000"/>
                  </a:schemeClr>
                </a:solidFill>
                <a:latin typeface="+mn-ea"/>
                <a:ea typeface="+mn-ea"/>
              </a:rPr>
              <a:t>实时数据交换适用于对于数据时效要求快速、高频度、少量数据传输的场景。</a:t>
            </a:r>
            <a:endParaRPr lang="en-US" altLang="zh-CN" sz="1400" b="1" dirty="0">
              <a:solidFill>
                <a:schemeClr val="accent2">
                  <a:lumMod val="75000"/>
                </a:schemeClr>
              </a:solidFill>
              <a:latin typeface="+mn-ea"/>
              <a:ea typeface="+mn-ea"/>
            </a:endParaRPr>
          </a:p>
          <a:p>
            <a:pPr marL="285750" indent="-285750">
              <a:lnSpc>
                <a:spcPct val="150000"/>
              </a:lnSpc>
              <a:buFont typeface="Wingdings" pitchFamily="2" charset="2"/>
              <a:buChar char="p"/>
            </a:pPr>
            <a:r>
              <a:rPr lang="zh-CN" altLang="en-US" sz="1400" b="1" dirty="0">
                <a:solidFill>
                  <a:schemeClr val="accent2">
                    <a:lumMod val="75000"/>
                  </a:schemeClr>
                </a:solidFill>
                <a:latin typeface="+mn-ea"/>
                <a:ea typeface="+mn-ea"/>
              </a:rPr>
              <a:t>中心与前置分别提供实时数据服务，通过</a:t>
            </a:r>
            <a:r>
              <a:rPr lang="en-US" altLang="zh-CN" sz="1400" b="1" dirty="0">
                <a:solidFill>
                  <a:schemeClr val="accent2">
                    <a:lumMod val="75000"/>
                  </a:schemeClr>
                </a:solidFill>
                <a:latin typeface="+mn-ea"/>
                <a:ea typeface="+mn-ea"/>
              </a:rPr>
              <a:t>HTTP/HTTPS</a:t>
            </a:r>
            <a:r>
              <a:rPr lang="zh-CN" altLang="en-US" sz="1400" b="1" dirty="0">
                <a:solidFill>
                  <a:schemeClr val="accent2">
                    <a:lumMod val="75000"/>
                  </a:schemeClr>
                </a:solidFill>
                <a:latin typeface="+mn-ea"/>
                <a:ea typeface="+mn-ea"/>
              </a:rPr>
              <a:t>、</a:t>
            </a:r>
            <a:r>
              <a:rPr lang="en-US" altLang="zh-CN" sz="1400" b="1" dirty="0">
                <a:solidFill>
                  <a:schemeClr val="accent2">
                    <a:lumMod val="75000"/>
                  </a:schemeClr>
                </a:solidFill>
                <a:latin typeface="+mn-ea"/>
                <a:ea typeface="+mn-ea"/>
              </a:rPr>
              <a:t>WebService</a:t>
            </a:r>
            <a:r>
              <a:rPr lang="zh-CN" altLang="en-US" sz="1400" b="1" dirty="0">
                <a:solidFill>
                  <a:schemeClr val="accent2">
                    <a:lumMod val="75000"/>
                  </a:schemeClr>
                </a:solidFill>
                <a:latin typeface="+mn-ea"/>
                <a:ea typeface="+mn-ea"/>
              </a:rPr>
              <a:t>、</a:t>
            </a:r>
            <a:r>
              <a:rPr lang="en-US" altLang="zh-CN" sz="1400" b="1" dirty="0">
                <a:solidFill>
                  <a:schemeClr val="accent2">
                    <a:lumMod val="75000"/>
                  </a:schemeClr>
                </a:solidFill>
                <a:latin typeface="+mn-ea"/>
                <a:ea typeface="+mn-ea"/>
              </a:rPr>
              <a:t>RESTFUL</a:t>
            </a:r>
            <a:r>
              <a:rPr lang="zh-CN" altLang="en-US" sz="1400" b="1" dirty="0">
                <a:solidFill>
                  <a:schemeClr val="accent2">
                    <a:lumMod val="75000"/>
                  </a:schemeClr>
                </a:solidFill>
                <a:latin typeface="+mn-ea"/>
                <a:ea typeface="+mn-ea"/>
              </a:rPr>
              <a:t>等传输协议实现数据的双向实时交换。</a:t>
            </a:r>
            <a:endParaRPr lang="en-US" altLang="zh-CN" sz="1400" b="1" dirty="0">
              <a:solidFill>
                <a:schemeClr val="accent2">
                  <a:lumMod val="75000"/>
                </a:schemeClr>
              </a:solidFill>
              <a:latin typeface="+mn-ea"/>
              <a:ea typeface="+mn-ea"/>
            </a:endParaRPr>
          </a:p>
          <a:p>
            <a:pPr marL="285750" indent="-285750" defTabSz="711200">
              <a:lnSpc>
                <a:spcPct val="150000"/>
              </a:lnSpc>
              <a:buFont typeface="Wingdings" pitchFamily="2" charset="2"/>
              <a:buChar char="p"/>
              <a:defRPr/>
            </a:pPr>
            <a:r>
              <a:rPr lang="zh-CN" altLang="en-US" sz="1400" b="1" dirty="0">
                <a:solidFill>
                  <a:schemeClr val="accent2">
                    <a:lumMod val="75000"/>
                  </a:schemeClr>
                </a:solidFill>
                <a:latin typeface="+mn-ea"/>
                <a:ea typeface="+mn-ea"/>
              </a:rPr>
              <a:t>中心可主动调用前置服务实时拉取数据，前置可主动调用中心服务实时推送数据 。</a:t>
            </a:r>
            <a:endParaRPr lang="en-US" altLang="zh-CN" sz="1400" b="1" dirty="0">
              <a:solidFill>
                <a:schemeClr val="accent2">
                  <a:lumMod val="75000"/>
                </a:schemeClr>
              </a:solidFill>
              <a:latin typeface="+mn-ea"/>
              <a:ea typeface="+mn-ea"/>
            </a:endParaRPr>
          </a:p>
          <a:p>
            <a:pPr marL="285750" indent="-285750" defTabSz="711200">
              <a:lnSpc>
                <a:spcPct val="150000"/>
              </a:lnSpc>
              <a:buFont typeface="Wingdings" pitchFamily="2" charset="2"/>
              <a:buChar char="p"/>
              <a:defRPr/>
            </a:pPr>
            <a:r>
              <a:rPr lang="zh-CN" altLang="en-US" sz="1400" b="1" dirty="0">
                <a:solidFill>
                  <a:schemeClr val="accent2">
                    <a:lumMod val="75000"/>
                  </a:schemeClr>
                </a:solidFill>
                <a:latin typeface="+mn-ea"/>
                <a:ea typeface="+mn-ea"/>
              </a:rPr>
              <a:t>数据中心通过数据共享可将数据实时提供给外部的智慧应用系统使用</a:t>
            </a:r>
            <a:endParaRPr lang="en-US" altLang="zh-CN" sz="1400" b="1" dirty="0">
              <a:solidFill>
                <a:schemeClr val="accent2">
                  <a:lumMod val="75000"/>
                </a:schemeClr>
              </a:solidFill>
              <a:latin typeface="+mn-ea"/>
              <a:ea typeface="+mn-ea"/>
            </a:endParaRPr>
          </a:p>
        </p:txBody>
      </p:sp>
      <p:sp>
        <p:nvSpPr>
          <p:cNvPr id="87" name="矩形 86"/>
          <p:cNvSpPr/>
          <p:nvPr/>
        </p:nvSpPr>
        <p:spPr>
          <a:xfrm>
            <a:off x="1322739" y="2387600"/>
            <a:ext cx="3452161" cy="563121"/>
          </a:xfrm>
          <a:prstGeom prst="rect">
            <a:avLst/>
          </a:prstGeom>
          <a:solidFill>
            <a:srgbClr val="FFFFFF"/>
          </a:solidFill>
          <a:ln>
            <a:solidFill>
              <a:schemeClr val="bg2">
                <a:lumMod val="20000"/>
                <a:lumOff val="80000"/>
              </a:schemeClr>
            </a:solidFill>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85" name="圆角矩形 84"/>
          <p:cNvSpPr/>
          <p:nvPr/>
        </p:nvSpPr>
        <p:spPr>
          <a:xfrm>
            <a:off x="1397000" y="2536964"/>
            <a:ext cx="1452574" cy="286251"/>
          </a:xfrm>
          <a:prstGeom prst="roundRect">
            <a:avLst/>
          </a:prstGeom>
          <a:solidFill>
            <a:srgbClr val="FFC00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服务接入接出</a:t>
            </a:r>
          </a:p>
        </p:txBody>
      </p:sp>
      <p:sp>
        <p:nvSpPr>
          <p:cNvPr id="89" name="圆角矩形 88"/>
          <p:cNvSpPr/>
          <p:nvPr/>
        </p:nvSpPr>
        <p:spPr>
          <a:xfrm>
            <a:off x="3033712" y="2537742"/>
            <a:ext cx="1645764" cy="286251"/>
          </a:xfrm>
          <a:prstGeom prst="roundRect">
            <a:avLst/>
          </a:prstGeom>
          <a:solidFill>
            <a:srgbClr val="FFC00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服务注册</a:t>
            </a:r>
          </a:p>
        </p:txBody>
      </p:sp>
      <p:sp>
        <p:nvSpPr>
          <p:cNvPr id="91" name="上下箭头 90"/>
          <p:cNvSpPr/>
          <p:nvPr/>
        </p:nvSpPr>
        <p:spPr>
          <a:xfrm>
            <a:off x="2678874" y="2844800"/>
            <a:ext cx="329438" cy="426301"/>
          </a:xfrm>
          <a:prstGeom prst="upDown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92" name="矩形 91"/>
          <p:cNvSpPr/>
          <p:nvPr/>
        </p:nvSpPr>
        <p:spPr>
          <a:xfrm>
            <a:off x="882689" y="4100160"/>
            <a:ext cx="4222711" cy="516370"/>
          </a:xfrm>
          <a:prstGeom prst="rect">
            <a:avLst/>
          </a:prstGeom>
          <a:solidFill>
            <a:srgbClr val="FFFFFF"/>
          </a:solidFill>
          <a:ln>
            <a:solidFill>
              <a:schemeClr val="bg2">
                <a:lumMod val="20000"/>
                <a:lumOff val="80000"/>
              </a:schemeClr>
            </a:solidFill>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93" name="圆角矩形 92"/>
          <p:cNvSpPr/>
          <p:nvPr/>
        </p:nvSpPr>
        <p:spPr>
          <a:xfrm>
            <a:off x="1143000" y="4194879"/>
            <a:ext cx="1452574" cy="286251"/>
          </a:xfrm>
          <a:prstGeom prst="roundRect">
            <a:avLst/>
          </a:prstGeom>
          <a:solidFill>
            <a:srgbClr val="FFC00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服务接入接出</a:t>
            </a:r>
          </a:p>
        </p:txBody>
      </p:sp>
      <p:sp>
        <p:nvSpPr>
          <p:cNvPr id="94" name="圆角矩形 93"/>
          <p:cNvSpPr/>
          <p:nvPr/>
        </p:nvSpPr>
        <p:spPr>
          <a:xfrm>
            <a:off x="3276600" y="4170257"/>
            <a:ext cx="1645764" cy="286251"/>
          </a:xfrm>
          <a:prstGeom prst="roundRect">
            <a:avLst/>
          </a:prstGeom>
          <a:solidFill>
            <a:srgbClr val="FFC00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服务注册</a:t>
            </a:r>
          </a:p>
        </p:txBody>
      </p:sp>
      <p:sp>
        <p:nvSpPr>
          <p:cNvPr id="97" name="上下箭头 96"/>
          <p:cNvSpPr/>
          <p:nvPr/>
        </p:nvSpPr>
        <p:spPr>
          <a:xfrm>
            <a:off x="2719381" y="3649412"/>
            <a:ext cx="329438" cy="426301"/>
          </a:xfrm>
          <a:prstGeom prst="upDown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00" name="圆柱形 99"/>
          <p:cNvSpPr/>
          <p:nvPr/>
        </p:nvSpPr>
        <p:spPr>
          <a:xfrm rot="5400000">
            <a:off x="2723731" y="1130963"/>
            <a:ext cx="399806" cy="4704268"/>
          </a:xfrm>
          <a:prstGeom prst="can">
            <a:avLst/>
          </a:prstGeom>
          <a:solidFill>
            <a:srgbClr val="0070C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400" b="1" dirty="0">
              <a:solidFill>
                <a:schemeClr val="bg1"/>
              </a:solidFill>
              <a:latin typeface="+mn-ea"/>
            </a:endParaRPr>
          </a:p>
        </p:txBody>
      </p:sp>
      <p:sp>
        <p:nvSpPr>
          <p:cNvPr id="101" name="矩形 100"/>
          <p:cNvSpPr/>
          <p:nvPr/>
        </p:nvSpPr>
        <p:spPr>
          <a:xfrm>
            <a:off x="1264139" y="3358489"/>
            <a:ext cx="3356112" cy="307777"/>
          </a:xfrm>
          <a:prstGeom prst="rect">
            <a:avLst/>
          </a:prstGeom>
        </p:spPr>
        <p:txBody>
          <a:bodyPr wrap="none">
            <a:spAutoFit/>
          </a:bodyPr>
          <a:lstStyle/>
          <a:p>
            <a:pPr algn="ctr"/>
            <a:r>
              <a:rPr lang="zh-CN" altLang="en-US" sz="1400" b="1" dirty="0">
                <a:solidFill>
                  <a:schemeClr val="bg1"/>
                </a:solidFill>
                <a:latin typeface="+mn-ea"/>
                <a:ea typeface="+mn-ea"/>
              </a:rPr>
              <a:t>实时数据传输链路（</a:t>
            </a:r>
            <a:r>
              <a:rPr lang="en-US" altLang="zh-CN" sz="1400" b="1" dirty="0">
                <a:solidFill>
                  <a:schemeClr val="bg1"/>
                </a:solidFill>
                <a:latin typeface="+mn-ea"/>
                <a:ea typeface="+mn-ea"/>
              </a:rPr>
              <a:t>http/</a:t>
            </a:r>
            <a:r>
              <a:rPr lang="en-US" altLang="zh-CN" sz="1400" b="1" dirty="0" err="1">
                <a:solidFill>
                  <a:schemeClr val="bg1"/>
                </a:solidFill>
                <a:latin typeface="+mn-ea"/>
                <a:ea typeface="+mn-ea"/>
              </a:rPr>
              <a:t>ws</a:t>
            </a:r>
            <a:r>
              <a:rPr lang="en-US" altLang="zh-CN" sz="1400" b="1" dirty="0">
                <a:solidFill>
                  <a:schemeClr val="bg1"/>
                </a:solidFill>
                <a:latin typeface="+mn-ea"/>
                <a:ea typeface="+mn-ea"/>
              </a:rPr>
              <a:t>/restful</a:t>
            </a:r>
            <a:r>
              <a:rPr lang="zh-CN" altLang="en-US" sz="1400" b="1" dirty="0">
                <a:solidFill>
                  <a:schemeClr val="bg1"/>
                </a:solidFill>
                <a:latin typeface="+mn-ea"/>
                <a:ea typeface="+mn-ea"/>
              </a:rPr>
              <a:t>）</a:t>
            </a:r>
            <a:endParaRPr lang="en-US" altLang="zh-CN" sz="1400" b="1" dirty="0">
              <a:solidFill>
                <a:schemeClr val="bg1"/>
              </a:solidFill>
              <a:latin typeface="+mn-ea"/>
              <a:ea typeface="+mn-ea"/>
            </a:endParaRPr>
          </a:p>
        </p:txBody>
      </p:sp>
      <p:sp>
        <p:nvSpPr>
          <p:cNvPr id="102" name="上下箭头 101"/>
          <p:cNvSpPr/>
          <p:nvPr/>
        </p:nvSpPr>
        <p:spPr>
          <a:xfrm>
            <a:off x="4228416" y="3655745"/>
            <a:ext cx="329438" cy="426301"/>
          </a:xfrm>
          <a:prstGeom prst="upDown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03" name="上下箭头 102"/>
          <p:cNvSpPr/>
          <p:nvPr/>
        </p:nvSpPr>
        <p:spPr>
          <a:xfrm>
            <a:off x="1493051" y="3641821"/>
            <a:ext cx="329438" cy="426301"/>
          </a:xfrm>
          <a:prstGeom prst="upDown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04" name="TextBox 103"/>
          <p:cNvSpPr txBox="1"/>
          <p:nvPr/>
        </p:nvSpPr>
        <p:spPr>
          <a:xfrm>
            <a:off x="590490" y="4278414"/>
            <a:ext cx="400110" cy="810478"/>
          </a:xfrm>
          <a:prstGeom prst="rect">
            <a:avLst/>
          </a:prstGeom>
          <a:noFill/>
        </p:spPr>
        <p:txBody>
          <a:bodyPr vert="eaVert" wrap="none" rtlCol="0">
            <a:spAutoFit/>
          </a:bodyPr>
          <a:lstStyle/>
          <a:p>
            <a:r>
              <a:rPr lang="zh-CN" altLang="en-US" sz="1400" b="1" dirty="0">
                <a:latin typeface="+mn-ea"/>
                <a:ea typeface="+mn-ea"/>
              </a:rPr>
              <a:t>前置节点</a:t>
            </a:r>
          </a:p>
        </p:txBody>
      </p:sp>
      <p:sp>
        <p:nvSpPr>
          <p:cNvPr id="3" name="矩形 2"/>
          <p:cNvSpPr/>
          <p:nvPr/>
        </p:nvSpPr>
        <p:spPr>
          <a:xfrm>
            <a:off x="1295400" y="863600"/>
            <a:ext cx="838200" cy="381000"/>
          </a:xfrm>
          <a:prstGeom prst="rect">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智慧应用</a:t>
            </a:r>
          </a:p>
        </p:txBody>
      </p:sp>
      <p:sp>
        <p:nvSpPr>
          <p:cNvPr id="49" name="圆角矩形 48"/>
          <p:cNvSpPr/>
          <p:nvPr/>
        </p:nvSpPr>
        <p:spPr>
          <a:xfrm>
            <a:off x="1284232" y="1467168"/>
            <a:ext cx="3516368" cy="346364"/>
          </a:xfrm>
          <a:prstGeom prst="roundRect">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400" b="1" dirty="0">
                <a:solidFill>
                  <a:schemeClr val="bg1"/>
                </a:solidFill>
                <a:latin typeface="+mn-ea"/>
              </a:rPr>
              <a:t>信息共享与数据发布</a:t>
            </a:r>
          </a:p>
        </p:txBody>
      </p:sp>
      <p:sp>
        <p:nvSpPr>
          <p:cNvPr id="50" name="右箭头 49"/>
          <p:cNvSpPr/>
          <p:nvPr/>
        </p:nvSpPr>
        <p:spPr>
          <a:xfrm>
            <a:off x="2743200" y="2027747"/>
            <a:ext cx="432864" cy="202641"/>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51" name="矩形 50"/>
          <p:cNvSpPr/>
          <p:nvPr/>
        </p:nvSpPr>
        <p:spPr>
          <a:xfrm>
            <a:off x="2438400" y="863600"/>
            <a:ext cx="882926" cy="381000"/>
          </a:xfrm>
          <a:prstGeom prst="rect">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智慧应用</a:t>
            </a:r>
          </a:p>
        </p:txBody>
      </p:sp>
      <p:sp>
        <p:nvSpPr>
          <p:cNvPr id="52" name="右箭头 51"/>
          <p:cNvSpPr/>
          <p:nvPr/>
        </p:nvSpPr>
        <p:spPr>
          <a:xfrm rot="16200000">
            <a:off x="1562409" y="1218683"/>
            <a:ext cx="283557" cy="243477"/>
          </a:xfrm>
          <a:prstGeom prst="rightArrow">
            <a:avLst/>
          </a:prstGeom>
          <a:solidFill>
            <a:srgbClr val="92D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53" name="右箭头 52"/>
          <p:cNvSpPr/>
          <p:nvPr/>
        </p:nvSpPr>
        <p:spPr>
          <a:xfrm rot="16200000">
            <a:off x="2781047" y="1218682"/>
            <a:ext cx="283557" cy="243477"/>
          </a:xfrm>
          <a:prstGeom prst="rightArrow">
            <a:avLst/>
          </a:prstGeom>
          <a:solidFill>
            <a:srgbClr val="92D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54" name="矩形 53"/>
          <p:cNvSpPr/>
          <p:nvPr/>
        </p:nvSpPr>
        <p:spPr>
          <a:xfrm>
            <a:off x="3612874" y="863600"/>
            <a:ext cx="882926" cy="381000"/>
          </a:xfrm>
          <a:prstGeom prst="rect">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智慧应用</a:t>
            </a:r>
          </a:p>
        </p:txBody>
      </p:sp>
      <p:sp>
        <p:nvSpPr>
          <p:cNvPr id="55" name="右箭头 54"/>
          <p:cNvSpPr/>
          <p:nvPr/>
        </p:nvSpPr>
        <p:spPr>
          <a:xfrm rot="16200000">
            <a:off x="3955521" y="1218682"/>
            <a:ext cx="283557" cy="243477"/>
          </a:xfrm>
          <a:prstGeom prst="rightArrow">
            <a:avLst/>
          </a:prstGeom>
          <a:solidFill>
            <a:srgbClr val="92D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Tree>
    <p:extLst>
      <p:ext uri="{BB962C8B-B14F-4D97-AF65-F5344CB8AC3E}">
        <p14:creationId xmlns:p14="http://schemas.microsoft.com/office/powerpoint/2010/main" val="742139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矩形 151"/>
          <p:cNvSpPr/>
          <p:nvPr/>
        </p:nvSpPr>
        <p:spPr>
          <a:xfrm>
            <a:off x="3863655" y="3849594"/>
            <a:ext cx="1470345" cy="1560606"/>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53" name="圆柱形 152"/>
          <p:cNvSpPr/>
          <p:nvPr/>
        </p:nvSpPr>
        <p:spPr>
          <a:xfrm>
            <a:off x="4233371" y="4462195"/>
            <a:ext cx="872029" cy="414605"/>
          </a:xfrm>
          <a:prstGeom prst="can">
            <a:avLst/>
          </a:prstGeom>
          <a:solidFill>
            <a:schemeClr val="bg2">
              <a:lumMod val="60000"/>
              <a:lumOff val="40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信息库</a:t>
            </a:r>
          </a:p>
        </p:txBody>
      </p:sp>
      <p:sp>
        <p:nvSpPr>
          <p:cNvPr id="146" name="矩形 145"/>
          <p:cNvSpPr/>
          <p:nvPr/>
        </p:nvSpPr>
        <p:spPr>
          <a:xfrm>
            <a:off x="2263455" y="3863503"/>
            <a:ext cx="1470345" cy="1560606"/>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42" name="矩形 141"/>
          <p:cNvSpPr/>
          <p:nvPr/>
        </p:nvSpPr>
        <p:spPr>
          <a:xfrm>
            <a:off x="765145" y="4987337"/>
            <a:ext cx="1112515" cy="362025"/>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endParaRPr lang="zh-CN" altLang="en-US" sz="1400" b="1" dirty="0">
              <a:solidFill>
                <a:schemeClr val="tx1"/>
              </a:solidFill>
            </a:endParaRPr>
          </a:p>
        </p:txBody>
      </p:sp>
      <p:sp>
        <p:nvSpPr>
          <p:cNvPr id="2" name="标题 1"/>
          <p:cNvSpPr>
            <a:spLocks noGrp="1"/>
          </p:cNvSpPr>
          <p:nvPr>
            <p:ph type="title"/>
          </p:nvPr>
        </p:nvSpPr>
        <p:spPr/>
        <p:txBody>
          <a:bodyPr/>
          <a:lstStyle/>
          <a:p>
            <a:r>
              <a:rPr lang="zh-CN" altLang="en-US" dirty="0"/>
              <a:t>信息订阅</a:t>
            </a:r>
          </a:p>
        </p:txBody>
      </p:sp>
      <p:sp>
        <p:nvSpPr>
          <p:cNvPr id="4" name="灯片编号占位符 3"/>
          <p:cNvSpPr>
            <a:spLocks noGrp="1"/>
          </p:cNvSpPr>
          <p:nvPr>
            <p:ph type="sldNum" sz="quarter" idx="12"/>
          </p:nvPr>
        </p:nvSpPr>
        <p:spPr/>
        <p:txBody>
          <a:bodyPr/>
          <a:lstStyle/>
          <a:p>
            <a:fld id="{BD61978C-FD3D-4268-8D6C-034E9AD544A3}" type="slidenum">
              <a:rPr lang="en-US" altLang="zh-CN" smtClean="0"/>
              <a:pPr/>
              <a:t>31</a:t>
            </a:fld>
            <a:endParaRPr lang="en-US" altLang="zh-CN" dirty="0"/>
          </a:p>
        </p:txBody>
      </p:sp>
      <p:sp>
        <p:nvSpPr>
          <p:cNvPr id="5" name="矩形 4"/>
          <p:cNvSpPr/>
          <p:nvPr/>
        </p:nvSpPr>
        <p:spPr>
          <a:xfrm>
            <a:off x="565090" y="3860800"/>
            <a:ext cx="1470345" cy="1560606"/>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6" name="矩形 5"/>
          <p:cNvSpPr/>
          <p:nvPr/>
        </p:nvSpPr>
        <p:spPr>
          <a:xfrm>
            <a:off x="609600" y="1219200"/>
            <a:ext cx="4645507" cy="1668425"/>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0" name="圆柱形 9"/>
          <p:cNvSpPr/>
          <p:nvPr/>
        </p:nvSpPr>
        <p:spPr>
          <a:xfrm>
            <a:off x="1371600" y="1318610"/>
            <a:ext cx="1134158" cy="459175"/>
          </a:xfrm>
          <a:prstGeom prst="can">
            <a:avLst/>
          </a:prstGeom>
          <a:solidFill>
            <a:schemeClr val="bg2">
              <a:lumMod val="60000"/>
              <a:lumOff val="40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共享信息库</a:t>
            </a:r>
          </a:p>
        </p:txBody>
      </p:sp>
      <p:sp>
        <p:nvSpPr>
          <p:cNvPr id="22" name="TextBox 21"/>
          <p:cNvSpPr txBox="1"/>
          <p:nvPr/>
        </p:nvSpPr>
        <p:spPr>
          <a:xfrm>
            <a:off x="609600" y="1289368"/>
            <a:ext cx="400110" cy="810478"/>
          </a:xfrm>
          <a:prstGeom prst="rect">
            <a:avLst/>
          </a:prstGeom>
          <a:noFill/>
        </p:spPr>
        <p:txBody>
          <a:bodyPr vert="eaVert" wrap="none" rtlCol="0">
            <a:spAutoFit/>
          </a:bodyPr>
          <a:lstStyle/>
          <a:p>
            <a:r>
              <a:rPr lang="zh-CN" altLang="en-US" sz="1400" b="1" dirty="0">
                <a:latin typeface="+mn-ea"/>
                <a:ea typeface="+mn-ea"/>
              </a:rPr>
              <a:t>数据中心</a:t>
            </a:r>
          </a:p>
        </p:txBody>
      </p:sp>
      <p:sp>
        <p:nvSpPr>
          <p:cNvPr id="34" name="AutoShape 20"/>
          <p:cNvSpPr>
            <a:spLocks noChangeArrowheads="1"/>
          </p:cNvSpPr>
          <p:nvPr/>
        </p:nvSpPr>
        <p:spPr bwMode="auto">
          <a:xfrm rot="10800000">
            <a:off x="5562593" y="1143250"/>
            <a:ext cx="2933707" cy="4854578"/>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sz="1200" dirty="0"/>
          </a:p>
        </p:txBody>
      </p:sp>
      <p:sp>
        <p:nvSpPr>
          <p:cNvPr id="35" name="矩形 34"/>
          <p:cNvSpPr/>
          <p:nvPr/>
        </p:nvSpPr>
        <p:spPr>
          <a:xfrm>
            <a:off x="5486400" y="1421517"/>
            <a:ext cx="2971800" cy="4293483"/>
          </a:xfrm>
          <a:prstGeom prst="rect">
            <a:avLst/>
          </a:prstGeom>
        </p:spPr>
        <p:txBody>
          <a:bodyPr wrap="square">
            <a:spAutoFit/>
          </a:bodyPr>
          <a:lstStyle/>
          <a:p>
            <a:pPr marL="285750" indent="-285750">
              <a:lnSpc>
                <a:spcPct val="150000"/>
              </a:lnSpc>
              <a:buFont typeface="Wingdings" panose="05000000000000000000" pitchFamily="2" charset="2"/>
              <a:buChar char="ü"/>
            </a:pPr>
            <a:r>
              <a:rPr lang="zh-CN" altLang="en-US" sz="1400" b="1" dirty="0">
                <a:solidFill>
                  <a:srgbClr val="002060"/>
                </a:solidFill>
                <a:latin typeface="+mn-ea"/>
                <a:ea typeface="+mn-ea"/>
              </a:rPr>
              <a:t>中心节点与前置节点分别具备信息发布的功能，各自对发布的数据享有管理控制权。</a:t>
            </a:r>
            <a:endParaRPr lang="en-US" altLang="zh-CN" sz="1400" b="1" dirty="0">
              <a:solidFill>
                <a:srgbClr val="002060"/>
              </a:solidFill>
              <a:latin typeface="+mn-ea"/>
              <a:ea typeface="+mn-ea"/>
            </a:endParaRPr>
          </a:p>
          <a:p>
            <a:pPr marL="285750" indent="-285750">
              <a:lnSpc>
                <a:spcPct val="150000"/>
              </a:lnSpc>
              <a:buFont typeface="Wingdings" panose="05000000000000000000" pitchFamily="2" charset="2"/>
              <a:buChar char="ü"/>
            </a:pPr>
            <a:r>
              <a:rPr lang="zh-CN" altLang="en-US" sz="1400" b="1" dirty="0">
                <a:solidFill>
                  <a:srgbClr val="002060"/>
                </a:solidFill>
                <a:latin typeface="+mn-ea"/>
                <a:ea typeface="+mn-ea"/>
              </a:rPr>
              <a:t>业务系统可订阅中心节点发布的数据，中心节点及其它业务系统可订阅前置节点发布的数据。</a:t>
            </a:r>
            <a:endParaRPr lang="en-US" altLang="zh-CN" sz="1400" b="1" dirty="0">
              <a:solidFill>
                <a:srgbClr val="002060"/>
              </a:solidFill>
              <a:latin typeface="+mn-ea"/>
              <a:ea typeface="+mn-ea"/>
            </a:endParaRPr>
          </a:p>
          <a:p>
            <a:pPr marL="342900" indent="-342900">
              <a:lnSpc>
                <a:spcPct val="150000"/>
              </a:lnSpc>
              <a:buFont typeface="+mj-ea"/>
              <a:buAutoNum type="circleNumDbPlain"/>
            </a:pPr>
            <a:r>
              <a:rPr lang="zh-CN" altLang="en-US" sz="1400" b="1" dirty="0">
                <a:solidFill>
                  <a:srgbClr val="002060"/>
                </a:solidFill>
                <a:latin typeface="+mn-ea"/>
                <a:ea typeface="+mn-ea"/>
              </a:rPr>
              <a:t>数据订阅方根据资源目录体系对自己所关注的主题进行订阅；</a:t>
            </a:r>
            <a:endParaRPr lang="en-US" altLang="zh-CN" sz="1400" b="1" dirty="0">
              <a:solidFill>
                <a:srgbClr val="002060"/>
              </a:solidFill>
              <a:latin typeface="+mn-ea"/>
              <a:ea typeface="+mn-ea"/>
            </a:endParaRPr>
          </a:p>
          <a:p>
            <a:pPr marL="342900" indent="-342900">
              <a:lnSpc>
                <a:spcPct val="150000"/>
              </a:lnSpc>
              <a:buFont typeface="+mj-ea"/>
              <a:buAutoNum type="circleNumDbPlain"/>
            </a:pPr>
            <a:r>
              <a:rPr lang="zh-CN" altLang="en-US" sz="1400" b="1" dirty="0">
                <a:solidFill>
                  <a:srgbClr val="002060"/>
                </a:solidFill>
                <a:latin typeface="+mn-ea"/>
                <a:ea typeface="+mn-ea"/>
              </a:rPr>
              <a:t>经审核并订阅成功后，数据订阅处理系统根据订阅的主题从共享信息库中对相关数据整合处理，通过订阅传输链路将信息实时推送至数据订阅方。</a:t>
            </a:r>
          </a:p>
        </p:txBody>
      </p:sp>
      <p:sp>
        <p:nvSpPr>
          <p:cNvPr id="36" name="矩形 35"/>
          <p:cNvSpPr/>
          <p:nvPr/>
        </p:nvSpPr>
        <p:spPr>
          <a:xfrm>
            <a:off x="1322739" y="2196247"/>
            <a:ext cx="3452161" cy="636940"/>
          </a:xfrm>
          <a:prstGeom prst="rect">
            <a:avLst/>
          </a:prstGeom>
          <a:solidFill>
            <a:srgbClr val="FFFFFF"/>
          </a:solidFill>
          <a:ln>
            <a:solidFill>
              <a:schemeClr val="bg2">
                <a:lumMod val="20000"/>
                <a:lumOff val="80000"/>
              </a:schemeClr>
            </a:solidFill>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37" name="圆角矩形 36"/>
          <p:cNvSpPr/>
          <p:nvPr/>
        </p:nvSpPr>
        <p:spPr>
          <a:xfrm>
            <a:off x="1562100" y="2318139"/>
            <a:ext cx="838200" cy="419100"/>
          </a:xfrm>
          <a:prstGeom prst="roundRect">
            <a:avLst/>
          </a:prstGeom>
          <a:solidFill>
            <a:srgbClr val="00B0F0"/>
          </a:solidFill>
          <a:ln>
            <a:solidFill>
              <a:srgbClr val="00B0F0"/>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订阅信息整合</a:t>
            </a:r>
          </a:p>
        </p:txBody>
      </p:sp>
      <p:sp>
        <p:nvSpPr>
          <p:cNvPr id="38" name="圆角矩形 37"/>
          <p:cNvSpPr/>
          <p:nvPr/>
        </p:nvSpPr>
        <p:spPr>
          <a:xfrm>
            <a:off x="2603500" y="2318917"/>
            <a:ext cx="863600" cy="419100"/>
          </a:xfrm>
          <a:prstGeom prst="roundRect">
            <a:avLst/>
          </a:prstGeom>
          <a:solidFill>
            <a:srgbClr val="00B0F0"/>
          </a:solidFill>
          <a:ln>
            <a:solidFill>
              <a:srgbClr val="00B0F0"/>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订阅信息处理</a:t>
            </a:r>
          </a:p>
        </p:txBody>
      </p:sp>
      <p:sp>
        <p:nvSpPr>
          <p:cNvPr id="44" name="圆柱形 43"/>
          <p:cNvSpPr/>
          <p:nvPr/>
        </p:nvSpPr>
        <p:spPr>
          <a:xfrm rot="5400000">
            <a:off x="2723731" y="1003962"/>
            <a:ext cx="399806" cy="4704268"/>
          </a:xfrm>
          <a:prstGeom prst="can">
            <a:avLst/>
          </a:prstGeom>
          <a:solidFill>
            <a:srgbClr val="0070C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400" b="1" dirty="0">
              <a:solidFill>
                <a:schemeClr val="bg1"/>
              </a:solidFill>
              <a:latin typeface="+mn-ea"/>
            </a:endParaRPr>
          </a:p>
        </p:txBody>
      </p:sp>
      <p:sp>
        <p:nvSpPr>
          <p:cNvPr id="45" name="矩形 44"/>
          <p:cNvSpPr/>
          <p:nvPr/>
        </p:nvSpPr>
        <p:spPr>
          <a:xfrm>
            <a:off x="1763825" y="3200400"/>
            <a:ext cx="2356735" cy="307777"/>
          </a:xfrm>
          <a:prstGeom prst="rect">
            <a:avLst/>
          </a:prstGeom>
        </p:spPr>
        <p:txBody>
          <a:bodyPr wrap="none">
            <a:spAutoFit/>
          </a:bodyPr>
          <a:lstStyle/>
          <a:p>
            <a:pPr algn="ctr"/>
            <a:r>
              <a:rPr lang="zh-CN" altLang="en-US" sz="1400" b="1" dirty="0">
                <a:solidFill>
                  <a:schemeClr val="bg1"/>
                </a:solidFill>
                <a:latin typeface="+mn-ea"/>
                <a:ea typeface="+mn-ea"/>
              </a:rPr>
              <a:t>订阅数据传输链路（</a:t>
            </a:r>
            <a:r>
              <a:rPr lang="en-US" altLang="zh-CN" sz="1400" b="1" dirty="0">
                <a:solidFill>
                  <a:schemeClr val="bg1"/>
                </a:solidFill>
                <a:latin typeface="+mn-ea"/>
                <a:ea typeface="+mn-ea"/>
              </a:rPr>
              <a:t>JMS</a:t>
            </a:r>
            <a:r>
              <a:rPr lang="zh-CN" altLang="en-US" sz="1400" b="1" dirty="0">
                <a:solidFill>
                  <a:schemeClr val="bg1"/>
                </a:solidFill>
                <a:latin typeface="+mn-ea"/>
                <a:ea typeface="+mn-ea"/>
              </a:rPr>
              <a:t>）</a:t>
            </a:r>
            <a:endParaRPr lang="en-US" altLang="zh-CN" sz="1400" b="1" dirty="0">
              <a:solidFill>
                <a:schemeClr val="bg1"/>
              </a:solidFill>
              <a:latin typeface="+mn-ea"/>
              <a:ea typeface="+mn-ea"/>
            </a:endParaRPr>
          </a:p>
        </p:txBody>
      </p:sp>
      <p:sp>
        <p:nvSpPr>
          <p:cNvPr id="50" name="右箭头 49"/>
          <p:cNvSpPr/>
          <p:nvPr/>
        </p:nvSpPr>
        <p:spPr>
          <a:xfrm rot="5400000">
            <a:off x="2813569" y="2879020"/>
            <a:ext cx="327211" cy="315548"/>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51" name="右箭头 50"/>
          <p:cNvSpPr/>
          <p:nvPr/>
        </p:nvSpPr>
        <p:spPr>
          <a:xfrm rot="5400000">
            <a:off x="1120626" y="3529422"/>
            <a:ext cx="327211" cy="315548"/>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52" name="右箭头 51"/>
          <p:cNvSpPr/>
          <p:nvPr/>
        </p:nvSpPr>
        <p:spPr>
          <a:xfrm rot="5400000">
            <a:off x="4470444" y="3542123"/>
            <a:ext cx="327211" cy="315548"/>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53" name="右箭头 52"/>
          <p:cNvSpPr/>
          <p:nvPr/>
        </p:nvSpPr>
        <p:spPr>
          <a:xfrm rot="5400000">
            <a:off x="2813569" y="3539420"/>
            <a:ext cx="327211" cy="315548"/>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61" name="Freeform 9"/>
          <p:cNvSpPr>
            <a:spLocks/>
          </p:cNvSpPr>
          <p:nvPr/>
        </p:nvSpPr>
        <p:spPr bwMode="auto">
          <a:xfrm rot="16200000">
            <a:off x="2580243" y="1306091"/>
            <a:ext cx="384816" cy="432000"/>
          </a:xfrm>
          <a:custGeom>
            <a:avLst/>
            <a:gdLst/>
            <a:ahLst/>
            <a:cxnLst>
              <a:cxn ang="0">
                <a:pos x="2502" y="0"/>
              </a:cxn>
              <a:cxn ang="0">
                <a:pos x="1465" y="383"/>
              </a:cxn>
              <a:cxn ang="0">
                <a:pos x="1783" y="383"/>
              </a:cxn>
              <a:cxn ang="0">
                <a:pos x="0" y="1908"/>
              </a:cxn>
              <a:cxn ang="0">
                <a:pos x="5034" y="1908"/>
              </a:cxn>
              <a:cxn ang="0">
                <a:pos x="3229" y="383"/>
              </a:cxn>
              <a:cxn ang="0">
                <a:pos x="3613" y="395"/>
              </a:cxn>
              <a:cxn ang="0">
                <a:pos x="2502" y="0"/>
              </a:cxn>
            </a:cxnLst>
            <a:rect l="0" t="0" r="r" b="b"/>
            <a:pathLst>
              <a:path w="5034" h="1908">
                <a:moveTo>
                  <a:pt x="2502" y="0"/>
                </a:moveTo>
                <a:lnTo>
                  <a:pt x="1465" y="383"/>
                </a:lnTo>
                <a:lnTo>
                  <a:pt x="1783" y="383"/>
                </a:lnTo>
                <a:lnTo>
                  <a:pt x="0" y="1908"/>
                </a:lnTo>
                <a:lnTo>
                  <a:pt x="5034" y="1908"/>
                </a:lnTo>
                <a:lnTo>
                  <a:pt x="3229" y="383"/>
                </a:lnTo>
                <a:lnTo>
                  <a:pt x="3613" y="395"/>
                </a:lnTo>
                <a:lnTo>
                  <a:pt x="2502" y="0"/>
                </a:lnTo>
                <a:close/>
              </a:path>
            </a:pathLst>
          </a:custGeom>
          <a:gradFill flip="none" rotWithShape="1">
            <a:gsLst>
              <a:gs pos="0">
                <a:srgbClr val="FF66CC">
                  <a:tint val="66000"/>
                  <a:satMod val="160000"/>
                </a:srgbClr>
              </a:gs>
              <a:gs pos="50000">
                <a:srgbClr val="FF66CC">
                  <a:tint val="44500"/>
                  <a:satMod val="160000"/>
                </a:srgbClr>
              </a:gs>
              <a:gs pos="100000">
                <a:srgbClr val="FF66CC">
                  <a:tint val="23500"/>
                  <a:satMod val="160000"/>
                </a:srgbClr>
              </a:gs>
            </a:gsLst>
            <a:path path="circle">
              <a:fillToRect r="100000" b="100000"/>
            </a:path>
            <a:tileRect l="-100000" t="-100000"/>
          </a:gradFill>
          <a:ln w="9525" cap="flat" cmpd="sng">
            <a:noFill/>
            <a:prstDash val="solid"/>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grpSp>
        <p:nvGrpSpPr>
          <p:cNvPr id="87" name="组合 86"/>
          <p:cNvGrpSpPr/>
          <p:nvPr/>
        </p:nvGrpSpPr>
        <p:grpSpPr>
          <a:xfrm>
            <a:off x="3013851" y="1295400"/>
            <a:ext cx="900250" cy="425330"/>
            <a:chOff x="3886200" y="1257301"/>
            <a:chExt cx="900250" cy="425330"/>
          </a:xfrm>
        </p:grpSpPr>
        <p:sp>
          <p:nvSpPr>
            <p:cNvPr id="57" name="圆角矩形 56"/>
            <p:cNvSpPr/>
            <p:nvPr/>
          </p:nvSpPr>
          <p:spPr>
            <a:xfrm>
              <a:off x="3886200" y="1257301"/>
              <a:ext cx="900250" cy="425330"/>
            </a:xfrm>
            <a:prstGeom prst="roundRect">
              <a:avLst/>
            </a:prstGeom>
            <a:solidFill>
              <a:schemeClr val="accent6">
                <a:lumMod val="60000"/>
                <a:lumOff val="40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200" b="1" dirty="0">
                <a:solidFill>
                  <a:schemeClr val="bg1"/>
                </a:solidFill>
                <a:latin typeface="+mn-ea"/>
              </a:endParaRPr>
            </a:p>
          </p:txBody>
        </p:sp>
        <p:sp>
          <p:nvSpPr>
            <p:cNvPr id="62" name="矩形 61"/>
            <p:cNvSpPr/>
            <p:nvPr/>
          </p:nvSpPr>
          <p:spPr>
            <a:xfrm>
              <a:off x="3911600" y="1371600"/>
              <a:ext cx="800219" cy="276999"/>
            </a:xfrm>
            <a:prstGeom prst="rect">
              <a:avLst/>
            </a:prstGeom>
            <a:solidFill>
              <a:schemeClr val="accent6">
                <a:lumMod val="60000"/>
                <a:lumOff val="40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latin typeface="+mn-ea"/>
                  <a:ea typeface="+mn-ea"/>
                </a:rPr>
                <a:t>资源目录</a:t>
              </a:r>
            </a:p>
          </p:txBody>
        </p:sp>
      </p:grpSp>
      <p:sp>
        <p:nvSpPr>
          <p:cNvPr id="79" name="圆角矩形 78"/>
          <p:cNvSpPr/>
          <p:nvPr/>
        </p:nvSpPr>
        <p:spPr>
          <a:xfrm>
            <a:off x="3704221" y="2305167"/>
            <a:ext cx="863600" cy="419100"/>
          </a:xfrm>
          <a:prstGeom prst="roundRect">
            <a:avLst/>
          </a:prstGeom>
          <a:solidFill>
            <a:srgbClr val="00B0F0"/>
          </a:solidFill>
          <a:ln>
            <a:solidFill>
              <a:srgbClr val="00B0F0"/>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订阅信息推送</a:t>
            </a:r>
          </a:p>
        </p:txBody>
      </p:sp>
      <p:pic>
        <p:nvPicPr>
          <p:cNvPr id="96" name="Picture 4"/>
          <p:cNvPicPr>
            <a:picLocks noChangeAspect="1" noChangeArrowheads="1"/>
          </p:cNvPicPr>
          <p:nvPr/>
        </p:nvPicPr>
        <p:blipFill>
          <a:blip r:embed="rId3" cstate="print"/>
          <a:srcRect/>
          <a:stretch>
            <a:fillRect/>
          </a:stretch>
        </p:blipFill>
        <p:spPr bwMode="auto">
          <a:xfrm>
            <a:off x="4404810" y="1318610"/>
            <a:ext cx="548190" cy="376782"/>
          </a:xfrm>
          <a:prstGeom prst="rect">
            <a:avLst/>
          </a:prstGeom>
          <a:noFill/>
          <a:ln w="9525">
            <a:noFill/>
            <a:miter lim="800000"/>
            <a:headEnd/>
            <a:tailEnd/>
          </a:ln>
          <a:effectLst/>
        </p:spPr>
      </p:pic>
      <p:sp>
        <p:nvSpPr>
          <p:cNvPr id="97" name="Freeform 9"/>
          <p:cNvSpPr>
            <a:spLocks/>
          </p:cNvSpPr>
          <p:nvPr/>
        </p:nvSpPr>
        <p:spPr bwMode="auto">
          <a:xfrm rot="16200000">
            <a:off x="3892698" y="1381899"/>
            <a:ext cx="462548" cy="323143"/>
          </a:xfrm>
          <a:custGeom>
            <a:avLst/>
            <a:gdLst/>
            <a:ahLst/>
            <a:cxnLst>
              <a:cxn ang="0">
                <a:pos x="2502" y="0"/>
              </a:cxn>
              <a:cxn ang="0">
                <a:pos x="1465" y="383"/>
              </a:cxn>
              <a:cxn ang="0">
                <a:pos x="1783" y="383"/>
              </a:cxn>
              <a:cxn ang="0">
                <a:pos x="0" y="1908"/>
              </a:cxn>
              <a:cxn ang="0">
                <a:pos x="5034" y="1908"/>
              </a:cxn>
              <a:cxn ang="0">
                <a:pos x="3229" y="383"/>
              </a:cxn>
              <a:cxn ang="0">
                <a:pos x="3613" y="395"/>
              </a:cxn>
              <a:cxn ang="0">
                <a:pos x="2502" y="0"/>
              </a:cxn>
            </a:cxnLst>
            <a:rect l="0" t="0" r="r" b="b"/>
            <a:pathLst>
              <a:path w="5034" h="1908">
                <a:moveTo>
                  <a:pt x="2502" y="0"/>
                </a:moveTo>
                <a:lnTo>
                  <a:pt x="1465" y="383"/>
                </a:lnTo>
                <a:lnTo>
                  <a:pt x="1783" y="383"/>
                </a:lnTo>
                <a:lnTo>
                  <a:pt x="0" y="1908"/>
                </a:lnTo>
                <a:lnTo>
                  <a:pt x="5034" y="1908"/>
                </a:lnTo>
                <a:lnTo>
                  <a:pt x="3229" y="383"/>
                </a:lnTo>
                <a:lnTo>
                  <a:pt x="3613" y="395"/>
                </a:lnTo>
                <a:lnTo>
                  <a:pt x="2502" y="0"/>
                </a:lnTo>
                <a:close/>
              </a:path>
            </a:pathLst>
          </a:custGeom>
          <a:gradFill flip="none" rotWithShape="1">
            <a:gsLst>
              <a:gs pos="0">
                <a:srgbClr val="FF66CC">
                  <a:tint val="66000"/>
                  <a:satMod val="160000"/>
                </a:srgbClr>
              </a:gs>
              <a:gs pos="50000">
                <a:srgbClr val="FF66CC">
                  <a:tint val="44500"/>
                  <a:satMod val="160000"/>
                </a:srgbClr>
              </a:gs>
              <a:gs pos="100000">
                <a:srgbClr val="FF66CC">
                  <a:tint val="23500"/>
                  <a:satMod val="160000"/>
                </a:srgbClr>
              </a:gs>
            </a:gsLst>
            <a:path path="circle">
              <a:fillToRect r="100000" b="100000"/>
            </a:path>
            <a:tileRect l="-100000" t="-100000"/>
          </a:gradFill>
          <a:ln w="9525" cap="flat" cmpd="sng">
            <a:noFill/>
            <a:prstDash val="solid"/>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98" name="右箭头 97"/>
          <p:cNvSpPr/>
          <p:nvPr/>
        </p:nvSpPr>
        <p:spPr>
          <a:xfrm rot="5400000">
            <a:off x="1715675" y="1831988"/>
            <a:ext cx="323971" cy="325109"/>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03" name="圆角矩形 102"/>
          <p:cNvSpPr/>
          <p:nvPr/>
        </p:nvSpPr>
        <p:spPr>
          <a:xfrm>
            <a:off x="914400" y="3962400"/>
            <a:ext cx="900250" cy="425330"/>
          </a:xfrm>
          <a:prstGeom prst="roundRect">
            <a:avLst/>
          </a:prstGeom>
          <a:solidFill>
            <a:schemeClr val="bg2">
              <a:lumMod val="60000"/>
              <a:lumOff val="40000"/>
            </a:schemeClr>
          </a:solidFill>
          <a:ln>
            <a:solidFill>
              <a:schemeClr val="bg2">
                <a:lumMod val="60000"/>
                <a:lumOff val="4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06" name="圆角矩形 105"/>
          <p:cNvSpPr/>
          <p:nvPr/>
        </p:nvSpPr>
        <p:spPr>
          <a:xfrm>
            <a:off x="2667000" y="3962400"/>
            <a:ext cx="900250" cy="425330"/>
          </a:xfrm>
          <a:prstGeom prst="roundRect">
            <a:avLst/>
          </a:prstGeom>
          <a:solidFill>
            <a:schemeClr val="bg2">
              <a:lumMod val="60000"/>
              <a:lumOff val="40000"/>
            </a:schemeClr>
          </a:solidFill>
          <a:ln>
            <a:solidFill>
              <a:schemeClr val="bg2">
                <a:lumMod val="60000"/>
                <a:lumOff val="4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09" name="圆角矩形 108"/>
          <p:cNvSpPr/>
          <p:nvPr/>
        </p:nvSpPr>
        <p:spPr>
          <a:xfrm>
            <a:off x="4205150" y="3962400"/>
            <a:ext cx="900250" cy="425330"/>
          </a:xfrm>
          <a:prstGeom prst="roundRect">
            <a:avLst/>
          </a:prstGeom>
          <a:solidFill>
            <a:schemeClr val="bg2">
              <a:lumMod val="60000"/>
              <a:lumOff val="40000"/>
            </a:schemeClr>
          </a:solidFill>
          <a:ln>
            <a:solidFill>
              <a:schemeClr val="bg2">
                <a:lumMod val="60000"/>
                <a:lumOff val="4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11" name="TextBox 110"/>
          <p:cNvSpPr txBox="1"/>
          <p:nvPr/>
        </p:nvSpPr>
        <p:spPr>
          <a:xfrm>
            <a:off x="4343400" y="1705098"/>
            <a:ext cx="954107" cy="276999"/>
          </a:xfrm>
          <a:prstGeom prst="rect">
            <a:avLst/>
          </a:prstGeom>
          <a:noFill/>
        </p:spPr>
        <p:txBody>
          <a:bodyPr wrap="none" rtlCol="0">
            <a:spAutoFit/>
          </a:bodyPr>
          <a:lstStyle/>
          <a:p>
            <a:pPr algn="ctr"/>
            <a:r>
              <a:rPr lang="zh-CN" altLang="en-US" sz="1200" dirty="0">
                <a:latin typeface="+mn-ea"/>
                <a:ea typeface="+mn-ea"/>
              </a:rPr>
              <a:t>数据订阅方</a:t>
            </a:r>
          </a:p>
        </p:txBody>
      </p:sp>
      <p:sp>
        <p:nvSpPr>
          <p:cNvPr id="112" name="矩形 111"/>
          <p:cNvSpPr/>
          <p:nvPr/>
        </p:nvSpPr>
        <p:spPr>
          <a:xfrm>
            <a:off x="1066800" y="4066401"/>
            <a:ext cx="492444" cy="276999"/>
          </a:xfrm>
          <a:prstGeom prst="rect">
            <a:avLst/>
          </a:prstGeom>
        </p:spPr>
        <p:txBody>
          <a:bodyPr wrap="none">
            <a:spAutoFit/>
          </a:bodyPr>
          <a:lstStyle/>
          <a:p>
            <a:pPr algn="ctr"/>
            <a:r>
              <a:rPr lang="zh-CN" altLang="en-US" sz="1200" b="1" dirty="0">
                <a:solidFill>
                  <a:schemeClr val="bg1"/>
                </a:solidFill>
                <a:latin typeface="+mn-ea"/>
                <a:ea typeface="+mn-ea"/>
              </a:rPr>
              <a:t>公安</a:t>
            </a:r>
          </a:p>
        </p:txBody>
      </p:sp>
      <p:sp>
        <p:nvSpPr>
          <p:cNvPr id="113" name="矩形 112"/>
          <p:cNvSpPr/>
          <p:nvPr/>
        </p:nvSpPr>
        <p:spPr>
          <a:xfrm>
            <a:off x="2846288" y="4076699"/>
            <a:ext cx="492444" cy="276999"/>
          </a:xfrm>
          <a:prstGeom prst="rect">
            <a:avLst/>
          </a:prstGeom>
        </p:spPr>
        <p:txBody>
          <a:bodyPr wrap="none">
            <a:spAutoFit/>
          </a:bodyPr>
          <a:lstStyle/>
          <a:p>
            <a:pPr algn="ctr"/>
            <a:r>
              <a:rPr lang="zh-CN" altLang="en-US" sz="1200" b="1" dirty="0">
                <a:solidFill>
                  <a:schemeClr val="bg1"/>
                </a:solidFill>
                <a:latin typeface="+mn-ea"/>
                <a:ea typeface="+mn-ea"/>
              </a:rPr>
              <a:t>民政</a:t>
            </a:r>
          </a:p>
        </p:txBody>
      </p:sp>
      <p:pic>
        <p:nvPicPr>
          <p:cNvPr id="116" name="Picture 4"/>
          <p:cNvPicPr>
            <a:picLocks noChangeAspect="1" noChangeArrowheads="1"/>
          </p:cNvPicPr>
          <p:nvPr/>
        </p:nvPicPr>
        <p:blipFill>
          <a:blip r:embed="rId3" cstate="print"/>
          <a:srcRect/>
          <a:stretch>
            <a:fillRect/>
          </a:stretch>
        </p:blipFill>
        <p:spPr bwMode="auto">
          <a:xfrm>
            <a:off x="4791668" y="5627809"/>
            <a:ext cx="548190" cy="376782"/>
          </a:xfrm>
          <a:prstGeom prst="rect">
            <a:avLst/>
          </a:prstGeom>
          <a:noFill/>
          <a:ln w="9525">
            <a:noFill/>
            <a:miter lim="800000"/>
            <a:headEnd/>
            <a:tailEnd/>
          </a:ln>
          <a:effectLst/>
        </p:spPr>
      </p:pic>
      <p:sp>
        <p:nvSpPr>
          <p:cNvPr id="120" name="TextBox 119"/>
          <p:cNvSpPr txBox="1"/>
          <p:nvPr/>
        </p:nvSpPr>
        <p:spPr>
          <a:xfrm>
            <a:off x="4608493" y="6091081"/>
            <a:ext cx="954107" cy="276999"/>
          </a:xfrm>
          <a:prstGeom prst="rect">
            <a:avLst/>
          </a:prstGeom>
          <a:noFill/>
        </p:spPr>
        <p:txBody>
          <a:bodyPr wrap="none" rtlCol="0">
            <a:spAutoFit/>
          </a:bodyPr>
          <a:lstStyle/>
          <a:p>
            <a:pPr algn="ctr"/>
            <a:r>
              <a:rPr lang="zh-CN" altLang="en-US" sz="1200" dirty="0">
                <a:latin typeface="+mn-ea"/>
                <a:ea typeface="+mn-ea"/>
              </a:rPr>
              <a:t>数据订阅方</a:t>
            </a:r>
          </a:p>
        </p:txBody>
      </p:sp>
      <p:sp>
        <p:nvSpPr>
          <p:cNvPr id="121" name="矩形 120"/>
          <p:cNvSpPr/>
          <p:nvPr/>
        </p:nvSpPr>
        <p:spPr>
          <a:xfrm>
            <a:off x="967439" y="5687660"/>
            <a:ext cx="3452161" cy="636940"/>
          </a:xfrm>
          <a:prstGeom prst="rect">
            <a:avLst/>
          </a:prstGeom>
          <a:solidFill>
            <a:srgbClr val="FFFFFF"/>
          </a:solidFill>
          <a:ln>
            <a:solidFill>
              <a:schemeClr val="bg2">
                <a:lumMod val="20000"/>
                <a:lumOff val="80000"/>
              </a:schemeClr>
            </a:solidFill>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22" name="圆角矩形 121"/>
          <p:cNvSpPr/>
          <p:nvPr/>
        </p:nvSpPr>
        <p:spPr>
          <a:xfrm>
            <a:off x="1130600" y="5791200"/>
            <a:ext cx="838200" cy="419100"/>
          </a:xfrm>
          <a:prstGeom prst="roundRect">
            <a:avLst/>
          </a:prstGeom>
          <a:solidFill>
            <a:srgbClr val="00B0F0"/>
          </a:solidFill>
          <a:ln>
            <a:solidFill>
              <a:srgbClr val="00B0F0"/>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订阅信息整合</a:t>
            </a:r>
          </a:p>
        </p:txBody>
      </p:sp>
      <p:sp>
        <p:nvSpPr>
          <p:cNvPr id="123" name="圆角矩形 122"/>
          <p:cNvSpPr/>
          <p:nvPr/>
        </p:nvSpPr>
        <p:spPr>
          <a:xfrm>
            <a:off x="2172000" y="5791200"/>
            <a:ext cx="863600" cy="419100"/>
          </a:xfrm>
          <a:prstGeom prst="roundRect">
            <a:avLst/>
          </a:prstGeom>
          <a:solidFill>
            <a:srgbClr val="00B0F0"/>
          </a:solidFill>
          <a:ln>
            <a:solidFill>
              <a:srgbClr val="00B0F0"/>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订阅信息处理</a:t>
            </a:r>
          </a:p>
        </p:txBody>
      </p:sp>
      <p:sp>
        <p:nvSpPr>
          <p:cNvPr id="124" name="圆角矩形 123"/>
          <p:cNvSpPr/>
          <p:nvPr/>
        </p:nvSpPr>
        <p:spPr>
          <a:xfrm>
            <a:off x="3272721" y="5791200"/>
            <a:ext cx="863600" cy="419100"/>
          </a:xfrm>
          <a:prstGeom prst="roundRect">
            <a:avLst/>
          </a:prstGeom>
          <a:solidFill>
            <a:srgbClr val="00B0F0"/>
          </a:solidFill>
          <a:ln>
            <a:solidFill>
              <a:srgbClr val="00B0F0"/>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订阅信息推送</a:t>
            </a:r>
          </a:p>
        </p:txBody>
      </p:sp>
      <p:sp>
        <p:nvSpPr>
          <p:cNvPr id="132" name="圆柱形 131"/>
          <p:cNvSpPr/>
          <p:nvPr/>
        </p:nvSpPr>
        <p:spPr>
          <a:xfrm>
            <a:off x="914400" y="4462195"/>
            <a:ext cx="900250" cy="414605"/>
          </a:xfrm>
          <a:prstGeom prst="can">
            <a:avLst/>
          </a:prstGeom>
          <a:solidFill>
            <a:schemeClr val="bg2">
              <a:lumMod val="60000"/>
              <a:lumOff val="40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信息库</a:t>
            </a:r>
          </a:p>
        </p:txBody>
      </p:sp>
      <p:sp>
        <p:nvSpPr>
          <p:cNvPr id="135" name="右箭头 134"/>
          <p:cNvSpPr/>
          <p:nvPr/>
        </p:nvSpPr>
        <p:spPr>
          <a:xfrm>
            <a:off x="4473389" y="5780452"/>
            <a:ext cx="327211" cy="315548"/>
          </a:xfrm>
          <a:prstGeom prst="rightArrow">
            <a:avLst/>
          </a:prstGeom>
          <a:noFill/>
          <a:ln>
            <a:solidFill>
              <a:srgbClr val="6699FF"/>
            </a:solidFill>
            <a:prstDash val="sysDash"/>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137" name="TextBox 136"/>
          <p:cNvSpPr txBox="1"/>
          <p:nvPr/>
        </p:nvSpPr>
        <p:spPr>
          <a:xfrm>
            <a:off x="552390" y="3898900"/>
            <a:ext cx="400110" cy="810478"/>
          </a:xfrm>
          <a:prstGeom prst="rect">
            <a:avLst/>
          </a:prstGeom>
          <a:noFill/>
        </p:spPr>
        <p:txBody>
          <a:bodyPr vert="eaVert" wrap="none" rtlCol="0">
            <a:spAutoFit/>
          </a:bodyPr>
          <a:lstStyle/>
          <a:p>
            <a:r>
              <a:rPr lang="zh-CN" altLang="en-US" sz="1400" b="1" dirty="0">
                <a:latin typeface="+mn-ea"/>
                <a:ea typeface="+mn-ea"/>
              </a:rPr>
              <a:t>前置节点</a:t>
            </a:r>
          </a:p>
        </p:txBody>
      </p:sp>
      <p:sp>
        <p:nvSpPr>
          <p:cNvPr id="144" name="圆角矩形 143"/>
          <p:cNvSpPr/>
          <p:nvPr/>
        </p:nvSpPr>
        <p:spPr>
          <a:xfrm>
            <a:off x="915850" y="5014443"/>
            <a:ext cx="900250" cy="319557"/>
          </a:xfrm>
          <a:prstGeom prst="roundRect">
            <a:avLst/>
          </a:prstGeom>
          <a:solidFill>
            <a:schemeClr val="accent6">
              <a:lumMod val="60000"/>
              <a:lumOff val="40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latin typeface="+mn-ea"/>
              </a:rPr>
              <a:t>资源目录</a:t>
            </a:r>
          </a:p>
        </p:txBody>
      </p:sp>
      <p:sp>
        <p:nvSpPr>
          <p:cNvPr id="148" name="圆柱形 147"/>
          <p:cNvSpPr/>
          <p:nvPr/>
        </p:nvSpPr>
        <p:spPr>
          <a:xfrm>
            <a:off x="2645871" y="4462195"/>
            <a:ext cx="935529" cy="414605"/>
          </a:xfrm>
          <a:prstGeom prst="can">
            <a:avLst/>
          </a:prstGeom>
          <a:solidFill>
            <a:schemeClr val="bg2">
              <a:lumMod val="60000"/>
              <a:lumOff val="40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信息库</a:t>
            </a:r>
          </a:p>
        </p:txBody>
      </p:sp>
      <p:sp>
        <p:nvSpPr>
          <p:cNvPr id="158" name="右箭头 157"/>
          <p:cNvSpPr/>
          <p:nvPr/>
        </p:nvSpPr>
        <p:spPr>
          <a:xfrm rot="5400000">
            <a:off x="2682682" y="5477435"/>
            <a:ext cx="327211" cy="315548"/>
          </a:xfrm>
          <a:prstGeom prst="rightArrow">
            <a:avLst/>
          </a:prstGeom>
          <a:noFill/>
          <a:ln>
            <a:solidFill>
              <a:srgbClr val="6699FF"/>
            </a:solidFill>
            <a:prstDash val="sysDash"/>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60" name="矩形 59"/>
          <p:cNvSpPr/>
          <p:nvPr/>
        </p:nvSpPr>
        <p:spPr>
          <a:xfrm>
            <a:off x="4419600" y="4066401"/>
            <a:ext cx="492444" cy="276999"/>
          </a:xfrm>
          <a:prstGeom prst="rect">
            <a:avLst/>
          </a:prstGeom>
        </p:spPr>
        <p:txBody>
          <a:bodyPr wrap="none">
            <a:spAutoFit/>
          </a:bodyPr>
          <a:lstStyle/>
          <a:p>
            <a:pPr algn="ctr"/>
            <a:r>
              <a:rPr lang="zh-CN" altLang="en-US" sz="1200" b="1" dirty="0">
                <a:solidFill>
                  <a:schemeClr val="bg1"/>
                </a:solidFill>
                <a:latin typeface="+mn-ea"/>
                <a:ea typeface="+mn-ea"/>
              </a:rPr>
              <a:t>社保</a:t>
            </a:r>
          </a:p>
        </p:txBody>
      </p:sp>
      <p:sp>
        <p:nvSpPr>
          <p:cNvPr id="63" name="TextBox 62"/>
          <p:cNvSpPr txBox="1"/>
          <p:nvPr/>
        </p:nvSpPr>
        <p:spPr>
          <a:xfrm>
            <a:off x="2241490" y="3886200"/>
            <a:ext cx="400110" cy="810478"/>
          </a:xfrm>
          <a:prstGeom prst="rect">
            <a:avLst/>
          </a:prstGeom>
          <a:noFill/>
        </p:spPr>
        <p:txBody>
          <a:bodyPr vert="eaVert" wrap="none" rtlCol="0">
            <a:spAutoFit/>
          </a:bodyPr>
          <a:lstStyle/>
          <a:p>
            <a:r>
              <a:rPr lang="zh-CN" altLang="en-US" sz="1400" b="1" dirty="0">
                <a:latin typeface="+mn-ea"/>
                <a:ea typeface="+mn-ea"/>
              </a:rPr>
              <a:t>前置节点</a:t>
            </a:r>
          </a:p>
        </p:txBody>
      </p:sp>
      <p:sp>
        <p:nvSpPr>
          <p:cNvPr id="64" name="TextBox 63"/>
          <p:cNvSpPr txBox="1"/>
          <p:nvPr/>
        </p:nvSpPr>
        <p:spPr>
          <a:xfrm>
            <a:off x="3841690" y="3886200"/>
            <a:ext cx="400110" cy="810478"/>
          </a:xfrm>
          <a:prstGeom prst="rect">
            <a:avLst/>
          </a:prstGeom>
          <a:noFill/>
        </p:spPr>
        <p:txBody>
          <a:bodyPr vert="eaVert" wrap="none" rtlCol="0">
            <a:spAutoFit/>
          </a:bodyPr>
          <a:lstStyle/>
          <a:p>
            <a:r>
              <a:rPr lang="zh-CN" altLang="en-US" sz="1400" b="1" dirty="0">
                <a:latin typeface="+mn-ea"/>
                <a:ea typeface="+mn-ea"/>
              </a:rPr>
              <a:t>前置节点</a:t>
            </a:r>
          </a:p>
        </p:txBody>
      </p:sp>
      <p:sp>
        <p:nvSpPr>
          <p:cNvPr id="65" name="圆角矩形 64"/>
          <p:cNvSpPr/>
          <p:nvPr/>
        </p:nvSpPr>
        <p:spPr>
          <a:xfrm>
            <a:off x="2681150" y="5014443"/>
            <a:ext cx="900250" cy="319557"/>
          </a:xfrm>
          <a:prstGeom prst="roundRect">
            <a:avLst/>
          </a:prstGeom>
          <a:solidFill>
            <a:schemeClr val="accent6">
              <a:lumMod val="60000"/>
              <a:lumOff val="40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latin typeface="+mn-ea"/>
              </a:rPr>
              <a:t>资源目录</a:t>
            </a:r>
          </a:p>
        </p:txBody>
      </p:sp>
      <p:sp>
        <p:nvSpPr>
          <p:cNvPr id="66" name="圆角矩形 65"/>
          <p:cNvSpPr/>
          <p:nvPr/>
        </p:nvSpPr>
        <p:spPr>
          <a:xfrm>
            <a:off x="4230550" y="5016500"/>
            <a:ext cx="900250" cy="319557"/>
          </a:xfrm>
          <a:prstGeom prst="roundRect">
            <a:avLst/>
          </a:prstGeom>
          <a:solidFill>
            <a:schemeClr val="accent6">
              <a:lumMod val="60000"/>
              <a:lumOff val="40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200" b="1" dirty="0">
                <a:solidFill>
                  <a:schemeClr val="bg1"/>
                </a:solidFill>
                <a:latin typeface="+mn-ea"/>
              </a:rPr>
              <a:t>资源目录</a:t>
            </a:r>
          </a:p>
        </p:txBody>
      </p:sp>
    </p:spTree>
    <p:extLst>
      <p:ext uri="{BB962C8B-B14F-4D97-AF65-F5344CB8AC3E}">
        <p14:creationId xmlns:p14="http://schemas.microsoft.com/office/powerpoint/2010/main" val="3448956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304800" y="228600"/>
            <a:ext cx="6858000" cy="411162"/>
          </a:xfrm>
        </p:spPr>
        <p:txBody>
          <a:bodyPr/>
          <a:lstStyle/>
          <a:p>
            <a:r>
              <a:rPr lang="zh-CN" altLang="en-US" sz="3200" dirty="0">
                <a:latin typeface="+mj-ea"/>
              </a:rPr>
              <a:t>横向数据交换（待定）</a:t>
            </a:r>
          </a:p>
        </p:txBody>
      </p:sp>
      <p:grpSp>
        <p:nvGrpSpPr>
          <p:cNvPr id="20" name="组合 19"/>
          <p:cNvGrpSpPr/>
          <p:nvPr/>
        </p:nvGrpSpPr>
        <p:grpSpPr>
          <a:xfrm>
            <a:off x="450797" y="2286000"/>
            <a:ext cx="8236003" cy="3810000"/>
            <a:chOff x="152400" y="1295400"/>
            <a:chExt cx="8991600" cy="4800600"/>
          </a:xfrm>
        </p:grpSpPr>
        <p:grpSp>
          <p:nvGrpSpPr>
            <p:cNvPr id="51" name="组合 50"/>
            <p:cNvGrpSpPr/>
            <p:nvPr/>
          </p:nvGrpSpPr>
          <p:grpSpPr>
            <a:xfrm>
              <a:off x="5898243" y="1338942"/>
              <a:ext cx="747486" cy="3461658"/>
              <a:chOff x="2552700" y="1752599"/>
              <a:chExt cx="747486" cy="3461658"/>
            </a:xfrm>
            <a:effectLst>
              <a:outerShdw blurRad="50800" dist="38100" dir="8100000" algn="tr" rotWithShape="0">
                <a:prstClr val="black">
                  <a:alpha val="40000"/>
                </a:prstClr>
              </a:outerShdw>
            </a:effectLst>
          </p:grpSpPr>
          <p:cxnSp>
            <p:nvCxnSpPr>
              <p:cNvPr id="52" name="直接连接符 51"/>
              <p:cNvCxnSpPr/>
              <p:nvPr/>
            </p:nvCxnSpPr>
            <p:spPr bwMode="auto">
              <a:xfrm flipV="1">
                <a:off x="2552700" y="1752599"/>
                <a:ext cx="732971" cy="762002"/>
              </a:xfrm>
              <a:prstGeom prst="line">
                <a:avLst/>
              </a:prstGeom>
              <a:solidFill>
                <a:srgbClr val="FFFFFF"/>
              </a:solidFill>
              <a:ln>
                <a:prstDash val="solid"/>
              </a:ln>
            </p:spPr>
            <p:style>
              <a:lnRef idx="1">
                <a:schemeClr val="accent2"/>
              </a:lnRef>
              <a:fillRef idx="3">
                <a:schemeClr val="accent2"/>
              </a:fillRef>
              <a:effectRef idx="2">
                <a:schemeClr val="accent2"/>
              </a:effectRef>
              <a:fontRef idx="minor">
                <a:schemeClr val="lt1"/>
              </a:fontRef>
            </p:style>
          </p:cxnSp>
          <p:cxnSp>
            <p:nvCxnSpPr>
              <p:cNvPr id="53" name="直接连接符 52"/>
              <p:cNvCxnSpPr/>
              <p:nvPr/>
            </p:nvCxnSpPr>
            <p:spPr bwMode="auto">
              <a:xfrm>
                <a:off x="2552700" y="2523671"/>
                <a:ext cx="0" cy="2657929"/>
              </a:xfrm>
              <a:prstGeom prst="line">
                <a:avLst/>
              </a:prstGeom>
              <a:solidFill>
                <a:srgbClr val="FFFFFF"/>
              </a:solidFill>
              <a:ln>
                <a:prstDash val="solid"/>
              </a:ln>
            </p:spPr>
            <p:style>
              <a:lnRef idx="1">
                <a:schemeClr val="accent2"/>
              </a:lnRef>
              <a:fillRef idx="3">
                <a:schemeClr val="accent2"/>
              </a:fillRef>
              <a:effectRef idx="2">
                <a:schemeClr val="accent2"/>
              </a:effectRef>
              <a:fontRef idx="minor">
                <a:schemeClr val="lt1"/>
              </a:fontRef>
            </p:style>
          </p:cxnSp>
          <p:cxnSp>
            <p:nvCxnSpPr>
              <p:cNvPr id="54" name="直接连接符 53"/>
              <p:cNvCxnSpPr/>
              <p:nvPr/>
            </p:nvCxnSpPr>
            <p:spPr bwMode="auto">
              <a:xfrm>
                <a:off x="3300186" y="1752599"/>
                <a:ext cx="0" cy="3461658"/>
              </a:xfrm>
              <a:prstGeom prst="line">
                <a:avLst/>
              </a:prstGeom>
              <a:solidFill>
                <a:srgbClr val="FFFFFF"/>
              </a:solidFill>
              <a:ln>
                <a:prstDash val="solid"/>
              </a:ln>
            </p:spPr>
            <p:style>
              <a:lnRef idx="1">
                <a:schemeClr val="accent2"/>
              </a:lnRef>
              <a:fillRef idx="3">
                <a:schemeClr val="accent2"/>
              </a:fillRef>
              <a:effectRef idx="2">
                <a:schemeClr val="accent2"/>
              </a:effectRef>
              <a:fontRef idx="minor">
                <a:schemeClr val="lt1"/>
              </a:fontRef>
            </p:style>
          </p:cxnSp>
        </p:grpSp>
        <p:grpSp>
          <p:nvGrpSpPr>
            <p:cNvPr id="50" name="组合 49"/>
            <p:cNvGrpSpPr/>
            <p:nvPr/>
          </p:nvGrpSpPr>
          <p:grpSpPr>
            <a:xfrm>
              <a:off x="2857500" y="1371599"/>
              <a:ext cx="747486" cy="3461658"/>
              <a:chOff x="2552700" y="1752599"/>
              <a:chExt cx="747486" cy="3461658"/>
            </a:xfrm>
            <a:effectLst>
              <a:outerShdw blurRad="50800" dist="38100" dir="8100000" algn="tr" rotWithShape="0">
                <a:prstClr val="black">
                  <a:alpha val="40000"/>
                </a:prstClr>
              </a:outerShdw>
            </a:effectLst>
          </p:grpSpPr>
          <p:cxnSp>
            <p:nvCxnSpPr>
              <p:cNvPr id="18" name="直接连接符 17"/>
              <p:cNvCxnSpPr/>
              <p:nvPr/>
            </p:nvCxnSpPr>
            <p:spPr bwMode="auto">
              <a:xfrm flipV="1">
                <a:off x="2552700" y="1752599"/>
                <a:ext cx="732971" cy="762002"/>
              </a:xfrm>
              <a:prstGeom prst="line">
                <a:avLst/>
              </a:prstGeom>
              <a:solidFill>
                <a:srgbClr val="FFFFFF"/>
              </a:solidFill>
              <a:ln>
                <a:prstDash val="solid"/>
              </a:ln>
            </p:spPr>
            <p:style>
              <a:lnRef idx="1">
                <a:schemeClr val="accent2"/>
              </a:lnRef>
              <a:fillRef idx="3">
                <a:schemeClr val="accent2"/>
              </a:fillRef>
              <a:effectRef idx="2">
                <a:schemeClr val="accent2"/>
              </a:effectRef>
              <a:fontRef idx="minor">
                <a:schemeClr val="lt1"/>
              </a:fontRef>
            </p:style>
          </p:cxnSp>
          <p:cxnSp>
            <p:nvCxnSpPr>
              <p:cNvPr id="37" name="直接连接符 36"/>
              <p:cNvCxnSpPr/>
              <p:nvPr/>
            </p:nvCxnSpPr>
            <p:spPr bwMode="auto">
              <a:xfrm>
                <a:off x="2552700" y="2523671"/>
                <a:ext cx="0" cy="2657929"/>
              </a:xfrm>
              <a:prstGeom prst="line">
                <a:avLst/>
              </a:prstGeom>
              <a:solidFill>
                <a:srgbClr val="FFFFFF"/>
              </a:solidFill>
              <a:ln>
                <a:prstDash val="solid"/>
              </a:ln>
            </p:spPr>
            <p:style>
              <a:lnRef idx="1">
                <a:schemeClr val="accent2"/>
              </a:lnRef>
              <a:fillRef idx="3">
                <a:schemeClr val="accent2"/>
              </a:fillRef>
              <a:effectRef idx="2">
                <a:schemeClr val="accent2"/>
              </a:effectRef>
              <a:fontRef idx="minor">
                <a:schemeClr val="lt1"/>
              </a:fontRef>
            </p:style>
          </p:cxnSp>
          <p:cxnSp>
            <p:nvCxnSpPr>
              <p:cNvPr id="38" name="直接连接符 37"/>
              <p:cNvCxnSpPr/>
              <p:nvPr/>
            </p:nvCxnSpPr>
            <p:spPr bwMode="auto">
              <a:xfrm>
                <a:off x="3300186" y="1752599"/>
                <a:ext cx="0" cy="3461658"/>
              </a:xfrm>
              <a:prstGeom prst="line">
                <a:avLst/>
              </a:prstGeom>
              <a:solidFill>
                <a:srgbClr val="FFFFFF"/>
              </a:solidFill>
              <a:ln>
                <a:prstDash val="solid"/>
              </a:ln>
            </p:spPr>
            <p:style>
              <a:lnRef idx="1">
                <a:schemeClr val="accent2"/>
              </a:lnRef>
              <a:fillRef idx="3">
                <a:schemeClr val="accent2"/>
              </a:fillRef>
              <a:effectRef idx="2">
                <a:schemeClr val="accent2"/>
              </a:effectRef>
              <a:fontRef idx="minor">
                <a:schemeClr val="lt1"/>
              </a:fontRef>
            </p:style>
          </p:cxnSp>
        </p:grpSp>
        <p:sp>
          <p:nvSpPr>
            <p:cNvPr id="6" name="圆柱形 5"/>
            <p:cNvSpPr/>
            <p:nvPr/>
          </p:nvSpPr>
          <p:spPr bwMode="auto">
            <a:xfrm rot="5400000">
              <a:off x="4651944" y="1224525"/>
              <a:ext cx="388025" cy="7384142"/>
            </a:xfrm>
            <a:prstGeom prst="can">
              <a:avLst/>
            </a:prstGeom>
            <a:solidFill>
              <a:schemeClr val="accent6">
                <a:lumMod val="40000"/>
                <a:lumOff val="60000"/>
              </a:schemeClr>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400" b="1">
                <a:solidFill>
                  <a:schemeClr val="bg1"/>
                </a:solidFill>
                <a:latin typeface="+mn-ea"/>
              </a:endParaRPr>
            </a:p>
          </p:txBody>
        </p:sp>
        <p:sp>
          <p:nvSpPr>
            <p:cNvPr id="7" name="立方体 6"/>
            <p:cNvSpPr/>
            <p:nvPr/>
          </p:nvSpPr>
          <p:spPr bwMode="auto">
            <a:xfrm>
              <a:off x="1295401" y="5410200"/>
              <a:ext cx="1066799" cy="685800"/>
            </a:xfrm>
            <a:prstGeom prst="cube">
              <a:avLst/>
            </a:prstGeom>
            <a:solidFill>
              <a:srgbClr val="92D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任务调度</a:t>
              </a:r>
            </a:p>
          </p:txBody>
        </p:sp>
        <p:sp>
          <p:nvSpPr>
            <p:cNvPr id="8" name="立方体 7"/>
            <p:cNvSpPr/>
            <p:nvPr/>
          </p:nvSpPr>
          <p:spPr bwMode="auto">
            <a:xfrm>
              <a:off x="2438400" y="5410200"/>
              <a:ext cx="1219200" cy="685800"/>
            </a:xfrm>
            <a:prstGeom prst="cube">
              <a:avLst/>
            </a:prstGeom>
            <a:solidFill>
              <a:srgbClr val="92D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元数据管理</a:t>
              </a:r>
            </a:p>
          </p:txBody>
        </p:sp>
        <p:sp>
          <p:nvSpPr>
            <p:cNvPr id="9" name="立方体 8"/>
            <p:cNvSpPr/>
            <p:nvPr/>
          </p:nvSpPr>
          <p:spPr bwMode="auto">
            <a:xfrm>
              <a:off x="3733800" y="5410200"/>
              <a:ext cx="1066800" cy="685800"/>
            </a:xfrm>
            <a:prstGeom prst="cube">
              <a:avLst/>
            </a:prstGeom>
            <a:solidFill>
              <a:srgbClr val="92D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交换监控</a:t>
              </a:r>
            </a:p>
          </p:txBody>
        </p:sp>
        <p:sp>
          <p:nvSpPr>
            <p:cNvPr id="10" name="立方体 9"/>
            <p:cNvSpPr/>
            <p:nvPr/>
          </p:nvSpPr>
          <p:spPr bwMode="auto">
            <a:xfrm>
              <a:off x="4876800" y="5410200"/>
              <a:ext cx="1066800" cy="685800"/>
            </a:xfrm>
            <a:prstGeom prst="cube">
              <a:avLst/>
            </a:prstGeom>
            <a:solidFill>
              <a:srgbClr val="92D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安全管理</a:t>
              </a:r>
            </a:p>
          </p:txBody>
        </p:sp>
        <p:sp>
          <p:nvSpPr>
            <p:cNvPr id="11" name="立方体 10"/>
            <p:cNvSpPr/>
            <p:nvPr/>
          </p:nvSpPr>
          <p:spPr bwMode="auto">
            <a:xfrm>
              <a:off x="6019800" y="5410200"/>
              <a:ext cx="1066800" cy="685800"/>
            </a:xfrm>
            <a:prstGeom prst="cube">
              <a:avLst/>
            </a:prstGeom>
            <a:solidFill>
              <a:srgbClr val="92D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数据质量</a:t>
              </a:r>
            </a:p>
          </p:txBody>
        </p:sp>
        <p:sp>
          <p:nvSpPr>
            <p:cNvPr id="12" name="立方体 11"/>
            <p:cNvSpPr/>
            <p:nvPr/>
          </p:nvSpPr>
          <p:spPr bwMode="auto">
            <a:xfrm>
              <a:off x="7162800" y="5395686"/>
              <a:ext cx="898072" cy="685800"/>
            </a:xfrm>
            <a:prstGeom prst="cube">
              <a:avLst/>
            </a:prstGeom>
            <a:solidFill>
              <a:srgbClr val="92D05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sz="1200" b="1" dirty="0">
                  <a:solidFill>
                    <a:schemeClr val="bg1"/>
                  </a:solidFill>
                  <a:latin typeface="+mn-ea"/>
                </a:rPr>
                <a:t>……</a:t>
              </a:r>
              <a:endParaRPr lang="zh-CN" altLang="en-US" sz="1200" b="1" dirty="0">
                <a:solidFill>
                  <a:schemeClr val="bg1"/>
                </a:solidFill>
                <a:latin typeface="+mn-ea"/>
              </a:endParaRPr>
            </a:p>
          </p:txBody>
        </p:sp>
        <p:cxnSp>
          <p:nvCxnSpPr>
            <p:cNvPr id="15" name="直接连接符 14"/>
            <p:cNvCxnSpPr/>
            <p:nvPr/>
          </p:nvCxnSpPr>
          <p:spPr bwMode="auto">
            <a:xfrm>
              <a:off x="2590800" y="4800600"/>
              <a:ext cx="0" cy="0"/>
            </a:xfrm>
            <a:prstGeom prst="line">
              <a:avLst/>
            </a:prstGeom>
            <a:solidFill>
              <a:schemeClr val="accent1"/>
            </a:solidFill>
            <a:ln w="9525" cap="flat" cmpd="sng" algn="ctr">
              <a:solidFill>
                <a:schemeClr val="accent5">
                  <a:lumMod val="75000"/>
                </a:schemeClr>
              </a:solidFill>
              <a:prstDash val="solid"/>
              <a:round/>
              <a:headEnd type="none" w="med" len="med"/>
              <a:tailEnd type="none" w="med" len="med"/>
            </a:ln>
            <a:effectLst/>
          </p:spPr>
        </p:cxnSp>
        <p:cxnSp>
          <p:nvCxnSpPr>
            <p:cNvPr id="16" name="直接连接符 15"/>
            <p:cNvCxnSpPr/>
            <p:nvPr/>
          </p:nvCxnSpPr>
          <p:spPr bwMode="auto">
            <a:xfrm>
              <a:off x="3124200" y="4800600"/>
              <a:ext cx="0" cy="0"/>
            </a:xfrm>
            <a:prstGeom prst="line">
              <a:avLst/>
            </a:prstGeom>
            <a:solidFill>
              <a:schemeClr val="accent1"/>
            </a:solidFill>
            <a:ln w="9525" cap="flat" cmpd="sng" algn="ctr">
              <a:solidFill>
                <a:schemeClr val="accent5">
                  <a:lumMod val="75000"/>
                </a:schemeClr>
              </a:solidFill>
              <a:prstDash val="solid"/>
              <a:round/>
              <a:headEnd type="none" w="med" len="med"/>
              <a:tailEnd type="none" w="med" len="med"/>
            </a:ln>
            <a:effectLst/>
          </p:spPr>
        </p:cxnSp>
        <p:sp>
          <p:nvSpPr>
            <p:cNvPr id="23" name="上箭头 22"/>
            <p:cNvSpPr/>
            <p:nvPr/>
          </p:nvSpPr>
          <p:spPr bwMode="auto">
            <a:xfrm>
              <a:off x="1752600" y="4991100"/>
              <a:ext cx="381000" cy="495300"/>
            </a:xfrm>
            <a:prstGeom prst="up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24" name="立方体 23"/>
            <p:cNvSpPr/>
            <p:nvPr/>
          </p:nvSpPr>
          <p:spPr bwMode="auto">
            <a:xfrm>
              <a:off x="1153886" y="3200400"/>
              <a:ext cx="1208314" cy="838200"/>
            </a:xfrm>
            <a:prstGeom prst="cube">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桥接</a:t>
              </a:r>
              <a:r>
                <a:rPr lang="en-US" altLang="zh-CN" sz="1200" b="1" dirty="0">
                  <a:solidFill>
                    <a:schemeClr val="bg1"/>
                  </a:solidFill>
                  <a:latin typeface="+mn-ea"/>
                </a:rPr>
                <a:t>/</a:t>
              </a:r>
              <a:r>
                <a:rPr lang="zh-CN" altLang="en-US" sz="1200" b="1" dirty="0">
                  <a:solidFill>
                    <a:schemeClr val="bg1"/>
                  </a:solidFill>
                  <a:latin typeface="+mn-ea"/>
                </a:rPr>
                <a:t>数据处理</a:t>
              </a:r>
              <a:r>
                <a:rPr lang="en-US" altLang="zh-CN" sz="1200" b="1" dirty="0">
                  <a:solidFill>
                    <a:schemeClr val="bg1"/>
                  </a:solidFill>
                  <a:latin typeface="+mn-ea"/>
                </a:rPr>
                <a:t>/</a:t>
              </a:r>
              <a:r>
                <a:rPr lang="zh-CN" altLang="en-US" sz="1200" b="1" dirty="0">
                  <a:solidFill>
                    <a:schemeClr val="bg1"/>
                  </a:solidFill>
                  <a:latin typeface="+mn-ea"/>
                </a:rPr>
                <a:t>协议转换</a:t>
              </a:r>
            </a:p>
          </p:txBody>
        </p:sp>
        <p:sp>
          <p:nvSpPr>
            <p:cNvPr id="30" name="立方体 29"/>
            <p:cNvSpPr/>
            <p:nvPr/>
          </p:nvSpPr>
          <p:spPr bwMode="auto">
            <a:xfrm>
              <a:off x="1382486" y="1752600"/>
              <a:ext cx="1132114" cy="685800"/>
            </a:xfrm>
            <a:prstGeom prst="cube">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委办局</a:t>
              </a:r>
              <a:r>
                <a:rPr lang="en-US" altLang="zh-CN" sz="1200" b="1" dirty="0">
                  <a:solidFill>
                    <a:schemeClr val="bg1"/>
                  </a:solidFill>
                  <a:latin typeface="+mn-ea"/>
                </a:rPr>
                <a:t>A</a:t>
              </a:r>
              <a:endParaRPr lang="zh-CN" altLang="en-US" sz="1200" b="1" dirty="0">
                <a:solidFill>
                  <a:schemeClr val="bg1"/>
                </a:solidFill>
                <a:latin typeface="+mn-ea"/>
              </a:endParaRPr>
            </a:p>
          </p:txBody>
        </p:sp>
        <p:sp>
          <p:nvSpPr>
            <p:cNvPr id="34" name="立方体 33"/>
            <p:cNvSpPr/>
            <p:nvPr/>
          </p:nvSpPr>
          <p:spPr bwMode="auto">
            <a:xfrm>
              <a:off x="4278086" y="1730826"/>
              <a:ext cx="1132114" cy="685800"/>
            </a:xfrm>
            <a:prstGeom prst="cube">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委办局</a:t>
              </a:r>
              <a:r>
                <a:rPr lang="en-US" altLang="zh-CN" sz="1200" b="1" dirty="0">
                  <a:solidFill>
                    <a:schemeClr val="bg1"/>
                  </a:solidFill>
                  <a:latin typeface="+mn-ea"/>
                </a:rPr>
                <a:t>B</a:t>
              </a:r>
              <a:endParaRPr lang="zh-CN" altLang="en-US" sz="1200" b="1" dirty="0">
                <a:solidFill>
                  <a:schemeClr val="bg1"/>
                </a:solidFill>
                <a:latin typeface="+mn-ea"/>
              </a:endParaRPr>
            </a:p>
          </p:txBody>
        </p:sp>
        <p:sp>
          <p:nvSpPr>
            <p:cNvPr id="35" name="立方体 34"/>
            <p:cNvSpPr/>
            <p:nvPr/>
          </p:nvSpPr>
          <p:spPr bwMode="auto">
            <a:xfrm>
              <a:off x="7405914" y="1730826"/>
              <a:ext cx="1132114" cy="685800"/>
            </a:xfrm>
            <a:prstGeom prst="cube">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委办局</a:t>
              </a:r>
              <a:r>
                <a:rPr lang="en-US" altLang="zh-CN" sz="1200" b="1" dirty="0">
                  <a:solidFill>
                    <a:schemeClr val="bg1"/>
                  </a:solidFill>
                  <a:latin typeface="+mn-ea"/>
                </a:rPr>
                <a:t>C</a:t>
              </a:r>
              <a:endParaRPr lang="zh-CN" altLang="en-US" sz="1200" b="1" dirty="0">
                <a:solidFill>
                  <a:schemeClr val="bg1"/>
                </a:solidFill>
                <a:latin typeface="+mn-ea"/>
              </a:endParaRPr>
            </a:p>
          </p:txBody>
        </p:sp>
        <p:cxnSp>
          <p:nvCxnSpPr>
            <p:cNvPr id="56" name="直接箭头连接符 55"/>
            <p:cNvCxnSpPr>
              <a:stCxn id="24" idx="5"/>
            </p:cNvCxnSpPr>
            <p:nvPr/>
          </p:nvCxnSpPr>
          <p:spPr bwMode="auto">
            <a:xfrm>
              <a:off x="2362200" y="3514725"/>
              <a:ext cx="1600200" cy="0"/>
            </a:xfrm>
            <a:prstGeom prst="straightConnector1">
              <a:avLst/>
            </a:prstGeom>
            <a:solidFill>
              <a:schemeClr val="accent1"/>
            </a:solidFill>
            <a:ln w="38100" cap="flat" cmpd="sng" algn="ctr">
              <a:solidFill>
                <a:srgbClr val="FF0000"/>
              </a:solidFill>
              <a:prstDash val="solid"/>
              <a:round/>
              <a:headEnd type="triangle" w="lg" len="med"/>
              <a:tailEnd type="triangle" w="lg" len="med"/>
            </a:ln>
            <a:effectLst/>
          </p:spPr>
        </p:cxnSp>
        <p:cxnSp>
          <p:nvCxnSpPr>
            <p:cNvPr id="58" name="直接箭头连接符 57"/>
            <p:cNvCxnSpPr/>
            <p:nvPr/>
          </p:nvCxnSpPr>
          <p:spPr bwMode="auto">
            <a:xfrm>
              <a:off x="5410200" y="3514725"/>
              <a:ext cx="1600200" cy="0"/>
            </a:xfrm>
            <a:prstGeom prst="straightConnector1">
              <a:avLst/>
            </a:prstGeom>
            <a:solidFill>
              <a:schemeClr val="accent1"/>
            </a:solidFill>
            <a:ln w="38100" cap="flat" cmpd="sng" algn="ctr">
              <a:solidFill>
                <a:srgbClr val="FF0000"/>
              </a:solidFill>
              <a:prstDash val="solid"/>
              <a:round/>
              <a:headEnd type="triangle" w="lg" len="med"/>
              <a:tailEnd type="triangle" w="lg" len="med"/>
            </a:ln>
            <a:effectLst/>
          </p:spPr>
        </p:cxnSp>
        <p:sp>
          <p:nvSpPr>
            <p:cNvPr id="59" name="TextBox 58"/>
            <p:cNvSpPr txBox="1"/>
            <p:nvPr/>
          </p:nvSpPr>
          <p:spPr>
            <a:xfrm>
              <a:off x="2590800" y="3134178"/>
              <a:ext cx="1295400" cy="276999"/>
            </a:xfrm>
            <a:prstGeom prst="rect">
              <a:avLst/>
            </a:prstGeom>
            <a:noFill/>
          </p:spPr>
          <p:txBody>
            <a:bodyPr wrap="square" rtlCol="0">
              <a:spAutoFit/>
            </a:bodyPr>
            <a:lstStyle/>
            <a:p>
              <a:r>
                <a:rPr lang="en-US" altLang="zh-CN" sz="1200" b="1" dirty="0">
                  <a:latin typeface="+mj-ea"/>
                  <a:ea typeface="+mj-ea"/>
                </a:rPr>
                <a:t>P2P</a:t>
              </a:r>
              <a:r>
                <a:rPr lang="zh-CN" altLang="en-US" sz="1200" b="1" dirty="0">
                  <a:latin typeface="+mj-ea"/>
                  <a:ea typeface="+mj-ea"/>
                </a:rPr>
                <a:t>可靠传输</a:t>
              </a:r>
            </a:p>
          </p:txBody>
        </p:sp>
        <p:sp>
          <p:nvSpPr>
            <p:cNvPr id="60" name="TextBox 59"/>
            <p:cNvSpPr txBox="1"/>
            <p:nvPr/>
          </p:nvSpPr>
          <p:spPr>
            <a:xfrm>
              <a:off x="5617028" y="3130255"/>
              <a:ext cx="1295400" cy="276999"/>
            </a:xfrm>
            <a:prstGeom prst="rect">
              <a:avLst/>
            </a:prstGeom>
            <a:noFill/>
          </p:spPr>
          <p:txBody>
            <a:bodyPr wrap="square" rtlCol="0">
              <a:spAutoFit/>
            </a:bodyPr>
            <a:lstStyle/>
            <a:p>
              <a:r>
                <a:rPr lang="en-US" altLang="zh-CN" sz="1200" b="1" dirty="0">
                  <a:latin typeface="+mj-ea"/>
                  <a:ea typeface="+mj-ea"/>
                </a:rPr>
                <a:t>P2P</a:t>
              </a:r>
              <a:r>
                <a:rPr lang="zh-CN" altLang="en-US" sz="1200" b="1" dirty="0">
                  <a:latin typeface="+mj-ea"/>
                  <a:ea typeface="+mj-ea"/>
                </a:rPr>
                <a:t>可靠传输</a:t>
              </a:r>
            </a:p>
          </p:txBody>
        </p:sp>
        <p:sp>
          <p:nvSpPr>
            <p:cNvPr id="61" name="矩形 60"/>
            <p:cNvSpPr/>
            <p:nvPr/>
          </p:nvSpPr>
          <p:spPr>
            <a:xfrm>
              <a:off x="2805007" y="1611868"/>
              <a:ext cx="980333" cy="338554"/>
            </a:xfrm>
            <a:prstGeom prst="rect">
              <a:avLst/>
            </a:prstGeom>
          </p:spPr>
          <p:txBody>
            <a:bodyPr wrap="none">
              <a:spAutoFit/>
            </a:bodyPr>
            <a:lstStyle/>
            <a:p>
              <a:r>
                <a:rPr lang="en-US" altLang="zh-CN" sz="1600" b="1" dirty="0">
                  <a:solidFill>
                    <a:srgbClr val="0070C0"/>
                  </a:solidFill>
                  <a:latin typeface="微软雅黑" pitchFamily="34" charset="-122"/>
                  <a:ea typeface="微软雅黑" pitchFamily="34" charset="-122"/>
                </a:rPr>
                <a:t>Firewall</a:t>
              </a:r>
              <a:endParaRPr lang="zh-CN" altLang="en-US" sz="1600" b="1" dirty="0">
                <a:solidFill>
                  <a:srgbClr val="0070C0"/>
                </a:solidFill>
                <a:latin typeface="微软雅黑" pitchFamily="34" charset="-122"/>
                <a:ea typeface="微软雅黑" pitchFamily="34" charset="-122"/>
              </a:endParaRPr>
            </a:p>
          </p:txBody>
        </p:sp>
        <p:sp>
          <p:nvSpPr>
            <p:cNvPr id="62" name="矩形 61"/>
            <p:cNvSpPr/>
            <p:nvPr/>
          </p:nvSpPr>
          <p:spPr>
            <a:xfrm>
              <a:off x="5827606" y="1579602"/>
              <a:ext cx="980333" cy="338554"/>
            </a:xfrm>
            <a:prstGeom prst="rect">
              <a:avLst/>
            </a:prstGeom>
          </p:spPr>
          <p:txBody>
            <a:bodyPr wrap="none">
              <a:spAutoFit/>
            </a:bodyPr>
            <a:lstStyle/>
            <a:p>
              <a:r>
                <a:rPr lang="en-US" altLang="zh-CN" sz="1600" b="1" dirty="0">
                  <a:solidFill>
                    <a:srgbClr val="0070C0"/>
                  </a:solidFill>
                  <a:latin typeface="微软雅黑" pitchFamily="34" charset="-122"/>
                  <a:ea typeface="微软雅黑" pitchFamily="34" charset="-122"/>
                </a:rPr>
                <a:t>Firewall</a:t>
              </a:r>
              <a:endParaRPr lang="zh-CN" altLang="en-US" sz="1600" b="1" dirty="0">
                <a:solidFill>
                  <a:srgbClr val="0070C0"/>
                </a:solidFill>
                <a:latin typeface="微软雅黑" pitchFamily="34" charset="-122"/>
                <a:ea typeface="微软雅黑" pitchFamily="34" charset="-122"/>
              </a:endParaRPr>
            </a:p>
          </p:txBody>
        </p:sp>
        <p:sp>
          <p:nvSpPr>
            <p:cNvPr id="63" name="上箭头 62"/>
            <p:cNvSpPr/>
            <p:nvPr/>
          </p:nvSpPr>
          <p:spPr bwMode="auto">
            <a:xfrm>
              <a:off x="2906546" y="5015593"/>
              <a:ext cx="381000" cy="495300"/>
            </a:xfrm>
            <a:prstGeom prst="up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64" name="上箭头 63"/>
            <p:cNvSpPr/>
            <p:nvPr/>
          </p:nvSpPr>
          <p:spPr bwMode="auto">
            <a:xfrm>
              <a:off x="4076700" y="5015593"/>
              <a:ext cx="381000" cy="495300"/>
            </a:xfrm>
            <a:prstGeom prst="up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65" name="上箭头 64"/>
            <p:cNvSpPr/>
            <p:nvPr/>
          </p:nvSpPr>
          <p:spPr bwMode="auto">
            <a:xfrm>
              <a:off x="5236028" y="5004707"/>
              <a:ext cx="381000" cy="495300"/>
            </a:xfrm>
            <a:prstGeom prst="up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66" name="上箭头 65"/>
            <p:cNvSpPr/>
            <p:nvPr/>
          </p:nvSpPr>
          <p:spPr bwMode="auto">
            <a:xfrm>
              <a:off x="6368202" y="4985657"/>
              <a:ext cx="381000" cy="495300"/>
            </a:xfrm>
            <a:prstGeom prst="up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67" name="上箭头 66"/>
            <p:cNvSpPr/>
            <p:nvPr/>
          </p:nvSpPr>
          <p:spPr bwMode="auto">
            <a:xfrm>
              <a:off x="7421336" y="4985657"/>
              <a:ext cx="381000" cy="495300"/>
            </a:xfrm>
            <a:prstGeom prst="up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68" name="上下箭头 67"/>
            <p:cNvSpPr/>
            <p:nvPr/>
          </p:nvSpPr>
          <p:spPr bwMode="auto">
            <a:xfrm>
              <a:off x="1524000" y="4038600"/>
              <a:ext cx="342900" cy="729343"/>
            </a:xfrm>
            <a:prstGeom prst="upDownArrow">
              <a:avLst/>
            </a:prstGeom>
            <a:solidFill>
              <a:srgbClr val="00B050"/>
            </a:solidFill>
            <a:ln>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25000">
                <a:ln>
                  <a:noFill/>
                </a:ln>
                <a:solidFill>
                  <a:schemeClr val="tx1"/>
                </a:solidFill>
                <a:effectLst/>
                <a:latin typeface="Arial" charset="0"/>
                <a:ea typeface="宋体" charset="-122"/>
              </a:endParaRPr>
            </a:p>
          </p:txBody>
        </p:sp>
        <p:sp>
          <p:nvSpPr>
            <p:cNvPr id="69" name="上下箭头 68"/>
            <p:cNvSpPr/>
            <p:nvPr/>
          </p:nvSpPr>
          <p:spPr bwMode="auto">
            <a:xfrm>
              <a:off x="4433207" y="3993241"/>
              <a:ext cx="342900" cy="729343"/>
            </a:xfrm>
            <a:prstGeom prst="upDownArrow">
              <a:avLst/>
            </a:prstGeom>
            <a:solidFill>
              <a:srgbClr val="00B050"/>
            </a:solidFill>
            <a:ln>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25000">
                <a:ln>
                  <a:noFill/>
                </a:ln>
                <a:solidFill>
                  <a:schemeClr val="tx1"/>
                </a:solidFill>
                <a:effectLst/>
                <a:latin typeface="Arial" charset="0"/>
                <a:ea typeface="宋体" charset="-122"/>
              </a:endParaRPr>
            </a:p>
          </p:txBody>
        </p:sp>
        <p:sp>
          <p:nvSpPr>
            <p:cNvPr id="70" name="上下箭头 69"/>
            <p:cNvSpPr/>
            <p:nvPr/>
          </p:nvSpPr>
          <p:spPr bwMode="auto">
            <a:xfrm>
              <a:off x="7630886" y="3993240"/>
              <a:ext cx="342900" cy="729343"/>
            </a:xfrm>
            <a:prstGeom prst="upDownArrow">
              <a:avLst/>
            </a:prstGeom>
            <a:solidFill>
              <a:srgbClr val="00B050"/>
            </a:solidFill>
            <a:ln>
              <a:noFill/>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r"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25000">
                <a:ln>
                  <a:noFill/>
                </a:ln>
                <a:solidFill>
                  <a:schemeClr val="tx1"/>
                </a:solidFill>
                <a:effectLst/>
                <a:latin typeface="Arial" charset="0"/>
                <a:ea typeface="宋体" charset="-122"/>
              </a:endParaRPr>
            </a:p>
          </p:txBody>
        </p:sp>
        <p:cxnSp>
          <p:nvCxnSpPr>
            <p:cNvPr id="71" name="直接箭头连接符 70"/>
            <p:cNvCxnSpPr>
              <a:stCxn id="24" idx="0"/>
              <a:endCxn id="30" idx="3"/>
            </p:cNvCxnSpPr>
            <p:nvPr/>
          </p:nvCxnSpPr>
          <p:spPr bwMode="auto">
            <a:xfrm flipV="1">
              <a:off x="1862818" y="2438400"/>
              <a:ext cx="0" cy="762000"/>
            </a:xfrm>
            <a:prstGeom prst="straightConnector1">
              <a:avLst/>
            </a:prstGeom>
            <a:solidFill>
              <a:schemeClr val="accent1"/>
            </a:solidFill>
            <a:ln w="28575" cap="flat" cmpd="sng" algn="ctr">
              <a:solidFill>
                <a:srgbClr val="FF0000"/>
              </a:solidFill>
              <a:prstDash val="solid"/>
              <a:round/>
              <a:headEnd type="none" w="lg" len="med"/>
              <a:tailEnd type="none" w="lg" len="med"/>
            </a:ln>
            <a:effectLst/>
          </p:spPr>
        </p:cxnSp>
        <p:cxnSp>
          <p:nvCxnSpPr>
            <p:cNvPr id="75" name="直接箭头连接符 74"/>
            <p:cNvCxnSpPr>
              <a:endCxn id="34" idx="3"/>
            </p:cNvCxnSpPr>
            <p:nvPr/>
          </p:nvCxnSpPr>
          <p:spPr bwMode="auto">
            <a:xfrm flipH="1" flipV="1">
              <a:off x="4758418" y="2416626"/>
              <a:ext cx="9071" cy="783774"/>
            </a:xfrm>
            <a:prstGeom prst="straightConnector1">
              <a:avLst/>
            </a:prstGeom>
            <a:solidFill>
              <a:schemeClr val="accent1"/>
            </a:solidFill>
            <a:ln w="28575" cap="flat" cmpd="sng" algn="ctr">
              <a:solidFill>
                <a:srgbClr val="FF0000"/>
              </a:solidFill>
              <a:prstDash val="solid"/>
              <a:round/>
              <a:headEnd type="none" w="lg" len="med"/>
              <a:tailEnd type="none" w="lg" len="med"/>
            </a:ln>
            <a:effectLst/>
          </p:spPr>
        </p:cxnSp>
        <p:cxnSp>
          <p:nvCxnSpPr>
            <p:cNvPr id="80" name="直接箭头连接符 79"/>
            <p:cNvCxnSpPr>
              <a:endCxn id="35" idx="3"/>
            </p:cNvCxnSpPr>
            <p:nvPr/>
          </p:nvCxnSpPr>
          <p:spPr bwMode="auto">
            <a:xfrm flipV="1">
              <a:off x="7881257" y="2416626"/>
              <a:ext cx="4989" cy="783774"/>
            </a:xfrm>
            <a:prstGeom prst="straightConnector1">
              <a:avLst/>
            </a:prstGeom>
            <a:solidFill>
              <a:schemeClr val="accent1"/>
            </a:solidFill>
            <a:ln w="28575" cap="flat" cmpd="sng" algn="ctr">
              <a:solidFill>
                <a:srgbClr val="FF0000"/>
              </a:solidFill>
              <a:prstDash val="solid"/>
              <a:round/>
              <a:headEnd type="none" w="lg" len="med"/>
              <a:tailEnd type="none" w="lg" len="med"/>
            </a:ln>
            <a:effectLst/>
          </p:spPr>
        </p:cxnSp>
        <p:cxnSp>
          <p:nvCxnSpPr>
            <p:cNvPr id="85" name="直接连接符 84"/>
            <p:cNvCxnSpPr/>
            <p:nvPr/>
          </p:nvCxnSpPr>
          <p:spPr bwMode="auto">
            <a:xfrm flipV="1">
              <a:off x="304800" y="4357911"/>
              <a:ext cx="8839200" cy="1"/>
            </a:xfrm>
            <a:prstGeom prst="line">
              <a:avLst/>
            </a:prstGeom>
            <a:solidFill>
              <a:schemeClr val="accent1"/>
            </a:solidFill>
            <a:ln w="3175" cap="flat" cmpd="sng" algn="ctr">
              <a:solidFill>
                <a:schemeClr val="tx1"/>
              </a:solidFill>
              <a:prstDash val="dash"/>
              <a:round/>
              <a:headEnd type="none" w="med" len="med"/>
              <a:tailEnd type="none" w="med" len="med"/>
            </a:ln>
            <a:effectLst/>
          </p:spPr>
        </p:cxnSp>
        <p:cxnSp>
          <p:nvCxnSpPr>
            <p:cNvPr id="86" name="直接连接符 85"/>
            <p:cNvCxnSpPr/>
            <p:nvPr/>
          </p:nvCxnSpPr>
          <p:spPr bwMode="auto">
            <a:xfrm flipV="1">
              <a:off x="304800" y="5333999"/>
              <a:ext cx="8839200" cy="1"/>
            </a:xfrm>
            <a:prstGeom prst="line">
              <a:avLst/>
            </a:prstGeom>
            <a:solidFill>
              <a:schemeClr val="accent1"/>
            </a:solidFill>
            <a:ln w="3175" cap="flat" cmpd="sng" algn="ctr">
              <a:solidFill>
                <a:schemeClr val="tx1"/>
              </a:solidFill>
              <a:prstDash val="dash"/>
              <a:round/>
              <a:headEnd type="none" w="med" len="med"/>
              <a:tailEnd type="none" w="med" len="med"/>
            </a:ln>
            <a:effectLst/>
          </p:spPr>
        </p:cxnSp>
        <p:cxnSp>
          <p:nvCxnSpPr>
            <p:cNvPr id="87" name="直接连接符 86"/>
            <p:cNvCxnSpPr/>
            <p:nvPr/>
          </p:nvCxnSpPr>
          <p:spPr bwMode="auto">
            <a:xfrm flipV="1">
              <a:off x="304800" y="2819400"/>
              <a:ext cx="8839200" cy="1"/>
            </a:xfrm>
            <a:prstGeom prst="line">
              <a:avLst/>
            </a:prstGeom>
            <a:solidFill>
              <a:schemeClr val="accent1"/>
            </a:solidFill>
            <a:ln w="3175" cap="flat" cmpd="sng" algn="ctr">
              <a:solidFill>
                <a:schemeClr val="tx1"/>
              </a:solidFill>
              <a:prstDash val="dash"/>
              <a:round/>
              <a:headEnd type="none" w="med" len="med"/>
              <a:tailEnd type="none" w="med" len="med"/>
            </a:ln>
            <a:effectLst/>
          </p:spPr>
        </p:cxnSp>
        <p:cxnSp>
          <p:nvCxnSpPr>
            <p:cNvPr id="88" name="直接连接符 87"/>
            <p:cNvCxnSpPr/>
            <p:nvPr/>
          </p:nvCxnSpPr>
          <p:spPr bwMode="auto">
            <a:xfrm flipV="1">
              <a:off x="304800" y="1295400"/>
              <a:ext cx="8839200" cy="1"/>
            </a:xfrm>
            <a:prstGeom prst="line">
              <a:avLst/>
            </a:prstGeom>
            <a:solidFill>
              <a:schemeClr val="accent1"/>
            </a:solidFill>
            <a:ln w="3175" cap="flat" cmpd="sng" algn="ctr">
              <a:solidFill>
                <a:schemeClr val="tx1"/>
              </a:solidFill>
              <a:prstDash val="dash"/>
              <a:round/>
              <a:headEnd type="none" w="med" len="med"/>
              <a:tailEnd type="none" w="med" len="med"/>
            </a:ln>
            <a:effectLst/>
          </p:spPr>
        </p:cxnSp>
        <p:sp>
          <p:nvSpPr>
            <p:cNvPr id="89" name="TextBox 88"/>
            <p:cNvSpPr txBox="1"/>
            <p:nvPr/>
          </p:nvSpPr>
          <p:spPr>
            <a:xfrm>
              <a:off x="181062" y="5625645"/>
              <a:ext cx="1143000" cy="323165"/>
            </a:xfrm>
            <a:prstGeom prst="rect">
              <a:avLst/>
            </a:prstGeom>
            <a:noFill/>
          </p:spPr>
          <p:txBody>
            <a:bodyPr wrap="square" rtlCol="0">
              <a:spAutoFit/>
            </a:bodyPr>
            <a:lstStyle/>
            <a:p>
              <a:r>
                <a:rPr lang="zh-CN" altLang="en-US" sz="1500" b="1" dirty="0">
                  <a:solidFill>
                    <a:srgbClr val="FF0000"/>
                  </a:solidFill>
                  <a:latin typeface="+mj-ea"/>
                  <a:ea typeface="+mj-ea"/>
                </a:rPr>
                <a:t>平台管理</a:t>
              </a:r>
            </a:p>
          </p:txBody>
        </p:sp>
        <p:sp>
          <p:nvSpPr>
            <p:cNvPr id="90" name="TextBox 89"/>
            <p:cNvSpPr txBox="1"/>
            <p:nvPr/>
          </p:nvSpPr>
          <p:spPr>
            <a:xfrm>
              <a:off x="152400" y="4716703"/>
              <a:ext cx="1143001" cy="323165"/>
            </a:xfrm>
            <a:prstGeom prst="rect">
              <a:avLst/>
            </a:prstGeom>
            <a:noFill/>
          </p:spPr>
          <p:txBody>
            <a:bodyPr wrap="square" rtlCol="0">
              <a:spAutoFit/>
            </a:bodyPr>
            <a:lstStyle/>
            <a:p>
              <a:r>
                <a:rPr lang="zh-CN" altLang="en-US" sz="1500" b="1" dirty="0">
                  <a:solidFill>
                    <a:srgbClr val="FF0000"/>
                  </a:solidFill>
                  <a:latin typeface="+mj-ea"/>
                  <a:ea typeface="+mj-ea"/>
                </a:rPr>
                <a:t>交换平台</a:t>
              </a:r>
            </a:p>
          </p:txBody>
        </p:sp>
        <p:sp>
          <p:nvSpPr>
            <p:cNvPr id="91" name="TextBox 90"/>
            <p:cNvSpPr txBox="1"/>
            <p:nvPr/>
          </p:nvSpPr>
          <p:spPr>
            <a:xfrm>
              <a:off x="152400" y="3512455"/>
              <a:ext cx="1143000" cy="323165"/>
            </a:xfrm>
            <a:prstGeom prst="rect">
              <a:avLst/>
            </a:prstGeom>
            <a:noFill/>
          </p:spPr>
          <p:txBody>
            <a:bodyPr wrap="square" rtlCol="0">
              <a:spAutoFit/>
            </a:bodyPr>
            <a:lstStyle/>
            <a:p>
              <a:r>
                <a:rPr lang="zh-CN" altLang="en-US" sz="1500" b="1" dirty="0">
                  <a:solidFill>
                    <a:srgbClr val="FF0000"/>
                  </a:solidFill>
                  <a:latin typeface="+mj-ea"/>
                  <a:ea typeface="+mj-ea"/>
                </a:rPr>
                <a:t>前置节点</a:t>
              </a:r>
            </a:p>
          </p:txBody>
        </p:sp>
        <p:sp>
          <p:nvSpPr>
            <p:cNvPr id="92" name="TextBox 91"/>
            <p:cNvSpPr txBox="1"/>
            <p:nvPr/>
          </p:nvSpPr>
          <p:spPr>
            <a:xfrm>
              <a:off x="228600" y="1905000"/>
              <a:ext cx="1143000" cy="323165"/>
            </a:xfrm>
            <a:prstGeom prst="rect">
              <a:avLst/>
            </a:prstGeom>
            <a:noFill/>
          </p:spPr>
          <p:txBody>
            <a:bodyPr wrap="square" rtlCol="0">
              <a:spAutoFit/>
            </a:bodyPr>
            <a:lstStyle/>
            <a:p>
              <a:r>
                <a:rPr lang="zh-CN" altLang="en-US" sz="1500" b="1" dirty="0">
                  <a:solidFill>
                    <a:srgbClr val="FF0000"/>
                  </a:solidFill>
                  <a:latin typeface="+mj-ea"/>
                  <a:ea typeface="+mj-ea"/>
                </a:rPr>
                <a:t>委办局</a:t>
              </a:r>
            </a:p>
          </p:txBody>
        </p:sp>
      </p:grpSp>
      <p:sp>
        <p:nvSpPr>
          <p:cNvPr id="55" name="灯片编号占位符 3"/>
          <p:cNvSpPr txBox="1">
            <a:spLocks/>
          </p:cNvSpPr>
          <p:nvPr/>
        </p:nvSpPr>
        <p:spPr>
          <a:xfrm>
            <a:off x="3429000" y="6245225"/>
            <a:ext cx="2133600" cy="476250"/>
          </a:xfrm>
          <a:prstGeom prst="rect">
            <a:avLst/>
          </a:prstGeom>
        </p:spPr>
        <p:txBody>
          <a:bodyPr/>
          <a:lstStyle>
            <a:defPPr>
              <a:defRPr lang="en-US"/>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fld id="{BD61978C-FD3D-4268-8D6C-034E9AD544A3}" type="slidenum">
              <a:rPr lang="en-US" altLang="zh-CN" sz="1600" smtClean="0">
                <a:latin typeface="+mj-ea"/>
                <a:ea typeface="+mj-ea"/>
              </a:rPr>
              <a:pPr algn="ctr"/>
              <a:t>32</a:t>
            </a:fld>
            <a:endParaRPr lang="en-US" altLang="zh-CN" sz="1600" dirty="0">
              <a:latin typeface="+mj-ea"/>
              <a:ea typeface="+mj-ea"/>
            </a:endParaRPr>
          </a:p>
        </p:txBody>
      </p:sp>
      <p:sp>
        <p:nvSpPr>
          <p:cNvPr id="72" name="AutoShape 20"/>
          <p:cNvSpPr>
            <a:spLocks noChangeArrowheads="1"/>
          </p:cNvSpPr>
          <p:nvPr/>
        </p:nvSpPr>
        <p:spPr bwMode="auto">
          <a:xfrm rot="10800000">
            <a:off x="533398" y="993703"/>
            <a:ext cx="7772399" cy="758896"/>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sz="1200" dirty="0"/>
          </a:p>
        </p:txBody>
      </p:sp>
      <p:sp>
        <p:nvSpPr>
          <p:cNvPr id="73" name="TextBox 72"/>
          <p:cNvSpPr txBox="1"/>
          <p:nvPr/>
        </p:nvSpPr>
        <p:spPr>
          <a:xfrm>
            <a:off x="609601" y="977900"/>
            <a:ext cx="7696196" cy="787075"/>
          </a:xfrm>
          <a:prstGeom prst="rect">
            <a:avLst/>
          </a:prstGeom>
          <a:noFill/>
        </p:spPr>
        <p:txBody>
          <a:bodyPr wrap="square" rtlCol="0">
            <a:spAutoFit/>
          </a:bodyPr>
          <a:lstStyle/>
          <a:p>
            <a:pPr>
              <a:lnSpc>
                <a:spcPct val="150000"/>
              </a:lnSpc>
            </a:pPr>
            <a:r>
              <a:rPr lang="zh-CN" altLang="en-US" sz="1600" b="1" dirty="0">
                <a:solidFill>
                  <a:schemeClr val="accent2">
                    <a:lumMod val="75000"/>
                  </a:schemeClr>
                </a:solidFill>
                <a:latin typeface="+mn-lt"/>
                <a:ea typeface="+mn-ea"/>
              </a:rPr>
              <a:t>信息资源交换平台不仅支持纵向数据交换，同时支持横向数据交换体系，当下级节点之间交换数据中心不存在的特有数据时，可采用横向交换架构。</a:t>
            </a:r>
            <a:endParaRPr lang="en-US" altLang="zh-CN" sz="1600" b="1" dirty="0">
              <a:solidFill>
                <a:schemeClr val="accent2">
                  <a:lumMod val="75000"/>
                </a:schemeClr>
              </a:solidFill>
              <a:latin typeface="+mn-lt"/>
              <a:ea typeface="+mn-ea"/>
            </a:endParaRPr>
          </a:p>
        </p:txBody>
      </p:sp>
      <p:sp>
        <p:nvSpPr>
          <p:cNvPr id="57" name="立方体 56"/>
          <p:cNvSpPr/>
          <p:nvPr/>
        </p:nvSpPr>
        <p:spPr bwMode="auto">
          <a:xfrm>
            <a:off x="4074825" y="3810000"/>
            <a:ext cx="1106775" cy="665238"/>
          </a:xfrm>
          <a:prstGeom prst="cube">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桥接</a:t>
            </a:r>
            <a:r>
              <a:rPr lang="en-US" altLang="zh-CN" sz="1200" b="1" dirty="0">
                <a:solidFill>
                  <a:schemeClr val="bg1"/>
                </a:solidFill>
                <a:latin typeface="+mn-ea"/>
              </a:rPr>
              <a:t>/</a:t>
            </a:r>
            <a:r>
              <a:rPr lang="zh-CN" altLang="en-US" sz="1200" b="1" dirty="0">
                <a:solidFill>
                  <a:schemeClr val="bg1"/>
                </a:solidFill>
                <a:latin typeface="+mn-ea"/>
              </a:rPr>
              <a:t>数据处理</a:t>
            </a:r>
            <a:r>
              <a:rPr lang="en-US" altLang="zh-CN" sz="1200" b="1" dirty="0">
                <a:solidFill>
                  <a:schemeClr val="bg1"/>
                </a:solidFill>
                <a:latin typeface="+mn-ea"/>
              </a:rPr>
              <a:t>/</a:t>
            </a:r>
            <a:r>
              <a:rPr lang="zh-CN" altLang="en-US" sz="1200" b="1" dirty="0">
                <a:solidFill>
                  <a:schemeClr val="bg1"/>
                </a:solidFill>
                <a:latin typeface="+mn-ea"/>
              </a:rPr>
              <a:t>协议转换</a:t>
            </a:r>
          </a:p>
        </p:txBody>
      </p:sp>
      <p:sp>
        <p:nvSpPr>
          <p:cNvPr id="74" name="立方体 73"/>
          <p:cNvSpPr/>
          <p:nvPr/>
        </p:nvSpPr>
        <p:spPr bwMode="auto">
          <a:xfrm>
            <a:off x="6818025" y="3810000"/>
            <a:ext cx="1106775" cy="665238"/>
          </a:xfrm>
          <a:prstGeom prst="cube">
            <a:avLst/>
          </a:prstGeom>
          <a:solidFill>
            <a:srgbClr val="FFC00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桥接</a:t>
            </a:r>
            <a:r>
              <a:rPr lang="en-US" altLang="zh-CN" sz="1200" b="1" dirty="0">
                <a:solidFill>
                  <a:schemeClr val="bg1"/>
                </a:solidFill>
                <a:latin typeface="+mn-ea"/>
              </a:rPr>
              <a:t>/</a:t>
            </a:r>
            <a:r>
              <a:rPr lang="zh-CN" altLang="en-US" sz="1200" b="1" dirty="0">
                <a:solidFill>
                  <a:schemeClr val="bg1"/>
                </a:solidFill>
                <a:latin typeface="+mn-ea"/>
              </a:rPr>
              <a:t>数据处理</a:t>
            </a:r>
            <a:r>
              <a:rPr lang="en-US" altLang="zh-CN" sz="1200" b="1" dirty="0">
                <a:solidFill>
                  <a:schemeClr val="bg1"/>
                </a:solidFill>
                <a:latin typeface="+mn-ea"/>
              </a:rPr>
              <a:t>/</a:t>
            </a:r>
            <a:r>
              <a:rPr lang="zh-CN" altLang="en-US" sz="1200" b="1" dirty="0">
                <a:solidFill>
                  <a:schemeClr val="bg1"/>
                </a:solidFill>
                <a:latin typeface="+mn-ea"/>
              </a:rPr>
              <a:t>协议转换</a:t>
            </a:r>
          </a:p>
        </p:txBody>
      </p:sp>
    </p:spTree>
    <p:extLst>
      <p:ext uri="{BB962C8B-B14F-4D97-AF65-F5344CB8AC3E}">
        <p14:creationId xmlns:p14="http://schemas.microsoft.com/office/powerpoint/2010/main" val="4275492781"/>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p:cNvSpPr>
            <a:spLocks noChangeArrowheads="1"/>
          </p:cNvSpPr>
          <p:nvPr/>
        </p:nvSpPr>
        <p:spPr bwMode="auto">
          <a:xfrm>
            <a:off x="379442" y="1457302"/>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a:solidFill>
                  <a:schemeClr val="bg1"/>
                </a:solidFill>
                <a:latin typeface="+mn-ea"/>
              </a:rPr>
              <a:t>1</a:t>
            </a:r>
          </a:p>
        </p:txBody>
      </p:sp>
      <p:sp>
        <p:nvSpPr>
          <p:cNvPr id="408579" name="Freeform 4"/>
          <p:cNvSpPr>
            <a:spLocks/>
          </p:cNvSpPr>
          <p:nvPr/>
        </p:nvSpPr>
        <p:spPr bwMode="auto">
          <a:xfrm>
            <a:off x="1143000" y="1457302"/>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chemeClr val="bg1"/>
          </a:solidFill>
          <a:ln w="3175" algn="ctr">
            <a:solidFill>
              <a:srgbClr val="C0C0C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408580" name="Rectangle 5"/>
          <p:cNvSpPr>
            <a:spLocks noChangeArrowheads="1"/>
          </p:cNvSpPr>
          <p:nvPr/>
        </p:nvSpPr>
        <p:spPr bwMode="auto">
          <a:xfrm>
            <a:off x="1476828" y="1511277"/>
            <a:ext cx="7100888" cy="546100"/>
          </a:xfrm>
          <a:prstGeom prst="rect">
            <a:avLst/>
          </a:prstGeom>
          <a:noFill/>
          <a:ln w="6350">
            <a:noFill/>
            <a:miter lim="800000"/>
            <a:headEnd/>
            <a:tailEnd/>
          </a:ln>
        </p:spPr>
        <p:txBody>
          <a:bodyPr lIns="0" tIns="0" rIns="0" bIns="0" anchor="ctr"/>
          <a:lstStyle/>
          <a:p>
            <a:pPr marL="190500" lvl="1" indent="266700">
              <a:spcBef>
                <a:spcPct val="20000"/>
              </a:spcBef>
              <a:tabLst>
                <a:tab pos="8521700" algn="r"/>
              </a:tabLst>
            </a:pPr>
            <a:r>
              <a:rPr kumimoji="1" lang="zh-CN" altLang="en-US" sz="2400" b="1" dirty="0">
                <a:latin typeface="+mn-ea"/>
                <a:ea typeface="+mn-ea"/>
              </a:rPr>
              <a:t>智慧城市信息资源交换平台建设背景</a:t>
            </a:r>
            <a:endParaRPr kumimoji="1" lang="zh-CN" altLang="de-DE" sz="2400" b="1" dirty="0">
              <a:latin typeface="+mn-ea"/>
              <a:ea typeface="+mn-ea"/>
            </a:endParaRPr>
          </a:p>
        </p:txBody>
      </p:sp>
      <p:sp>
        <p:nvSpPr>
          <p:cNvPr id="408581" name="Rectangle 2"/>
          <p:cNvSpPr>
            <a:spLocks noGrp="1" noChangeArrowheads="1"/>
          </p:cNvSpPr>
          <p:nvPr>
            <p:ph type="title" idx="4294967295"/>
          </p:nvPr>
        </p:nvSpPr>
        <p:spPr>
          <a:xfrm>
            <a:off x="352455" y="152400"/>
            <a:ext cx="8280400" cy="596900"/>
          </a:xfrm>
        </p:spPr>
        <p:txBody>
          <a:bodyPr/>
          <a:lstStyle/>
          <a:p>
            <a:r>
              <a:rPr lang="zh-CN" altLang="en-US" sz="3200" dirty="0">
                <a:latin typeface="+mn-ea"/>
                <a:ea typeface="+mn-ea"/>
              </a:rPr>
              <a:t>提纲</a:t>
            </a:r>
          </a:p>
        </p:txBody>
      </p:sp>
      <p:sp>
        <p:nvSpPr>
          <p:cNvPr id="2" name="AutoShape 2"/>
          <p:cNvSpPr>
            <a:spLocks noChangeArrowheads="1"/>
          </p:cNvSpPr>
          <p:nvPr/>
        </p:nvSpPr>
        <p:spPr bwMode="auto">
          <a:xfrm>
            <a:off x="379442" y="2243120"/>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a:solidFill>
                  <a:srgbClr val="FFFFFF"/>
                </a:solidFill>
                <a:latin typeface="+mn-ea"/>
              </a:rPr>
              <a:t>2</a:t>
            </a:r>
          </a:p>
        </p:txBody>
      </p:sp>
      <p:sp>
        <p:nvSpPr>
          <p:cNvPr id="408583" name="Freeform 4"/>
          <p:cNvSpPr>
            <a:spLocks/>
          </p:cNvSpPr>
          <p:nvPr/>
        </p:nvSpPr>
        <p:spPr bwMode="auto">
          <a:xfrm>
            <a:off x="1171605" y="2243120"/>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chemeClr val="bg1"/>
          </a:solidFill>
          <a:ln w="3175" algn="ctr">
            <a:solidFill>
              <a:srgbClr val="C0C0C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408584" name="Rectangle 5"/>
          <p:cNvSpPr>
            <a:spLocks noChangeArrowheads="1"/>
          </p:cNvSpPr>
          <p:nvPr/>
        </p:nvSpPr>
        <p:spPr bwMode="auto">
          <a:xfrm>
            <a:off x="1488425" y="2297095"/>
            <a:ext cx="7100888" cy="546100"/>
          </a:xfrm>
          <a:prstGeom prst="rect">
            <a:avLst/>
          </a:prstGeom>
          <a:noFill/>
          <a:ln w="6350" algn="ctr">
            <a:noFill/>
            <a:miter lim="800000"/>
            <a:headEnd/>
            <a:tailEnd/>
          </a:ln>
          <a:effectLst/>
        </p:spPr>
        <p:txBody>
          <a:bodyPr lIns="0" tIns="0" rIns="0" bIns="0" anchor="ctr"/>
          <a:lstStyle/>
          <a:p>
            <a:pPr marL="190500" lvl="1" indent="266700">
              <a:spcBef>
                <a:spcPct val="20000"/>
              </a:spcBef>
              <a:tabLst>
                <a:tab pos="8521700" algn="r"/>
              </a:tabLst>
            </a:pPr>
            <a:r>
              <a:rPr kumimoji="1" lang="zh-CN" altLang="en-US" sz="2400" b="1" dirty="0">
                <a:latin typeface="+mn-ea"/>
                <a:ea typeface="+mn-ea"/>
              </a:rPr>
              <a:t>智慧城市信息资源交换平台总体方案</a:t>
            </a:r>
            <a:endParaRPr kumimoji="1" lang="zh-CN" altLang="de-DE" sz="2400" b="1" dirty="0">
              <a:latin typeface="+mn-ea"/>
              <a:ea typeface="+mn-ea"/>
            </a:endParaRPr>
          </a:p>
        </p:txBody>
      </p:sp>
      <p:sp>
        <p:nvSpPr>
          <p:cNvPr id="24" name="AutoShape 2"/>
          <p:cNvSpPr>
            <a:spLocks noChangeArrowheads="1"/>
          </p:cNvSpPr>
          <p:nvPr/>
        </p:nvSpPr>
        <p:spPr bwMode="auto">
          <a:xfrm>
            <a:off x="363596" y="2995614"/>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dirty="0">
                <a:solidFill>
                  <a:srgbClr val="FFFFFF"/>
                </a:solidFill>
                <a:latin typeface="+mn-ea"/>
              </a:rPr>
              <a:t>3</a:t>
            </a:r>
          </a:p>
        </p:txBody>
      </p:sp>
      <p:sp>
        <p:nvSpPr>
          <p:cNvPr id="25" name="Freeform 4"/>
          <p:cNvSpPr>
            <a:spLocks/>
          </p:cNvSpPr>
          <p:nvPr/>
        </p:nvSpPr>
        <p:spPr bwMode="auto">
          <a:xfrm>
            <a:off x="1143000" y="3009903"/>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chemeClr val="bg1"/>
          </a:solidFill>
          <a:ln w="3175" algn="ctr">
            <a:solidFill>
              <a:srgbClr val="C0C0C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26" name="Rectangle 5"/>
          <p:cNvSpPr>
            <a:spLocks noChangeArrowheads="1"/>
          </p:cNvSpPr>
          <p:nvPr/>
        </p:nvSpPr>
        <p:spPr bwMode="auto">
          <a:xfrm>
            <a:off x="1516121" y="3049589"/>
            <a:ext cx="7100888" cy="546100"/>
          </a:xfrm>
          <a:prstGeom prst="rect">
            <a:avLst/>
          </a:prstGeom>
          <a:noFill/>
          <a:ln w="6350" algn="ctr">
            <a:noFill/>
            <a:miter lim="800000"/>
            <a:headEnd/>
            <a:tailEnd/>
          </a:ln>
          <a:effectLst/>
        </p:spPr>
        <p:txBody>
          <a:bodyPr lIns="0" tIns="0" rIns="0" bIns="0" anchor="ctr"/>
          <a:lstStyle/>
          <a:p>
            <a:pPr marL="190500" lvl="1" indent="266700">
              <a:spcBef>
                <a:spcPct val="20000"/>
              </a:spcBef>
              <a:tabLst>
                <a:tab pos="8521700" algn="r"/>
              </a:tabLst>
            </a:pPr>
            <a:r>
              <a:rPr kumimoji="1" lang="zh-CN" altLang="en-US" sz="2400" b="1" dirty="0">
                <a:latin typeface="+mn-ea"/>
                <a:ea typeface="+mn-ea"/>
              </a:rPr>
              <a:t>智慧城市信息资源交换平台应用场景</a:t>
            </a:r>
            <a:endParaRPr kumimoji="1" lang="zh-CN" altLang="de-DE" sz="2400" b="1" dirty="0">
              <a:latin typeface="+mn-ea"/>
              <a:ea typeface="+mn-ea"/>
            </a:endParaRPr>
          </a:p>
        </p:txBody>
      </p:sp>
      <p:sp>
        <p:nvSpPr>
          <p:cNvPr id="12" name="AutoShape 2"/>
          <p:cNvSpPr>
            <a:spLocks noChangeArrowheads="1"/>
          </p:cNvSpPr>
          <p:nvPr/>
        </p:nvSpPr>
        <p:spPr bwMode="auto">
          <a:xfrm>
            <a:off x="363596" y="3781432"/>
            <a:ext cx="863600" cy="647700"/>
          </a:xfrm>
          <a:prstGeom prst="homePlate">
            <a:avLst>
              <a:gd name="adj" fmla="val 26228"/>
            </a:avLst>
          </a:prstGeom>
          <a:solidFill>
            <a:srgbClr val="0070C0"/>
          </a:solidFill>
          <a:ln>
            <a:solidFill>
              <a:srgbClr val="0070C0"/>
            </a:solidFill>
            <a:headEnd/>
            <a:tailEnd/>
          </a:ln>
        </p:spPr>
        <p:style>
          <a:lnRef idx="0">
            <a:schemeClr val="accent2"/>
          </a:lnRef>
          <a:fillRef idx="3">
            <a:schemeClr val="accent2"/>
          </a:fillRef>
          <a:effectRef idx="3">
            <a:schemeClr val="accent2"/>
          </a:effectRef>
          <a:fontRef idx="minor">
            <a:schemeClr val="lt1"/>
          </a:fontRef>
        </p:style>
        <p:txBody>
          <a:bodyPr lIns="0" tIns="0" rIns="0" bIns="0" anchor="ctr"/>
          <a:lstStyle/>
          <a:p>
            <a:pPr algn="ctr"/>
            <a:r>
              <a:rPr lang="en-US" altLang="zh-CN" b="1" dirty="0">
                <a:solidFill>
                  <a:srgbClr val="FFFFFF"/>
                </a:solidFill>
                <a:latin typeface="+mn-ea"/>
              </a:rPr>
              <a:t>4</a:t>
            </a:r>
          </a:p>
        </p:txBody>
      </p:sp>
      <p:sp>
        <p:nvSpPr>
          <p:cNvPr id="13" name="Freeform 4"/>
          <p:cNvSpPr>
            <a:spLocks/>
          </p:cNvSpPr>
          <p:nvPr/>
        </p:nvSpPr>
        <p:spPr bwMode="auto">
          <a:xfrm>
            <a:off x="1155759" y="3781432"/>
            <a:ext cx="7615237" cy="647700"/>
          </a:xfrm>
          <a:custGeom>
            <a:avLst/>
            <a:gdLst>
              <a:gd name="T0" fmla="*/ 2147483647 w 4538"/>
              <a:gd name="T1" fmla="*/ 0 h 1080"/>
              <a:gd name="T2" fmla="*/ 0 w 4538"/>
              <a:gd name="T3" fmla="*/ 0 h 1080"/>
              <a:gd name="T4" fmla="*/ 2147483647 w 4538"/>
              <a:gd name="T5" fmla="*/ 2147483647 h 1080"/>
              <a:gd name="T6" fmla="*/ 0 w 4538"/>
              <a:gd name="T7" fmla="*/ 2147483647 h 1080"/>
              <a:gd name="T8" fmla="*/ 2147483647 w 4538"/>
              <a:gd name="T9" fmla="*/ 2147483647 h 1080"/>
              <a:gd name="T10" fmla="*/ 2147483647 w 4538"/>
              <a:gd name="T11" fmla="*/ 0 h 1080"/>
              <a:gd name="T12" fmla="*/ 0 60000 65536"/>
              <a:gd name="T13" fmla="*/ 0 60000 65536"/>
              <a:gd name="T14" fmla="*/ 0 60000 65536"/>
              <a:gd name="T15" fmla="*/ 0 60000 65536"/>
              <a:gd name="T16" fmla="*/ 0 60000 65536"/>
              <a:gd name="T17" fmla="*/ 0 60000 65536"/>
              <a:gd name="T18" fmla="*/ 0 w 4538"/>
              <a:gd name="T19" fmla="*/ 0 h 1080"/>
              <a:gd name="T20" fmla="*/ 4538 w 4538"/>
              <a:gd name="T21" fmla="*/ 1080 h 1080"/>
            </a:gdLst>
            <a:ahLst/>
            <a:cxnLst>
              <a:cxn ang="T12">
                <a:pos x="T0" y="T1"/>
              </a:cxn>
              <a:cxn ang="T13">
                <a:pos x="T2" y="T3"/>
              </a:cxn>
              <a:cxn ang="T14">
                <a:pos x="T4" y="T5"/>
              </a:cxn>
              <a:cxn ang="T15">
                <a:pos x="T6" y="T7"/>
              </a:cxn>
              <a:cxn ang="T16">
                <a:pos x="T8" y="T9"/>
              </a:cxn>
              <a:cxn ang="T17">
                <a:pos x="T10" y="T11"/>
              </a:cxn>
            </a:cxnLst>
            <a:rect l="T18" t="T19" r="T20" b="T21"/>
            <a:pathLst>
              <a:path w="4538" h="1080">
                <a:moveTo>
                  <a:pt x="4538" y="0"/>
                </a:moveTo>
                <a:lnTo>
                  <a:pt x="0" y="0"/>
                </a:lnTo>
                <a:lnTo>
                  <a:pt x="105" y="541"/>
                </a:lnTo>
                <a:lnTo>
                  <a:pt x="0" y="1080"/>
                </a:lnTo>
                <a:lnTo>
                  <a:pt x="4538" y="1080"/>
                </a:lnTo>
                <a:lnTo>
                  <a:pt x="4538" y="0"/>
                </a:lnTo>
              </a:path>
            </a:pathLst>
          </a:custGeom>
          <a:solidFill>
            <a:srgbClr val="00B0F0"/>
          </a:solidFill>
          <a:ln w="3175" algn="ctr">
            <a:solidFill>
              <a:srgbClr val="00B0F0"/>
            </a:solidFill>
            <a:round/>
            <a:headEnd/>
            <a:tailEnd/>
          </a:ln>
          <a:effectLst>
            <a:outerShdw dist="35921" dir="2700000" algn="ctr" rotWithShape="0">
              <a:schemeClr val="bg2"/>
            </a:outerShdw>
          </a:effectLst>
        </p:spPr>
        <p:txBody>
          <a:bodyPr lIns="0" tIns="0" rIns="0" bIns="0" anchor="ctr"/>
          <a:lstStyle/>
          <a:p>
            <a:pPr algn="ctr"/>
            <a:endParaRPr lang="zh-CN" altLang="en-US">
              <a:solidFill>
                <a:schemeClr val="bg1">
                  <a:lumMod val="50000"/>
                </a:schemeClr>
              </a:solidFill>
              <a:latin typeface="+mn-ea"/>
              <a:ea typeface="+mn-ea"/>
            </a:endParaRPr>
          </a:p>
        </p:txBody>
      </p:sp>
      <p:sp>
        <p:nvSpPr>
          <p:cNvPr id="14" name="Rectangle 5"/>
          <p:cNvSpPr>
            <a:spLocks noChangeArrowheads="1"/>
          </p:cNvSpPr>
          <p:nvPr/>
        </p:nvSpPr>
        <p:spPr bwMode="auto">
          <a:xfrm>
            <a:off x="1516121" y="3835407"/>
            <a:ext cx="7100888" cy="546100"/>
          </a:xfrm>
          <a:prstGeom prst="rect">
            <a:avLst/>
          </a:prstGeom>
          <a:noFill/>
          <a:ln w="6350" algn="ctr">
            <a:noFill/>
            <a:miter lim="800000"/>
            <a:headEnd/>
            <a:tailEnd/>
          </a:ln>
          <a:effectLst/>
        </p:spPr>
        <p:txBody>
          <a:bodyPr lIns="0" tIns="0" rIns="0" bIns="0" anchor="ctr"/>
          <a:lstStyle/>
          <a:p>
            <a:pPr marL="190500" lvl="1" indent="266700">
              <a:spcBef>
                <a:spcPct val="20000"/>
              </a:spcBef>
              <a:tabLst>
                <a:tab pos="8521700" algn="r"/>
              </a:tabLst>
            </a:pPr>
            <a:r>
              <a:rPr kumimoji="1" lang="zh-CN" altLang="en-US" sz="2400" b="1" dirty="0">
                <a:solidFill>
                  <a:schemeClr val="bg1"/>
                </a:solidFill>
                <a:latin typeface="+mn-ea"/>
                <a:ea typeface="+mn-ea"/>
              </a:rPr>
              <a:t>智慧城市信息资源交换平台关键特性</a:t>
            </a:r>
            <a:endParaRPr kumimoji="1" lang="zh-CN" altLang="de-DE" sz="2400" b="1" dirty="0">
              <a:solidFill>
                <a:schemeClr val="bg1"/>
              </a:solidFill>
              <a:latin typeface="+mn-ea"/>
              <a:ea typeface="+mn-ea"/>
            </a:endParaRPr>
          </a:p>
        </p:txBody>
      </p:sp>
      <p:sp>
        <p:nvSpPr>
          <p:cNvPr id="18" name="灯片编号占位符 3"/>
          <p:cNvSpPr txBox="1">
            <a:spLocks/>
          </p:cNvSpPr>
          <p:nvPr/>
        </p:nvSpPr>
        <p:spPr>
          <a:xfrm>
            <a:off x="3429000" y="6245225"/>
            <a:ext cx="2133600" cy="476250"/>
          </a:xfrm>
          <a:prstGeom prst="rect">
            <a:avLst/>
          </a:prstGeom>
        </p:spPr>
        <p:txBody>
          <a:bodyPr/>
          <a:lstStyle>
            <a:defPPr>
              <a:defRPr lang="en-US"/>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a:lstStyle>
          <a:p>
            <a:pPr algn="ctr"/>
            <a:fld id="{BD61978C-FD3D-4268-8D6C-034E9AD544A3}" type="slidenum">
              <a:rPr lang="en-US" altLang="zh-CN" smtClean="0">
                <a:latin typeface="+mn-ea"/>
                <a:ea typeface="+mn-ea"/>
              </a:rPr>
              <a:pPr algn="ctr"/>
              <a:t>33</a:t>
            </a:fld>
            <a:endParaRPr lang="en-US" altLang="zh-CN">
              <a:latin typeface="+mn-ea"/>
              <a:ea typeface="+mn-ea"/>
            </a:endParaRPr>
          </a:p>
        </p:txBody>
      </p:sp>
    </p:spTree>
    <p:extLst>
      <p:ext uri="{BB962C8B-B14F-4D97-AF65-F5344CB8AC3E}">
        <p14:creationId xmlns:p14="http://schemas.microsoft.com/office/powerpoint/2010/main" val="17429269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285720" y="914400"/>
            <a:ext cx="5576918" cy="3929090"/>
          </a:xfrm>
          <a:prstGeom prst="rect">
            <a:avLst/>
          </a:prstGeom>
          <a:solidFill>
            <a:schemeClr val="bg1">
              <a:lumMod val="95000"/>
            </a:schemeClr>
          </a:solidFill>
          <a:ln>
            <a:solidFill>
              <a:schemeClr val="bg1">
                <a:lumMod val="95000"/>
              </a:schemeClr>
            </a:solidFill>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72" name="矩形 71"/>
          <p:cNvSpPr/>
          <p:nvPr/>
        </p:nvSpPr>
        <p:spPr>
          <a:xfrm>
            <a:off x="395017" y="2407264"/>
            <a:ext cx="5349159" cy="730721"/>
          </a:xfrm>
          <a:prstGeom prst="rect">
            <a:avLst/>
          </a:prstGeom>
          <a:solidFill>
            <a:schemeClr val="bg1">
              <a:lumMod val="85000"/>
            </a:schemeClr>
          </a:solidFill>
          <a:ln>
            <a:solidFill>
              <a:schemeClr val="bg1">
                <a:lumMod val="85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400" b="1" dirty="0">
              <a:solidFill>
                <a:schemeClr val="bg1"/>
              </a:solidFill>
              <a:latin typeface="+mn-ea"/>
            </a:endParaRPr>
          </a:p>
        </p:txBody>
      </p:sp>
      <p:sp>
        <p:nvSpPr>
          <p:cNvPr id="83" name="等腰三角形 82"/>
          <p:cNvSpPr/>
          <p:nvPr/>
        </p:nvSpPr>
        <p:spPr>
          <a:xfrm>
            <a:off x="405782" y="3969251"/>
            <a:ext cx="5385418" cy="1597181"/>
          </a:xfrm>
          <a:prstGeom prst="triangle">
            <a:avLst/>
          </a:prstGeom>
          <a:solidFill>
            <a:schemeClr val="bg1">
              <a:lumMod val="75000"/>
            </a:schemeClr>
          </a:solidFill>
          <a:ln>
            <a:solidFill>
              <a:schemeClr val="bg1">
                <a:lumMod val="75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71" name="矩形 70"/>
          <p:cNvSpPr/>
          <p:nvPr/>
        </p:nvSpPr>
        <p:spPr>
          <a:xfrm>
            <a:off x="385231" y="3870909"/>
            <a:ext cx="5358945" cy="884172"/>
          </a:xfrm>
          <a:prstGeom prst="rect">
            <a:avLst/>
          </a:prstGeom>
          <a:solidFill>
            <a:schemeClr val="accent1">
              <a:lumMod val="90000"/>
            </a:schemeClr>
          </a:solidFill>
          <a:ln>
            <a:solidFill>
              <a:schemeClr val="accent1">
                <a:lumMod val="9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400" b="1" dirty="0">
              <a:solidFill>
                <a:schemeClr val="bg1"/>
              </a:solidFill>
              <a:latin typeface="+mn-ea"/>
            </a:endParaRPr>
          </a:p>
        </p:txBody>
      </p:sp>
      <p:sp>
        <p:nvSpPr>
          <p:cNvPr id="2" name="标题 1"/>
          <p:cNvSpPr>
            <a:spLocks noGrp="1"/>
          </p:cNvSpPr>
          <p:nvPr>
            <p:ph type="title"/>
          </p:nvPr>
        </p:nvSpPr>
        <p:spPr>
          <a:xfrm>
            <a:off x="304800" y="228600"/>
            <a:ext cx="8610600" cy="561975"/>
          </a:xfrm>
        </p:spPr>
        <p:txBody>
          <a:bodyPr/>
          <a:lstStyle/>
          <a:p>
            <a:r>
              <a:rPr lang="zh-CN" altLang="en-US" dirty="0">
                <a:latin typeface="+mn-ea"/>
                <a:ea typeface="+mn-ea"/>
              </a:rPr>
              <a:t>节点接入</a:t>
            </a:r>
          </a:p>
        </p:txBody>
      </p:sp>
      <p:sp>
        <p:nvSpPr>
          <p:cNvPr id="101" name="AutoShape 20"/>
          <p:cNvSpPr>
            <a:spLocks noChangeArrowheads="1"/>
          </p:cNvSpPr>
          <p:nvPr/>
        </p:nvSpPr>
        <p:spPr bwMode="auto">
          <a:xfrm rot="10800000">
            <a:off x="5943597" y="949769"/>
            <a:ext cx="3048001" cy="5157421"/>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dirty="0">
              <a:latin typeface="+mn-ea"/>
              <a:ea typeface="+mn-ea"/>
            </a:endParaRPr>
          </a:p>
        </p:txBody>
      </p:sp>
      <p:sp>
        <p:nvSpPr>
          <p:cNvPr id="102" name="TextBox 101"/>
          <p:cNvSpPr txBox="1"/>
          <p:nvPr/>
        </p:nvSpPr>
        <p:spPr>
          <a:xfrm>
            <a:off x="6038865" y="1285860"/>
            <a:ext cx="2952734" cy="6001643"/>
          </a:xfrm>
          <a:prstGeom prst="rect">
            <a:avLst/>
          </a:prstGeom>
          <a:noFill/>
        </p:spPr>
        <p:txBody>
          <a:bodyPr wrap="square" rtlCol="0">
            <a:spAutoFit/>
          </a:bodyPr>
          <a:lstStyle/>
          <a:p>
            <a:pPr>
              <a:lnSpc>
                <a:spcPct val="150000"/>
              </a:lnSpc>
              <a:buFont typeface="Wingdings" pitchFamily="2" charset="2"/>
              <a:buChar char="p"/>
            </a:pPr>
            <a:r>
              <a:rPr lang="zh-CN" altLang="en-US" sz="1600" b="1" dirty="0">
                <a:solidFill>
                  <a:srgbClr val="C00000"/>
                </a:solidFill>
                <a:latin typeface="+mn-ea"/>
                <a:ea typeface="+mn-ea"/>
              </a:rPr>
              <a:t>节点接入：</a:t>
            </a:r>
            <a:r>
              <a:rPr lang="zh-CN" altLang="en-US" sz="1600" dirty="0">
                <a:latin typeface="+mn-ea"/>
                <a:ea typeface="+mn-ea"/>
              </a:rPr>
              <a:t>节点接入支持多种协议，包括有：数据库（</a:t>
            </a:r>
            <a:r>
              <a:rPr lang="en-US" altLang="zh-CN" sz="1600" dirty="0">
                <a:latin typeface="+mn-ea"/>
                <a:ea typeface="+mn-ea"/>
              </a:rPr>
              <a:t>JDBC</a:t>
            </a:r>
            <a:r>
              <a:rPr lang="zh-CN" altLang="en-US" sz="1600" dirty="0">
                <a:latin typeface="+mn-ea"/>
                <a:ea typeface="+mn-ea"/>
              </a:rPr>
              <a:t>）、</a:t>
            </a:r>
            <a:r>
              <a:rPr lang="en-US" altLang="zh-CN" sz="1600" dirty="0">
                <a:latin typeface="+mn-ea"/>
                <a:ea typeface="+mn-ea"/>
              </a:rPr>
              <a:t>P2P</a:t>
            </a:r>
            <a:r>
              <a:rPr lang="zh-CN" altLang="en-US" sz="1600" dirty="0">
                <a:latin typeface="+mn-ea"/>
                <a:ea typeface="+mn-ea"/>
              </a:rPr>
              <a:t>、</a:t>
            </a:r>
            <a:r>
              <a:rPr lang="en-US" altLang="zh-CN" sz="1600" dirty="0">
                <a:latin typeface="+mn-ea"/>
                <a:ea typeface="+mn-ea"/>
              </a:rPr>
              <a:t>FTP</a:t>
            </a:r>
            <a:r>
              <a:rPr lang="zh-CN" altLang="en-US" sz="1600" dirty="0">
                <a:latin typeface="+mn-ea"/>
                <a:ea typeface="+mn-ea"/>
              </a:rPr>
              <a:t>、</a:t>
            </a:r>
            <a:r>
              <a:rPr lang="en-US" altLang="zh-CN" sz="1600" dirty="0">
                <a:latin typeface="+mn-ea"/>
                <a:ea typeface="+mn-ea"/>
              </a:rPr>
              <a:t>HTTP</a:t>
            </a:r>
            <a:r>
              <a:rPr lang="zh-CN" altLang="en-US" sz="1600" dirty="0">
                <a:latin typeface="+mn-ea"/>
                <a:ea typeface="+mn-ea"/>
              </a:rPr>
              <a:t>、</a:t>
            </a:r>
            <a:r>
              <a:rPr lang="en-US" altLang="zh-CN" sz="1600" dirty="0">
                <a:latin typeface="+mn-ea"/>
                <a:ea typeface="+mn-ea"/>
              </a:rPr>
              <a:t>TCP</a:t>
            </a:r>
            <a:r>
              <a:rPr lang="zh-CN" altLang="en-US" sz="1600" dirty="0">
                <a:latin typeface="+mn-ea"/>
                <a:ea typeface="+mn-ea"/>
              </a:rPr>
              <a:t>、</a:t>
            </a:r>
            <a:r>
              <a:rPr lang="en-US" altLang="zh-CN" sz="1600" dirty="0">
                <a:latin typeface="+mn-ea"/>
                <a:ea typeface="+mn-ea"/>
              </a:rPr>
              <a:t>JMS</a:t>
            </a:r>
            <a:r>
              <a:rPr lang="zh-CN" altLang="en-US" sz="1600" dirty="0">
                <a:latin typeface="+mn-ea"/>
                <a:ea typeface="+mn-ea"/>
              </a:rPr>
              <a:t>和</a:t>
            </a:r>
            <a:r>
              <a:rPr lang="en-US" altLang="zh-CN" sz="1600" dirty="0" err="1">
                <a:latin typeface="+mn-ea"/>
                <a:ea typeface="+mn-ea"/>
              </a:rPr>
              <a:t>Webservice</a:t>
            </a:r>
            <a:r>
              <a:rPr lang="zh-CN" altLang="en-US" sz="1600" dirty="0">
                <a:latin typeface="+mn-ea"/>
                <a:ea typeface="+mn-ea"/>
              </a:rPr>
              <a:t>等。</a:t>
            </a:r>
            <a:endParaRPr lang="en-US" altLang="zh-CN" sz="1600" dirty="0">
              <a:latin typeface="+mn-ea"/>
              <a:ea typeface="+mn-ea"/>
            </a:endParaRPr>
          </a:p>
          <a:p>
            <a:pPr marL="342900" indent="-342900">
              <a:lnSpc>
                <a:spcPct val="150000"/>
              </a:lnSpc>
              <a:buFont typeface="+mj-ea"/>
              <a:buAutoNum type="circleNumDbPlain"/>
            </a:pPr>
            <a:r>
              <a:rPr lang="zh-CN" altLang="en-US" sz="1600" dirty="0">
                <a:latin typeface="+mn-ea"/>
                <a:ea typeface="+mn-ea"/>
              </a:rPr>
              <a:t>用户通过创建模型将各前置节点的的信息注册到节点信息库中。</a:t>
            </a:r>
            <a:endParaRPr lang="en-US" altLang="zh-CN" sz="1600" dirty="0">
              <a:latin typeface="+mn-ea"/>
              <a:ea typeface="+mn-ea"/>
            </a:endParaRPr>
          </a:p>
          <a:p>
            <a:pPr marL="342900" indent="-342900">
              <a:lnSpc>
                <a:spcPct val="150000"/>
              </a:lnSpc>
              <a:buFont typeface="+mj-ea"/>
              <a:buAutoNum type="circleNumDbPlain"/>
            </a:pPr>
            <a:r>
              <a:rPr lang="zh-CN" altLang="en-US" sz="1600" dirty="0">
                <a:latin typeface="+mn-ea"/>
                <a:ea typeface="+mn-ea"/>
              </a:rPr>
              <a:t>在模型运行后将数据传输的结果数据和节点数据结合起来。</a:t>
            </a:r>
            <a:endParaRPr lang="en-US" altLang="zh-CN" sz="1600" dirty="0">
              <a:latin typeface="+mn-ea"/>
              <a:ea typeface="+mn-ea"/>
            </a:endParaRPr>
          </a:p>
          <a:p>
            <a:pPr marL="342900" indent="-342900">
              <a:lnSpc>
                <a:spcPct val="150000"/>
              </a:lnSpc>
              <a:buFont typeface="+mj-ea"/>
              <a:buAutoNum type="circleNumDbPlain"/>
            </a:pPr>
            <a:r>
              <a:rPr lang="zh-CN" altLang="en-US" sz="1600" dirty="0">
                <a:latin typeface="+mn-ea"/>
                <a:ea typeface="+mn-ea"/>
              </a:rPr>
              <a:t>通过查看资源管理中的节点监控以图形化的方式展现节点间的数据信息。</a:t>
            </a:r>
            <a:endParaRPr lang="en-US" altLang="zh-CN" sz="1600" dirty="0">
              <a:latin typeface="+mn-ea"/>
              <a:ea typeface="+mn-ea"/>
            </a:endParaRPr>
          </a:p>
          <a:p>
            <a:pPr>
              <a:lnSpc>
                <a:spcPct val="150000"/>
              </a:lnSpc>
              <a:buFont typeface="Wingdings" pitchFamily="2" charset="2"/>
              <a:buChar char="p"/>
            </a:pPr>
            <a:endParaRPr lang="en-US" altLang="zh-CN" sz="1600" dirty="0">
              <a:latin typeface="+mn-ea"/>
              <a:ea typeface="+mn-ea"/>
            </a:endParaRPr>
          </a:p>
          <a:p>
            <a:pPr>
              <a:lnSpc>
                <a:spcPct val="150000"/>
              </a:lnSpc>
              <a:buFont typeface="Wingdings" pitchFamily="2" charset="2"/>
              <a:buChar char="p"/>
            </a:pPr>
            <a:endParaRPr lang="en-US" altLang="zh-CN" sz="1600" dirty="0">
              <a:latin typeface="+mn-ea"/>
              <a:ea typeface="+mn-ea"/>
            </a:endParaRPr>
          </a:p>
          <a:p>
            <a:pPr>
              <a:lnSpc>
                <a:spcPct val="150000"/>
              </a:lnSpc>
              <a:buFont typeface="Wingdings" pitchFamily="2" charset="2"/>
              <a:buChar char="p"/>
            </a:pPr>
            <a:endParaRPr lang="zh-CN" altLang="en-US" sz="1600" dirty="0">
              <a:latin typeface="+mn-ea"/>
              <a:ea typeface="+mn-ea"/>
            </a:endParaRPr>
          </a:p>
        </p:txBody>
      </p:sp>
      <p:sp>
        <p:nvSpPr>
          <p:cNvPr id="35" name="TextBox 34"/>
          <p:cNvSpPr txBox="1"/>
          <p:nvPr/>
        </p:nvSpPr>
        <p:spPr>
          <a:xfrm>
            <a:off x="214282" y="985838"/>
            <a:ext cx="428628" cy="1077218"/>
          </a:xfrm>
          <a:prstGeom prst="rect">
            <a:avLst/>
          </a:prstGeom>
          <a:noFill/>
        </p:spPr>
        <p:txBody>
          <a:bodyPr vert="horz" wrap="square" rtlCol="0">
            <a:spAutoFit/>
          </a:bodyPr>
          <a:lstStyle/>
          <a:p>
            <a:r>
              <a:rPr lang="zh-CN" altLang="en-US" sz="1600" b="1" dirty="0">
                <a:latin typeface="+mn-ea"/>
                <a:ea typeface="+mn-ea"/>
              </a:rPr>
              <a:t>中心节点</a:t>
            </a:r>
          </a:p>
        </p:txBody>
      </p:sp>
      <p:sp>
        <p:nvSpPr>
          <p:cNvPr id="36" name="TextBox 35"/>
          <p:cNvSpPr txBox="1"/>
          <p:nvPr/>
        </p:nvSpPr>
        <p:spPr>
          <a:xfrm>
            <a:off x="323257" y="2414598"/>
            <a:ext cx="1176909" cy="369332"/>
          </a:xfrm>
          <a:prstGeom prst="rect">
            <a:avLst/>
          </a:prstGeom>
          <a:noFill/>
        </p:spPr>
        <p:txBody>
          <a:bodyPr wrap="square" rtlCol="0">
            <a:spAutoFit/>
          </a:bodyPr>
          <a:lstStyle/>
          <a:p>
            <a:r>
              <a:rPr lang="zh-CN" altLang="en-US" b="1" dirty="0">
                <a:solidFill>
                  <a:schemeClr val="bg1"/>
                </a:solidFill>
                <a:latin typeface="+mn-ea"/>
                <a:ea typeface="+mn-ea"/>
              </a:rPr>
              <a:t>管理监控</a:t>
            </a:r>
          </a:p>
        </p:txBody>
      </p:sp>
      <p:sp>
        <p:nvSpPr>
          <p:cNvPr id="38" name="矩形 37"/>
          <p:cNvSpPr/>
          <p:nvPr/>
        </p:nvSpPr>
        <p:spPr>
          <a:xfrm>
            <a:off x="3190803" y="4376653"/>
            <a:ext cx="287488" cy="263599"/>
          </a:xfrm>
          <a:prstGeom prst="rect">
            <a:avLst/>
          </a:prstGeom>
          <a:solidFill>
            <a:srgbClr val="99FF66"/>
          </a:solidFill>
          <a:ln>
            <a:solidFill>
              <a:srgbClr val="99FF66"/>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41" name="矩形 40"/>
          <p:cNvSpPr/>
          <p:nvPr/>
        </p:nvSpPr>
        <p:spPr>
          <a:xfrm>
            <a:off x="4158560" y="4178954"/>
            <a:ext cx="287488" cy="263599"/>
          </a:xfrm>
          <a:prstGeom prst="rect">
            <a:avLst/>
          </a:prstGeom>
          <a:solidFill>
            <a:srgbClr val="FFC000"/>
          </a:solidFill>
          <a:ln>
            <a:solidFill>
              <a:srgbClr val="FFC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42" name="矩形 41"/>
          <p:cNvSpPr/>
          <p:nvPr/>
        </p:nvSpPr>
        <p:spPr>
          <a:xfrm>
            <a:off x="5213206" y="4376653"/>
            <a:ext cx="287488" cy="263599"/>
          </a:xfrm>
          <a:prstGeom prst="rect">
            <a:avLst/>
          </a:prstGeom>
          <a:solidFill>
            <a:srgbClr val="99FF66"/>
          </a:solidFill>
          <a:ln>
            <a:solidFill>
              <a:srgbClr val="99FF66"/>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cxnSp>
        <p:nvCxnSpPr>
          <p:cNvPr id="52" name="直接连接符 51"/>
          <p:cNvCxnSpPr>
            <a:stCxn id="38" idx="3"/>
            <a:endCxn id="41" idx="1"/>
          </p:cNvCxnSpPr>
          <p:nvPr/>
        </p:nvCxnSpPr>
        <p:spPr bwMode="auto">
          <a:xfrm flipV="1">
            <a:off x="3478291" y="4310753"/>
            <a:ext cx="680269" cy="197699"/>
          </a:xfrm>
          <a:prstGeom prst="line">
            <a:avLst/>
          </a:prstGeom>
          <a:ln>
            <a:solidFill>
              <a:srgbClr val="FF0000"/>
            </a:solidFill>
            <a:headEnd type="none" w="med" len="med"/>
            <a:tailEnd type="triangle" w="med" len="med"/>
          </a:ln>
        </p:spPr>
        <p:style>
          <a:lnRef idx="3">
            <a:schemeClr val="accent2"/>
          </a:lnRef>
          <a:fillRef idx="0">
            <a:schemeClr val="accent2"/>
          </a:fillRef>
          <a:effectRef idx="2">
            <a:schemeClr val="accent2"/>
          </a:effectRef>
          <a:fontRef idx="minor">
            <a:schemeClr val="tx1"/>
          </a:fontRef>
        </p:style>
      </p:cxnSp>
      <p:cxnSp>
        <p:nvCxnSpPr>
          <p:cNvPr id="54" name="直接连接符 53"/>
          <p:cNvCxnSpPr>
            <a:stCxn id="41" idx="3"/>
            <a:endCxn id="42" idx="1"/>
          </p:cNvCxnSpPr>
          <p:nvPr/>
        </p:nvCxnSpPr>
        <p:spPr bwMode="auto">
          <a:xfrm>
            <a:off x="4446048" y="4310753"/>
            <a:ext cx="767158" cy="197699"/>
          </a:xfrm>
          <a:prstGeom prst="line">
            <a:avLst/>
          </a:prstGeom>
          <a:ln>
            <a:solidFill>
              <a:srgbClr val="FF0000"/>
            </a:solidFill>
            <a:headEnd type="none" w="med" len="med"/>
            <a:tailEnd type="triangle" w="med" len="med"/>
          </a:ln>
        </p:spPr>
        <p:style>
          <a:lnRef idx="3">
            <a:schemeClr val="accent2"/>
          </a:lnRef>
          <a:fillRef idx="0">
            <a:schemeClr val="accent2"/>
          </a:fillRef>
          <a:effectRef idx="2">
            <a:schemeClr val="accent2"/>
          </a:effectRef>
          <a:fontRef idx="minor">
            <a:schemeClr val="tx1"/>
          </a:fontRef>
        </p:style>
      </p:cxnSp>
      <p:sp>
        <p:nvSpPr>
          <p:cNvPr id="59" name="矩形 58"/>
          <p:cNvSpPr/>
          <p:nvPr/>
        </p:nvSpPr>
        <p:spPr>
          <a:xfrm>
            <a:off x="1857355" y="3957477"/>
            <a:ext cx="3781445" cy="748674"/>
          </a:xfrm>
          <a:prstGeom prst="rect">
            <a:avLst/>
          </a:prstGeom>
          <a:no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62" name="矩形 61"/>
          <p:cNvSpPr/>
          <p:nvPr/>
        </p:nvSpPr>
        <p:spPr>
          <a:xfrm>
            <a:off x="1828800" y="2481756"/>
            <a:ext cx="1143008" cy="329499"/>
          </a:xfrm>
          <a:prstGeom prst="rect">
            <a:avLst/>
          </a:prstGeom>
          <a:solidFill>
            <a:schemeClr val="accent1">
              <a:lumMod val="90000"/>
            </a:schemeClr>
          </a:solidFill>
          <a:ln w="12700">
            <a:solidFill>
              <a:schemeClr val="bg1"/>
            </a:solidFill>
          </a:ln>
        </p:spPr>
        <p:style>
          <a:lnRef idx="1">
            <a:schemeClr val="accent6"/>
          </a:lnRef>
          <a:fillRef idx="2">
            <a:schemeClr val="accent6"/>
          </a:fillRef>
          <a:effectRef idx="1">
            <a:schemeClr val="accent6"/>
          </a:effectRef>
          <a:fontRef idx="minor">
            <a:schemeClr val="dk1"/>
          </a:fontRef>
        </p:style>
        <p:txBody>
          <a:bodyPr lIns="0" rIns="0" rtlCol="0" anchor="ctr" anchorCtr="0"/>
          <a:lstStyle/>
          <a:p>
            <a:pPr algn="ctr"/>
            <a:r>
              <a:rPr lang="zh-CN" altLang="en-US" sz="1200" b="1" dirty="0">
                <a:solidFill>
                  <a:schemeClr val="bg1"/>
                </a:solidFill>
                <a:latin typeface="+mn-ea"/>
              </a:rPr>
              <a:t>资源管理</a:t>
            </a:r>
          </a:p>
        </p:txBody>
      </p:sp>
      <p:sp>
        <p:nvSpPr>
          <p:cNvPr id="100" name="矩形 99"/>
          <p:cNvSpPr/>
          <p:nvPr/>
        </p:nvSpPr>
        <p:spPr>
          <a:xfrm>
            <a:off x="2070658" y="3271854"/>
            <a:ext cx="3572912" cy="443986"/>
          </a:xfrm>
          <a:prstGeom prst="rect">
            <a:avLst/>
          </a:prstGeom>
          <a:no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09" name="矩形 108"/>
          <p:cNvSpPr/>
          <p:nvPr/>
        </p:nvSpPr>
        <p:spPr>
          <a:xfrm>
            <a:off x="3124200" y="2481756"/>
            <a:ext cx="1214446" cy="329499"/>
          </a:xfrm>
          <a:prstGeom prst="rect">
            <a:avLst/>
          </a:prstGeom>
          <a:solidFill>
            <a:schemeClr val="accent1">
              <a:lumMod val="90000"/>
            </a:schemeClr>
          </a:solidFill>
          <a:ln w="12700">
            <a:solidFill>
              <a:schemeClr val="bg1"/>
            </a:solidFill>
          </a:ln>
        </p:spPr>
        <p:style>
          <a:lnRef idx="1">
            <a:schemeClr val="accent6"/>
          </a:lnRef>
          <a:fillRef idx="2">
            <a:schemeClr val="accent6"/>
          </a:fillRef>
          <a:effectRef idx="1">
            <a:schemeClr val="accent6"/>
          </a:effectRef>
          <a:fontRef idx="minor">
            <a:schemeClr val="dk1"/>
          </a:fontRef>
        </p:style>
        <p:txBody>
          <a:bodyPr lIns="0" rIns="0" rtlCol="0" anchor="ctr" anchorCtr="0"/>
          <a:lstStyle/>
          <a:p>
            <a:pPr algn="ctr"/>
            <a:r>
              <a:rPr lang="zh-CN" altLang="en-US" sz="1200" b="1" dirty="0">
                <a:solidFill>
                  <a:schemeClr val="bg1"/>
                </a:solidFill>
                <a:latin typeface="+mn-ea"/>
              </a:rPr>
              <a:t>资源监控</a:t>
            </a:r>
          </a:p>
        </p:txBody>
      </p:sp>
      <p:sp>
        <p:nvSpPr>
          <p:cNvPr id="143" name="矩形 142"/>
          <p:cNvSpPr/>
          <p:nvPr/>
        </p:nvSpPr>
        <p:spPr>
          <a:xfrm>
            <a:off x="2067818" y="5046708"/>
            <a:ext cx="593238" cy="318397"/>
          </a:xfrm>
          <a:prstGeom prst="rect">
            <a:avLst/>
          </a:prstGeom>
          <a:solidFill>
            <a:srgbClr val="0070C0"/>
          </a:solidFill>
          <a:ln>
            <a:solidFill>
              <a:srgbClr val="0070C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ctr" anchorCtr="0"/>
          <a:lstStyle/>
          <a:p>
            <a:pPr algn="ctr"/>
            <a:r>
              <a:rPr lang="en-US" altLang="zh-CN" sz="1200" b="1" dirty="0">
                <a:solidFill>
                  <a:schemeClr val="bg1"/>
                </a:solidFill>
                <a:latin typeface="+mn-ea"/>
              </a:rPr>
              <a:t>Socket</a:t>
            </a:r>
            <a:endParaRPr lang="zh-CN" altLang="en-US" sz="1200" b="1" dirty="0">
              <a:solidFill>
                <a:schemeClr val="bg1"/>
              </a:solidFill>
              <a:latin typeface="+mn-ea"/>
            </a:endParaRPr>
          </a:p>
        </p:txBody>
      </p:sp>
      <p:sp>
        <p:nvSpPr>
          <p:cNvPr id="144" name="矩形 143"/>
          <p:cNvSpPr/>
          <p:nvPr/>
        </p:nvSpPr>
        <p:spPr>
          <a:xfrm>
            <a:off x="2759864" y="5046708"/>
            <a:ext cx="593238" cy="318397"/>
          </a:xfrm>
          <a:prstGeom prst="rect">
            <a:avLst/>
          </a:prstGeom>
          <a:solidFill>
            <a:srgbClr val="0070C0"/>
          </a:solidFill>
          <a:ln>
            <a:solidFill>
              <a:srgbClr val="0070C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ctr" anchorCtr="0"/>
          <a:lstStyle/>
          <a:p>
            <a:pPr algn="ctr"/>
            <a:r>
              <a:rPr lang="en-US" altLang="zh-CN" sz="1200" b="1" dirty="0">
                <a:solidFill>
                  <a:schemeClr val="bg1"/>
                </a:solidFill>
                <a:latin typeface="+mn-ea"/>
              </a:rPr>
              <a:t>FTP</a:t>
            </a:r>
            <a:endParaRPr lang="zh-CN" altLang="en-US" sz="1200" b="1" dirty="0">
              <a:solidFill>
                <a:schemeClr val="bg1"/>
              </a:solidFill>
              <a:latin typeface="+mn-ea"/>
            </a:endParaRPr>
          </a:p>
        </p:txBody>
      </p:sp>
      <p:sp>
        <p:nvSpPr>
          <p:cNvPr id="145" name="矩形 144"/>
          <p:cNvSpPr/>
          <p:nvPr/>
        </p:nvSpPr>
        <p:spPr>
          <a:xfrm>
            <a:off x="3451910" y="5046708"/>
            <a:ext cx="593238" cy="318397"/>
          </a:xfrm>
          <a:prstGeom prst="rect">
            <a:avLst/>
          </a:prstGeom>
          <a:solidFill>
            <a:srgbClr val="0070C0"/>
          </a:solidFill>
          <a:ln>
            <a:solidFill>
              <a:srgbClr val="0070C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ctr" anchorCtr="0"/>
          <a:lstStyle/>
          <a:p>
            <a:pPr algn="ctr"/>
            <a:r>
              <a:rPr lang="en-US" altLang="zh-CN" sz="1200" b="1" dirty="0">
                <a:solidFill>
                  <a:schemeClr val="bg1"/>
                </a:solidFill>
                <a:latin typeface="+mn-ea"/>
              </a:rPr>
              <a:t>P2P</a:t>
            </a:r>
            <a:endParaRPr lang="zh-CN" altLang="en-US" sz="1200" b="1" dirty="0">
              <a:solidFill>
                <a:schemeClr val="bg1"/>
              </a:solidFill>
              <a:latin typeface="+mn-ea"/>
            </a:endParaRPr>
          </a:p>
        </p:txBody>
      </p:sp>
      <p:sp>
        <p:nvSpPr>
          <p:cNvPr id="146" name="矩形 145"/>
          <p:cNvSpPr/>
          <p:nvPr/>
        </p:nvSpPr>
        <p:spPr>
          <a:xfrm>
            <a:off x="4143956" y="5046708"/>
            <a:ext cx="593238" cy="318397"/>
          </a:xfrm>
          <a:prstGeom prst="rect">
            <a:avLst/>
          </a:prstGeom>
          <a:solidFill>
            <a:srgbClr val="0070C0"/>
          </a:solidFill>
          <a:ln>
            <a:solidFill>
              <a:srgbClr val="0070C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ctr" anchorCtr="0"/>
          <a:lstStyle/>
          <a:p>
            <a:pPr algn="ctr"/>
            <a:r>
              <a:rPr lang="en-US" altLang="zh-CN" sz="1200" b="1" dirty="0">
                <a:solidFill>
                  <a:schemeClr val="bg1"/>
                </a:solidFill>
                <a:latin typeface="+mn-ea"/>
              </a:rPr>
              <a:t>JMS</a:t>
            </a:r>
            <a:endParaRPr lang="zh-CN" altLang="en-US" sz="1200" b="1" dirty="0">
              <a:solidFill>
                <a:schemeClr val="bg1"/>
              </a:solidFill>
              <a:latin typeface="+mn-ea"/>
            </a:endParaRPr>
          </a:p>
        </p:txBody>
      </p:sp>
      <p:sp>
        <p:nvSpPr>
          <p:cNvPr id="147" name="矩形 146"/>
          <p:cNvSpPr/>
          <p:nvPr/>
        </p:nvSpPr>
        <p:spPr>
          <a:xfrm>
            <a:off x="4836002" y="5046708"/>
            <a:ext cx="593238" cy="318397"/>
          </a:xfrm>
          <a:prstGeom prst="rect">
            <a:avLst/>
          </a:prstGeom>
          <a:solidFill>
            <a:srgbClr val="0070C0"/>
          </a:solidFill>
          <a:ln>
            <a:solidFill>
              <a:srgbClr val="0070C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ctr" anchorCtr="0"/>
          <a:lstStyle/>
          <a:p>
            <a:pPr algn="ctr"/>
            <a:r>
              <a:rPr lang="en-US" altLang="zh-CN" sz="1200" b="1" dirty="0">
                <a:solidFill>
                  <a:schemeClr val="bg1"/>
                </a:solidFill>
                <a:latin typeface="+mn-ea"/>
              </a:rPr>
              <a:t>HTTP</a:t>
            </a:r>
            <a:endParaRPr lang="zh-CN" altLang="en-US" sz="1200" b="1" dirty="0">
              <a:solidFill>
                <a:schemeClr val="bg1"/>
              </a:solidFill>
              <a:latin typeface="+mn-ea"/>
            </a:endParaRPr>
          </a:p>
        </p:txBody>
      </p:sp>
      <p:sp>
        <p:nvSpPr>
          <p:cNvPr id="149" name="矩形 148"/>
          <p:cNvSpPr/>
          <p:nvPr/>
        </p:nvSpPr>
        <p:spPr>
          <a:xfrm>
            <a:off x="880283" y="5046708"/>
            <a:ext cx="1112321" cy="318397"/>
          </a:xfrm>
          <a:prstGeom prst="rect">
            <a:avLst/>
          </a:prstGeom>
          <a:solidFill>
            <a:srgbClr val="0070C0"/>
          </a:solidFill>
          <a:ln>
            <a:solidFill>
              <a:srgbClr val="0070C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ctr" anchorCtr="0"/>
          <a:lstStyle/>
          <a:p>
            <a:pPr algn="ctr"/>
            <a:r>
              <a:rPr lang="en-US" altLang="zh-CN" sz="1200" b="1" dirty="0" err="1">
                <a:solidFill>
                  <a:schemeClr val="bg1"/>
                </a:solidFill>
                <a:latin typeface="+mn-ea"/>
              </a:rPr>
              <a:t>Webservice</a:t>
            </a:r>
            <a:endParaRPr lang="zh-CN" altLang="en-US" sz="1200" b="1" dirty="0">
              <a:solidFill>
                <a:schemeClr val="bg1"/>
              </a:solidFill>
              <a:latin typeface="+mn-ea"/>
            </a:endParaRPr>
          </a:p>
        </p:txBody>
      </p:sp>
      <p:pic>
        <p:nvPicPr>
          <p:cNvPr id="67" name="Picture 4"/>
          <p:cNvPicPr>
            <a:picLocks noChangeAspect="1" noChangeArrowheads="1"/>
          </p:cNvPicPr>
          <p:nvPr/>
        </p:nvPicPr>
        <p:blipFill>
          <a:blip r:embed="rId3" cstate="print"/>
          <a:srcRect/>
          <a:stretch>
            <a:fillRect/>
          </a:stretch>
        </p:blipFill>
        <p:spPr bwMode="auto">
          <a:xfrm>
            <a:off x="4876800" y="1517571"/>
            <a:ext cx="517307" cy="347572"/>
          </a:xfrm>
          <a:prstGeom prst="rect">
            <a:avLst/>
          </a:prstGeom>
          <a:noFill/>
          <a:ln w="9525">
            <a:noFill/>
            <a:miter lim="800000"/>
            <a:headEnd/>
            <a:tailEnd/>
          </a:ln>
          <a:effectLst/>
        </p:spPr>
      </p:pic>
      <p:sp>
        <p:nvSpPr>
          <p:cNvPr id="68" name="TextBox 67"/>
          <p:cNvSpPr txBox="1"/>
          <p:nvPr/>
        </p:nvSpPr>
        <p:spPr>
          <a:xfrm>
            <a:off x="4724400" y="1133492"/>
            <a:ext cx="1019776" cy="276999"/>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zh-CN" altLang="en-US" sz="1200" dirty="0">
                <a:latin typeface="+mn-ea"/>
                <a:ea typeface="+mn-ea"/>
              </a:rPr>
              <a:t>系统管理员</a:t>
            </a:r>
          </a:p>
        </p:txBody>
      </p:sp>
      <p:sp>
        <p:nvSpPr>
          <p:cNvPr id="95" name="矩形 94"/>
          <p:cNvSpPr/>
          <p:nvPr/>
        </p:nvSpPr>
        <p:spPr>
          <a:xfrm>
            <a:off x="400040" y="5606378"/>
            <a:ext cx="1260306" cy="739975"/>
          </a:xfrm>
          <a:prstGeom prst="rect">
            <a:avLst/>
          </a:prstGeom>
          <a:solidFill>
            <a:schemeClr val="bg1">
              <a:lumMod val="95000"/>
            </a:schemeClr>
          </a:solidFill>
          <a:ln>
            <a:solidFill>
              <a:schemeClr val="bg1">
                <a:lumMod val="95000"/>
              </a:schemeClr>
            </a:solidFill>
            <a:prstDash val="solid"/>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116" name="矩形 115"/>
          <p:cNvSpPr/>
          <p:nvPr/>
        </p:nvSpPr>
        <p:spPr>
          <a:xfrm>
            <a:off x="2457440" y="5606354"/>
            <a:ext cx="1260306" cy="739975"/>
          </a:xfrm>
          <a:prstGeom prst="rect">
            <a:avLst/>
          </a:prstGeom>
          <a:solidFill>
            <a:schemeClr val="bg1">
              <a:lumMod val="95000"/>
            </a:schemeClr>
          </a:solidFill>
          <a:ln>
            <a:solidFill>
              <a:schemeClr val="bg1">
                <a:lumMod val="95000"/>
              </a:schemeClr>
            </a:solidFill>
            <a:prstDash val="solid"/>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125" name="矩形 124"/>
          <p:cNvSpPr/>
          <p:nvPr/>
        </p:nvSpPr>
        <p:spPr>
          <a:xfrm>
            <a:off x="4438640" y="5606354"/>
            <a:ext cx="1260306" cy="739975"/>
          </a:xfrm>
          <a:prstGeom prst="rect">
            <a:avLst/>
          </a:prstGeom>
          <a:solidFill>
            <a:schemeClr val="bg1">
              <a:lumMod val="95000"/>
            </a:schemeClr>
          </a:solidFill>
          <a:ln>
            <a:solidFill>
              <a:schemeClr val="bg1">
                <a:lumMod val="95000"/>
              </a:schemeClr>
            </a:solidFill>
            <a:prstDash val="solid"/>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84" name="右箭头 83"/>
          <p:cNvSpPr/>
          <p:nvPr/>
        </p:nvSpPr>
        <p:spPr>
          <a:xfrm rot="16200000">
            <a:off x="3429570" y="3553286"/>
            <a:ext cx="323971" cy="325109"/>
          </a:xfrm>
          <a:prstGeom prst="rightArrow">
            <a:avLst/>
          </a:prstGeom>
          <a:solidFill>
            <a:srgbClr val="FFC000"/>
          </a:solidFill>
          <a:ln>
            <a:solidFill>
              <a:srgbClr val="FFC0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85" name="右箭头 84"/>
          <p:cNvSpPr/>
          <p:nvPr/>
        </p:nvSpPr>
        <p:spPr>
          <a:xfrm rot="16200000">
            <a:off x="3429570" y="2914095"/>
            <a:ext cx="323971" cy="325109"/>
          </a:xfrm>
          <a:prstGeom prst="rightArrow">
            <a:avLst/>
          </a:prstGeom>
          <a:solidFill>
            <a:srgbClr val="FFC000"/>
          </a:solidFill>
          <a:ln>
            <a:solidFill>
              <a:srgbClr val="FFC0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86" name="右箭头 85"/>
          <p:cNvSpPr/>
          <p:nvPr/>
        </p:nvSpPr>
        <p:spPr>
          <a:xfrm rot="16200000">
            <a:off x="3429569" y="1985402"/>
            <a:ext cx="323971" cy="325109"/>
          </a:xfrm>
          <a:prstGeom prst="rightArrow">
            <a:avLst/>
          </a:prstGeom>
          <a:solidFill>
            <a:srgbClr val="FFC000"/>
          </a:solidFill>
          <a:ln>
            <a:solidFill>
              <a:srgbClr val="FFC00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55" name="矩形 54"/>
          <p:cNvSpPr/>
          <p:nvPr/>
        </p:nvSpPr>
        <p:spPr>
          <a:xfrm>
            <a:off x="2284248" y="4200548"/>
            <a:ext cx="287488" cy="263599"/>
          </a:xfrm>
          <a:prstGeom prst="rect">
            <a:avLst/>
          </a:prstGeom>
          <a:solidFill>
            <a:srgbClr val="FFC000"/>
          </a:solidFill>
          <a:ln>
            <a:solidFill>
              <a:srgbClr val="FFC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cxnSp>
        <p:nvCxnSpPr>
          <p:cNvPr id="56" name="直接连接符 55"/>
          <p:cNvCxnSpPr>
            <a:stCxn id="55" idx="3"/>
            <a:endCxn id="38" idx="1"/>
          </p:cNvCxnSpPr>
          <p:nvPr/>
        </p:nvCxnSpPr>
        <p:spPr bwMode="auto">
          <a:xfrm>
            <a:off x="2571736" y="4332348"/>
            <a:ext cx="619067" cy="176105"/>
          </a:xfrm>
          <a:prstGeom prst="line">
            <a:avLst/>
          </a:prstGeom>
          <a:ln>
            <a:solidFill>
              <a:srgbClr val="FF0000"/>
            </a:solidFill>
            <a:headEnd type="none" w="med" len="med"/>
            <a:tailEnd type="triangle" w="med" len="med"/>
          </a:ln>
        </p:spPr>
        <p:style>
          <a:lnRef idx="3">
            <a:schemeClr val="accent2"/>
          </a:lnRef>
          <a:fillRef idx="0">
            <a:schemeClr val="accent2"/>
          </a:fillRef>
          <a:effectRef idx="2">
            <a:schemeClr val="accent2"/>
          </a:effectRef>
          <a:fontRef idx="minor">
            <a:schemeClr val="tx1"/>
          </a:fontRef>
        </p:style>
      </p:cxnSp>
      <p:sp>
        <p:nvSpPr>
          <p:cNvPr id="57" name="圆柱形 56"/>
          <p:cNvSpPr/>
          <p:nvPr/>
        </p:nvSpPr>
        <p:spPr>
          <a:xfrm>
            <a:off x="2143108" y="3271854"/>
            <a:ext cx="1428760" cy="357190"/>
          </a:xfrm>
          <a:prstGeom prst="can">
            <a:avLst/>
          </a:prstGeom>
          <a:solidFill>
            <a:schemeClr val="bg1">
              <a:lumMod val="7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节点信息</a:t>
            </a:r>
          </a:p>
        </p:txBody>
      </p:sp>
      <p:sp>
        <p:nvSpPr>
          <p:cNvPr id="58" name="圆柱形 57"/>
          <p:cNvSpPr/>
          <p:nvPr/>
        </p:nvSpPr>
        <p:spPr>
          <a:xfrm>
            <a:off x="4117972" y="3271854"/>
            <a:ext cx="1428760" cy="357190"/>
          </a:xfrm>
          <a:prstGeom prst="can">
            <a:avLst/>
          </a:prstGeom>
          <a:solidFill>
            <a:schemeClr val="bg1">
              <a:lumMod val="7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统计信息</a:t>
            </a:r>
          </a:p>
        </p:txBody>
      </p:sp>
      <p:pic>
        <p:nvPicPr>
          <p:cNvPr id="60" name="Picture 5" descr="C:\Users\Administrator\Documents\Tencent Files\184737331\Image\I$9MO9YF3SHS(51WWHU]@YB.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43200" y="1197839"/>
            <a:ext cx="906550" cy="77385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9600" y="1200152"/>
            <a:ext cx="990429" cy="771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 name="Picture 1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33800" y="1200152"/>
            <a:ext cx="940595" cy="771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76400" y="1198017"/>
            <a:ext cx="996316" cy="77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 name="矩形 64"/>
          <p:cNvSpPr/>
          <p:nvPr/>
        </p:nvSpPr>
        <p:spPr>
          <a:xfrm>
            <a:off x="2552704" y="5781692"/>
            <a:ext cx="1143000" cy="325499"/>
          </a:xfrm>
          <a:prstGeom prst="rec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400" b="1" dirty="0">
                <a:solidFill>
                  <a:schemeClr val="bg1"/>
                </a:solidFill>
              </a:rPr>
              <a:t>前置节点</a:t>
            </a:r>
          </a:p>
        </p:txBody>
      </p:sp>
      <p:sp>
        <p:nvSpPr>
          <p:cNvPr id="66" name="矩形 65"/>
          <p:cNvSpPr/>
          <p:nvPr/>
        </p:nvSpPr>
        <p:spPr>
          <a:xfrm>
            <a:off x="4510078" y="5781692"/>
            <a:ext cx="1143000" cy="325499"/>
          </a:xfrm>
          <a:prstGeom prst="rec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400" b="1" dirty="0">
                <a:solidFill>
                  <a:schemeClr val="bg1"/>
                </a:solidFill>
              </a:rPr>
              <a:t>前置节点</a:t>
            </a:r>
          </a:p>
        </p:txBody>
      </p:sp>
      <p:sp>
        <p:nvSpPr>
          <p:cNvPr id="69" name="矩形 68"/>
          <p:cNvSpPr/>
          <p:nvPr/>
        </p:nvSpPr>
        <p:spPr>
          <a:xfrm>
            <a:off x="4419600" y="2481756"/>
            <a:ext cx="1104042" cy="329499"/>
          </a:xfrm>
          <a:prstGeom prst="rect">
            <a:avLst/>
          </a:prstGeom>
          <a:solidFill>
            <a:schemeClr val="accent1">
              <a:lumMod val="90000"/>
            </a:schemeClr>
          </a:solidFill>
          <a:ln w="12700">
            <a:solidFill>
              <a:schemeClr val="bg1"/>
            </a:solidFill>
          </a:ln>
        </p:spPr>
        <p:style>
          <a:lnRef idx="1">
            <a:schemeClr val="accent6"/>
          </a:lnRef>
          <a:fillRef idx="2">
            <a:schemeClr val="accent6"/>
          </a:fillRef>
          <a:effectRef idx="1">
            <a:schemeClr val="accent6"/>
          </a:effectRef>
          <a:fontRef idx="minor">
            <a:schemeClr val="dk1"/>
          </a:fontRef>
        </p:style>
        <p:txBody>
          <a:bodyPr lIns="0" rIns="0" rtlCol="0" anchor="ctr" anchorCtr="0"/>
          <a:lstStyle/>
          <a:p>
            <a:pPr algn="ctr"/>
            <a:r>
              <a:rPr lang="en-US" altLang="zh-CN" sz="1200" b="1" dirty="0">
                <a:solidFill>
                  <a:schemeClr val="bg1"/>
                </a:solidFill>
                <a:latin typeface="+mn-ea"/>
              </a:rPr>
              <a:t>……</a:t>
            </a:r>
            <a:endParaRPr lang="zh-CN" altLang="en-US" sz="1200" b="1" dirty="0">
              <a:solidFill>
                <a:schemeClr val="bg1"/>
              </a:solidFill>
              <a:latin typeface="+mn-ea"/>
            </a:endParaRPr>
          </a:p>
        </p:txBody>
      </p:sp>
      <p:sp>
        <p:nvSpPr>
          <p:cNvPr id="70" name="矩形 69"/>
          <p:cNvSpPr/>
          <p:nvPr/>
        </p:nvSpPr>
        <p:spPr>
          <a:xfrm>
            <a:off x="458693" y="5781692"/>
            <a:ext cx="1143000" cy="325499"/>
          </a:xfrm>
          <a:prstGeom prst="rec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400" b="1" dirty="0">
                <a:solidFill>
                  <a:schemeClr val="bg1"/>
                </a:solidFill>
              </a:rPr>
              <a:t>前置节点</a:t>
            </a:r>
          </a:p>
        </p:txBody>
      </p:sp>
      <p:sp>
        <p:nvSpPr>
          <p:cNvPr id="178" name="TextBox 177"/>
          <p:cNvSpPr txBox="1"/>
          <p:nvPr/>
        </p:nvSpPr>
        <p:spPr>
          <a:xfrm>
            <a:off x="407122" y="4094901"/>
            <a:ext cx="1574078" cy="369332"/>
          </a:xfrm>
          <a:prstGeom prst="rect">
            <a:avLst/>
          </a:prstGeom>
          <a:noFill/>
        </p:spPr>
        <p:txBody>
          <a:bodyPr wrap="square" rtlCol="0">
            <a:spAutoFit/>
          </a:bodyPr>
          <a:lstStyle/>
          <a:p>
            <a:r>
              <a:rPr lang="zh-CN" altLang="en-US" b="1" dirty="0">
                <a:solidFill>
                  <a:schemeClr val="bg1"/>
                </a:solidFill>
                <a:latin typeface="+mn-ea"/>
                <a:ea typeface="+mn-ea"/>
              </a:rPr>
              <a:t>数据换平台</a:t>
            </a:r>
          </a:p>
        </p:txBody>
      </p:sp>
    </p:spTree>
    <p:extLst>
      <p:ext uri="{BB962C8B-B14F-4D97-AF65-F5344CB8AC3E}">
        <p14:creationId xmlns:p14="http://schemas.microsoft.com/office/powerpoint/2010/main" val="4109871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AutoShape 20"/>
          <p:cNvSpPr>
            <a:spLocks noChangeArrowheads="1"/>
          </p:cNvSpPr>
          <p:nvPr/>
        </p:nvSpPr>
        <p:spPr bwMode="auto">
          <a:xfrm rot="10800000">
            <a:off x="5943599" y="1066800"/>
            <a:ext cx="2895601" cy="4976102"/>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sz="1200" dirty="0">
              <a:latin typeface="+mn-ea"/>
              <a:ea typeface="+mn-ea"/>
            </a:endParaRPr>
          </a:p>
        </p:txBody>
      </p:sp>
      <p:sp>
        <p:nvSpPr>
          <p:cNvPr id="2" name="标题 1"/>
          <p:cNvSpPr>
            <a:spLocks noGrp="1"/>
          </p:cNvSpPr>
          <p:nvPr>
            <p:ph type="title"/>
          </p:nvPr>
        </p:nvSpPr>
        <p:spPr/>
        <p:txBody>
          <a:bodyPr/>
          <a:lstStyle/>
          <a:p>
            <a:r>
              <a:rPr lang="zh-CN" altLang="en-US" dirty="0">
                <a:latin typeface="+mn-ea"/>
                <a:ea typeface="+mn-ea"/>
              </a:rPr>
              <a:t>安全控制</a:t>
            </a:r>
          </a:p>
        </p:txBody>
      </p:sp>
      <p:sp>
        <p:nvSpPr>
          <p:cNvPr id="6" name="矩形 5"/>
          <p:cNvSpPr/>
          <p:nvPr/>
        </p:nvSpPr>
        <p:spPr>
          <a:xfrm>
            <a:off x="423833" y="990600"/>
            <a:ext cx="5338951" cy="3286148"/>
          </a:xfrm>
          <a:prstGeom prst="rect">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178" name="圆角矩形 177"/>
          <p:cNvSpPr/>
          <p:nvPr/>
        </p:nvSpPr>
        <p:spPr>
          <a:xfrm>
            <a:off x="476372" y="2214554"/>
            <a:ext cx="5105283" cy="428628"/>
          </a:xfrm>
          <a:prstGeom prst="roundRect">
            <a:avLst/>
          </a:prstGeom>
          <a:solidFill>
            <a:schemeClr val="bg1">
              <a:lumMod val="95000"/>
            </a:schemeClr>
          </a:solidFill>
          <a:ln>
            <a:solidFill>
              <a:schemeClr val="bg1">
                <a:lumMod val="95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ltLang="zh-CN" sz="1400" b="1" dirty="0">
              <a:solidFill>
                <a:schemeClr val="bg1"/>
              </a:solidFill>
              <a:latin typeface="+mn-ea"/>
            </a:endParaRPr>
          </a:p>
        </p:txBody>
      </p:sp>
      <p:sp>
        <p:nvSpPr>
          <p:cNvPr id="7" name="矩形 6"/>
          <p:cNvSpPr/>
          <p:nvPr/>
        </p:nvSpPr>
        <p:spPr>
          <a:xfrm>
            <a:off x="539141" y="4605505"/>
            <a:ext cx="1260306" cy="895369"/>
          </a:xfrm>
          <a:prstGeom prst="rect">
            <a:avLst/>
          </a:prstGeom>
          <a:solidFill>
            <a:schemeClr val="bg1">
              <a:lumMod val="95000"/>
            </a:schemeClr>
          </a:solidFill>
          <a:ln>
            <a:solidFill>
              <a:schemeClr val="bg1">
                <a:lumMod val="95000"/>
              </a:schemeClr>
            </a:solidFill>
            <a:prstDash val="solid"/>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8" name="圆柱形 7"/>
          <p:cNvSpPr/>
          <p:nvPr/>
        </p:nvSpPr>
        <p:spPr>
          <a:xfrm>
            <a:off x="673994" y="4812737"/>
            <a:ext cx="990600" cy="466693"/>
          </a:xfrm>
          <a:prstGeom prst="can">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交换信息库</a:t>
            </a:r>
          </a:p>
        </p:txBody>
      </p:sp>
      <p:sp>
        <p:nvSpPr>
          <p:cNvPr id="12" name="AutoShape 65"/>
          <p:cNvSpPr>
            <a:spLocks noChangeArrowheads="1"/>
          </p:cNvSpPr>
          <p:nvPr/>
        </p:nvSpPr>
        <p:spPr bwMode="auto">
          <a:xfrm>
            <a:off x="537280" y="5880997"/>
            <a:ext cx="876800" cy="359189"/>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3" name="AutoShape 66"/>
          <p:cNvSpPr>
            <a:spLocks noChangeArrowheads="1"/>
          </p:cNvSpPr>
          <p:nvPr/>
        </p:nvSpPr>
        <p:spPr bwMode="auto">
          <a:xfrm>
            <a:off x="787794" y="5791200"/>
            <a:ext cx="876800" cy="359189"/>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4" name="AutoShape 67"/>
          <p:cNvSpPr>
            <a:spLocks noChangeArrowheads="1"/>
          </p:cNvSpPr>
          <p:nvPr/>
        </p:nvSpPr>
        <p:spPr bwMode="auto">
          <a:xfrm>
            <a:off x="662537" y="5970794"/>
            <a:ext cx="876800" cy="359189"/>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业务系统</a:t>
            </a:r>
          </a:p>
        </p:txBody>
      </p:sp>
      <p:sp>
        <p:nvSpPr>
          <p:cNvPr id="16" name="AutoShape 65"/>
          <p:cNvSpPr>
            <a:spLocks noChangeArrowheads="1"/>
          </p:cNvSpPr>
          <p:nvPr/>
        </p:nvSpPr>
        <p:spPr bwMode="auto">
          <a:xfrm>
            <a:off x="2265902" y="5905810"/>
            <a:ext cx="875352" cy="323021"/>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7" name="AutoShape 66"/>
          <p:cNvSpPr>
            <a:spLocks noChangeArrowheads="1"/>
          </p:cNvSpPr>
          <p:nvPr/>
        </p:nvSpPr>
        <p:spPr bwMode="auto">
          <a:xfrm>
            <a:off x="2516003" y="5825055"/>
            <a:ext cx="875352" cy="323021"/>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8" name="AutoShape 67"/>
          <p:cNvSpPr>
            <a:spLocks noChangeArrowheads="1"/>
          </p:cNvSpPr>
          <p:nvPr/>
        </p:nvSpPr>
        <p:spPr bwMode="auto">
          <a:xfrm>
            <a:off x="2390952" y="5986565"/>
            <a:ext cx="875352" cy="323021"/>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业务系统</a:t>
            </a:r>
          </a:p>
        </p:txBody>
      </p:sp>
      <p:sp>
        <p:nvSpPr>
          <p:cNvPr id="19" name="矩形 18"/>
          <p:cNvSpPr/>
          <p:nvPr/>
        </p:nvSpPr>
        <p:spPr>
          <a:xfrm>
            <a:off x="2265902" y="4619743"/>
            <a:ext cx="1260306" cy="881131"/>
          </a:xfrm>
          <a:prstGeom prst="rect">
            <a:avLst/>
          </a:prstGeom>
          <a:solidFill>
            <a:schemeClr val="bg1">
              <a:lumMod val="95000"/>
            </a:schemeClr>
          </a:solidFill>
          <a:ln>
            <a:solidFill>
              <a:schemeClr val="bg1">
                <a:lumMod val="95000"/>
              </a:schemeClr>
            </a:solidFill>
            <a:prstDash val="solid"/>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20" name="圆柱形 19"/>
          <p:cNvSpPr/>
          <p:nvPr/>
        </p:nvSpPr>
        <p:spPr>
          <a:xfrm>
            <a:off x="2400755" y="4834197"/>
            <a:ext cx="990600" cy="466693"/>
          </a:xfrm>
          <a:prstGeom prst="can">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交换信息库</a:t>
            </a:r>
          </a:p>
        </p:txBody>
      </p:sp>
      <p:sp>
        <p:nvSpPr>
          <p:cNvPr id="21" name="矩形 20"/>
          <p:cNvSpPr/>
          <p:nvPr/>
        </p:nvSpPr>
        <p:spPr>
          <a:xfrm>
            <a:off x="3930974" y="4610251"/>
            <a:ext cx="1260306" cy="890623"/>
          </a:xfrm>
          <a:prstGeom prst="rect">
            <a:avLst/>
          </a:prstGeom>
          <a:solidFill>
            <a:schemeClr val="bg1">
              <a:lumMod val="95000"/>
            </a:schemeClr>
          </a:solidFill>
          <a:ln>
            <a:solidFill>
              <a:schemeClr val="bg1">
                <a:lumMod val="95000"/>
              </a:schemeClr>
            </a:solidFill>
            <a:prstDash val="solid"/>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22" name="圆柱形 21"/>
          <p:cNvSpPr/>
          <p:nvPr/>
        </p:nvSpPr>
        <p:spPr>
          <a:xfrm>
            <a:off x="4065827" y="4826976"/>
            <a:ext cx="990600" cy="466693"/>
          </a:xfrm>
          <a:prstGeom prst="can">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交换信息库</a:t>
            </a:r>
          </a:p>
        </p:txBody>
      </p:sp>
      <p:sp>
        <p:nvSpPr>
          <p:cNvPr id="31" name="TextBox 30"/>
          <p:cNvSpPr txBox="1"/>
          <p:nvPr/>
        </p:nvSpPr>
        <p:spPr>
          <a:xfrm>
            <a:off x="2514600" y="1002268"/>
            <a:ext cx="1292662" cy="369332"/>
          </a:xfrm>
          <a:prstGeom prst="rect">
            <a:avLst/>
          </a:prstGeom>
          <a:noFill/>
        </p:spPr>
        <p:txBody>
          <a:bodyPr vert="horz" wrap="square" rtlCol="0">
            <a:spAutoFit/>
          </a:bodyPr>
          <a:lstStyle/>
          <a:p>
            <a:pPr algn="ctr"/>
            <a:r>
              <a:rPr lang="zh-CN" altLang="en-US" b="1" dirty="0">
                <a:latin typeface="+mn-ea"/>
                <a:ea typeface="+mn-ea"/>
              </a:rPr>
              <a:t>数据中心</a:t>
            </a:r>
          </a:p>
        </p:txBody>
      </p:sp>
      <p:sp>
        <p:nvSpPr>
          <p:cNvPr id="32" name="圆角矩形 31"/>
          <p:cNvSpPr/>
          <p:nvPr/>
        </p:nvSpPr>
        <p:spPr>
          <a:xfrm>
            <a:off x="476372" y="2857496"/>
            <a:ext cx="5105283" cy="1357322"/>
          </a:xfrm>
          <a:prstGeom prst="roundRect">
            <a:avLst/>
          </a:prstGeom>
          <a:solidFill>
            <a:schemeClr val="bg1">
              <a:lumMod val="95000"/>
            </a:schemeClr>
          </a:solidFill>
          <a:ln>
            <a:solidFill>
              <a:schemeClr val="bg1">
                <a:lumMod val="95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en-US" altLang="zh-CN" sz="1400" b="1" dirty="0">
              <a:solidFill>
                <a:schemeClr val="bg1"/>
              </a:solidFill>
              <a:latin typeface="+mn-ea"/>
            </a:endParaRPr>
          </a:p>
        </p:txBody>
      </p:sp>
      <p:sp>
        <p:nvSpPr>
          <p:cNvPr id="39" name="右箭头 38"/>
          <p:cNvSpPr/>
          <p:nvPr/>
        </p:nvSpPr>
        <p:spPr>
          <a:xfrm rot="16200000">
            <a:off x="926094" y="5385886"/>
            <a:ext cx="481689" cy="381000"/>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40" name="右箭头 39"/>
          <p:cNvSpPr/>
          <p:nvPr/>
        </p:nvSpPr>
        <p:spPr>
          <a:xfrm rot="16200000">
            <a:off x="2655210" y="5420659"/>
            <a:ext cx="481689" cy="381000"/>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43" name="AutoShape 65"/>
          <p:cNvSpPr>
            <a:spLocks noChangeArrowheads="1"/>
          </p:cNvSpPr>
          <p:nvPr/>
        </p:nvSpPr>
        <p:spPr bwMode="auto">
          <a:xfrm>
            <a:off x="4007705" y="5889951"/>
            <a:ext cx="875352" cy="323021"/>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44" name="AutoShape 66"/>
          <p:cNvSpPr>
            <a:spLocks noChangeArrowheads="1"/>
          </p:cNvSpPr>
          <p:nvPr/>
        </p:nvSpPr>
        <p:spPr bwMode="auto">
          <a:xfrm>
            <a:off x="4257806" y="5809196"/>
            <a:ext cx="875352" cy="323021"/>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45" name="AutoShape 67"/>
          <p:cNvSpPr>
            <a:spLocks noChangeArrowheads="1"/>
          </p:cNvSpPr>
          <p:nvPr/>
        </p:nvSpPr>
        <p:spPr bwMode="auto">
          <a:xfrm>
            <a:off x="4132755" y="5970706"/>
            <a:ext cx="875352" cy="323021"/>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业务系统</a:t>
            </a:r>
          </a:p>
        </p:txBody>
      </p:sp>
      <p:sp>
        <p:nvSpPr>
          <p:cNvPr id="75" name="TextBox 74"/>
          <p:cNvSpPr txBox="1"/>
          <p:nvPr/>
        </p:nvSpPr>
        <p:spPr>
          <a:xfrm>
            <a:off x="535110" y="3097210"/>
            <a:ext cx="714380" cy="923330"/>
          </a:xfrm>
          <a:prstGeom prst="rect">
            <a:avLst/>
          </a:prstGeom>
          <a:noFill/>
        </p:spPr>
        <p:txBody>
          <a:bodyPr wrap="square" rtlCol="0">
            <a:spAutoFit/>
          </a:bodyPr>
          <a:lstStyle/>
          <a:p>
            <a:r>
              <a:rPr lang="zh-CN" altLang="en-US" b="1" dirty="0">
                <a:latin typeface="+mn-ea"/>
                <a:ea typeface="+mn-ea"/>
              </a:rPr>
              <a:t>数据</a:t>
            </a:r>
            <a:endParaRPr lang="en-US" altLang="zh-CN" b="1" dirty="0">
              <a:latin typeface="+mn-ea"/>
              <a:ea typeface="+mn-ea"/>
            </a:endParaRPr>
          </a:p>
          <a:p>
            <a:r>
              <a:rPr lang="zh-CN" altLang="en-US" b="1" dirty="0">
                <a:latin typeface="+mn-ea"/>
                <a:ea typeface="+mn-ea"/>
              </a:rPr>
              <a:t>交换</a:t>
            </a:r>
            <a:endParaRPr lang="en-US" altLang="zh-CN" b="1" dirty="0">
              <a:latin typeface="+mn-ea"/>
              <a:ea typeface="+mn-ea"/>
            </a:endParaRPr>
          </a:p>
          <a:p>
            <a:r>
              <a:rPr lang="zh-CN" altLang="en-US" b="1" dirty="0">
                <a:latin typeface="+mn-ea"/>
                <a:ea typeface="+mn-ea"/>
              </a:rPr>
              <a:t>平台</a:t>
            </a:r>
          </a:p>
        </p:txBody>
      </p:sp>
      <p:sp>
        <p:nvSpPr>
          <p:cNvPr id="78" name="流程图: 过程 77"/>
          <p:cNvSpPr/>
          <p:nvPr/>
        </p:nvSpPr>
        <p:spPr>
          <a:xfrm>
            <a:off x="1619380" y="3429000"/>
            <a:ext cx="1041922" cy="287522"/>
          </a:xfrm>
          <a:prstGeom prst="flowChartProcess">
            <a:avLst/>
          </a:prstGeom>
          <a:solidFill>
            <a:srgbClr val="0070C0"/>
          </a:solidFill>
          <a:ln>
            <a:solidFill>
              <a:srgbClr val="0070C0"/>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协议转换</a:t>
            </a:r>
          </a:p>
        </p:txBody>
      </p:sp>
      <p:sp>
        <p:nvSpPr>
          <p:cNvPr id="79" name="流程图: 过程 78"/>
          <p:cNvSpPr/>
          <p:nvPr/>
        </p:nvSpPr>
        <p:spPr>
          <a:xfrm>
            <a:off x="2905264" y="3436938"/>
            <a:ext cx="1041922" cy="287522"/>
          </a:xfrm>
          <a:prstGeom prst="flowChartProcess">
            <a:avLst/>
          </a:prstGeom>
          <a:solidFill>
            <a:srgbClr val="0070C0"/>
          </a:solidFill>
          <a:ln>
            <a:solidFill>
              <a:srgbClr val="0070C0"/>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数据转换</a:t>
            </a:r>
          </a:p>
        </p:txBody>
      </p:sp>
      <p:sp>
        <p:nvSpPr>
          <p:cNvPr id="80" name="流程图: 过程 79"/>
          <p:cNvSpPr/>
          <p:nvPr/>
        </p:nvSpPr>
        <p:spPr>
          <a:xfrm>
            <a:off x="1619380" y="3065278"/>
            <a:ext cx="1041922" cy="287522"/>
          </a:xfrm>
          <a:prstGeom prst="flowChartProcess">
            <a:avLst/>
          </a:prstGeom>
          <a:solidFill>
            <a:srgbClr val="0070C0"/>
          </a:solidFill>
          <a:ln>
            <a:solidFill>
              <a:srgbClr val="0070C0"/>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服务编排</a:t>
            </a:r>
          </a:p>
        </p:txBody>
      </p:sp>
      <p:sp>
        <p:nvSpPr>
          <p:cNvPr id="81" name="流程图: 过程 80"/>
          <p:cNvSpPr/>
          <p:nvPr/>
        </p:nvSpPr>
        <p:spPr>
          <a:xfrm>
            <a:off x="2905264" y="3065278"/>
            <a:ext cx="1041922" cy="287522"/>
          </a:xfrm>
          <a:prstGeom prst="flowChartProcess">
            <a:avLst/>
          </a:prstGeom>
          <a:solidFill>
            <a:srgbClr val="0070C0"/>
          </a:solidFill>
          <a:ln>
            <a:solidFill>
              <a:srgbClr val="0070C0"/>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服务组合</a:t>
            </a:r>
          </a:p>
        </p:txBody>
      </p:sp>
      <p:sp>
        <p:nvSpPr>
          <p:cNvPr id="84" name="流程图: 过程 83"/>
          <p:cNvSpPr/>
          <p:nvPr/>
        </p:nvSpPr>
        <p:spPr>
          <a:xfrm>
            <a:off x="4178299" y="3295649"/>
            <a:ext cx="942010" cy="285751"/>
          </a:xfrm>
          <a:prstGeom prst="flowChartProcess">
            <a:avLst/>
          </a:prstGeom>
          <a:solidFill>
            <a:srgbClr val="FF0000"/>
          </a:solidFill>
          <a:ln>
            <a:solidFill>
              <a:srgbClr val="FF0000"/>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安全组件</a:t>
            </a:r>
          </a:p>
        </p:txBody>
      </p:sp>
      <p:sp>
        <p:nvSpPr>
          <p:cNvPr id="85" name="矩形 84"/>
          <p:cNvSpPr/>
          <p:nvPr/>
        </p:nvSpPr>
        <p:spPr>
          <a:xfrm>
            <a:off x="4222743" y="2285992"/>
            <a:ext cx="857256" cy="285752"/>
          </a:xfrm>
          <a:prstGeom prst="rect">
            <a:avLst/>
          </a:prstGeom>
          <a:solidFill>
            <a:srgbClr val="FFC000"/>
          </a:solidFill>
          <a:ln w="12700">
            <a:solidFill>
              <a:schemeClr val="bg1"/>
            </a:solidFill>
          </a:ln>
        </p:spPr>
        <p:style>
          <a:lnRef idx="1">
            <a:schemeClr val="accent6"/>
          </a:lnRef>
          <a:fillRef idx="2">
            <a:schemeClr val="accent6"/>
          </a:fillRef>
          <a:effectRef idx="1">
            <a:schemeClr val="accent6"/>
          </a:effectRef>
          <a:fontRef idx="minor">
            <a:schemeClr val="dk1"/>
          </a:fontRef>
        </p:style>
        <p:txBody>
          <a:bodyPr lIns="0" rIns="0" rtlCol="0" anchor="ctr" anchorCtr="0"/>
          <a:lstStyle/>
          <a:p>
            <a:pPr algn="ctr"/>
            <a:r>
              <a:rPr lang="zh-CN" altLang="en-US" sz="1400" dirty="0">
                <a:solidFill>
                  <a:schemeClr val="tx1"/>
                </a:solidFill>
                <a:latin typeface="+mn-ea"/>
              </a:rPr>
              <a:t>安全设置</a:t>
            </a:r>
          </a:p>
        </p:txBody>
      </p:sp>
      <p:pic>
        <p:nvPicPr>
          <p:cNvPr id="87" name="Picture 4"/>
          <p:cNvPicPr>
            <a:picLocks noChangeAspect="1" noChangeArrowheads="1"/>
          </p:cNvPicPr>
          <p:nvPr/>
        </p:nvPicPr>
        <p:blipFill>
          <a:blip r:embed="rId2" cstate="print"/>
          <a:srcRect/>
          <a:stretch>
            <a:fillRect/>
          </a:stretch>
        </p:blipFill>
        <p:spPr bwMode="auto">
          <a:xfrm>
            <a:off x="1976570" y="1375818"/>
            <a:ext cx="548190" cy="376782"/>
          </a:xfrm>
          <a:prstGeom prst="rect">
            <a:avLst/>
          </a:prstGeom>
          <a:noFill/>
          <a:ln w="9525">
            <a:noFill/>
            <a:miter lim="800000"/>
            <a:headEnd/>
            <a:tailEnd/>
          </a:ln>
          <a:effectLst/>
        </p:spPr>
      </p:pic>
      <p:sp>
        <p:nvSpPr>
          <p:cNvPr id="99" name="TextBox 98"/>
          <p:cNvSpPr txBox="1"/>
          <p:nvPr/>
        </p:nvSpPr>
        <p:spPr>
          <a:xfrm>
            <a:off x="6119794" y="1205052"/>
            <a:ext cx="2643206" cy="5909310"/>
          </a:xfrm>
          <a:prstGeom prst="rect">
            <a:avLst/>
          </a:prstGeom>
          <a:noFill/>
        </p:spPr>
        <p:txBody>
          <a:bodyPr wrap="square" rtlCol="0">
            <a:spAutoFit/>
          </a:bodyPr>
          <a:lstStyle/>
          <a:p>
            <a:pPr marL="285750" indent="-285750">
              <a:lnSpc>
                <a:spcPct val="150000"/>
              </a:lnSpc>
              <a:buFont typeface="Wingdings" pitchFamily="2" charset="2"/>
              <a:buChar char="p"/>
            </a:pPr>
            <a:r>
              <a:rPr lang="zh-CN" altLang="en-US" b="1" dirty="0">
                <a:solidFill>
                  <a:srgbClr val="C00000"/>
                </a:solidFill>
                <a:latin typeface="+mn-ea"/>
                <a:ea typeface="+mn-ea"/>
              </a:rPr>
              <a:t>安全设置：</a:t>
            </a:r>
            <a:r>
              <a:rPr lang="zh-CN" altLang="en-US" dirty="0">
                <a:latin typeface="+mn-ea"/>
                <a:ea typeface="+mn-ea"/>
              </a:rPr>
              <a:t>用户权限、加密密钥、数字签名等设置。</a:t>
            </a:r>
            <a:endParaRPr lang="en-US" altLang="zh-CN" dirty="0">
              <a:latin typeface="+mn-ea"/>
              <a:ea typeface="+mn-ea"/>
            </a:endParaRPr>
          </a:p>
          <a:p>
            <a:pPr marL="285750" indent="-285750">
              <a:lnSpc>
                <a:spcPct val="150000"/>
              </a:lnSpc>
              <a:buFont typeface="Wingdings" pitchFamily="2" charset="2"/>
              <a:buChar char="p"/>
            </a:pPr>
            <a:r>
              <a:rPr lang="zh-CN" altLang="en-US" b="1" dirty="0">
                <a:solidFill>
                  <a:srgbClr val="C00000"/>
                </a:solidFill>
                <a:latin typeface="+mn-ea"/>
                <a:ea typeface="+mn-ea"/>
              </a:rPr>
              <a:t>拦截器：</a:t>
            </a:r>
            <a:r>
              <a:rPr lang="zh-CN" altLang="en-US" dirty="0">
                <a:latin typeface="+mn-ea"/>
                <a:ea typeface="+mn-ea"/>
              </a:rPr>
              <a:t>根据安全性设置，执行权限校验、加密解密、签名校验等。</a:t>
            </a:r>
            <a:endParaRPr lang="en-US" altLang="zh-CN" dirty="0">
              <a:latin typeface="+mn-ea"/>
              <a:ea typeface="+mn-ea"/>
            </a:endParaRPr>
          </a:p>
          <a:p>
            <a:pPr marL="285750" indent="-285750">
              <a:lnSpc>
                <a:spcPct val="150000"/>
              </a:lnSpc>
              <a:buFont typeface="Wingdings" pitchFamily="2" charset="2"/>
              <a:buChar char="p"/>
            </a:pPr>
            <a:r>
              <a:rPr lang="zh-CN" altLang="en-US" b="1" dirty="0">
                <a:solidFill>
                  <a:srgbClr val="C00000"/>
                </a:solidFill>
                <a:latin typeface="+mn-ea"/>
                <a:ea typeface="+mn-ea"/>
              </a:rPr>
              <a:t>安全组件：</a:t>
            </a:r>
            <a:r>
              <a:rPr lang="zh-CN" altLang="en-US" dirty="0">
                <a:latin typeface="+mn-ea"/>
                <a:ea typeface="+mn-ea"/>
              </a:rPr>
              <a:t>提供加密解密、时段限定、网络来源去向限定等。</a:t>
            </a:r>
            <a:endParaRPr lang="en-US" altLang="zh-CN" dirty="0">
              <a:latin typeface="+mn-ea"/>
              <a:ea typeface="+mn-ea"/>
            </a:endParaRPr>
          </a:p>
          <a:p>
            <a:pPr>
              <a:lnSpc>
                <a:spcPct val="150000"/>
              </a:lnSpc>
            </a:pPr>
            <a:endParaRPr lang="en-US" altLang="zh-CN" dirty="0">
              <a:latin typeface="+mn-ea"/>
              <a:ea typeface="+mn-ea"/>
            </a:endParaRPr>
          </a:p>
          <a:p>
            <a:pPr>
              <a:lnSpc>
                <a:spcPct val="150000"/>
              </a:lnSpc>
              <a:buFont typeface="Wingdings" pitchFamily="2" charset="2"/>
              <a:buChar char="l"/>
            </a:pPr>
            <a:endParaRPr lang="en-US" altLang="zh-CN" dirty="0">
              <a:latin typeface="+mn-ea"/>
              <a:ea typeface="+mn-ea"/>
            </a:endParaRPr>
          </a:p>
          <a:p>
            <a:pPr>
              <a:lnSpc>
                <a:spcPct val="150000"/>
              </a:lnSpc>
              <a:buFont typeface="Wingdings" pitchFamily="2" charset="2"/>
              <a:buChar char="l"/>
            </a:pPr>
            <a:endParaRPr lang="en-US" altLang="zh-CN" dirty="0">
              <a:latin typeface="+mn-ea"/>
              <a:ea typeface="+mn-ea"/>
            </a:endParaRPr>
          </a:p>
          <a:p>
            <a:pPr>
              <a:lnSpc>
                <a:spcPct val="150000"/>
              </a:lnSpc>
              <a:buFont typeface="Wingdings" pitchFamily="2" charset="2"/>
              <a:buChar char="l"/>
            </a:pPr>
            <a:endParaRPr lang="zh-CN" altLang="en-US" dirty="0">
              <a:latin typeface="+mn-ea"/>
              <a:ea typeface="+mn-ea"/>
            </a:endParaRPr>
          </a:p>
        </p:txBody>
      </p:sp>
      <p:sp>
        <p:nvSpPr>
          <p:cNvPr id="100" name="TextBox 99"/>
          <p:cNvSpPr txBox="1"/>
          <p:nvPr/>
        </p:nvSpPr>
        <p:spPr>
          <a:xfrm>
            <a:off x="539141" y="1551801"/>
            <a:ext cx="1365991" cy="276999"/>
          </a:xfrm>
          <a:prstGeom prst="rect">
            <a:avLst/>
          </a:prstGeom>
          <a:solidFill>
            <a:srgbClr val="6699FF"/>
          </a:solidFill>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zh-CN" altLang="en-US" sz="1200" dirty="0">
                <a:latin typeface="+mn-ea"/>
                <a:ea typeface="+mn-ea"/>
              </a:rPr>
              <a:t>数据交换管理员</a:t>
            </a:r>
          </a:p>
        </p:txBody>
      </p:sp>
      <p:sp>
        <p:nvSpPr>
          <p:cNvPr id="101" name="TextBox 100"/>
          <p:cNvSpPr txBox="1"/>
          <p:nvPr/>
        </p:nvSpPr>
        <p:spPr>
          <a:xfrm>
            <a:off x="3343268" y="1551801"/>
            <a:ext cx="1000132" cy="276999"/>
          </a:xfrm>
          <a:prstGeom prst="rect">
            <a:avLst/>
          </a:prstGeom>
          <a:solidFill>
            <a:srgbClr val="6699FF"/>
          </a:solidFill>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zh-CN" altLang="en-US" sz="1200" dirty="0">
                <a:latin typeface="+mn-ea"/>
                <a:ea typeface="+mn-ea"/>
              </a:rPr>
              <a:t>安全管理员</a:t>
            </a:r>
          </a:p>
        </p:txBody>
      </p:sp>
      <p:sp>
        <p:nvSpPr>
          <p:cNvPr id="103" name="矩形 102"/>
          <p:cNvSpPr/>
          <p:nvPr/>
        </p:nvSpPr>
        <p:spPr>
          <a:xfrm>
            <a:off x="1190752" y="2987384"/>
            <a:ext cx="4143247" cy="1168985"/>
          </a:xfrm>
          <a:prstGeom prst="rect">
            <a:avLst/>
          </a:prstGeom>
          <a:noFill/>
          <a:ln>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04" name="矩形 103"/>
          <p:cNvSpPr/>
          <p:nvPr/>
        </p:nvSpPr>
        <p:spPr>
          <a:xfrm>
            <a:off x="1333628" y="3886200"/>
            <a:ext cx="214314" cy="214314"/>
          </a:xfrm>
          <a:prstGeom prst="rect">
            <a:avLst/>
          </a:prstGeom>
          <a:solidFill>
            <a:srgbClr val="FFC000"/>
          </a:solidFill>
          <a:ln>
            <a:solidFill>
              <a:srgbClr val="FFC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05" name="矩形 104"/>
          <p:cNvSpPr/>
          <p:nvPr/>
        </p:nvSpPr>
        <p:spPr>
          <a:xfrm>
            <a:off x="2657612" y="3886200"/>
            <a:ext cx="214314" cy="214314"/>
          </a:xfrm>
          <a:prstGeom prst="rect">
            <a:avLst/>
          </a:prstGeom>
          <a:solidFill>
            <a:srgbClr val="FFC000"/>
          </a:solidFill>
          <a:ln>
            <a:solidFill>
              <a:srgbClr val="FFC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106" name="矩形 105"/>
          <p:cNvSpPr/>
          <p:nvPr/>
        </p:nvSpPr>
        <p:spPr>
          <a:xfrm>
            <a:off x="3691082" y="3886200"/>
            <a:ext cx="214314" cy="214314"/>
          </a:xfrm>
          <a:prstGeom prst="rect">
            <a:avLst/>
          </a:prstGeom>
          <a:solidFill>
            <a:srgbClr val="FFC000"/>
          </a:solidFill>
          <a:ln>
            <a:solidFill>
              <a:srgbClr val="FFC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pic>
        <p:nvPicPr>
          <p:cNvPr id="88" name="Picture 4"/>
          <p:cNvPicPr>
            <a:picLocks noChangeAspect="1" noChangeArrowheads="1"/>
          </p:cNvPicPr>
          <p:nvPr/>
        </p:nvPicPr>
        <p:blipFill>
          <a:blip r:embed="rId2" cstate="print"/>
          <a:srcRect/>
          <a:stretch>
            <a:fillRect/>
          </a:stretch>
        </p:blipFill>
        <p:spPr bwMode="auto">
          <a:xfrm>
            <a:off x="4374800" y="1375818"/>
            <a:ext cx="548190" cy="376782"/>
          </a:xfrm>
          <a:prstGeom prst="rect">
            <a:avLst/>
          </a:prstGeom>
          <a:noFill/>
          <a:ln w="9525">
            <a:noFill/>
            <a:miter lim="800000"/>
            <a:headEnd/>
            <a:tailEnd/>
          </a:ln>
          <a:effectLst/>
        </p:spPr>
      </p:pic>
      <p:cxnSp>
        <p:nvCxnSpPr>
          <p:cNvPr id="94" name="直接箭头连接符 93"/>
          <p:cNvCxnSpPr/>
          <p:nvPr/>
        </p:nvCxnSpPr>
        <p:spPr bwMode="auto">
          <a:xfrm>
            <a:off x="4649365" y="1729945"/>
            <a:ext cx="1537" cy="477088"/>
          </a:xfrm>
          <a:prstGeom prst="straightConnector1">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95" name="TextBox 94"/>
          <p:cNvSpPr txBox="1"/>
          <p:nvPr/>
        </p:nvSpPr>
        <p:spPr>
          <a:xfrm>
            <a:off x="4629143" y="1780401"/>
            <a:ext cx="857256" cy="276999"/>
          </a:xfrm>
          <a:prstGeom prst="rect">
            <a:avLst/>
          </a:prstGeom>
          <a:noFill/>
        </p:spPr>
        <p:txBody>
          <a:bodyPr wrap="square" rtlCol="0">
            <a:spAutoFit/>
          </a:bodyPr>
          <a:lstStyle/>
          <a:p>
            <a:r>
              <a:rPr lang="zh-CN" altLang="en-US" sz="1200" b="1" dirty="0">
                <a:solidFill>
                  <a:srgbClr val="FF0000"/>
                </a:solidFill>
                <a:latin typeface="+mn-ea"/>
                <a:ea typeface="+mn-ea"/>
              </a:rPr>
              <a:t>安全设置</a:t>
            </a:r>
          </a:p>
        </p:txBody>
      </p:sp>
      <p:cxnSp>
        <p:nvCxnSpPr>
          <p:cNvPr id="116" name="肘形连接符 115"/>
          <p:cNvCxnSpPr>
            <a:stCxn id="85" idx="2"/>
            <a:endCxn id="84" idx="0"/>
          </p:cNvCxnSpPr>
          <p:nvPr/>
        </p:nvCxnSpPr>
        <p:spPr bwMode="auto">
          <a:xfrm flipH="1">
            <a:off x="4649304" y="2571744"/>
            <a:ext cx="2067" cy="723905"/>
          </a:xfrm>
          <a:prstGeom prst="straightConnector1">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72" name="肘形连接符 71"/>
          <p:cNvCxnSpPr>
            <a:endCxn id="105" idx="2"/>
          </p:cNvCxnSpPr>
          <p:nvPr/>
        </p:nvCxnSpPr>
        <p:spPr bwMode="auto">
          <a:xfrm flipV="1">
            <a:off x="2764769" y="4100514"/>
            <a:ext cx="0" cy="504991"/>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74" name="肘形连接符 73"/>
          <p:cNvCxnSpPr>
            <a:stCxn id="21" idx="0"/>
            <a:endCxn id="106" idx="2"/>
          </p:cNvCxnSpPr>
          <p:nvPr/>
        </p:nvCxnSpPr>
        <p:spPr bwMode="auto">
          <a:xfrm rot="16200000" flipV="1">
            <a:off x="3924815" y="3973939"/>
            <a:ext cx="509737" cy="762888"/>
          </a:xfrm>
          <a:prstGeom prst="bentConnector3">
            <a:avLst>
              <a:gd name="adj1" fmla="val 50000"/>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149" name="形状 148"/>
          <p:cNvCxnSpPr>
            <a:stCxn id="104" idx="0"/>
            <a:endCxn id="78" idx="1"/>
          </p:cNvCxnSpPr>
          <p:nvPr/>
        </p:nvCxnSpPr>
        <p:spPr bwMode="auto">
          <a:xfrm rot="5400000" flipH="1" flipV="1">
            <a:off x="1373363" y="3640184"/>
            <a:ext cx="313439" cy="178595"/>
          </a:xfrm>
          <a:prstGeom prst="bentConnector2">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154" name="形状 153"/>
          <p:cNvCxnSpPr>
            <a:stCxn id="78" idx="2"/>
            <a:endCxn id="105" idx="1"/>
          </p:cNvCxnSpPr>
          <p:nvPr/>
        </p:nvCxnSpPr>
        <p:spPr bwMode="auto">
          <a:xfrm rot="16200000" flipH="1">
            <a:off x="2260559" y="3596303"/>
            <a:ext cx="276835" cy="517271"/>
          </a:xfrm>
          <a:prstGeom prst="bentConnector2">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156" name="形状 155"/>
          <p:cNvCxnSpPr>
            <a:endCxn id="79" idx="1"/>
          </p:cNvCxnSpPr>
          <p:nvPr/>
        </p:nvCxnSpPr>
        <p:spPr bwMode="auto">
          <a:xfrm rot="5400000" flipH="1" flipV="1">
            <a:off x="2651169" y="3674971"/>
            <a:ext cx="348367" cy="159824"/>
          </a:xfrm>
          <a:prstGeom prst="bentConnector2">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158" name="形状 157"/>
          <p:cNvCxnSpPr>
            <a:stCxn id="79" idx="2"/>
            <a:endCxn id="106" idx="1"/>
          </p:cNvCxnSpPr>
          <p:nvPr/>
        </p:nvCxnSpPr>
        <p:spPr bwMode="auto">
          <a:xfrm rot="16200000" flipH="1">
            <a:off x="3424205" y="3726479"/>
            <a:ext cx="268897" cy="264857"/>
          </a:xfrm>
          <a:prstGeom prst="bentConnector2">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163" name="形状 162"/>
          <p:cNvCxnSpPr>
            <a:stCxn id="106" idx="3"/>
            <a:endCxn id="84" idx="1"/>
          </p:cNvCxnSpPr>
          <p:nvPr/>
        </p:nvCxnSpPr>
        <p:spPr bwMode="auto">
          <a:xfrm flipV="1">
            <a:off x="3905396" y="3438525"/>
            <a:ext cx="272903" cy="554832"/>
          </a:xfrm>
          <a:prstGeom prst="bentConnector3">
            <a:avLst>
              <a:gd name="adj1" fmla="val 50000"/>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sp>
        <p:nvSpPr>
          <p:cNvPr id="181" name="TextBox 180"/>
          <p:cNvSpPr txBox="1"/>
          <p:nvPr/>
        </p:nvSpPr>
        <p:spPr>
          <a:xfrm>
            <a:off x="606548" y="2239954"/>
            <a:ext cx="1174607" cy="369332"/>
          </a:xfrm>
          <a:prstGeom prst="rect">
            <a:avLst/>
          </a:prstGeom>
          <a:noFill/>
        </p:spPr>
        <p:txBody>
          <a:bodyPr wrap="square" rtlCol="0">
            <a:spAutoFit/>
          </a:bodyPr>
          <a:lstStyle/>
          <a:p>
            <a:r>
              <a:rPr lang="zh-CN" altLang="en-US" b="1" dirty="0">
                <a:latin typeface="+mn-ea"/>
                <a:ea typeface="+mn-ea"/>
              </a:rPr>
              <a:t>监控管理</a:t>
            </a:r>
          </a:p>
        </p:txBody>
      </p:sp>
      <p:sp>
        <p:nvSpPr>
          <p:cNvPr id="184" name="矩形 183"/>
          <p:cNvSpPr/>
          <p:nvPr/>
        </p:nvSpPr>
        <p:spPr>
          <a:xfrm>
            <a:off x="1905132" y="2285992"/>
            <a:ext cx="857256" cy="285752"/>
          </a:xfrm>
          <a:prstGeom prst="rect">
            <a:avLst/>
          </a:prstGeom>
          <a:solidFill>
            <a:srgbClr val="FFC000"/>
          </a:solidFill>
          <a:ln w="12700">
            <a:solidFill>
              <a:schemeClr val="bg1"/>
            </a:solidFill>
          </a:ln>
        </p:spPr>
        <p:style>
          <a:lnRef idx="1">
            <a:schemeClr val="accent6"/>
          </a:lnRef>
          <a:fillRef idx="2">
            <a:schemeClr val="accent6"/>
          </a:fillRef>
          <a:effectRef idx="1">
            <a:schemeClr val="accent6"/>
          </a:effectRef>
          <a:fontRef idx="minor">
            <a:schemeClr val="dk1"/>
          </a:fontRef>
        </p:style>
        <p:txBody>
          <a:bodyPr lIns="0" rIns="0" rtlCol="0" anchor="ctr" anchorCtr="0"/>
          <a:lstStyle/>
          <a:p>
            <a:pPr algn="ctr"/>
            <a:r>
              <a:rPr lang="zh-CN" altLang="en-US" sz="1400" dirty="0">
                <a:solidFill>
                  <a:schemeClr val="tx1"/>
                </a:solidFill>
                <a:latin typeface="+mn-ea"/>
              </a:rPr>
              <a:t>交换管理</a:t>
            </a:r>
          </a:p>
        </p:txBody>
      </p:sp>
      <p:cxnSp>
        <p:nvCxnSpPr>
          <p:cNvPr id="92" name="直接箭头连接符 91"/>
          <p:cNvCxnSpPr/>
          <p:nvPr/>
        </p:nvCxnSpPr>
        <p:spPr bwMode="auto">
          <a:xfrm rot="5400000" flipH="1" flipV="1">
            <a:off x="2050635" y="1972768"/>
            <a:ext cx="472317" cy="1747"/>
          </a:xfrm>
          <a:prstGeom prst="straightConnector1">
            <a:avLst/>
          </a:prstGeom>
          <a:ln>
            <a:headEnd type="triangle" w="med" len="med"/>
            <a:tailEnd type="triangle"/>
          </a:ln>
        </p:spPr>
        <p:style>
          <a:lnRef idx="3">
            <a:schemeClr val="accent2"/>
          </a:lnRef>
          <a:fillRef idx="0">
            <a:schemeClr val="accent2"/>
          </a:fillRef>
          <a:effectRef idx="2">
            <a:schemeClr val="accent2"/>
          </a:effectRef>
          <a:fontRef idx="minor">
            <a:schemeClr val="tx1"/>
          </a:fontRef>
        </p:style>
      </p:cxnSp>
      <p:cxnSp>
        <p:nvCxnSpPr>
          <p:cNvPr id="82" name="肘形连接符 71"/>
          <p:cNvCxnSpPr/>
          <p:nvPr/>
        </p:nvCxnSpPr>
        <p:spPr bwMode="auto">
          <a:xfrm flipV="1">
            <a:off x="1447799" y="4114800"/>
            <a:ext cx="0" cy="504991"/>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83" name="直接箭头连接符 82"/>
          <p:cNvCxnSpPr/>
          <p:nvPr/>
        </p:nvCxnSpPr>
        <p:spPr bwMode="auto">
          <a:xfrm rot="5400000" flipH="1" flipV="1">
            <a:off x="2104321" y="2761454"/>
            <a:ext cx="390345" cy="1588"/>
          </a:xfrm>
          <a:prstGeom prst="straightConnector1">
            <a:avLst/>
          </a:prstGeom>
          <a:ln>
            <a:headEnd type="triangle" w="med" len="med"/>
            <a:tailEnd type="triangle"/>
          </a:ln>
        </p:spPr>
        <p:style>
          <a:lnRef idx="3">
            <a:schemeClr val="accent2"/>
          </a:lnRef>
          <a:fillRef idx="0">
            <a:schemeClr val="accent2"/>
          </a:fillRef>
          <a:effectRef idx="2">
            <a:schemeClr val="accent2"/>
          </a:effectRef>
          <a:fontRef idx="minor">
            <a:schemeClr val="tx1"/>
          </a:fontRef>
        </p:style>
      </p:cxnSp>
      <p:sp>
        <p:nvSpPr>
          <p:cNvPr id="86" name="矩形 85"/>
          <p:cNvSpPr/>
          <p:nvPr/>
        </p:nvSpPr>
        <p:spPr>
          <a:xfrm>
            <a:off x="4510085" y="3886200"/>
            <a:ext cx="214314" cy="214314"/>
          </a:xfrm>
          <a:prstGeom prst="rect">
            <a:avLst/>
          </a:prstGeom>
          <a:solidFill>
            <a:srgbClr val="FF0000"/>
          </a:solidFill>
          <a:ln>
            <a:solidFill>
              <a:srgbClr val="FF0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89" name="TextBox 88"/>
          <p:cNvSpPr txBox="1"/>
          <p:nvPr/>
        </p:nvSpPr>
        <p:spPr>
          <a:xfrm>
            <a:off x="4724399" y="3887401"/>
            <a:ext cx="857256" cy="276999"/>
          </a:xfrm>
          <a:prstGeom prst="rect">
            <a:avLst/>
          </a:prstGeom>
          <a:noFill/>
        </p:spPr>
        <p:txBody>
          <a:bodyPr wrap="square" rtlCol="0">
            <a:spAutoFit/>
          </a:bodyPr>
          <a:lstStyle/>
          <a:p>
            <a:r>
              <a:rPr lang="zh-CN" altLang="en-US" sz="1200" b="1" dirty="0">
                <a:solidFill>
                  <a:srgbClr val="FF0000"/>
                </a:solidFill>
                <a:latin typeface="+mn-ea"/>
                <a:ea typeface="+mn-ea"/>
              </a:rPr>
              <a:t>拦截器</a:t>
            </a:r>
          </a:p>
        </p:txBody>
      </p:sp>
      <p:sp>
        <p:nvSpPr>
          <p:cNvPr id="41" name="右箭头 40"/>
          <p:cNvSpPr/>
          <p:nvPr/>
        </p:nvSpPr>
        <p:spPr>
          <a:xfrm rot="16200000">
            <a:off x="4350761" y="5420659"/>
            <a:ext cx="481689" cy="381000"/>
          </a:xfrm>
          <a:prstGeom prst="rightArrow">
            <a:avLst/>
          </a:prstGeom>
          <a:gradFill flip="none" rotWithShape="1">
            <a:gsLst>
              <a:gs pos="0">
                <a:srgbClr val="6699FF">
                  <a:shade val="30000"/>
                  <a:satMod val="115000"/>
                </a:srgbClr>
              </a:gs>
              <a:gs pos="0">
                <a:srgbClr val="6699FF">
                  <a:shade val="67500"/>
                  <a:satMod val="115000"/>
                </a:srgbClr>
              </a:gs>
              <a:gs pos="100000">
                <a:srgbClr val="6699FF">
                  <a:shade val="100000"/>
                  <a:satMod val="115000"/>
                </a:srgbClr>
              </a:gs>
            </a:gsLst>
            <a:path path="circle">
              <a:fillToRect l="50000" t="50000" r="50000" b="50000"/>
            </a:path>
            <a:tileRect/>
          </a:gra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Tree>
    <p:extLst>
      <p:ext uri="{BB962C8B-B14F-4D97-AF65-F5344CB8AC3E}">
        <p14:creationId xmlns:p14="http://schemas.microsoft.com/office/powerpoint/2010/main" val="1076284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28596" y="1047917"/>
            <a:ext cx="4981761" cy="3143272"/>
          </a:xfrm>
          <a:prstGeom prst="rect">
            <a:avLst/>
          </a:prstGeom>
          <a:solidFill>
            <a:schemeClr val="bg1">
              <a:lumMod val="95000"/>
            </a:schemeClr>
          </a:solidFill>
          <a:ln>
            <a:solidFill>
              <a:schemeClr val="bg1">
                <a:lumMod val="95000"/>
              </a:schemeClr>
            </a:solidFill>
            <a:prstDash val="solid"/>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86" name="矩形 85"/>
          <p:cNvSpPr/>
          <p:nvPr/>
        </p:nvSpPr>
        <p:spPr>
          <a:xfrm>
            <a:off x="594075" y="3182348"/>
            <a:ext cx="4651025" cy="793733"/>
          </a:xfrm>
          <a:prstGeom prst="rect">
            <a:avLst/>
          </a:prstGeom>
          <a:solidFill>
            <a:srgbClr val="00B0F0"/>
          </a:solidFill>
          <a:ln>
            <a:solidFill>
              <a:srgbClr val="00B0F0"/>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400" b="1" dirty="0">
              <a:solidFill>
                <a:schemeClr val="bg1"/>
              </a:solidFill>
              <a:latin typeface="+mn-ea"/>
            </a:endParaRPr>
          </a:p>
        </p:txBody>
      </p:sp>
      <p:sp>
        <p:nvSpPr>
          <p:cNvPr id="41" name="矩形 40"/>
          <p:cNvSpPr/>
          <p:nvPr/>
        </p:nvSpPr>
        <p:spPr>
          <a:xfrm>
            <a:off x="594075" y="1959606"/>
            <a:ext cx="4651025" cy="655977"/>
          </a:xfrm>
          <a:prstGeom prst="rect">
            <a:avLst/>
          </a:prstGeom>
          <a:solidFill>
            <a:schemeClr val="accent1">
              <a:lumMod val="90000"/>
            </a:schemeClr>
          </a:solidFill>
          <a:ln>
            <a:solidFill>
              <a:schemeClr val="accent1">
                <a:lumMod val="90000"/>
              </a:schemeClr>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400" b="1" dirty="0">
              <a:solidFill>
                <a:schemeClr val="bg1"/>
              </a:solidFill>
              <a:latin typeface="+mn-ea"/>
            </a:endParaRPr>
          </a:p>
        </p:txBody>
      </p:sp>
      <p:sp>
        <p:nvSpPr>
          <p:cNvPr id="95" name="AutoShape 20"/>
          <p:cNvSpPr>
            <a:spLocks noChangeArrowheads="1"/>
          </p:cNvSpPr>
          <p:nvPr/>
        </p:nvSpPr>
        <p:spPr bwMode="auto">
          <a:xfrm rot="10800000">
            <a:off x="5867399" y="1333923"/>
            <a:ext cx="2895601" cy="4603392"/>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sz="1200" dirty="0">
              <a:latin typeface="+mn-ea"/>
              <a:ea typeface="+mn-ea"/>
            </a:endParaRPr>
          </a:p>
        </p:txBody>
      </p:sp>
      <p:sp>
        <p:nvSpPr>
          <p:cNvPr id="2" name="标题 1"/>
          <p:cNvSpPr>
            <a:spLocks noGrp="1"/>
          </p:cNvSpPr>
          <p:nvPr>
            <p:ph type="title"/>
          </p:nvPr>
        </p:nvSpPr>
        <p:spPr/>
        <p:txBody>
          <a:bodyPr/>
          <a:lstStyle/>
          <a:p>
            <a:r>
              <a:rPr lang="zh-CN" altLang="en-US" dirty="0">
                <a:latin typeface="+mn-ea"/>
                <a:ea typeface="+mn-ea"/>
              </a:rPr>
              <a:t>流量统计</a:t>
            </a:r>
          </a:p>
        </p:txBody>
      </p:sp>
      <p:sp>
        <p:nvSpPr>
          <p:cNvPr id="6" name="矩形 5"/>
          <p:cNvSpPr/>
          <p:nvPr/>
        </p:nvSpPr>
        <p:spPr>
          <a:xfrm>
            <a:off x="543904" y="4438631"/>
            <a:ext cx="1260306" cy="895369"/>
          </a:xfrm>
          <a:prstGeom prst="rect">
            <a:avLst/>
          </a:prstGeom>
          <a:solidFill>
            <a:schemeClr val="bg1">
              <a:lumMod val="95000"/>
            </a:schemeClr>
          </a:solidFill>
          <a:ln>
            <a:solidFill>
              <a:schemeClr val="bg1">
                <a:lumMod val="95000"/>
              </a:schemeClr>
            </a:solidFill>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7" name="圆柱形 6"/>
          <p:cNvSpPr/>
          <p:nvPr/>
        </p:nvSpPr>
        <p:spPr>
          <a:xfrm>
            <a:off x="678757" y="4645863"/>
            <a:ext cx="990600" cy="466693"/>
          </a:xfrm>
          <a:prstGeom prst="can">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交换信息库</a:t>
            </a:r>
          </a:p>
        </p:txBody>
      </p:sp>
      <p:sp>
        <p:nvSpPr>
          <p:cNvPr id="10" name="AutoShape 65"/>
          <p:cNvSpPr>
            <a:spLocks noChangeArrowheads="1"/>
          </p:cNvSpPr>
          <p:nvPr/>
        </p:nvSpPr>
        <p:spPr bwMode="auto">
          <a:xfrm>
            <a:off x="605543" y="5667923"/>
            <a:ext cx="876800" cy="359189"/>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1" name="AutoShape 66"/>
          <p:cNvSpPr>
            <a:spLocks noChangeArrowheads="1"/>
          </p:cNvSpPr>
          <p:nvPr/>
        </p:nvSpPr>
        <p:spPr bwMode="auto">
          <a:xfrm>
            <a:off x="856057" y="5578126"/>
            <a:ext cx="876800" cy="359189"/>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2" name="AutoShape 67"/>
          <p:cNvSpPr>
            <a:spLocks noChangeArrowheads="1"/>
          </p:cNvSpPr>
          <p:nvPr/>
        </p:nvSpPr>
        <p:spPr bwMode="auto">
          <a:xfrm>
            <a:off x="730800" y="5757720"/>
            <a:ext cx="876800" cy="359189"/>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a:t>
            </a:r>
            <a:r>
              <a:rPr lang="zh-CN" altLang="en-US" sz="1200" b="1" dirty="0">
                <a:solidFill>
                  <a:schemeClr val="bg1"/>
                </a:solidFill>
                <a:latin typeface="+mn-ea"/>
              </a:rPr>
              <a:t>数据</a:t>
            </a:r>
            <a:endParaRPr lang="zh-CN" sz="1200" b="1" dirty="0">
              <a:solidFill>
                <a:schemeClr val="bg1"/>
              </a:solidFill>
              <a:latin typeface="+mn-ea"/>
            </a:endParaRPr>
          </a:p>
        </p:txBody>
      </p:sp>
      <p:sp>
        <p:nvSpPr>
          <p:cNvPr id="14" name="AutoShape 65"/>
          <p:cNvSpPr>
            <a:spLocks noChangeArrowheads="1"/>
          </p:cNvSpPr>
          <p:nvPr/>
        </p:nvSpPr>
        <p:spPr bwMode="auto">
          <a:xfrm>
            <a:off x="2334165" y="5692736"/>
            <a:ext cx="875352" cy="323021"/>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5" name="AutoShape 66"/>
          <p:cNvSpPr>
            <a:spLocks noChangeArrowheads="1"/>
          </p:cNvSpPr>
          <p:nvPr/>
        </p:nvSpPr>
        <p:spPr bwMode="auto">
          <a:xfrm>
            <a:off x="2584266" y="5611981"/>
            <a:ext cx="875352" cy="323021"/>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16" name="AutoShape 67"/>
          <p:cNvSpPr>
            <a:spLocks noChangeArrowheads="1"/>
          </p:cNvSpPr>
          <p:nvPr/>
        </p:nvSpPr>
        <p:spPr bwMode="auto">
          <a:xfrm>
            <a:off x="2459215" y="5773491"/>
            <a:ext cx="875352" cy="323021"/>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a:t>
            </a:r>
            <a:r>
              <a:rPr lang="zh-CN" altLang="en-US" sz="1200" b="1" dirty="0">
                <a:solidFill>
                  <a:schemeClr val="bg1"/>
                </a:solidFill>
                <a:latin typeface="+mn-ea"/>
              </a:rPr>
              <a:t>数据</a:t>
            </a:r>
            <a:endParaRPr lang="zh-CN" sz="1200" b="1" dirty="0">
              <a:solidFill>
                <a:schemeClr val="bg1"/>
              </a:solidFill>
              <a:latin typeface="+mn-ea"/>
            </a:endParaRPr>
          </a:p>
        </p:txBody>
      </p:sp>
      <p:sp>
        <p:nvSpPr>
          <p:cNvPr id="17" name="矩形 16"/>
          <p:cNvSpPr/>
          <p:nvPr/>
        </p:nvSpPr>
        <p:spPr>
          <a:xfrm>
            <a:off x="2270665" y="4452869"/>
            <a:ext cx="1260306" cy="881131"/>
          </a:xfrm>
          <a:prstGeom prst="rect">
            <a:avLst/>
          </a:prstGeom>
          <a:solidFill>
            <a:schemeClr val="bg1">
              <a:lumMod val="95000"/>
            </a:schemeClr>
          </a:solidFill>
          <a:ln>
            <a:solidFill>
              <a:schemeClr val="bg1">
                <a:lumMod val="95000"/>
              </a:schemeClr>
            </a:solidFill>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18" name="圆柱形 17"/>
          <p:cNvSpPr/>
          <p:nvPr/>
        </p:nvSpPr>
        <p:spPr>
          <a:xfrm>
            <a:off x="2405518" y="4667323"/>
            <a:ext cx="990600" cy="466693"/>
          </a:xfrm>
          <a:prstGeom prst="can">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交换信息库</a:t>
            </a:r>
          </a:p>
        </p:txBody>
      </p:sp>
      <p:sp>
        <p:nvSpPr>
          <p:cNvPr id="19" name="矩形 18"/>
          <p:cNvSpPr/>
          <p:nvPr/>
        </p:nvSpPr>
        <p:spPr>
          <a:xfrm>
            <a:off x="3935737" y="4443377"/>
            <a:ext cx="1260306" cy="890623"/>
          </a:xfrm>
          <a:prstGeom prst="rect">
            <a:avLst/>
          </a:prstGeom>
          <a:solidFill>
            <a:schemeClr val="bg1">
              <a:lumMod val="95000"/>
            </a:schemeClr>
          </a:solidFill>
          <a:ln>
            <a:solidFill>
              <a:schemeClr val="bg1">
                <a:lumMod val="95000"/>
              </a:schemeClr>
            </a:solidFill>
            <a:prstDash val="dash"/>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latin typeface="+mn-ea"/>
            </a:endParaRPr>
          </a:p>
        </p:txBody>
      </p:sp>
      <p:sp>
        <p:nvSpPr>
          <p:cNvPr id="20" name="圆柱形 19"/>
          <p:cNvSpPr/>
          <p:nvPr/>
        </p:nvSpPr>
        <p:spPr>
          <a:xfrm>
            <a:off x="4070590" y="4660102"/>
            <a:ext cx="990600" cy="466693"/>
          </a:xfrm>
          <a:prstGeom prst="can">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bg1"/>
                </a:solidFill>
                <a:latin typeface="+mn-ea"/>
              </a:rPr>
              <a:t>交换信息库</a:t>
            </a:r>
          </a:p>
        </p:txBody>
      </p:sp>
      <p:sp>
        <p:nvSpPr>
          <p:cNvPr id="21" name="TextBox 20"/>
          <p:cNvSpPr txBox="1"/>
          <p:nvPr/>
        </p:nvSpPr>
        <p:spPr>
          <a:xfrm>
            <a:off x="2403183" y="1114592"/>
            <a:ext cx="1292662" cy="369332"/>
          </a:xfrm>
          <a:prstGeom prst="rect">
            <a:avLst/>
          </a:prstGeom>
          <a:noFill/>
        </p:spPr>
        <p:txBody>
          <a:bodyPr vert="horz" wrap="square" rtlCol="0">
            <a:spAutoFit/>
          </a:bodyPr>
          <a:lstStyle/>
          <a:p>
            <a:pPr algn="ctr"/>
            <a:r>
              <a:rPr lang="zh-CN" altLang="en-US" b="1" dirty="0">
                <a:latin typeface="+mn-ea"/>
                <a:ea typeface="+mn-ea"/>
              </a:rPr>
              <a:t>中心节点</a:t>
            </a:r>
          </a:p>
        </p:txBody>
      </p:sp>
      <p:sp>
        <p:nvSpPr>
          <p:cNvPr id="29" name="右箭头 28"/>
          <p:cNvSpPr/>
          <p:nvPr/>
        </p:nvSpPr>
        <p:spPr>
          <a:xfrm rot="16200000">
            <a:off x="930857" y="5100134"/>
            <a:ext cx="481689" cy="381000"/>
          </a:xfrm>
          <a:prstGeom prst="rightArrow">
            <a:avLst/>
          </a:prstGeom>
          <a:solidFill>
            <a:srgbClr val="6699FF"/>
          </a:soli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30" name="右箭头 29"/>
          <p:cNvSpPr/>
          <p:nvPr/>
        </p:nvSpPr>
        <p:spPr>
          <a:xfrm rot="16200000">
            <a:off x="2659973" y="5134907"/>
            <a:ext cx="481689" cy="381000"/>
          </a:xfrm>
          <a:prstGeom prst="rightArrow">
            <a:avLst/>
          </a:prstGeom>
          <a:solidFill>
            <a:srgbClr val="6699FF"/>
          </a:soli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31" name="右箭头 30"/>
          <p:cNvSpPr/>
          <p:nvPr/>
        </p:nvSpPr>
        <p:spPr>
          <a:xfrm rot="16200000">
            <a:off x="4355524" y="5134907"/>
            <a:ext cx="481689" cy="381000"/>
          </a:xfrm>
          <a:prstGeom prst="rightArrow">
            <a:avLst/>
          </a:prstGeom>
          <a:solidFill>
            <a:srgbClr val="6699FF"/>
          </a:solidFill>
          <a:ln>
            <a:solidFill>
              <a:srgbClr val="6699FF"/>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dirty="0">
              <a:solidFill>
                <a:schemeClr val="bg1"/>
              </a:solidFill>
              <a:latin typeface="+mn-ea"/>
            </a:endParaRPr>
          </a:p>
        </p:txBody>
      </p:sp>
      <p:sp>
        <p:nvSpPr>
          <p:cNvPr id="33" name="AutoShape 65"/>
          <p:cNvSpPr>
            <a:spLocks noChangeArrowheads="1"/>
          </p:cNvSpPr>
          <p:nvPr/>
        </p:nvSpPr>
        <p:spPr bwMode="auto">
          <a:xfrm>
            <a:off x="4119647" y="5676877"/>
            <a:ext cx="875352" cy="323021"/>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34" name="AutoShape 66"/>
          <p:cNvSpPr>
            <a:spLocks noChangeArrowheads="1"/>
          </p:cNvSpPr>
          <p:nvPr/>
        </p:nvSpPr>
        <p:spPr bwMode="auto">
          <a:xfrm>
            <a:off x="4369748" y="5596122"/>
            <a:ext cx="875352" cy="323021"/>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sz="1200" b="1">
              <a:solidFill>
                <a:schemeClr val="bg1"/>
              </a:solidFill>
              <a:latin typeface="+mn-ea"/>
            </a:endParaRPr>
          </a:p>
        </p:txBody>
      </p:sp>
      <p:sp>
        <p:nvSpPr>
          <p:cNvPr id="35" name="AutoShape 67"/>
          <p:cNvSpPr>
            <a:spLocks noChangeArrowheads="1"/>
          </p:cNvSpPr>
          <p:nvPr/>
        </p:nvSpPr>
        <p:spPr bwMode="auto">
          <a:xfrm>
            <a:off x="4244697" y="5757632"/>
            <a:ext cx="875352" cy="323021"/>
          </a:xfrm>
          <a:prstGeom prst="can">
            <a:avLst>
              <a:gd name="adj" fmla="val 25000"/>
            </a:avLst>
          </a:prstGeom>
          <a:solidFill>
            <a:schemeClr val="bg1">
              <a:lumMod val="6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sz="1200" b="1" dirty="0">
                <a:solidFill>
                  <a:schemeClr val="bg1"/>
                </a:solidFill>
                <a:latin typeface="+mn-ea"/>
              </a:rPr>
              <a:t>业务</a:t>
            </a:r>
            <a:r>
              <a:rPr lang="zh-CN" altLang="en-US" sz="1200" b="1" dirty="0">
                <a:solidFill>
                  <a:schemeClr val="bg1"/>
                </a:solidFill>
                <a:latin typeface="+mn-ea"/>
              </a:rPr>
              <a:t>数据</a:t>
            </a:r>
            <a:endParaRPr lang="zh-CN" sz="1200" b="1" dirty="0">
              <a:solidFill>
                <a:schemeClr val="bg1"/>
              </a:solidFill>
              <a:latin typeface="+mn-ea"/>
            </a:endParaRPr>
          </a:p>
        </p:txBody>
      </p:sp>
      <p:sp>
        <p:nvSpPr>
          <p:cNvPr id="37" name="TextBox 36"/>
          <p:cNvSpPr txBox="1"/>
          <p:nvPr/>
        </p:nvSpPr>
        <p:spPr>
          <a:xfrm>
            <a:off x="624011" y="3169507"/>
            <a:ext cx="827430" cy="830997"/>
          </a:xfrm>
          <a:prstGeom prst="rect">
            <a:avLst/>
          </a:prstGeom>
          <a:noFill/>
        </p:spPr>
        <p:txBody>
          <a:bodyPr wrap="square" rtlCol="0">
            <a:spAutoFit/>
          </a:bodyPr>
          <a:lstStyle/>
          <a:p>
            <a:r>
              <a:rPr lang="zh-CN" altLang="en-US" sz="1600" b="1" dirty="0">
                <a:solidFill>
                  <a:schemeClr val="bg1"/>
                </a:solidFill>
                <a:latin typeface="+mn-ea"/>
                <a:ea typeface="+mn-ea"/>
              </a:rPr>
              <a:t>数据</a:t>
            </a:r>
            <a:endParaRPr lang="en-US" altLang="zh-CN" sz="1600" b="1" dirty="0">
              <a:solidFill>
                <a:schemeClr val="bg1"/>
              </a:solidFill>
              <a:latin typeface="+mn-ea"/>
              <a:ea typeface="+mn-ea"/>
            </a:endParaRPr>
          </a:p>
          <a:p>
            <a:r>
              <a:rPr lang="zh-CN" altLang="en-US" sz="1600" b="1" dirty="0">
                <a:solidFill>
                  <a:schemeClr val="bg1"/>
                </a:solidFill>
                <a:latin typeface="+mn-ea"/>
                <a:ea typeface="+mn-ea"/>
              </a:rPr>
              <a:t>交换</a:t>
            </a:r>
            <a:endParaRPr lang="en-US" altLang="zh-CN" sz="1600" b="1" dirty="0">
              <a:solidFill>
                <a:schemeClr val="bg1"/>
              </a:solidFill>
              <a:latin typeface="+mn-ea"/>
              <a:ea typeface="+mn-ea"/>
            </a:endParaRPr>
          </a:p>
          <a:p>
            <a:r>
              <a:rPr lang="zh-CN" altLang="en-US" sz="1600" b="1" dirty="0">
                <a:solidFill>
                  <a:schemeClr val="bg1"/>
                </a:solidFill>
                <a:latin typeface="+mn-ea"/>
                <a:ea typeface="+mn-ea"/>
              </a:rPr>
              <a:t>平台</a:t>
            </a:r>
          </a:p>
        </p:txBody>
      </p:sp>
      <p:pic>
        <p:nvPicPr>
          <p:cNvPr id="46" name="Picture 4"/>
          <p:cNvPicPr>
            <a:picLocks noChangeAspect="1" noChangeArrowheads="1"/>
          </p:cNvPicPr>
          <p:nvPr/>
        </p:nvPicPr>
        <p:blipFill>
          <a:blip r:embed="rId2" cstate="print"/>
          <a:srcRect/>
          <a:stretch>
            <a:fillRect/>
          </a:stretch>
        </p:blipFill>
        <p:spPr bwMode="auto">
          <a:xfrm>
            <a:off x="1338391" y="1371600"/>
            <a:ext cx="548190" cy="376782"/>
          </a:xfrm>
          <a:prstGeom prst="rect">
            <a:avLst/>
          </a:prstGeom>
          <a:noFill/>
          <a:ln w="9525">
            <a:noFill/>
            <a:miter lim="800000"/>
            <a:headEnd/>
            <a:tailEnd/>
          </a:ln>
          <a:effectLst/>
        </p:spPr>
      </p:pic>
      <p:pic>
        <p:nvPicPr>
          <p:cNvPr id="47" name="Picture 4"/>
          <p:cNvPicPr>
            <a:picLocks noChangeAspect="1" noChangeArrowheads="1"/>
          </p:cNvPicPr>
          <p:nvPr/>
        </p:nvPicPr>
        <p:blipFill>
          <a:blip r:embed="rId2" cstate="print"/>
          <a:srcRect/>
          <a:stretch>
            <a:fillRect/>
          </a:stretch>
        </p:blipFill>
        <p:spPr bwMode="auto">
          <a:xfrm>
            <a:off x="3886200" y="1371600"/>
            <a:ext cx="548190" cy="376782"/>
          </a:xfrm>
          <a:prstGeom prst="rect">
            <a:avLst/>
          </a:prstGeom>
          <a:noFill/>
          <a:ln w="9525">
            <a:noFill/>
            <a:miter lim="800000"/>
            <a:headEnd/>
            <a:tailEnd/>
          </a:ln>
          <a:effectLst/>
        </p:spPr>
      </p:pic>
      <p:sp>
        <p:nvSpPr>
          <p:cNvPr id="55" name="TextBox 54"/>
          <p:cNvSpPr txBox="1"/>
          <p:nvPr/>
        </p:nvSpPr>
        <p:spPr>
          <a:xfrm>
            <a:off x="1905295" y="1471383"/>
            <a:ext cx="1371305" cy="276999"/>
          </a:xfrm>
          <a:prstGeom prst="rect">
            <a:avLst/>
          </a:prstGeom>
          <a:solidFill>
            <a:srgbClr val="6699FF"/>
          </a:solidFill>
        </p:spPr>
        <p:style>
          <a:lnRef idx="3">
            <a:schemeClr val="lt1"/>
          </a:lnRef>
          <a:fillRef idx="1">
            <a:schemeClr val="accent2"/>
          </a:fillRef>
          <a:effectRef idx="1">
            <a:schemeClr val="accent2"/>
          </a:effectRef>
          <a:fontRef idx="minor">
            <a:schemeClr val="lt1"/>
          </a:fontRef>
        </p:style>
        <p:txBody>
          <a:bodyPr wrap="square" rtlCol="0">
            <a:spAutoFit/>
          </a:bodyPr>
          <a:lstStyle>
            <a:defPPr>
              <a:defRPr lang="en-US"/>
            </a:defPPr>
            <a:lvl1pPr algn="ctr">
              <a:defRPr sz="1200">
                <a:solidFill>
                  <a:schemeClr val="lt1"/>
                </a:solidFill>
                <a:latin typeface="+mn-ea"/>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zh-CN" altLang="en-US" dirty="0"/>
              <a:t>数据交换管理员</a:t>
            </a:r>
          </a:p>
        </p:txBody>
      </p:sp>
      <p:sp>
        <p:nvSpPr>
          <p:cNvPr id="56" name="TextBox 55"/>
          <p:cNvSpPr txBox="1"/>
          <p:nvPr/>
        </p:nvSpPr>
        <p:spPr>
          <a:xfrm>
            <a:off x="4440846" y="1447800"/>
            <a:ext cx="1121754" cy="276999"/>
          </a:xfrm>
          <a:prstGeom prst="rect">
            <a:avLst/>
          </a:prstGeom>
          <a:solidFill>
            <a:srgbClr val="6699FF"/>
          </a:solidFill>
        </p:spPr>
        <p:style>
          <a:lnRef idx="3">
            <a:schemeClr val="lt1"/>
          </a:lnRef>
          <a:fillRef idx="1">
            <a:schemeClr val="accent2"/>
          </a:fillRef>
          <a:effectRef idx="1">
            <a:schemeClr val="accent2"/>
          </a:effectRef>
          <a:fontRef idx="minor">
            <a:schemeClr val="lt1"/>
          </a:fontRef>
        </p:style>
        <p:txBody>
          <a:bodyPr wrap="square" rtlCol="0">
            <a:spAutoFit/>
          </a:bodyPr>
          <a:lstStyle>
            <a:defPPr>
              <a:defRPr lang="en-US"/>
            </a:defPPr>
            <a:lvl1pPr algn="ctr">
              <a:defRPr sz="1200">
                <a:solidFill>
                  <a:schemeClr val="lt1"/>
                </a:solidFill>
                <a:latin typeface="+mn-ea"/>
                <a:ea typeface="+mn-ea"/>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zh-CN" altLang="en-US" dirty="0"/>
              <a:t>系统运维人员</a:t>
            </a:r>
          </a:p>
        </p:txBody>
      </p:sp>
      <p:sp>
        <p:nvSpPr>
          <p:cNvPr id="57" name="圆柱形 56"/>
          <p:cNvSpPr/>
          <p:nvPr/>
        </p:nvSpPr>
        <p:spPr>
          <a:xfrm>
            <a:off x="3872818" y="2778305"/>
            <a:ext cx="991282" cy="357189"/>
          </a:xfrm>
          <a:prstGeom prst="can">
            <a:avLst/>
          </a:prstGeom>
          <a:solidFill>
            <a:schemeClr val="bg1">
              <a:lumMod val="65000"/>
            </a:schemeClr>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200" b="1" dirty="0">
                <a:solidFill>
                  <a:schemeClr val="bg1"/>
                </a:solidFill>
                <a:latin typeface="+mn-ea"/>
              </a:rPr>
              <a:t>流量记录</a:t>
            </a:r>
          </a:p>
        </p:txBody>
      </p:sp>
      <p:sp>
        <p:nvSpPr>
          <p:cNvPr id="58" name="流程图: 过程 57"/>
          <p:cNvSpPr/>
          <p:nvPr/>
        </p:nvSpPr>
        <p:spPr>
          <a:xfrm>
            <a:off x="1338391" y="2146224"/>
            <a:ext cx="1143008" cy="357190"/>
          </a:xfrm>
          <a:prstGeom prst="flowChartProcess">
            <a:avLst/>
          </a:prstGeom>
          <a:solidFill>
            <a:srgbClr val="FFC00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tx1"/>
                </a:solidFill>
                <a:latin typeface="+mn-ea"/>
              </a:rPr>
              <a:t>交换管理</a:t>
            </a:r>
          </a:p>
        </p:txBody>
      </p:sp>
      <p:sp>
        <p:nvSpPr>
          <p:cNvPr id="59" name="矩形 58"/>
          <p:cNvSpPr/>
          <p:nvPr/>
        </p:nvSpPr>
        <p:spPr>
          <a:xfrm>
            <a:off x="1451441" y="3329170"/>
            <a:ext cx="3244535" cy="571504"/>
          </a:xfrm>
          <a:prstGeom prst="rect">
            <a:avLst/>
          </a:prstGeom>
          <a:noFill/>
          <a:ln w="6350">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60" name="矩形 59"/>
          <p:cNvSpPr/>
          <p:nvPr/>
        </p:nvSpPr>
        <p:spPr>
          <a:xfrm>
            <a:off x="1729256" y="3606984"/>
            <a:ext cx="214314" cy="214314"/>
          </a:xfrm>
          <a:prstGeom prst="rect">
            <a:avLst/>
          </a:prstGeom>
          <a:solidFill>
            <a:srgbClr val="FFC000"/>
          </a:solidFill>
          <a:ln>
            <a:solidFill>
              <a:srgbClr val="FFC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61" name="矩形 60"/>
          <p:cNvSpPr/>
          <p:nvPr/>
        </p:nvSpPr>
        <p:spPr>
          <a:xfrm>
            <a:off x="2575287" y="3606984"/>
            <a:ext cx="214314" cy="214314"/>
          </a:xfrm>
          <a:prstGeom prst="rect">
            <a:avLst/>
          </a:prstGeom>
          <a:solidFill>
            <a:srgbClr val="FFC000"/>
          </a:solidFill>
          <a:ln>
            <a:solidFill>
              <a:srgbClr val="FFC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62" name="矩形 61"/>
          <p:cNvSpPr/>
          <p:nvPr/>
        </p:nvSpPr>
        <p:spPr>
          <a:xfrm>
            <a:off x="3421318" y="3606984"/>
            <a:ext cx="214314" cy="214314"/>
          </a:xfrm>
          <a:prstGeom prst="rect">
            <a:avLst/>
          </a:prstGeom>
          <a:solidFill>
            <a:srgbClr val="FFC000"/>
          </a:solidFill>
          <a:ln>
            <a:solidFill>
              <a:srgbClr val="FFC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63" name="矩形 62"/>
          <p:cNvSpPr/>
          <p:nvPr/>
        </p:nvSpPr>
        <p:spPr>
          <a:xfrm>
            <a:off x="4267349" y="3606984"/>
            <a:ext cx="214314" cy="214314"/>
          </a:xfrm>
          <a:prstGeom prst="rect">
            <a:avLst/>
          </a:prstGeom>
          <a:solidFill>
            <a:srgbClr val="FF0000"/>
          </a:solidFill>
          <a:ln>
            <a:solidFill>
              <a:srgbClr val="FF000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cxnSp>
        <p:nvCxnSpPr>
          <p:cNvPr id="65" name="直接箭头连接符 64"/>
          <p:cNvCxnSpPr>
            <a:stCxn id="60" idx="3"/>
            <a:endCxn id="61" idx="1"/>
          </p:cNvCxnSpPr>
          <p:nvPr/>
        </p:nvCxnSpPr>
        <p:spPr bwMode="auto">
          <a:xfrm>
            <a:off x="1943570" y="3714141"/>
            <a:ext cx="631717" cy="1588"/>
          </a:xfrm>
          <a:prstGeom prst="straightConnector1">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67" name="直接箭头连接符 66"/>
          <p:cNvCxnSpPr>
            <a:stCxn id="61" idx="3"/>
            <a:endCxn id="62" idx="1"/>
          </p:cNvCxnSpPr>
          <p:nvPr/>
        </p:nvCxnSpPr>
        <p:spPr bwMode="auto">
          <a:xfrm>
            <a:off x="2789601" y="3714141"/>
            <a:ext cx="631717" cy="1588"/>
          </a:xfrm>
          <a:prstGeom prst="straightConnector1">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69" name="直接箭头连接符 68"/>
          <p:cNvCxnSpPr>
            <a:stCxn id="62" idx="3"/>
            <a:endCxn id="63" idx="1"/>
          </p:cNvCxnSpPr>
          <p:nvPr/>
        </p:nvCxnSpPr>
        <p:spPr bwMode="auto">
          <a:xfrm>
            <a:off x="3635632" y="3714141"/>
            <a:ext cx="631717" cy="1588"/>
          </a:xfrm>
          <a:prstGeom prst="straightConnector1">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sp>
        <p:nvSpPr>
          <p:cNvPr id="70" name="TextBox 69"/>
          <p:cNvSpPr txBox="1"/>
          <p:nvPr/>
        </p:nvSpPr>
        <p:spPr>
          <a:xfrm>
            <a:off x="4267200" y="3733800"/>
            <a:ext cx="1143008" cy="276999"/>
          </a:xfrm>
          <a:prstGeom prst="rect">
            <a:avLst/>
          </a:prstGeom>
          <a:noFill/>
        </p:spPr>
        <p:txBody>
          <a:bodyPr wrap="square" rtlCol="0">
            <a:spAutoFit/>
          </a:bodyPr>
          <a:lstStyle/>
          <a:p>
            <a:pPr algn="ctr"/>
            <a:r>
              <a:rPr lang="zh-CN" altLang="en-US" sz="1200" b="1" dirty="0">
                <a:solidFill>
                  <a:srgbClr val="FF0000"/>
                </a:solidFill>
                <a:latin typeface="+mn-ea"/>
                <a:ea typeface="+mn-ea"/>
              </a:rPr>
              <a:t>流量统计组件</a:t>
            </a:r>
          </a:p>
        </p:txBody>
      </p:sp>
      <p:sp>
        <p:nvSpPr>
          <p:cNvPr id="88" name="流程图: 过程 87"/>
          <p:cNvSpPr/>
          <p:nvPr/>
        </p:nvSpPr>
        <p:spPr>
          <a:xfrm>
            <a:off x="3767283" y="2146224"/>
            <a:ext cx="1143008" cy="357190"/>
          </a:xfrm>
          <a:prstGeom prst="flowChartProcess">
            <a:avLst/>
          </a:prstGeom>
          <a:solidFill>
            <a:srgbClr val="FFC000"/>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200" b="1" dirty="0">
                <a:solidFill>
                  <a:schemeClr val="tx1"/>
                </a:solidFill>
                <a:latin typeface="+mn-ea"/>
              </a:rPr>
              <a:t>监控管理</a:t>
            </a:r>
          </a:p>
        </p:txBody>
      </p:sp>
      <p:sp>
        <p:nvSpPr>
          <p:cNvPr id="92" name="TextBox 91"/>
          <p:cNvSpPr txBox="1"/>
          <p:nvPr/>
        </p:nvSpPr>
        <p:spPr>
          <a:xfrm>
            <a:off x="5929322" y="1714488"/>
            <a:ext cx="2857520" cy="3000821"/>
          </a:xfrm>
          <a:prstGeom prst="rect">
            <a:avLst/>
          </a:prstGeom>
          <a:noFill/>
        </p:spPr>
        <p:txBody>
          <a:bodyPr wrap="square" rtlCol="0">
            <a:spAutoFit/>
          </a:bodyPr>
          <a:lstStyle/>
          <a:p>
            <a:pPr marL="285750" indent="-285750">
              <a:lnSpc>
                <a:spcPct val="150000"/>
              </a:lnSpc>
              <a:buFont typeface="Wingdings" pitchFamily="2" charset="2"/>
              <a:buChar char="p"/>
            </a:pPr>
            <a:r>
              <a:rPr lang="zh-CN" altLang="en-US" b="1" dirty="0">
                <a:solidFill>
                  <a:srgbClr val="C00000"/>
                </a:solidFill>
                <a:latin typeface="+mn-ea"/>
                <a:ea typeface="+mn-ea"/>
              </a:rPr>
              <a:t>流量统计：</a:t>
            </a:r>
            <a:r>
              <a:rPr lang="zh-CN" altLang="en-US" dirty="0">
                <a:latin typeface="+mn-ea"/>
                <a:ea typeface="+mn-ea"/>
              </a:rPr>
              <a:t>在组件中有专门用于流量统计的组件或拦截器，在每次进行交换任务时会向数据库中记录流量数据和日志，系统管理员通过监控管理生成统计报告</a:t>
            </a:r>
          </a:p>
        </p:txBody>
      </p:sp>
      <p:sp>
        <p:nvSpPr>
          <p:cNvPr id="98" name="圆柱形 97"/>
          <p:cNvSpPr/>
          <p:nvPr/>
        </p:nvSpPr>
        <p:spPr>
          <a:xfrm>
            <a:off x="1981333" y="2770367"/>
            <a:ext cx="1000132" cy="357189"/>
          </a:xfrm>
          <a:prstGeom prst="can">
            <a:avLst/>
          </a:prstGeom>
          <a:solidFill>
            <a:schemeClr val="bg1">
              <a:lumMod val="65000"/>
            </a:schemeClr>
          </a:solidFill>
          <a:ln>
            <a:solidFill>
              <a:schemeClr val="bg1"/>
            </a:solidFill>
          </a:ln>
        </p:spPr>
        <p:style>
          <a:lnRef idx="1">
            <a:schemeClr val="dk1"/>
          </a:lnRef>
          <a:fillRef idx="2">
            <a:schemeClr val="dk1"/>
          </a:fillRef>
          <a:effectRef idx="1">
            <a:schemeClr val="dk1"/>
          </a:effectRef>
          <a:fontRef idx="minor">
            <a:schemeClr val="dk1"/>
          </a:fontRef>
        </p:style>
        <p:txBody>
          <a:bodyPr rtlCol="0" anchor="ctr"/>
          <a:lstStyle/>
          <a:p>
            <a:pPr algn="ctr"/>
            <a:r>
              <a:rPr lang="zh-CN" altLang="en-US" sz="1200" b="1" dirty="0">
                <a:solidFill>
                  <a:schemeClr val="bg1"/>
                </a:solidFill>
                <a:latin typeface="+mn-ea"/>
              </a:rPr>
              <a:t>日志记录</a:t>
            </a:r>
          </a:p>
        </p:txBody>
      </p:sp>
      <p:sp>
        <p:nvSpPr>
          <p:cNvPr id="99" name="矩形 98"/>
          <p:cNvSpPr/>
          <p:nvPr/>
        </p:nvSpPr>
        <p:spPr>
          <a:xfrm>
            <a:off x="1838457" y="2757666"/>
            <a:ext cx="3143272" cy="428628"/>
          </a:xfrm>
          <a:prstGeom prst="rect">
            <a:avLst/>
          </a:prstGeom>
          <a:noFill/>
          <a:ln w="6350">
            <a:solidFill>
              <a:schemeClr val="tx1"/>
            </a:solidFill>
            <a:prstDash val="dash"/>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68" name="TextBox 67"/>
          <p:cNvSpPr txBox="1"/>
          <p:nvPr/>
        </p:nvSpPr>
        <p:spPr>
          <a:xfrm>
            <a:off x="624011" y="1990077"/>
            <a:ext cx="714380" cy="584775"/>
          </a:xfrm>
          <a:prstGeom prst="rect">
            <a:avLst/>
          </a:prstGeom>
          <a:noFill/>
        </p:spPr>
        <p:txBody>
          <a:bodyPr wrap="square" rtlCol="0">
            <a:spAutoFit/>
          </a:bodyPr>
          <a:lstStyle/>
          <a:p>
            <a:r>
              <a:rPr lang="zh-CN" altLang="en-US" sz="1600" b="1" dirty="0">
                <a:solidFill>
                  <a:schemeClr val="bg1"/>
                </a:solidFill>
                <a:latin typeface="+mn-ea"/>
                <a:ea typeface="+mn-ea"/>
              </a:rPr>
              <a:t>监控管理</a:t>
            </a:r>
          </a:p>
        </p:txBody>
      </p:sp>
      <p:cxnSp>
        <p:nvCxnSpPr>
          <p:cNvPr id="48" name="直接箭头连接符 47"/>
          <p:cNvCxnSpPr/>
          <p:nvPr/>
        </p:nvCxnSpPr>
        <p:spPr bwMode="auto">
          <a:xfrm rot="5400000">
            <a:off x="1481267" y="1966913"/>
            <a:ext cx="285752" cy="1588"/>
          </a:xfrm>
          <a:prstGeom prst="straightConnector1">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sp>
        <p:nvSpPr>
          <p:cNvPr id="52" name="TextBox 51"/>
          <p:cNvSpPr txBox="1"/>
          <p:nvPr/>
        </p:nvSpPr>
        <p:spPr>
          <a:xfrm>
            <a:off x="914400" y="2757666"/>
            <a:ext cx="857256" cy="276999"/>
          </a:xfrm>
          <a:prstGeom prst="rect">
            <a:avLst/>
          </a:prstGeom>
          <a:noFill/>
        </p:spPr>
        <p:txBody>
          <a:bodyPr wrap="square" rtlCol="0">
            <a:spAutoFit/>
          </a:bodyPr>
          <a:lstStyle/>
          <a:p>
            <a:pPr algn="ctr"/>
            <a:r>
              <a:rPr lang="zh-CN" altLang="en-US" sz="1200" b="1" dirty="0">
                <a:solidFill>
                  <a:srgbClr val="FF0000"/>
                </a:solidFill>
                <a:latin typeface="+mn-ea"/>
                <a:ea typeface="+mn-ea"/>
              </a:rPr>
              <a:t>作业调度</a:t>
            </a:r>
          </a:p>
        </p:txBody>
      </p:sp>
      <p:cxnSp>
        <p:nvCxnSpPr>
          <p:cNvPr id="101" name="直接箭头连接符 100"/>
          <p:cNvCxnSpPr/>
          <p:nvPr/>
        </p:nvCxnSpPr>
        <p:spPr bwMode="auto">
          <a:xfrm rot="5400000">
            <a:off x="1338391" y="2900542"/>
            <a:ext cx="571504" cy="1588"/>
          </a:xfrm>
          <a:prstGeom prst="straightConnector1">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sp>
        <p:nvSpPr>
          <p:cNvPr id="51" name="TextBox 50"/>
          <p:cNvSpPr txBox="1"/>
          <p:nvPr/>
        </p:nvSpPr>
        <p:spPr>
          <a:xfrm>
            <a:off x="2895600" y="2694801"/>
            <a:ext cx="1143008" cy="276999"/>
          </a:xfrm>
          <a:prstGeom prst="rect">
            <a:avLst/>
          </a:prstGeom>
          <a:noFill/>
        </p:spPr>
        <p:txBody>
          <a:bodyPr wrap="square" rtlCol="0">
            <a:spAutoFit/>
          </a:bodyPr>
          <a:lstStyle/>
          <a:p>
            <a:r>
              <a:rPr lang="zh-CN" altLang="en-US" sz="1200" b="1" dirty="0">
                <a:solidFill>
                  <a:srgbClr val="FF0000"/>
                </a:solidFill>
                <a:latin typeface="+mn-ea"/>
                <a:ea typeface="+mn-ea"/>
              </a:rPr>
              <a:t>生成统计报告</a:t>
            </a:r>
          </a:p>
        </p:txBody>
      </p:sp>
      <p:cxnSp>
        <p:nvCxnSpPr>
          <p:cNvPr id="84" name="形状 83"/>
          <p:cNvCxnSpPr>
            <a:endCxn id="47" idx="2"/>
          </p:cNvCxnSpPr>
          <p:nvPr/>
        </p:nvCxnSpPr>
        <p:spPr bwMode="auto">
          <a:xfrm flipV="1">
            <a:off x="4160295" y="1748382"/>
            <a:ext cx="0" cy="362201"/>
          </a:xfrm>
          <a:prstGeom prst="straightConnector1">
            <a:avLst/>
          </a:prstGeom>
          <a:ln>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108" name="形状 107"/>
          <p:cNvCxnSpPr>
            <a:endCxn id="88" idx="1"/>
          </p:cNvCxnSpPr>
          <p:nvPr/>
        </p:nvCxnSpPr>
        <p:spPr bwMode="auto">
          <a:xfrm rot="5400000" flipH="1" flipV="1">
            <a:off x="3410451" y="2324461"/>
            <a:ext cx="356474" cy="357190"/>
          </a:xfrm>
          <a:prstGeom prst="bentConnector2">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81" name="形状 80"/>
          <p:cNvCxnSpPr>
            <a:endCxn id="57" idx="3"/>
          </p:cNvCxnSpPr>
          <p:nvPr/>
        </p:nvCxnSpPr>
        <p:spPr bwMode="auto">
          <a:xfrm flipV="1">
            <a:off x="4368459" y="3135494"/>
            <a:ext cx="0" cy="355805"/>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111" name="肘形连接符 110"/>
          <p:cNvCxnSpPr>
            <a:stCxn id="6" idx="0"/>
            <a:endCxn id="60" idx="2"/>
          </p:cNvCxnSpPr>
          <p:nvPr/>
        </p:nvCxnSpPr>
        <p:spPr bwMode="auto">
          <a:xfrm rot="5400000" flipH="1" flipV="1">
            <a:off x="1196569" y="3798787"/>
            <a:ext cx="617333" cy="662356"/>
          </a:xfrm>
          <a:prstGeom prst="bentConnector3">
            <a:avLst>
              <a:gd name="adj1" fmla="val 50000"/>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113" name="肘形连接符 112"/>
          <p:cNvCxnSpPr>
            <a:stCxn id="17" idx="0"/>
            <a:endCxn id="61" idx="2"/>
          </p:cNvCxnSpPr>
          <p:nvPr/>
        </p:nvCxnSpPr>
        <p:spPr bwMode="auto">
          <a:xfrm rot="16200000" flipV="1">
            <a:off x="2475846" y="4027897"/>
            <a:ext cx="631571" cy="218374"/>
          </a:xfrm>
          <a:prstGeom prst="bentConnector3">
            <a:avLst>
              <a:gd name="adj1" fmla="val 50000"/>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cxnSp>
        <p:nvCxnSpPr>
          <p:cNvPr id="115" name="肘形连接符 114"/>
          <p:cNvCxnSpPr>
            <a:stCxn id="19" idx="0"/>
            <a:endCxn id="62" idx="2"/>
          </p:cNvCxnSpPr>
          <p:nvPr/>
        </p:nvCxnSpPr>
        <p:spPr bwMode="auto">
          <a:xfrm rot="16200000" flipV="1">
            <a:off x="3736144" y="3613630"/>
            <a:ext cx="622079" cy="1037415"/>
          </a:xfrm>
          <a:prstGeom prst="bentConnector3">
            <a:avLst>
              <a:gd name="adj1" fmla="val 50000"/>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sp>
        <p:nvSpPr>
          <p:cNvPr id="76" name="TextBox 75"/>
          <p:cNvSpPr txBox="1"/>
          <p:nvPr/>
        </p:nvSpPr>
        <p:spPr>
          <a:xfrm>
            <a:off x="2590800" y="3352800"/>
            <a:ext cx="1143008" cy="276999"/>
          </a:xfrm>
          <a:prstGeom prst="rect">
            <a:avLst/>
          </a:prstGeom>
          <a:noFill/>
        </p:spPr>
        <p:txBody>
          <a:bodyPr wrap="square" rtlCol="0">
            <a:spAutoFit/>
          </a:bodyPr>
          <a:lstStyle/>
          <a:p>
            <a:pPr algn="ctr"/>
            <a:r>
              <a:rPr lang="zh-CN" altLang="en-US" sz="1200" b="1" dirty="0">
                <a:solidFill>
                  <a:schemeClr val="bg1"/>
                </a:solidFill>
                <a:latin typeface="+mn-ea"/>
                <a:ea typeface="+mn-ea"/>
              </a:rPr>
              <a:t>数据交换模型</a:t>
            </a:r>
          </a:p>
        </p:txBody>
      </p:sp>
      <p:cxnSp>
        <p:nvCxnSpPr>
          <p:cNvPr id="83" name="形状 80"/>
          <p:cNvCxnSpPr/>
          <p:nvPr/>
        </p:nvCxnSpPr>
        <p:spPr bwMode="auto">
          <a:xfrm flipV="1">
            <a:off x="2438400" y="3124200"/>
            <a:ext cx="0" cy="355805"/>
          </a:xfrm>
          <a:prstGeom prst="straightConnector1">
            <a:avLst/>
          </a:prstGeom>
          <a:ln>
            <a:solidFill>
              <a:srgbClr val="FF0000"/>
            </a:solidFill>
            <a:headEnd type="none" w="med" len="med"/>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7566120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3276" y="152400"/>
            <a:ext cx="8610600" cy="561975"/>
          </a:xfrm>
        </p:spPr>
        <p:txBody>
          <a:bodyPr/>
          <a:lstStyle/>
          <a:p>
            <a:r>
              <a:rPr lang="zh-CN" altLang="en-US" dirty="0"/>
              <a:t>基于</a:t>
            </a:r>
            <a:r>
              <a:rPr lang="en-US" altLang="zh-CN" dirty="0" err="1"/>
              <a:t>Docker</a:t>
            </a:r>
            <a:r>
              <a:rPr lang="zh-CN" altLang="en-US" dirty="0"/>
              <a:t>的自动化运维</a:t>
            </a:r>
          </a:p>
        </p:txBody>
      </p:sp>
      <p:sp>
        <p:nvSpPr>
          <p:cNvPr id="4" name="灯片编号占位符 3"/>
          <p:cNvSpPr>
            <a:spLocks noGrp="1"/>
          </p:cNvSpPr>
          <p:nvPr>
            <p:ph type="sldNum" sz="quarter" idx="12"/>
          </p:nvPr>
        </p:nvSpPr>
        <p:spPr>
          <a:xfrm>
            <a:off x="3429000" y="6248400"/>
            <a:ext cx="2133600" cy="476250"/>
          </a:xfrm>
        </p:spPr>
        <p:txBody>
          <a:bodyPr/>
          <a:lstStyle/>
          <a:p>
            <a:fld id="{BD61978C-FD3D-4268-8D6C-034E9AD544A3}" type="slidenum">
              <a:rPr lang="en-US" altLang="zh-CN" smtClean="0"/>
              <a:pPr/>
              <a:t>37</a:t>
            </a:fld>
            <a:endParaRPr lang="en-US" altLang="zh-CN"/>
          </a:p>
        </p:txBody>
      </p:sp>
      <p:pic>
        <p:nvPicPr>
          <p:cNvPr id="71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0447" y="4131584"/>
            <a:ext cx="4953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8072" y="1972584"/>
            <a:ext cx="447675"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3278" y="3268662"/>
            <a:ext cx="519545" cy="684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6"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9350" y="2076450"/>
            <a:ext cx="1009650"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1981200" y="1668926"/>
            <a:ext cx="1917700" cy="312274"/>
          </a:xfrm>
          <a:prstGeom prst="rect">
            <a:avLst/>
          </a:prstGeom>
          <a:solidFill>
            <a:schemeClr val="bg2">
              <a:lumMod val="60000"/>
              <a:lumOff val="40000"/>
            </a:schemeClr>
          </a:solidFill>
          <a:ln>
            <a:solidFill>
              <a:schemeClr val="bg2">
                <a:lumMod val="60000"/>
                <a:lumOff val="40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en-US" altLang="zh-CN" sz="1400" b="1" dirty="0" err="1">
                <a:solidFill>
                  <a:srgbClr val="002060"/>
                </a:solidFill>
                <a:latin typeface="+mn-ea"/>
              </a:rPr>
              <a:t>Docker</a:t>
            </a:r>
            <a:endParaRPr lang="zh-CN" altLang="en-US" sz="1400" b="1" dirty="0">
              <a:solidFill>
                <a:srgbClr val="002060"/>
              </a:solidFill>
              <a:latin typeface="+mn-ea"/>
            </a:endParaRPr>
          </a:p>
        </p:txBody>
      </p:sp>
      <p:sp>
        <p:nvSpPr>
          <p:cNvPr id="14" name="矩形 13"/>
          <p:cNvSpPr/>
          <p:nvPr/>
        </p:nvSpPr>
        <p:spPr>
          <a:xfrm>
            <a:off x="825500" y="4269745"/>
            <a:ext cx="1447799" cy="314876"/>
          </a:xfrm>
          <a:prstGeom prst="rect">
            <a:avLst/>
          </a:prstGeom>
          <a:solidFill>
            <a:schemeClr val="bg2">
              <a:lumMod val="60000"/>
              <a:lumOff val="40000"/>
            </a:schemeClr>
          </a:solidFill>
          <a:ln>
            <a:solidFill>
              <a:schemeClr val="bg2">
                <a:lumMod val="60000"/>
                <a:lumOff val="40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en-US" altLang="zh-CN" sz="1400" b="1" dirty="0" err="1">
                <a:solidFill>
                  <a:srgbClr val="002060"/>
                </a:solidFill>
                <a:latin typeface="+mn-ea"/>
              </a:rPr>
              <a:t>Docker</a:t>
            </a:r>
            <a:endParaRPr lang="zh-CN" altLang="en-US" sz="1400" b="1" dirty="0">
              <a:solidFill>
                <a:srgbClr val="002060"/>
              </a:solidFill>
              <a:latin typeface="+mn-ea"/>
            </a:endParaRPr>
          </a:p>
        </p:txBody>
      </p:sp>
      <p:sp>
        <p:nvSpPr>
          <p:cNvPr id="6" name="矩形 5"/>
          <p:cNvSpPr/>
          <p:nvPr/>
        </p:nvSpPr>
        <p:spPr>
          <a:xfrm>
            <a:off x="825500" y="4596156"/>
            <a:ext cx="419100" cy="805198"/>
          </a:xfrm>
          <a:prstGeom prst="rec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en-US" altLang="zh-CN" sz="1400" b="1" dirty="0">
              <a:solidFill>
                <a:schemeClr val="bg1"/>
              </a:solidFill>
            </a:endParaRPr>
          </a:p>
          <a:p>
            <a:pPr algn="ctr"/>
            <a:r>
              <a:rPr lang="en-US" altLang="zh-CN" sz="1400" b="1" dirty="0">
                <a:solidFill>
                  <a:schemeClr val="bg1"/>
                </a:solidFill>
              </a:rPr>
              <a:t>App1</a:t>
            </a:r>
            <a:endParaRPr lang="zh-CN" altLang="en-US" sz="1400" b="1" dirty="0">
              <a:solidFill>
                <a:schemeClr val="bg1"/>
              </a:solidFill>
            </a:endParaRPr>
          </a:p>
        </p:txBody>
      </p:sp>
      <p:sp>
        <p:nvSpPr>
          <p:cNvPr id="17" name="矩形 16"/>
          <p:cNvSpPr/>
          <p:nvPr/>
        </p:nvSpPr>
        <p:spPr>
          <a:xfrm>
            <a:off x="1333500" y="4596156"/>
            <a:ext cx="419100" cy="809960"/>
          </a:xfrm>
          <a:prstGeom prst="rec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en-US" altLang="zh-CN" sz="1400" b="1" dirty="0">
              <a:solidFill>
                <a:schemeClr val="bg1"/>
              </a:solidFill>
            </a:endParaRPr>
          </a:p>
          <a:p>
            <a:pPr algn="ctr"/>
            <a:r>
              <a:rPr lang="en-US" altLang="zh-CN" sz="1400" b="1" dirty="0">
                <a:solidFill>
                  <a:schemeClr val="bg1"/>
                </a:solidFill>
              </a:rPr>
              <a:t>App2</a:t>
            </a:r>
            <a:endParaRPr lang="zh-CN" altLang="en-US" sz="1400" b="1" dirty="0">
              <a:solidFill>
                <a:schemeClr val="bg1"/>
              </a:solidFill>
            </a:endParaRPr>
          </a:p>
        </p:txBody>
      </p:sp>
      <p:sp>
        <p:nvSpPr>
          <p:cNvPr id="18" name="矩形 17"/>
          <p:cNvSpPr/>
          <p:nvPr/>
        </p:nvSpPr>
        <p:spPr>
          <a:xfrm>
            <a:off x="1854200" y="4596156"/>
            <a:ext cx="419100" cy="809960"/>
          </a:xfrm>
          <a:prstGeom prst="rec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en-US" altLang="zh-CN" sz="1400" b="1" dirty="0">
              <a:solidFill>
                <a:schemeClr val="bg1"/>
              </a:solidFill>
            </a:endParaRPr>
          </a:p>
          <a:p>
            <a:pPr algn="ctr"/>
            <a:r>
              <a:rPr lang="en-US" altLang="zh-CN" sz="1400" b="1" dirty="0">
                <a:solidFill>
                  <a:schemeClr val="bg1"/>
                </a:solidFill>
              </a:rPr>
              <a:t>App3</a:t>
            </a:r>
            <a:endParaRPr lang="zh-CN" altLang="en-US" sz="1400" b="1" dirty="0">
              <a:solidFill>
                <a:schemeClr val="bg1"/>
              </a:solidFill>
            </a:endParaRPr>
          </a:p>
        </p:txBody>
      </p:sp>
      <p:sp>
        <p:nvSpPr>
          <p:cNvPr id="22" name="矩形 21"/>
          <p:cNvSpPr/>
          <p:nvPr/>
        </p:nvSpPr>
        <p:spPr>
          <a:xfrm>
            <a:off x="3505200" y="4261807"/>
            <a:ext cx="1447799" cy="314876"/>
          </a:xfrm>
          <a:prstGeom prst="rect">
            <a:avLst/>
          </a:prstGeom>
          <a:solidFill>
            <a:schemeClr val="bg2">
              <a:lumMod val="60000"/>
              <a:lumOff val="40000"/>
            </a:schemeClr>
          </a:solidFill>
          <a:ln>
            <a:solidFill>
              <a:schemeClr val="bg2">
                <a:lumMod val="60000"/>
                <a:lumOff val="40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en-US" altLang="zh-CN" sz="1400" b="1" dirty="0" err="1">
                <a:solidFill>
                  <a:srgbClr val="002060"/>
                </a:solidFill>
                <a:latin typeface="+mn-ea"/>
              </a:rPr>
              <a:t>Docker</a:t>
            </a:r>
            <a:endParaRPr lang="zh-CN" altLang="en-US" sz="1400" b="1" dirty="0">
              <a:solidFill>
                <a:srgbClr val="002060"/>
              </a:solidFill>
              <a:latin typeface="+mn-ea"/>
            </a:endParaRPr>
          </a:p>
        </p:txBody>
      </p:sp>
      <p:sp>
        <p:nvSpPr>
          <p:cNvPr id="23" name="矩形 22"/>
          <p:cNvSpPr/>
          <p:nvPr/>
        </p:nvSpPr>
        <p:spPr>
          <a:xfrm>
            <a:off x="3505200" y="4583456"/>
            <a:ext cx="419100" cy="809960"/>
          </a:xfrm>
          <a:prstGeom prst="rec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en-US" altLang="zh-CN" sz="1400" b="1" dirty="0">
              <a:solidFill>
                <a:schemeClr val="bg1"/>
              </a:solidFill>
            </a:endParaRPr>
          </a:p>
          <a:p>
            <a:pPr algn="ctr"/>
            <a:r>
              <a:rPr lang="en-US" altLang="zh-CN" sz="1400" b="1" dirty="0">
                <a:solidFill>
                  <a:schemeClr val="bg1"/>
                </a:solidFill>
              </a:rPr>
              <a:t>App1</a:t>
            </a:r>
            <a:endParaRPr lang="zh-CN" altLang="en-US" sz="1400" b="1" dirty="0">
              <a:solidFill>
                <a:schemeClr val="bg1"/>
              </a:solidFill>
            </a:endParaRPr>
          </a:p>
        </p:txBody>
      </p:sp>
      <p:sp>
        <p:nvSpPr>
          <p:cNvPr id="24" name="矩形 23"/>
          <p:cNvSpPr/>
          <p:nvPr/>
        </p:nvSpPr>
        <p:spPr>
          <a:xfrm>
            <a:off x="4013200" y="4588218"/>
            <a:ext cx="419100" cy="809960"/>
          </a:xfrm>
          <a:prstGeom prst="rec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en-US" altLang="zh-CN" sz="1400" b="1" dirty="0">
              <a:solidFill>
                <a:schemeClr val="bg1"/>
              </a:solidFill>
            </a:endParaRPr>
          </a:p>
          <a:p>
            <a:pPr algn="ctr"/>
            <a:r>
              <a:rPr lang="en-US" altLang="zh-CN" sz="1400" b="1" dirty="0">
                <a:solidFill>
                  <a:schemeClr val="bg1"/>
                </a:solidFill>
              </a:rPr>
              <a:t>App2</a:t>
            </a:r>
            <a:endParaRPr lang="zh-CN" altLang="en-US" sz="1400" b="1" dirty="0">
              <a:solidFill>
                <a:schemeClr val="bg1"/>
              </a:solidFill>
            </a:endParaRPr>
          </a:p>
        </p:txBody>
      </p:sp>
      <p:sp>
        <p:nvSpPr>
          <p:cNvPr id="25" name="矩形 24"/>
          <p:cNvSpPr/>
          <p:nvPr/>
        </p:nvSpPr>
        <p:spPr>
          <a:xfrm>
            <a:off x="4533900" y="4588218"/>
            <a:ext cx="419100" cy="809960"/>
          </a:xfrm>
          <a:prstGeom prst="rec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en-US" altLang="zh-CN" sz="1400" b="1" dirty="0">
              <a:solidFill>
                <a:schemeClr val="bg1"/>
              </a:solidFill>
            </a:endParaRPr>
          </a:p>
          <a:p>
            <a:pPr algn="ctr"/>
            <a:r>
              <a:rPr lang="en-US" altLang="zh-CN" sz="1400" b="1" dirty="0">
                <a:solidFill>
                  <a:schemeClr val="bg1"/>
                </a:solidFill>
              </a:rPr>
              <a:t>App3</a:t>
            </a:r>
            <a:endParaRPr lang="zh-CN" altLang="en-US" sz="1400" b="1" dirty="0">
              <a:solidFill>
                <a:schemeClr val="bg1"/>
              </a:solidFill>
            </a:endParaRPr>
          </a:p>
        </p:txBody>
      </p:sp>
      <p:sp>
        <p:nvSpPr>
          <p:cNvPr id="7" name="TextBox 6"/>
          <p:cNvSpPr txBox="1"/>
          <p:nvPr/>
        </p:nvSpPr>
        <p:spPr>
          <a:xfrm>
            <a:off x="2671763" y="3727107"/>
            <a:ext cx="604837" cy="461665"/>
          </a:xfrm>
          <a:prstGeom prst="rect">
            <a:avLst/>
          </a:prstGeom>
          <a:noFill/>
        </p:spPr>
        <p:txBody>
          <a:bodyPr wrap="square" rtlCol="0">
            <a:spAutoFit/>
          </a:bodyPr>
          <a:lstStyle/>
          <a:p>
            <a:r>
              <a:rPr lang="en-US" altLang="zh-CN" sz="2400" b="1" dirty="0">
                <a:solidFill>
                  <a:srgbClr val="002060"/>
                </a:solidFill>
                <a:latin typeface="微软雅黑" pitchFamily="34" charset="-122"/>
                <a:ea typeface="微软雅黑" pitchFamily="34" charset="-122"/>
              </a:rPr>
              <a:t>…</a:t>
            </a:r>
            <a:endParaRPr lang="zh-CN" altLang="en-US" sz="2400" b="1" dirty="0">
              <a:solidFill>
                <a:srgbClr val="002060"/>
              </a:solidFill>
              <a:latin typeface="微软雅黑" pitchFamily="34" charset="-122"/>
              <a:ea typeface="微软雅黑" pitchFamily="34" charset="-122"/>
            </a:endParaRPr>
          </a:p>
        </p:txBody>
      </p:sp>
      <p:pic>
        <p:nvPicPr>
          <p:cNvPr id="2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8378" y="3271639"/>
            <a:ext cx="519545" cy="684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矩形 27"/>
          <p:cNvSpPr/>
          <p:nvPr/>
        </p:nvSpPr>
        <p:spPr>
          <a:xfrm>
            <a:off x="1993900" y="902068"/>
            <a:ext cx="419100" cy="736327"/>
          </a:xfrm>
          <a:prstGeom prst="rec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en-US" altLang="zh-CN" sz="1400" b="1" dirty="0">
              <a:solidFill>
                <a:schemeClr val="bg1"/>
              </a:solidFill>
            </a:endParaRPr>
          </a:p>
          <a:p>
            <a:pPr algn="ctr"/>
            <a:r>
              <a:rPr lang="en-US" altLang="zh-CN" sz="1400" b="1" dirty="0">
                <a:solidFill>
                  <a:schemeClr val="bg1"/>
                </a:solidFill>
              </a:rPr>
              <a:t>App1</a:t>
            </a:r>
            <a:endParaRPr lang="zh-CN" altLang="en-US" sz="1400" b="1" dirty="0">
              <a:solidFill>
                <a:schemeClr val="bg1"/>
              </a:solidFill>
            </a:endParaRPr>
          </a:p>
        </p:txBody>
      </p:sp>
      <p:sp>
        <p:nvSpPr>
          <p:cNvPr id="29" name="矩形 28"/>
          <p:cNvSpPr/>
          <p:nvPr/>
        </p:nvSpPr>
        <p:spPr>
          <a:xfrm>
            <a:off x="2489200" y="906830"/>
            <a:ext cx="419100" cy="736327"/>
          </a:xfrm>
          <a:prstGeom prst="rec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en-US" altLang="zh-CN" sz="1400" b="1" dirty="0">
              <a:solidFill>
                <a:schemeClr val="bg1"/>
              </a:solidFill>
            </a:endParaRPr>
          </a:p>
          <a:p>
            <a:pPr algn="ctr"/>
            <a:r>
              <a:rPr lang="en-US" altLang="zh-CN" sz="1400" b="1" dirty="0">
                <a:solidFill>
                  <a:schemeClr val="bg1"/>
                </a:solidFill>
              </a:rPr>
              <a:t>App2</a:t>
            </a:r>
            <a:endParaRPr lang="zh-CN" altLang="en-US" sz="1400" b="1" dirty="0">
              <a:solidFill>
                <a:schemeClr val="bg1"/>
              </a:solidFill>
            </a:endParaRPr>
          </a:p>
        </p:txBody>
      </p:sp>
      <p:sp>
        <p:nvSpPr>
          <p:cNvPr id="30" name="矩形 29"/>
          <p:cNvSpPr/>
          <p:nvPr/>
        </p:nvSpPr>
        <p:spPr>
          <a:xfrm>
            <a:off x="2984500" y="906830"/>
            <a:ext cx="419100" cy="736327"/>
          </a:xfrm>
          <a:prstGeom prst="rec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en-US" altLang="zh-CN" sz="1400" b="1" dirty="0">
              <a:solidFill>
                <a:schemeClr val="bg1"/>
              </a:solidFill>
            </a:endParaRPr>
          </a:p>
          <a:p>
            <a:pPr algn="ctr"/>
            <a:r>
              <a:rPr lang="en-US" altLang="zh-CN" sz="1400" b="1" dirty="0">
                <a:solidFill>
                  <a:schemeClr val="bg1"/>
                </a:solidFill>
              </a:rPr>
              <a:t>App3</a:t>
            </a:r>
            <a:endParaRPr lang="zh-CN" altLang="en-US" sz="1400" b="1" dirty="0">
              <a:solidFill>
                <a:schemeClr val="bg1"/>
              </a:solidFill>
            </a:endParaRPr>
          </a:p>
        </p:txBody>
      </p:sp>
      <p:sp>
        <p:nvSpPr>
          <p:cNvPr id="31" name="矩形 30"/>
          <p:cNvSpPr/>
          <p:nvPr/>
        </p:nvSpPr>
        <p:spPr>
          <a:xfrm>
            <a:off x="3479800" y="910006"/>
            <a:ext cx="419100" cy="736327"/>
          </a:xfrm>
          <a:prstGeom prst="rect">
            <a:avLst/>
          </a:prstGeom>
          <a:solidFill>
            <a:srgbClr val="00B050"/>
          </a:solidFill>
          <a:ln>
            <a:solidFill>
              <a:srgbClr val="00B05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en-US" altLang="zh-CN" sz="1400" b="1" dirty="0">
              <a:solidFill>
                <a:schemeClr val="bg1"/>
              </a:solidFill>
            </a:endParaRPr>
          </a:p>
          <a:p>
            <a:pPr algn="ctr"/>
            <a:r>
              <a:rPr lang="en-US" altLang="zh-CN" sz="1400" b="1" dirty="0">
                <a:solidFill>
                  <a:schemeClr val="bg1"/>
                </a:solidFill>
              </a:rPr>
              <a:t>…</a:t>
            </a:r>
            <a:endParaRPr lang="zh-CN" altLang="en-US" sz="1400" b="1" dirty="0">
              <a:solidFill>
                <a:schemeClr val="bg1"/>
              </a:solidFill>
            </a:endParaRPr>
          </a:p>
        </p:txBody>
      </p:sp>
      <p:sp>
        <p:nvSpPr>
          <p:cNvPr id="9" name="圆柱形 8"/>
          <p:cNvSpPr/>
          <p:nvPr/>
        </p:nvSpPr>
        <p:spPr>
          <a:xfrm rot="5400000">
            <a:off x="2843147" y="1155766"/>
            <a:ext cx="301756" cy="3917949"/>
          </a:xfrm>
          <a:prstGeom prst="can">
            <a:avLst/>
          </a:prstGeom>
          <a:solidFill>
            <a:srgbClr val="0070C0"/>
          </a:solidFill>
          <a:ln>
            <a:solidFill>
              <a:srgbClr val="0070C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endParaRPr>
          </a:p>
        </p:txBody>
      </p:sp>
      <p:sp>
        <p:nvSpPr>
          <p:cNvPr id="11" name="TextBox 10"/>
          <p:cNvSpPr txBox="1"/>
          <p:nvPr/>
        </p:nvSpPr>
        <p:spPr>
          <a:xfrm>
            <a:off x="1919651" y="2978294"/>
            <a:ext cx="2578925" cy="307777"/>
          </a:xfrm>
          <a:prstGeom prst="rect">
            <a:avLst/>
          </a:prstGeom>
          <a:noFill/>
        </p:spPr>
        <p:txBody>
          <a:bodyPr wrap="square" rtlCol="0">
            <a:spAutoFit/>
          </a:bodyPr>
          <a:lstStyle/>
          <a:p>
            <a:r>
              <a:rPr lang="zh-CN" altLang="en-US" sz="1400" b="1" dirty="0">
                <a:solidFill>
                  <a:schemeClr val="bg1"/>
                </a:solidFill>
                <a:latin typeface="+mn-ea"/>
                <a:ea typeface="+mn-ea"/>
              </a:rPr>
              <a:t>     信息资源交换链路</a:t>
            </a:r>
          </a:p>
        </p:txBody>
      </p:sp>
      <p:sp>
        <p:nvSpPr>
          <p:cNvPr id="36" name="矩形 35"/>
          <p:cNvSpPr/>
          <p:nvPr/>
        </p:nvSpPr>
        <p:spPr>
          <a:xfrm>
            <a:off x="5486400" y="1235984"/>
            <a:ext cx="1331148" cy="4479016"/>
          </a:xfrm>
          <a:prstGeom prst="rect">
            <a:avLst/>
          </a:prstGeom>
          <a:solidFill>
            <a:schemeClr val="bg1">
              <a:lumMod val="95000"/>
            </a:schemeClr>
          </a:solidFill>
          <a:ln>
            <a:solidFill>
              <a:schemeClr val="bg1">
                <a:lumMod val="95000"/>
              </a:schemeClr>
            </a:solidFill>
          </a:ln>
        </p:spPr>
        <p:style>
          <a:lnRef idx="1">
            <a:schemeClr val="accent2"/>
          </a:lnRef>
          <a:fillRef idx="3">
            <a:schemeClr val="accent2"/>
          </a:fillRef>
          <a:effectRef idx="2">
            <a:schemeClr val="accent2"/>
          </a:effectRef>
          <a:fontRef idx="minor">
            <a:schemeClr val="lt1"/>
          </a:fontRef>
        </p:style>
        <p:txBody>
          <a:bodyPr lIns="0" rIns="0" rtlCol="0" anchor="t" anchorCtr="0"/>
          <a:lstStyle/>
          <a:p>
            <a:pPr algn="ctr"/>
            <a:endParaRPr lang="zh-CN" altLang="en-US" sz="1400" b="1" dirty="0">
              <a:solidFill>
                <a:schemeClr val="tx1"/>
              </a:solidFill>
            </a:endParaRPr>
          </a:p>
        </p:txBody>
      </p:sp>
      <p:sp>
        <p:nvSpPr>
          <p:cNvPr id="12" name="矩形 11"/>
          <p:cNvSpPr/>
          <p:nvPr/>
        </p:nvSpPr>
        <p:spPr>
          <a:xfrm>
            <a:off x="5580473" y="1753509"/>
            <a:ext cx="1148175" cy="304800"/>
          </a:xfrm>
          <a:prstGeom prst="rect">
            <a:avLst/>
          </a:prstGeom>
          <a:solidFill>
            <a:srgbClr val="00B0F0"/>
          </a:solidFill>
          <a:ln>
            <a:solidFill>
              <a:srgbClr val="00B0F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400" b="1" dirty="0">
                <a:solidFill>
                  <a:schemeClr val="bg1"/>
                </a:solidFill>
              </a:rPr>
              <a:t>镜像管理</a:t>
            </a:r>
          </a:p>
        </p:txBody>
      </p:sp>
      <p:sp>
        <p:nvSpPr>
          <p:cNvPr id="38" name="矩形 37"/>
          <p:cNvSpPr/>
          <p:nvPr/>
        </p:nvSpPr>
        <p:spPr>
          <a:xfrm>
            <a:off x="5585647" y="2175784"/>
            <a:ext cx="1143001" cy="304800"/>
          </a:xfrm>
          <a:prstGeom prst="rect">
            <a:avLst/>
          </a:prstGeom>
          <a:solidFill>
            <a:srgbClr val="00B0F0"/>
          </a:solidFill>
          <a:ln>
            <a:solidFill>
              <a:srgbClr val="00B0F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400" b="1" dirty="0">
                <a:solidFill>
                  <a:schemeClr val="bg1"/>
                </a:solidFill>
              </a:rPr>
              <a:t>配置设置</a:t>
            </a:r>
          </a:p>
        </p:txBody>
      </p:sp>
      <p:sp>
        <p:nvSpPr>
          <p:cNvPr id="39" name="矩形 38"/>
          <p:cNvSpPr/>
          <p:nvPr/>
        </p:nvSpPr>
        <p:spPr>
          <a:xfrm>
            <a:off x="5585647" y="2591709"/>
            <a:ext cx="1143001" cy="304800"/>
          </a:xfrm>
          <a:prstGeom prst="rect">
            <a:avLst/>
          </a:prstGeom>
          <a:solidFill>
            <a:srgbClr val="00B0F0"/>
          </a:solidFill>
          <a:ln>
            <a:solidFill>
              <a:srgbClr val="00B0F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400" b="1" dirty="0">
                <a:solidFill>
                  <a:schemeClr val="bg1"/>
                </a:solidFill>
              </a:rPr>
              <a:t>状态监控</a:t>
            </a:r>
          </a:p>
        </p:txBody>
      </p:sp>
      <p:sp>
        <p:nvSpPr>
          <p:cNvPr id="40" name="矩形 39"/>
          <p:cNvSpPr/>
          <p:nvPr/>
        </p:nvSpPr>
        <p:spPr>
          <a:xfrm>
            <a:off x="5590821" y="3013984"/>
            <a:ext cx="1143001" cy="304800"/>
          </a:xfrm>
          <a:prstGeom prst="rect">
            <a:avLst/>
          </a:prstGeom>
          <a:solidFill>
            <a:srgbClr val="00B0F0"/>
          </a:solidFill>
          <a:ln>
            <a:solidFill>
              <a:srgbClr val="00B0F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400" b="1" dirty="0">
                <a:solidFill>
                  <a:schemeClr val="bg1"/>
                </a:solidFill>
              </a:rPr>
              <a:t>历史查询</a:t>
            </a:r>
          </a:p>
        </p:txBody>
      </p:sp>
      <p:sp>
        <p:nvSpPr>
          <p:cNvPr id="41" name="矩形 40"/>
          <p:cNvSpPr/>
          <p:nvPr/>
        </p:nvSpPr>
        <p:spPr>
          <a:xfrm>
            <a:off x="5598347" y="3433878"/>
            <a:ext cx="1130301" cy="316706"/>
          </a:xfrm>
          <a:prstGeom prst="rect">
            <a:avLst/>
          </a:prstGeom>
          <a:solidFill>
            <a:srgbClr val="00B0F0"/>
          </a:solidFill>
          <a:ln>
            <a:solidFill>
              <a:srgbClr val="00B0F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400" b="1" dirty="0">
                <a:solidFill>
                  <a:schemeClr val="bg1"/>
                </a:solidFill>
              </a:rPr>
              <a:t>备份恢复</a:t>
            </a:r>
          </a:p>
        </p:txBody>
      </p:sp>
      <p:sp>
        <p:nvSpPr>
          <p:cNvPr id="42" name="矩形 41"/>
          <p:cNvSpPr/>
          <p:nvPr/>
        </p:nvSpPr>
        <p:spPr>
          <a:xfrm>
            <a:off x="5590821" y="3864884"/>
            <a:ext cx="1143001" cy="304800"/>
          </a:xfrm>
          <a:prstGeom prst="rect">
            <a:avLst/>
          </a:prstGeom>
          <a:solidFill>
            <a:srgbClr val="00B0F0"/>
          </a:solidFill>
          <a:ln>
            <a:solidFill>
              <a:srgbClr val="00B0F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400" b="1" dirty="0">
                <a:solidFill>
                  <a:schemeClr val="bg1"/>
                </a:solidFill>
              </a:rPr>
              <a:t>运行管理</a:t>
            </a:r>
          </a:p>
        </p:txBody>
      </p:sp>
      <p:sp>
        <p:nvSpPr>
          <p:cNvPr id="43" name="矩形 42"/>
          <p:cNvSpPr/>
          <p:nvPr/>
        </p:nvSpPr>
        <p:spPr>
          <a:xfrm>
            <a:off x="5593172" y="4283984"/>
            <a:ext cx="1143001" cy="304800"/>
          </a:xfrm>
          <a:prstGeom prst="rect">
            <a:avLst/>
          </a:prstGeom>
          <a:solidFill>
            <a:srgbClr val="00B0F0"/>
          </a:solidFill>
          <a:ln>
            <a:solidFill>
              <a:srgbClr val="00B0F0"/>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r>
              <a:rPr lang="zh-CN" altLang="en-US" sz="1400" b="1" dirty="0">
                <a:solidFill>
                  <a:schemeClr val="bg1"/>
                </a:solidFill>
              </a:rPr>
              <a:t>版本控制</a:t>
            </a:r>
          </a:p>
        </p:txBody>
      </p:sp>
      <p:sp>
        <p:nvSpPr>
          <p:cNvPr id="45" name="TextBox 44"/>
          <p:cNvSpPr txBox="1"/>
          <p:nvPr/>
        </p:nvSpPr>
        <p:spPr>
          <a:xfrm>
            <a:off x="5642983" y="1295515"/>
            <a:ext cx="1707964" cy="307777"/>
          </a:xfrm>
          <a:prstGeom prst="rect">
            <a:avLst/>
          </a:prstGeom>
          <a:noFill/>
        </p:spPr>
        <p:txBody>
          <a:bodyPr wrap="square" rtlCol="0">
            <a:spAutoFit/>
          </a:bodyPr>
          <a:lstStyle/>
          <a:p>
            <a:r>
              <a:rPr lang="zh-CN" altLang="en-US" sz="1400" b="1" dirty="0">
                <a:latin typeface="+mn-ea"/>
                <a:ea typeface="+mn-ea"/>
              </a:rPr>
              <a:t>管理控制台</a:t>
            </a:r>
          </a:p>
        </p:txBody>
      </p:sp>
      <p:sp>
        <p:nvSpPr>
          <p:cNvPr id="56" name="TextBox 55"/>
          <p:cNvSpPr txBox="1"/>
          <p:nvPr/>
        </p:nvSpPr>
        <p:spPr>
          <a:xfrm>
            <a:off x="1035236" y="3952730"/>
            <a:ext cx="1707964" cy="307777"/>
          </a:xfrm>
          <a:prstGeom prst="rect">
            <a:avLst/>
          </a:prstGeom>
          <a:noFill/>
        </p:spPr>
        <p:txBody>
          <a:bodyPr wrap="square" rtlCol="0">
            <a:spAutoFit/>
          </a:bodyPr>
          <a:lstStyle/>
          <a:p>
            <a:r>
              <a:rPr lang="zh-CN" altLang="en-US" sz="1400" b="1" dirty="0">
                <a:latin typeface="+mn-ea"/>
                <a:ea typeface="+mn-ea"/>
              </a:rPr>
              <a:t>前置节点</a:t>
            </a:r>
          </a:p>
        </p:txBody>
      </p:sp>
      <p:sp>
        <p:nvSpPr>
          <p:cNvPr id="57" name="TextBox 56"/>
          <p:cNvSpPr txBox="1"/>
          <p:nvPr/>
        </p:nvSpPr>
        <p:spPr>
          <a:xfrm>
            <a:off x="3778436" y="3952730"/>
            <a:ext cx="1707964" cy="307777"/>
          </a:xfrm>
          <a:prstGeom prst="rect">
            <a:avLst/>
          </a:prstGeom>
          <a:noFill/>
        </p:spPr>
        <p:txBody>
          <a:bodyPr wrap="square" rtlCol="0">
            <a:spAutoFit/>
          </a:bodyPr>
          <a:lstStyle/>
          <a:p>
            <a:r>
              <a:rPr lang="zh-CN" altLang="en-US" sz="1400" b="1" dirty="0">
                <a:latin typeface="+mn-ea"/>
                <a:ea typeface="+mn-ea"/>
              </a:rPr>
              <a:t>前置节点</a:t>
            </a:r>
          </a:p>
        </p:txBody>
      </p:sp>
      <p:sp>
        <p:nvSpPr>
          <p:cNvPr id="58" name="TextBox 57"/>
          <p:cNvSpPr txBox="1"/>
          <p:nvPr/>
        </p:nvSpPr>
        <p:spPr>
          <a:xfrm>
            <a:off x="2406836" y="2670846"/>
            <a:ext cx="1707964" cy="307777"/>
          </a:xfrm>
          <a:prstGeom prst="rect">
            <a:avLst/>
          </a:prstGeom>
          <a:noFill/>
        </p:spPr>
        <p:txBody>
          <a:bodyPr wrap="square" rtlCol="0">
            <a:spAutoFit/>
          </a:bodyPr>
          <a:lstStyle/>
          <a:p>
            <a:r>
              <a:rPr lang="zh-CN" altLang="en-US" sz="1400" b="1" dirty="0">
                <a:latin typeface="+mn-ea"/>
                <a:ea typeface="+mn-ea"/>
              </a:rPr>
              <a:t>中心节点</a:t>
            </a:r>
          </a:p>
        </p:txBody>
      </p:sp>
      <p:sp>
        <p:nvSpPr>
          <p:cNvPr id="59" name="TextBox 58"/>
          <p:cNvSpPr txBox="1"/>
          <p:nvPr/>
        </p:nvSpPr>
        <p:spPr>
          <a:xfrm>
            <a:off x="6969947" y="2758495"/>
            <a:ext cx="1707964" cy="307777"/>
          </a:xfrm>
          <a:prstGeom prst="rect">
            <a:avLst/>
          </a:prstGeom>
          <a:noFill/>
        </p:spPr>
        <p:txBody>
          <a:bodyPr wrap="square" rtlCol="0">
            <a:spAutoFit/>
          </a:bodyPr>
          <a:lstStyle/>
          <a:p>
            <a:r>
              <a:rPr lang="zh-CN" altLang="en-US" sz="1400" b="1" dirty="0">
                <a:latin typeface="+mn-ea"/>
                <a:ea typeface="+mn-ea"/>
              </a:rPr>
              <a:t>运维人员</a:t>
            </a:r>
          </a:p>
        </p:txBody>
      </p:sp>
      <p:sp>
        <p:nvSpPr>
          <p:cNvPr id="60" name="TextBox 59"/>
          <p:cNvSpPr txBox="1"/>
          <p:nvPr/>
        </p:nvSpPr>
        <p:spPr>
          <a:xfrm>
            <a:off x="6969947" y="4944193"/>
            <a:ext cx="1707964" cy="307777"/>
          </a:xfrm>
          <a:prstGeom prst="rect">
            <a:avLst/>
          </a:prstGeom>
          <a:noFill/>
        </p:spPr>
        <p:txBody>
          <a:bodyPr wrap="square" rtlCol="0">
            <a:spAutoFit/>
          </a:bodyPr>
          <a:lstStyle/>
          <a:p>
            <a:r>
              <a:rPr lang="zh-CN" altLang="en-US" sz="1400" b="1" dirty="0">
                <a:latin typeface="+mn-ea"/>
                <a:ea typeface="+mn-ea"/>
              </a:rPr>
              <a:t>开发人员</a:t>
            </a:r>
          </a:p>
        </p:txBody>
      </p:sp>
      <p:sp>
        <p:nvSpPr>
          <p:cNvPr id="62" name="内容占位符 2"/>
          <p:cNvSpPr>
            <a:spLocks noGrp="1"/>
          </p:cNvSpPr>
          <p:nvPr>
            <p:ph idx="1"/>
          </p:nvPr>
        </p:nvSpPr>
        <p:spPr>
          <a:xfrm>
            <a:off x="457200" y="5638800"/>
            <a:ext cx="8382000" cy="685800"/>
          </a:xfrm>
        </p:spPr>
        <p:txBody>
          <a:bodyPr/>
          <a:lstStyle/>
          <a:p>
            <a:r>
              <a:rPr lang="zh-CN" altLang="en-US" sz="1600" b="1" dirty="0">
                <a:latin typeface="+mn-ea"/>
              </a:rPr>
              <a:t>传统运维：安装</a:t>
            </a:r>
            <a:r>
              <a:rPr lang="en-US" altLang="zh-CN" sz="1600" b="1" dirty="0">
                <a:latin typeface="+mn-ea"/>
              </a:rPr>
              <a:t>-&gt;</a:t>
            </a:r>
            <a:r>
              <a:rPr lang="zh-CN" altLang="en-US" sz="1600" b="1" dirty="0">
                <a:latin typeface="+mn-ea"/>
              </a:rPr>
              <a:t>配置</a:t>
            </a:r>
            <a:r>
              <a:rPr lang="en-US" altLang="zh-CN" sz="1600" b="1" dirty="0">
                <a:latin typeface="+mn-ea"/>
              </a:rPr>
              <a:t>-&gt;</a:t>
            </a:r>
            <a:r>
              <a:rPr lang="zh-CN" altLang="en-US" sz="1600" b="1" dirty="0">
                <a:latin typeface="+mn-ea"/>
              </a:rPr>
              <a:t>运行</a:t>
            </a:r>
            <a:endParaRPr lang="en-US" altLang="zh-CN" sz="1600" b="1" dirty="0">
              <a:latin typeface="+mn-ea"/>
            </a:endParaRPr>
          </a:p>
          <a:p>
            <a:r>
              <a:rPr lang="zh-CN" altLang="en-US" sz="1600" b="1" dirty="0">
                <a:latin typeface="+mn-ea"/>
              </a:rPr>
              <a:t>基于</a:t>
            </a:r>
            <a:r>
              <a:rPr lang="en-US" altLang="zh-CN" sz="1600" b="1" dirty="0" err="1">
                <a:latin typeface="+mn-ea"/>
              </a:rPr>
              <a:t>Docker</a:t>
            </a:r>
            <a:r>
              <a:rPr lang="zh-CN" altLang="en-US" sz="1600" b="1" dirty="0">
                <a:latin typeface="+mn-ea"/>
              </a:rPr>
              <a:t>：复制</a:t>
            </a:r>
            <a:r>
              <a:rPr lang="en-US" altLang="zh-CN" sz="1600" b="1" dirty="0">
                <a:latin typeface="+mn-ea"/>
              </a:rPr>
              <a:t>-&gt;</a:t>
            </a:r>
            <a:r>
              <a:rPr lang="zh-CN" altLang="en-US" sz="1600" b="1" dirty="0">
                <a:latin typeface="+mn-ea"/>
              </a:rPr>
              <a:t>运行</a:t>
            </a:r>
          </a:p>
        </p:txBody>
      </p:sp>
    </p:spTree>
    <p:extLst>
      <p:ext uri="{BB962C8B-B14F-4D97-AF65-F5344CB8AC3E}">
        <p14:creationId xmlns:p14="http://schemas.microsoft.com/office/powerpoint/2010/main" val="10438829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ea typeface="+mn-ea"/>
              </a:rPr>
              <a:t>前后分离，接口化扩展开发（待定）</a:t>
            </a:r>
          </a:p>
        </p:txBody>
      </p:sp>
      <p:sp>
        <p:nvSpPr>
          <p:cNvPr id="4" name="灯片编号占位符 3"/>
          <p:cNvSpPr>
            <a:spLocks noGrp="1"/>
          </p:cNvSpPr>
          <p:nvPr>
            <p:ph type="sldNum" sz="quarter" idx="12"/>
          </p:nvPr>
        </p:nvSpPr>
        <p:spPr/>
        <p:txBody>
          <a:bodyPr/>
          <a:lstStyle/>
          <a:p>
            <a:fld id="{BD61978C-FD3D-4268-8D6C-034E9AD544A3}" type="slidenum">
              <a:rPr lang="en-US" altLang="zh-CN" smtClean="0">
                <a:latin typeface="+mn-ea"/>
                <a:ea typeface="+mn-ea"/>
              </a:rPr>
              <a:pPr/>
              <a:t>38</a:t>
            </a:fld>
            <a:endParaRPr lang="en-US" altLang="zh-CN">
              <a:latin typeface="+mn-ea"/>
              <a:ea typeface="+mn-ea"/>
            </a:endParaRPr>
          </a:p>
        </p:txBody>
      </p:sp>
      <p:cxnSp>
        <p:nvCxnSpPr>
          <p:cNvPr id="8" name="直接连接符 7"/>
          <p:cNvCxnSpPr/>
          <p:nvPr/>
        </p:nvCxnSpPr>
        <p:spPr bwMode="auto">
          <a:xfrm>
            <a:off x="609600" y="2527300"/>
            <a:ext cx="4572000" cy="0"/>
          </a:xfrm>
          <a:prstGeom prst="line">
            <a:avLst/>
          </a:prstGeom>
          <a:solidFill>
            <a:srgbClr val="FFFFFF"/>
          </a:solidFill>
          <a:ln>
            <a:prstDash val="dash"/>
          </a:ln>
        </p:spPr>
        <p:style>
          <a:lnRef idx="1">
            <a:schemeClr val="accent2"/>
          </a:lnRef>
          <a:fillRef idx="3">
            <a:schemeClr val="accent2"/>
          </a:fillRef>
          <a:effectRef idx="2">
            <a:schemeClr val="accent2"/>
          </a:effectRef>
          <a:fontRef idx="minor">
            <a:schemeClr val="lt1"/>
          </a:fontRef>
        </p:style>
      </p:cxnSp>
      <p:sp>
        <p:nvSpPr>
          <p:cNvPr id="13" name="AutoShape 20"/>
          <p:cNvSpPr>
            <a:spLocks noChangeArrowheads="1"/>
          </p:cNvSpPr>
          <p:nvPr/>
        </p:nvSpPr>
        <p:spPr bwMode="auto">
          <a:xfrm rot="10800000">
            <a:off x="5511795" y="1113554"/>
            <a:ext cx="3378199" cy="4982446"/>
          </a:xfrm>
          <a:prstGeom prst="roundRect">
            <a:avLst>
              <a:gd name="adj" fmla="val 6171"/>
            </a:avLst>
          </a:prstGeom>
          <a:gradFill rotWithShape="1">
            <a:gsLst>
              <a:gs pos="0">
                <a:srgbClr val="DDDDDD"/>
              </a:gs>
              <a:gs pos="100000">
                <a:schemeClr val="bg1"/>
              </a:gs>
            </a:gsLst>
            <a:lin ang="5400000" scaled="1"/>
          </a:gradFill>
          <a:ln w="9525" algn="ctr">
            <a:solidFill>
              <a:srgbClr val="C0C0C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ctr">
              <a:lnSpc>
                <a:spcPct val="120000"/>
              </a:lnSpc>
            </a:pPr>
            <a:endParaRPr lang="zh-CN" altLang="en-US" sz="1200" dirty="0">
              <a:latin typeface="+mn-ea"/>
              <a:ea typeface="+mn-ea"/>
            </a:endParaRPr>
          </a:p>
        </p:txBody>
      </p:sp>
      <p:sp>
        <p:nvSpPr>
          <p:cNvPr id="18" name="矩形 17"/>
          <p:cNvSpPr/>
          <p:nvPr/>
        </p:nvSpPr>
        <p:spPr>
          <a:xfrm>
            <a:off x="622300" y="2844676"/>
            <a:ext cx="4521200" cy="2946524"/>
          </a:xfrm>
          <a:prstGeom prst="rect">
            <a:avLst/>
          </a:prstGeom>
          <a:solidFill>
            <a:schemeClr val="accent3">
              <a:lumMod val="95000"/>
            </a:schemeClr>
          </a:solidFill>
          <a:ln w="12700">
            <a:solidFill>
              <a:schemeClr val="bg1">
                <a:lumMod val="95000"/>
              </a:schemeClr>
            </a:solidFill>
            <a:round/>
            <a:headEnd/>
            <a:tailEnd/>
          </a:ln>
        </p:spPr>
        <p:txBody>
          <a:bodyPr wrap="none" anchor="ctr"/>
          <a:lstStyle/>
          <a:p>
            <a:endParaRPr lang="zh-CN" altLang="en-US" dirty="0">
              <a:solidFill>
                <a:schemeClr val="tx1"/>
              </a:solidFill>
              <a:latin typeface="+mn-ea"/>
              <a:ea typeface="+mn-ea"/>
            </a:endParaRPr>
          </a:p>
        </p:txBody>
      </p:sp>
      <p:sp>
        <p:nvSpPr>
          <p:cNvPr id="25" name="矩形 24"/>
          <p:cNvSpPr/>
          <p:nvPr/>
        </p:nvSpPr>
        <p:spPr>
          <a:xfrm>
            <a:off x="648376" y="1278007"/>
            <a:ext cx="4533224" cy="1007993"/>
          </a:xfrm>
          <a:prstGeom prst="rect">
            <a:avLst/>
          </a:prstGeom>
          <a:solidFill>
            <a:schemeClr val="accent3">
              <a:lumMod val="95000"/>
            </a:schemeClr>
          </a:solidFill>
          <a:ln w="12700">
            <a:solidFill>
              <a:schemeClr val="bg1">
                <a:lumMod val="95000"/>
              </a:schemeClr>
            </a:solidFill>
            <a:round/>
            <a:headEnd/>
            <a:tailEnd/>
          </a:ln>
        </p:spPr>
        <p:txBody>
          <a:bodyPr wrap="none" anchor="ctr"/>
          <a:lstStyle/>
          <a:p>
            <a:endParaRPr lang="zh-CN" altLang="en-US" dirty="0">
              <a:solidFill>
                <a:schemeClr val="tx1"/>
              </a:solidFill>
              <a:latin typeface="+mn-ea"/>
              <a:ea typeface="+mn-ea"/>
            </a:endParaRPr>
          </a:p>
        </p:txBody>
      </p:sp>
      <p:sp>
        <p:nvSpPr>
          <p:cNvPr id="29" name="圆角矩形 28"/>
          <p:cNvSpPr/>
          <p:nvPr/>
        </p:nvSpPr>
        <p:spPr>
          <a:xfrm>
            <a:off x="1143000" y="2958975"/>
            <a:ext cx="3436590" cy="470577"/>
          </a:xfrm>
          <a:prstGeom prst="roundRect">
            <a:avLst/>
          </a:prstGeom>
          <a:solidFill>
            <a:srgbClr val="0070C0"/>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sz="1600" b="1" dirty="0">
                <a:solidFill>
                  <a:schemeClr val="bg1"/>
                </a:solidFill>
                <a:latin typeface="+mn-ea"/>
              </a:rPr>
              <a:t>RestFul/</a:t>
            </a:r>
            <a:r>
              <a:rPr lang="en-US" altLang="zh-CN" sz="1600" b="1" dirty="0" err="1">
                <a:solidFill>
                  <a:schemeClr val="bg1"/>
                </a:solidFill>
                <a:latin typeface="+mn-ea"/>
              </a:rPr>
              <a:t>WebService</a:t>
            </a:r>
            <a:endParaRPr lang="zh-CN" altLang="en-US" sz="1600" b="1" dirty="0">
              <a:solidFill>
                <a:schemeClr val="bg1"/>
              </a:solidFill>
              <a:latin typeface="+mn-ea"/>
            </a:endParaRPr>
          </a:p>
        </p:txBody>
      </p:sp>
      <p:sp>
        <p:nvSpPr>
          <p:cNvPr id="48" name="圆柱形 47"/>
          <p:cNvSpPr/>
          <p:nvPr/>
        </p:nvSpPr>
        <p:spPr>
          <a:xfrm>
            <a:off x="1371600" y="5143337"/>
            <a:ext cx="2923384" cy="571663"/>
          </a:xfrm>
          <a:prstGeom prst="can">
            <a:avLst/>
          </a:prstGeom>
          <a:solidFill>
            <a:schemeClr val="bg1">
              <a:lumMod val="75000"/>
            </a:schemeClr>
          </a:solidFill>
          <a:ln>
            <a:solidFill>
              <a:schemeClr val="bg1"/>
            </a:solid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600" b="1" dirty="0">
                <a:solidFill>
                  <a:schemeClr val="bg1"/>
                </a:solidFill>
                <a:latin typeface="+mn-ea"/>
              </a:rPr>
              <a:t>数据存储</a:t>
            </a:r>
          </a:p>
        </p:txBody>
      </p:sp>
      <p:sp>
        <p:nvSpPr>
          <p:cNvPr id="49" name="圆角矩形 48"/>
          <p:cNvSpPr/>
          <p:nvPr/>
        </p:nvSpPr>
        <p:spPr>
          <a:xfrm>
            <a:off x="1143000" y="4600135"/>
            <a:ext cx="3436590" cy="388906"/>
          </a:xfrm>
          <a:prstGeom prst="roundRect">
            <a:avLst/>
          </a:prstGeom>
          <a:solidFill>
            <a:schemeClr val="accent2">
              <a:lumMod val="60000"/>
              <a:lumOff val="40000"/>
            </a:schemeClr>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600" b="1" dirty="0">
                <a:solidFill>
                  <a:schemeClr val="bg1"/>
                </a:solidFill>
                <a:latin typeface="+mn-ea"/>
              </a:rPr>
              <a:t>逻辑处理</a:t>
            </a:r>
            <a:r>
              <a:rPr lang="en-US" altLang="zh-CN" sz="1600" b="1" dirty="0">
                <a:solidFill>
                  <a:schemeClr val="bg1"/>
                </a:solidFill>
                <a:latin typeface="+mn-ea"/>
              </a:rPr>
              <a:t>API</a:t>
            </a:r>
            <a:endParaRPr lang="zh-CN" altLang="en-US" sz="1600" b="1" dirty="0">
              <a:solidFill>
                <a:schemeClr val="bg1"/>
              </a:solidFill>
              <a:latin typeface="+mn-ea"/>
            </a:endParaRPr>
          </a:p>
        </p:txBody>
      </p:sp>
      <p:sp>
        <p:nvSpPr>
          <p:cNvPr id="51" name="矩形 50"/>
          <p:cNvSpPr/>
          <p:nvPr/>
        </p:nvSpPr>
        <p:spPr>
          <a:xfrm>
            <a:off x="1143000" y="3479239"/>
            <a:ext cx="401290" cy="1060758"/>
          </a:xfrm>
          <a:prstGeom prst="rect">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400" b="1" dirty="0">
                <a:solidFill>
                  <a:schemeClr val="bg1"/>
                </a:solidFill>
                <a:latin typeface="+mn-ea"/>
              </a:rPr>
              <a:t>系统管理</a:t>
            </a:r>
          </a:p>
        </p:txBody>
      </p:sp>
      <p:sp>
        <p:nvSpPr>
          <p:cNvPr id="52" name="矩形 51"/>
          <p:cNvSpPr/>
          <p:nvPr/>
        </p:nvSpPr>
        <p:spPr>
          <a:xfrm>
            <a:off x="1663698" y="3479239"/>
            <a:ext cx="401290" cy="1060758"/>
          </a:xfrm>
          <a:prstGeom prst="rect">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400" b="1" dirty="0">
                <a:solidFill>
                  <a:schemeClr val="bg1"/>
                </a:solidFill>
                <a:latin typeface="+mn-ea"/>
              </a:rPr>
              <a:t>资源管理</a:t>
            </a:r>
          </a:p>
        </p:txBody>
      </p:sp>
      <p:sp>
        <p:nvSpPr>
          <p:cNvPr id="53" name="矩形 52"/>
          <p:cNvSpPr/>
          <p:nvPr/>
        </p:nvSpPr>
        <p:spPr>
          <a:xfrm>
            <a:off x="2705100" y="3477888"/>
            <a:ext cx="401290" cy="1060758"/>
          </a:xfrm>
          <a:prstGeom prst="rect">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400" b="1" dirty="0">
                <a:solidFill>
                  <a:schemeClr val="bg1"/>
                </a:solidFill>
                <a:latin typeface="+mn-ea"/>
              </a:rPr>
              <a:t>日志管理</a:t>
            </a:r>
          </a:p>
        </p:txBody>
      </p:sp>
      <p:sp>
        <p:nvSpPr>
          <p:cNvPr id="54" name="矩形 53"/>
          <p:cNvSpPr/>
          <p:nvPr/>
        </p:nvSpPr>
        <p:spPr>
          <a:xfrm>
            <a:off x="4178300" y="3467100"/>
            <a:ext cx="401290" cy="1060758"/>
          </a:xfrm>
          <a:prstGeom prst="rect">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400" b="1" dirty="0">
                <a:solidFill>
                  <a:schemeClr val="bg1"/>
                </a:solidFill>
                <a:latin typeface="+mn-ea"/>
              </a:rPr>
              <a:t>统一调度</a:t>
            </a:r>
          </a:p>
        </p:txBody>
      </p:sp>
      <p:sp>
        <p:nvSpPr>
          <p:cNvPr id="55" name="矩形 54"/>
          <p:cNvSpPr/>
          <p:nvPr/>
        </p:nvSpPr>
        <p:spPr>
          <a:xfrm>
            <a:off x="3688365" y="3477763"/>
            <a:ext cx="401290" cy="1060758"/>
          </a:xfrm>
          <a:prstGeom prst="rect">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400" b="1" dirty="0">
                <a:solidFill>
                  <a:schemeClr val="bg1"/>
                </a:solidFill>
                <a:latin typeface="+mn-ea"/>
              </a:rPr>
              <a:t>管理监控</a:t>
            </a:r>
          </a:p>
        </p:txBody>
      </p:sp>
      <p:sp>
        <p:nvSpPr>
          <p:cNvPr id="56" name="矩形 55"/>
          <p:cNvSpPr/>
          <p:nvPr/>
        </p:nvSpPr>
        <p:spPr>
          <a:xfrm>
            <a:off x="2197107" y="3479239"/>
            <a:ext cx="401290" cy="1060758"/>
          </a:xfrm>
          <a:prstGeom prst="rect">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400" b="1" dirty="0">
                <a:solidFill>
                  <a:schemeClr val="bg1"/>
                </a:solidFill>
                <a:latin typeface="+mn-ea"/>
              </a:rPr>
              <a:t>传输管理</a:t>
            </a:r>
          </a:p>
        </p:txBody>
      </p:sp>
      <p:sp>
        <p:nvSpPr>
          <p:cNvPr id="57" name="矩形 56"/>
          <p:cNvSpPr/>
          <p:nvPr/>
        </p:nvSpPr>
        <p:spPr>
          <a:xfrm>
            <a:off x="3200400" y="3479239"/>
            <a:ext cx="401290" cy="1060758"/>
          </a:xfrm>
          <a:prstGeom prst="rect">
            <a:avLst/>
          </a:prstGeom>
          <a:solidFill>
            <a:srgbClr val="6699FF"/>
          </a:solidFill>
          <a:ln>
            <a:noFill/>
          </a:ln>
        </p:spPr>
        <p:style>
          <a:lnRef idx="1">
            <a:schemeClr val="accent4"/>
          </a:lnRef>
          <a:fillRef idx="3">
            <a:schemeClr val="accent4"/>
          </a:fillRef>
          <a:effectRef idx="2">
            <a:schemeClr val="accent4"/>
          </a:effectRef>
          <a:fontRef idx="minor">
            <a:schemeClr val="lt1"/>
          </a:fontRef>
        </p:style>
        <p:txBody>
          <a:bodyPr rtlCol="0" anchor="ctr"/>
          <a:lstStyle/>
          <a:p>
            <a:pPr algn="ctr"/>
            <a:r>
              <a:rPr lang="zh-CN" altLang="en-US" sz="1400" b="1" dirty="0">
                <a:solidFill>
                  <a:schemeClr val="bg1"/>
                </a:solidFill>
                <a:latin typeface="+mn-ea"/>
              </a:rPr>
              <a:t>数据订阅</a:t>
            </a:r>
          </a:p>
        </p:txBody>
      </p:sp>
      <p:sp>
        <p:nvSpPr>
          <p:cNvPr id="60" name="TextBox 59"/>
          <p:cNvSpPr txBox="1"/>
          <p:nvPr/>
        </p:nvSpPr>
        <p:spPr>
          <a:xfrm>
            <a:off x="681335" y="4627602"/>
            <a:ext cx="461665" cy="553998"/>
          </a:xfrm>
          <a:prstGeom prst="rect">
            <a:avLst/>
          </a:prstGeom>
          <a:noFill/>
        </p:spPr>
        <p:txBody>
          <a:bodyPr vert="eaVert" wrap="none" rtlCol="0">
            <a:spAutoFit/>
          </a:bodyPr>
          <a:lstStyle/>
          <a:p>
            <a:r>
              <a:rPr lang="zh-CN" altLang="en-US" b="1" dirty="0">
                <a:latin typeface="+mn-ea"/>
                <a:ea typeface="+mn-ea"/>
              </a:rPr>
              <a:t>后端</a:t>
            </a:r>
          </a:p>
        </p:txBody>
      </p:sp>
      <p:sp>
        <p:nvSpPr>
          <p:cNvPr id="61" name="TextBox 60"/>
          <p:cNvSpPr txBox="1"/>
          <p:nvPr/>
        </p:nvSpPr>
        <p:spPr>
          <a:xfrm>
            <a:off x="635913" y="1478498"/>
            <a:ext cx="430887" cy="502702"/>
          </a:xfrm>
          <a:prstGeom prst="rect">
            <a:avLst/>
          </a:prstGeom>
          <a:noFill/>
        </p:spPr>
        <p:txBody>
          <a:bodyPr vert="eaVert" wrap="none" rtlCol="0">
            <a:spAutoFit/>
          </a:bodyPr>
          <a:lstStyle/>
          <a:p>
            <a:r>
              <a:rPr lang="zh-CN" altLang="en-US" sz="1600" b="1" dirty="0">
                <a:latin typeface="+mn-ea"/>
                <a:ea typeface="+mn-ea"/>
              </a:rPr>
              <a:t>前端</a:t>
            </a:r>
          </a:p>
        </p:txBody>
      </p:sp>
      <p:pic>
        <p:nvPicPr>
          <p:cNvPr id="66" name="Picture 18" descr="C:\Users\ZYC\Desktop\数据交换\图片\智能分析.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71702" y="1371600"/>
            <a:ext cx="833698" cy="618738"/>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 descr="StackBar"/>
          <p:cNvPicPr preferRelativeResize="0">
            <a:picLocks noChangeArrowheads="1"/>
          </p:cNvPicPr>
          <p:nvPr/>
        </p:nvPicPr>
        <p:blipFill>
          <a:blip r:embed="rId3" cstate="print"/>
          <a:srcRect/>
          <a:stretch>
            <a:fillRect/>
          </a:stretch>
        </p:blipFill>
        <p:spPr bwMode="auto">
          <a:xfrm>
            <a:off x="2166692" y="1397000"/>
            <a:ext cx="805108" cy="584041"/>
          </a:xfrm>
          <a:prstGeom prst="rect">
            <a:avLst/>
          </a:prstGeom>
          <a:solidFill>
            <a:schemeClr val="accent1"/>
          </a:solidFill>
          <a:ln w="9525">
            <a:solidFill>
              <a:srgbClr val="777777"/>
            </a:solidFill>
            <a:miter lim="800000"/>
            <a:headEnd/>
            <a:tailEnd/>
          </a:ln>
        </p:spPr>
      </p:pic>
      <p:pic>
        <p:nvPicPr>
          <p:cNvPr id="72" name="Picture 10"/>
          <p:cNvPicPr preferRelativeResize="0">
            <a:picLocks noChangeArrowheads="1"/>
          </p:cNvPicPr>
          <p:nvPr/>
        </p:nvPicPr>
        <p:blipFill>
          <a:blip r:embed="rId4" cstate="print"/>
          <a:srcRect/>
          <a:stretch>
            <a:fillRect/>
          </a:stretch>
        </p:blipFill>
        <p:spPr bwMode="auto">
          <a:xfrm>
            <a:off x="1046781" y="1371599"/>
            <a:ext cx="817561" cy="618739"/>
          </a:xfrm>
          <a:prstGeom prst="rect">
            <a:avLst/>
          </a:prstGeom>
          <a:solidFill>
            <a:schemeClr val="accent1"/>
          </a:solidFill>
          <a:ln w="9525">
            <a:noFill/>
            <a:miter lim="800000"/>
            <a:headEnd/>
            <a:tailEnd/>
          </a:ln>
        </p:spPr>
      </p:pic>
      <p:pic>
        <p:nvPicPr>
          <p:cNvPr id="73" name="Picture 11"/>
          <p:cNvPicPr preferRelativeResize="0">
            <a:picLocks noChangeArrowheads="1"/>
          </p:cNvPicPr>
          <p:nvPr/>
        </p:nvPicPr>
        <p:blipFill>
          <a:blip r:embed="rId5" cstate="print"/>
          <a:srcRect/>
          <a:stretch>
            <a:fillRect/>
          </a:stretch>
        </p:blipFill>
        <p:spPr bwMode="auto">
          <a:xfrm>
            <a:off x="3249940" y="1384298"/>
            <a:ext cx="788660" cy="596901"/>
          </a:xfrm>
          <a:prstGeom prst="rect">
            <a:avLst/>
          </a:prstGeom>
          <a:solidFill>
            <a:schemeClr val="accent1"/>
          </a:solidFill>
          <a:ln w="9525">
            <a:noFill/>
            <a:miter lim="800000"/>
            <a:headEnd/>
            <a:tailEnd/>
          </a:ln>
        </p:spPr>
      </p:pic>
      <p:sp>
        <p:nvSpPr>
          <p:cNvPr id="75" name="矩形 74"/>
          <p:cNvSpPr/>
          <p:nvPr/>
        </p:nvSpPr>
        <p:spPr>
          <a:xfrm>
            <a:off x="5562600" y="1314615"/>
            <a:ext cx="3378192" cy="4552785"/>
          </a:xfrm>
          <a:prstGeom prst="rect">
            <a:avLst/>
          </a:prstGeom>
        </p:spPr>
        <p:txBody>
          <a:bodyPr wrap="square">
            <a:spAutoFit/>
          </a:bodyPr>
          <a:lstStyle/>
          <a:p>
            <a:pPr marL="285750" indent="-285750">
              <a:lnSpc>
                <a:spcPct val="150000"/>
              </a:lnSpc>
              <a:buFont typeface="Wingdings" pitchFamily="2" charset="2"/>
              <a:buChar char="p"/>
            </a:pPr>
            <a:r>
              <a:rPr lang="zh-CN" altLang="en-US" sz="1500" dirty="0">
                <a:solidFill>
                  <a:srgbClr val="002060"/>
                </a:solidFill>
                <a:latin typeface="+mn-ea"/>
                <a:ea typeface="+mn-ea"/>
              </a:rPr>
              <a:t>交换平台完全采用前端展现于后端逻辑处理分离的架构，后端提供相关的</a:t>
            </a:r>
            <a:r>
              <a:rPr lang="en-US" altLang="zh-CN" sz="1500" dirty="0">
                <a:solidFill>
                  <a:srgbClr val="002060"/>
                </a:solidFill>
                <a:latin typeface="+mn-ea"/>
                <a:ea typeface="+mn-ea"/>
              </a:rPr>
              <a:t>API</a:t>
            </a:r>
            <a:r>
              <a:rPr lang="zh-CN" altLang="en-US" sz="1500" dirty="0">
                <a:solidFill>
                  <a:srgbClr val="002060"/>
                </a:solidFill>
                <a:latin typeface="+mn-ea"/>
                <a:ea typeface="+mn-ea"/>
              </a:rPr>
              <a:t>及基于</a:t>
            </a:r>
            <a:r>
              <a:rPr lang="en-US" altLang="zh-CN" sz="1500" dirty="0">
                <a:solidFill>
                  <a:srgbClr val="002060"/>
                </a:solidFill>
                <a:latin typeface="+mn-ea"/>
                <a:ea typeface="+mn-ea"/>
              </a:rPr>
              <a:t>API</a:t>
            </a:r>
            <a:r>
              <a:rPr lang="zh-CN" altLang="en-US" sz="1500" dirty="0">
                <a:solidFill>
                  <a:srgbClr val="002060"/>
                </a:solidFill>
                <a:latin typeface="+mn-ea"/>
                <a:ea typeface="+mn-ea"/>
              </a:rPr>
              <a:t>的远程访问服务如</a:t>
            </a:r>
            <a:r>
              <a:rPr lang="en-US" altLang="zh-CN" sz="1500" dirty="0">
                <a:solidFill>
                  <a:srgbClr val="002060"/>
                </a:solidFill>
                <a:latin typeface="+mn-ea"/>
                <a:ea typeface="+mn-ea"/>
              </a:rPr>
              <a:t>Restful</a:t>
            </a:r>
            <a:r>
              <a:rPr lang="zh-CN" altLang="en-US" sz="1500" dirty="0">
                <a:solidFill>
                  <a:srgbClr val="002060"/>
                </a:solidFill>
                <a:latin typeface="+mn-ea"/>
                <a:ea typeface="+mn-ea"/>
              </a:rPr>
              <a:t>、</a:t>
            </a:r>
            <a:r>
              <a:rPr lang="en-US" altLang="zh-CN" sz="1500" dirty="0" err="1">
                <a:solidFill>
                  <a:srgbClr val="002060"/>
                </a:solidFill>
                <a:latin typeface="+mn-ea"/>
                <a:ea typeface="+mn-ea"/>
              </a:rPr>
              <a:t>WebService</a:t>
            </a:r>
            <a:r>
              <a:rPr lang="zh-CN" altLang="en-US" sz="1500" dirty="0">
                <a:solidFill>
                  <a:srgbClr val="002060"/>
                </a:solidFill>
                <a:latin typeface="+mn-ea"/>
                <a:ea typeface="+mn-ea"/>
              </a:rPr>
              <a:t>等</a:t>
            </a:r>
            <a:endParaRPr lang="en-US" altLang="zh-CN" sz="1500" dirty="0">
              <a:solidFill>
                <a:srgbClr val="002060"/>
              </a:solidFill>
              <a:latin typeface="+mn-ea"/>
              <a:ea typeface="+mn-ea"/>
            </a:endParaRPr>
          </a:p>
          <a:p>
            <a:pPr marL="285750" indent="-285750">
              <a:lnSpc>
                <a:spcPct val="150000"/>
              </a:lnSpc>
              <a:buFont typeface="Wingdings" pitchFamily="2" charset="2"/>
              <a:buChar char="p"/>
            </a:pPr>
            <a:r>
              <a:rPr lang="zh-CN" altLang="en-US" sz="1500" dirty="0">
                <a:solidFill>
                  <a:srgbClr val="002060"/>
                </a:solidFill>
                <a:latin typeface="+mn-ea"/>
                <a:ea typeface="+mn-ea"/>
              </a:rPr>
              <a:t>前端关注于展现无需关心数据处理逻辑，只需调用后端提供的访问接口即可实现相关数据的获取</a:t>
            </a:r>
            <a:endParaRPr lang="en-US" altLang="zh-CN" sz="1500" dirty="0">
              <a:solidFill>
                <a:srgbClr val="002060"/>
              </a:solidFill>
              <a:latin typeface="+mn-ea"/>
              <a:ea typeface="+mn-ea"/>
            </a:endParaRPr>
          </a:p>
          <a:p>
            <a:pPr marL="285750" indent="-285750">
              <a:lnSpc>
                <a:spcPct val="150000"/>
              </a:lnSpc>
              <a:buFont typeface="Wingdings" pitchFamily="2" charset="2"/>
              <a:buChar char="p"/>
            </a:pPr>
            <a:r>
              <a:rPr lang="zh-CN" altLang="en-US" sz="1500" dirty="0">
                <a:solidFill>
                  <a:srgbClr val="002060"/>
                </a:solidFill>
                <a:latin typeface="+mn-ea"/>
                <a:ea typeface="+mn-ea"/>
              </a:rPr>
              <a:t>服务接入采用适配器架构思想，特殊服务可以适配器方式快速接入平台</a:t>
            </a:r>
            <a:endParaRPr lang="en-US" altLang="zh-CN" sz="1500" dirty="0">
              <a:solidFill>
                <a:srgbClr val="002060"/>
              </a:solidFill>
              <a:latin typeface="+mn-ea"/>
              <a:ea typeface="+mn-ea"/>
            </a:endParaRPr>
          </a:p>
          <a:p>
            <a:pPr marL="285750" indent="-285750">
              <a:lnSpc>
                <a:spcPct val="150000"/>
              </a:lnSpc>
              <a:buFont typeface="Wingdings" pitchFamily="2" charset="2"/>
              <a:buChar char="p"/>
            </a:pPr>
            <a:r>
              <a:rPr lang="zh-CN" altLang="en-US" sz="1500" dirty="0">
                <a:solidFill>
                  <a:srgbClr val="002060"/>
                </a:solidFill>
                <a:latin typeface="+mn-ea"/>
                <a:ea typeface="+mn-ea"/>
              </a:rPr>
              <a:t>数据采集提供扩展开发接口，基于此接口可快速开发定制有特殊需求的的数据采集组件</a:t>
            </a:r>
            <a:endParaRPr lang="en-US" altLang="zh-CN" sz="1500" dirty="0">
              <a:solidFill>
                <a:srgbClr val="002060"/>
              </a:solidFill>
              <a:latin typeface="+mn-ea"/>
              <a:ea typeface="+mn-ea"/>
            </a:endParaRPr>
          </a:p>
        </p:txBody>
      </p:sp>
      <p:sp>
        <p:nvSpPr>
          <p:cNvPr id="3" name="上下箭头 2"/>
          <p:cNvSpPr/>
          <p:nvPr/>
        </p:nvSpPr>
        <p:spPr>
          <a:xfrm>
            <a:off x="2400300" y="2064753"/>
            <a:ext cx="609600" cy="912235"/>
          </a:xfrm>
          <a:prstGeom prst="upDownArrow">
            <a:avLst>
              <a:gd name="adj1" fmla="val 50000"/>
              <a:gd name="adj2" fmla="val 39583"/>
            </a:avLst>
          </a:prstGeom>
          <a:solidFill>
            <a:srgbClr val="99FF66"/>
          </a:solidFill>
          <a:ln>
            <a:solidFill>
              <a:srgbClr val="99FF66"/>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lIns="0" rIns="0" rtlCol="0" anchor="t" anchorCtr="0"/>
          <a:lstStyle/>
          <a:p>
            <a:pPr algn="ctr"/>
            <a:endParaRPr lang="zh-CN" altLang="en-US" sz="1600" b="1" dirty="0">
              <a:solidFill>
                <a:schemeClr val="tx1"/>
              </a:solidFill>
              <a:latin typeface="+mn-ea"/>
            </a:endParaRPr>
          </a:p>
        </p:txBody>
      </p:sp>
      <p:sp>
        <p:nvSpPr>
          <p:cNvPr id="5" name="TextBox 4"/>
          <p:cNvSpPr txBox="1"/>
          <p:nvPr/>
        </p:nvSpPr>
        <p:spPr>
          <a:xfrm>
            <a:off x="3048000" y="2286000"/>
            <a:ext cx="1473201" cy="307777"/>
          </a:xfrm>
          <a:prstGeom prst="rect">
            <a:avLst/>
          </a:prstGeom>
          <a:noFill/>
        </p:spPr>
        <p:txBody>
          <a:bodyPr wrap="square" rtlCol="0">
            <a:spAutoFit/>
          </a:bodyPr>
          <a:lstStyle/>
          <a:p>
            <a:r>
              <a:rPr lang="en-US" altLang="zh-CN" sz="1400" b="1" dirty="0">
                <a:solidFill>
                  <a:srgbClr val="FF0000"/>
                </a:solidFill>
                <a:latin typeface="+mn-ea"/>
                <a:ea typeface="+mn-ea"/>
              </a:rPr>
              <a:t>http/https</a:t>
            </a:r>
            <a:endParaRPr lang="zh-CN" altLang="en-US" sz="1400" b="1" dirty="0">
              <a:solidFill>
                <a:srgbClr val="FF0000"/>
              </a:solidFill>
              <a:latin typeface="+mn-ea"/>
              <a:ea typeface="+mn-ea"/>
            </a:endParaRPr>
          </a:p>
        </p:txBody>
      </p:sp>
    </p:spTree>
    <p:extLst>
      <p:ext uri="{BB962C8B-B14F-4D97-AF65-F5344CB8AC3E}">
        <p14:creationId xmlns:p14="http://schemas.microsoft.com/office/powerpoint/2010/main" val="34925797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22" name="Picture 18" descr="thank"/>
          <p:cNvPicPr>
            <a:picLocks noChangeAspect="1" noChangeArrowheads="1"/>
          </p:cNvPicPr>
          <p:nvPr/>
        </p:nvPicPr>
        <p:blipFill>
          <a:blip r:embed="rId3" cstate="print"/>
          <a:srcRect/>
          <a:stretch>
            <a:fillRect/>
          </a:stretch>
        </p:blipFill>
        <p:spPr bwMode="auto">
          <a:xfrm>
            <a:off x="0" y="0"/>
            <a:ext cx="9144000" cy="6858000"/>
          </a:xfrm>
          <a:prstGeom prst="rect">
            <a:avLst/>
          </a:prstGeom>
          <a:noFill/>
        </p:spPr>
      </p:pic>
      <p:sp>
        <p:nvSpPr>
          <p:cNvPr id="21506" name="Rectangle 2"/>
          <p:cNvSpPr>
            <a:spLocks noGrp="1" noChangeArrowheads="1"/>
          </p:cNvSpPr>
          <p:nvPr>
            <p:ph type="title"/>
          </p:nvPr>
        </p:nvSpPr>
        <p:spPr>
          <a:xfrm>
            <a:off x="4495801" y="2362200"/>
            <a:ext cx="4248150" cy="1727200"/>
          </a:xfrm>
        </p:spPr>
        <p:txBody>
          <a:bodyPr/>
          <a:lstStyle/>
          <a:p>
            <a:pPr algn="ctr"/>
            <a:r>
              <a:rPr lang="en-US" altLang="zh-CN" sz="6000">
                <a:solidFill>
                  <a:srgbClr val="FF6600"/>
                </a:solidFill>
              </a:rPr>
              <a:t>Thanks!</a:t>
            </a:r>
          </a:p>
        </p:txBody>
      </p:sp>
      <p:sp>
        <p:nvSpPr>
          <p:cNvPr id="21518" name="Rectangle 14"/>
          <p:cNvSpPr>
            <a:spLocks noChangeArrowheads="1"/>
          </p:cNvSpPr>
          <p:nvPr/>
        </p:nvSpPr>
        <p:spPr bwMode="auto">
          <a:xfrm>
            <a:off x="4572001" y="6381752"/>
            <a:ext cx="4456113" cy="377825"/>
          </a:xfrm>
          <a:prstGeom prst="rect">
            <a:avLst/>
          </a:prstGeom>
          <a:noFill/>
          <a:ln w="9525">
            <a:noFill/>
            <a:miter lim="800000"/>
            <a:headEnd/>
            <a:tailEnd/>
          </a:ln>
          <a:effectLst/>
        </p:spPr>
        <p:txBody>
          <a:bodyPr/>
          <a:lstStyle/>
          <a:p>
            <a:pPr marL="342900" indent="-342900" algn="r">
              <a:spcBef>
                <a:spcPct val="20000"/>
              </a:spcBef>
            </a:pPr>
            <a:r>
              <a:rPr lang="en-US" altLang="zh-CN" sz="1400" baseline="0" dirty="0">
                <a:solidFill>
                  <a:srgbClr val="B2B2B2"/>
                </a:solidFill>
                <a:ea typeface="微软雅黑" pitchFamily="34" charset="-122"/>
                <a:cs typeface="宋体" charset="-122"/>
              </a:rPr>
              <a:t>www.primeton.com</a:t>
            </a:r>
          </a:p>
        </p:txBody>
      </p:sp>
      <p:pic>
        <p:nvPicPr>
          <p:cNvPr id="21519" name="Picture 15" descr="logo"/>
          <p:cNvPicPr>
            <a:picLocks noChangeAspect="1" noChangeArrowheads="1"/>
          </p:cNvPicPr>
          <p:nvPr/>
        </p:nvPicPr>
        <p:blipFill>
          <a:blip r:embed="rId4" cstate="print"/>
          <a:srcRect/>
          <a:stretch>
            <a:fillRect/>
          </a:stretch>
        </p:blipFill>
        <p:spPr bwMode="auto">
          <a:xfrm>
            <a:off x="533401" y="1981200"/>
            <a:ext cx="2447925" cy="293688"/>
          </a:xfrm>
          <a:prstGeom prst="rect">
            <a:avLst/>
          </a:prstGeom>
          <a:noFill/>
        </p:spPr>
      </p:pic>
      <p:sp>
        <p:nvSpPr>
          <p:cNvPr id="21520" name="Text Box 16"/>
          <p:cNvSpPr txBox="1">
            <a:spLocks noChangeArrowheads="1"/>
          </p:cNvSpPr>
          <p:nvPr/>
        </p:nvSpPr>
        <p:spPr bwMode="auto">
          <a:xfrm>
            <a:off x="457200" y="2743202"/>
            <a:ext cx="3962400" cy="2400657"/>
          </a:xfrm>
          <a:prstGeom prst="rect">
            <a:avLst/>
          </a:prstGeom>
          <a:noFill/>
          <a:ln w="9525">
            <a:noFill/>
            <a:miter lim="800000"/>
            <a:headEnd/>
            <a:tailEnd/>
          </a:ln>
          <a:effectLst/>
        </p:spPr>
        <p:txBody>
          <a:bodyPr wrap="square">
            <a:spAutoFit/>
          </a:bodyPr>
          <a:lstStyle/>
          <a:p>
            <a:pPr algn="l"/>
            <a:r>
              <a:rPr lang="en-US" altLang="zh-CN" sz="2800">
                <a:latin typeface="微软雅黑" pitchFamily="34" charset="-122"/>
                <a:ea typeface="微软雅黑" pitchFamily="34" charset="-122"/>
              </a:rPr>
              <a:t>400-120-8005</a:t>
            </a:r>
          </a:p>
          <a:p>
            <a:pPr algn="l"/>
            <a:endParaRPr lang="en-US" altLang="zh-CN" sz="1100">
              <a:latin typeface="微软雅黑" pitchFamily="34" charset="-122"/>
              <a:ea typeface="微软雅黑" pitchFamily="34" charset="-122"/>
            </a:endParaRPr>
          </a:p>
          <a:p>
            <a:pPr algn="l"/>
            <a:r>
              <a:rPr lang="zh-CN" altLang="en-US" sz="1400">
                <a:latin typeface="微软雅黑" pitchFamily="34" charset="-122"/>
                <a:ea typeface="微软雅黑" pitchFamily="34" charset="-122"/>
              </a:rPr>
              <a:t>新浪微博：</a:t>
            </a:r>
            <a:r>
              <a:rPr lang="en-US" altLang="zh-CN" sz="1400">
                <a:latin typeface="微软雅黑" pitchFamily="34" charset="-122"/>
                <a:ea typeface="微软雅黑" pitchFamily="34" charset="-122"/>
              </a:rPr>
              <a:t>@</a:t>
            </a:r>
            <a:r>
              <a:rPr lang="zh-CN" altLang="en-US" sz="1400">
                <a:latin typeface="微软雅黑" pitchFamily="34" charset="-122"/>
                <a:ea typeface="微软雅黑" pitchFamily="34" charset="-122"/>
              </a:rPr>
              <a:t>普元软件</a:t>
            </a:r>
            <a:endParaRPr lang="en-US" altLang="zh-CN" sz="1400">
              <a:latin typeface="微软雅黑" pitchFamily="34" charset="-122"/>
              <a:ea typeface="微软雅黑" pitchFamily="34" charset="-122"/>
            </a:endParaRPr>
          </a:p>
          <a:p>
            <a:pPr algn="l"/>
            <a:r>
              <a:rPr lang="en-US" altLang="zh-CN" sz="1400">
                <a:latin typeface="微软雅黑" pitchFamily="34" charset="-122"/>
                <a:ea typeface="微软雅黑" pitchFamily="34" charset="-122"/>
              </a:rPr>
              <a:t>weibo.com/primetonsoftware</a:t>
            </a:r>
          </a:p>
          <a:p>
            <a:pPr algn="l"/>
            <a:endParaRPr lang="en-US" altLang="zh-CN" sz="1400">
              <a:latin typeface="微软雅黑" pitchFamily="34" charset="-122"/>
              <a:ea typeface="微软雅黑" pitchFamily="34" charset="-122"/>
            </a:endParaRPr>
          </a:p>
          <a:p>
            <a:pPr algn="l"/>
            <a:r>
              <a:rPr lang="zh-CN" altLang="en-US" sz="1400">
                <a:latin typeface="微软雅黑" pitchFamily="34" charset="-122"/>
                <a:ea typeface="微软雅黑" pitchFamily="34" charset="-122"/>
              </a:rPr>
              <a:t>产品服务在线社区：</a:t>
            </a:r>
            <a:r>
              <a:rPr lang="en-US" altLang="zh-CN" sz="1400">
                <a:latin typeface="微软雅黑" pitchFamily="34" charset="-122"/>
                <a:ea typeface="微软雅黑" pitchFamily="34" charset="-122"/>
              </a:rPr>
              <a:t>gocom.cc</a:t>
            </a:r>
          </a:p>
          <a:p>
            <a:pPr algn="l"/>
            <a:endParaRPr lang="en-US" altLang="zh-CN" sz="1100">
              <a:latin typeface="微软雅黑" pitchFamily="34" charset="-122"/>
              <a:ea typeface="微软雅黑" pitchFamily="34" charset="-122"/>
            </a:endParaRPr>
          </a:p>
          <a:p>
            <a:pPr algn="l"/>
            <a:endParaRPr lang="en-US" altLang="zh-CN" sz="1100">
              <a:latin typeface="微软雅黑" pitchFamily="34" charset="-122"/>
              <a:ea typeface="微软雅黑" pitchFamily="34" charset="-122"/>
            </a:endParaRPr>
          </a:p>
          <a:p>
            <a:pPr algn="l"/>
            <a:endParaRPr lang="en-US" altLang="zh-CN" sz="1100">
              <a:latin typeface="微软雅黑" pitchFamily="34" charset="-122"/>
              <a:ea typeface="微软雅黑" pitchFamily="34" charset="-122"/>
            </a:endParaRPr>
          </a:p>
          <a:p>
            <a:pPr algn="l"/>
            <a:endParaRPr lang="en-US" altLang="zh-CN" sz="1100">
              <a:latin typeface="微软雅黑" pitchFamily="34" charset="-122"/>
              <a:ea typeface="微软雅黑" pitchFamily="34" charset="-122"/>
            </a:endParaRPr>
          </a:p>
          <a:p>
            <a:pPr algn="l"/>
            <a:r>
              <a:rPr lang="zh-CN" altLang="en-US" sz="1100">
                <a:latin typeface="微软雅黑" pitchFamily="34" charset="-122"/>
                <a:ea typeface="微软雅黑" pitchFamily="34" charset="-122"/>
              </a:rPr>
              <a:t>北京 </a:t>
            </a:r>
            <a:r>
              <a:rPr lang="en-US" altLang="zh-CN" sz="1100">
                <a:latin typeface="微软雅黑" pitchFamily="34" charset="-122"/>
                <a:ea typeface="微软雅黑" pitchFamily="34" charset="-122"/>
              </a:rPr>
              <a:t>| </a:t>
            </a:r>
            <a:r>
              <a:rPr lang="zh-CN" altLang="en-US" sz="1100">
                <a:latin typeface="微软雅黑" pitchFamily="34" charset="-122"/>
                <a:ea typeface="微软雅黑" pitchFamily="34" charset="-122"/>
              </a:rPr>
              <a:t>上海 </a:t>
            </a:r>
            <a:r>
              <a:rPr lang="en-US" altLang="zh-CN" sz="1100">
                <a:latin typeface="微软雅黑" pitchFamily="34" charset="-122"/>
                <a:ea typeface="微软雅黑" pitchFamily="34" charset="-122"/>
              </a:rPr>
              <a:t>| </a:t>
            </a:r>
            <a:r>
              <a:rPr lang="zh-CN" altLang="en-US" sz="1100">
                <a:latin typeface="微软雅黑" pitchFamily="34" charset="-122"/>
                <a:ea typeface="微软雅黑" pitchFamily="34" charset="-122"/>
              </a:rPr>
              <a:t>广州 </a:t>
            </a:r>
            <a:r>
              <a:rPr lang="en-US" altLang="zh-CN" sz="1100">
                <a:latin typeface="微软雅黑" pitchFamily="34" charset="-122"/>
                <a:ea typeface="微软雅黑" pitchFamily="34" charset="-122"/>
              </a:rPr>
              <a:t>| </a:t>
            </a:r>
            <a:r>
              <a:rPr lang="zh-CN" altLang="en-US" sz="1100">
                <a:latin typeface="微软雅黑" pitchFamily="34" charset="-122"/>
                <a:ea typeface="微软雅黑" pitchFamily="34" charset="-122"/>
              </a:rPr>
              <a:t>深圳 </a:t>
            </a:r>
            <a:r>
              <a:rPr lang="en-US" altLang="zh-CN" sz="1100">
                <a:latin typeface="微软雅黑" pitchFamily="34" charset="-122"/>
                <a:ea typeface="微软雅黑" pitchFamily="34" charset="-122"/>
              </a:rPr>
              <a:t>| </a:t>
            </a:r>
            <a:r>
              <a:rPr lang="zh-CN" altLang="en-US" sz="1100">
                <a:latin typeface="微软雅黑" pitchFamily="34" charset="-122"/>
                <a:ea typeface="微软雅黑" pitchFamily="34" charset="-122"/>
              </a:rPr>
              <a:t>长沙 </a:t>
            </a:r>
            <a:r>
              <a:rPr lang="en-US" altLang="zh-CN" sz="1100">
                <a:latin typeface="微软雅黑" pitchFamily="34" charset="-122"/>
                <a:ea typeface="微软雅黑" pitchFamily="34" charset="-122"/>
              </a:rPr>
              <a:t>| </a:t>
            </a:r>
            <a:r>
              <a:rPr lang="zh-CN" altLang="en-US" sz="1100">
                <a:latin typeface="微软雅黑" pitchFamily="34" charset="-122"/>
                <a:ea typeface="微软雅黑" pitchFamily="34" charset="-122"/>
              </a:rPr>
              <a:t>西安</a:t>
            </a:r>
            <a:endParaRPr lang="en-US" altLang="zh-CN" sz="1100" b="0">
              <a:latin typeface="微软雅黑" pitchFamily="34" charset="-122"/>
              <a:ea typeface="微软雅黑" pitchFamily="34" charset="-122"/>
            </a:endParaRPr>
          </a:p>
        </p:txBody>
      </p:sp>
    </p:spTree>
    <p:extLst>
      <p:ext uri="{BB962C8B-B14F-4D97-AF65-F5344CB8AC3E}">
        <p14:creationId xmlns:p14="http://schemas.microsoft.com/office/powerpoint/2010/main" val="1022780382"/>
      </p:ext>
    </p:extLst>
  </p:cSld>
  <p:clrMapOvr>
    <a:masterClrMapping/>
  </p:clrMapOvr>
</p:sld>
</file>

<file path=ppt/theme/theme1.xml><?xml version="1.0" encoding="utf-8"?>
<a:theme xmlns:a="http://schemas.openxmlformats.org/drawingml/2006/main" name="主题2">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微软雅黑"/>
        <a:cs typeface="宋体"/>
      </a:majorFont>
      <a:minorFont>
        <a:latin typeface="Arial"/>
        <a:ea typeface="微软雅黑"/>
        <a:cs typeface="宋体"/>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6">
            <a:lumMod val="40000"/>
            <a:lumOff val="60000"/>
          </a:schemeClr>
        </a:solidFill>
        <a:ln>
          <a:solidFill>
            <a:schemeClr val="tx1"/>
          </a:solidFill>
        </a:ln>
        <a:effectLst/>
        <a:scene3d>
          <a:camera prst="orthographicFront">
            <a:rot lat="0" lon="0" rev="0"/>
          </a:camera>
          <a:lightRig rig="threePt" dir="t">
            <a:rot lat="0" lon="0" rev="1200000"/>
          </a:lightRig>
        </a:scene3d>
        <a:sp3d/>
      </a:spPr>
      <a:bodyPr lIns="0" rIns="0" rtlCol="0" anchor="t" anchorCtr="0"/>
      <a:lstStyle>
        <a:defPPr algn="ctr">
          <a:defRPr sz="1600" b="1" dirty="0">
            <a:solidFill>
              <a:schemeClr val="tx1"/>
            </a:solidFill>
          </a:defRPr>
        </a:defPPr>
      </a:lstStyle>
      <a:style>
        <a:lnRef idx="0">
          <a:schemeClr val="accent1"/>
        </a:lnRef>
        <a:fillRef idx="3">
          <a:schemeClr val="accent1"/>
        </a:fillRef>
        <a:effectRef idx="3">
          <a:schemeClr val="accent1"/>
        </a:effectRef>
        <a:fontRef idx="minor">
          <a:schemeClr val="lt1"/>
        </a:fontRef>
      </a: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25000" smtClean="0">
            <a:ln>
              <a:noFill/>
            </a:ln>
            <a:solidFill>
              <a:schemeClr val="tx1"/>
            </a:solidFill>
            <a:effectLst/>
            <a:latin typeface="Arial" charset="0"/>
            <a:ea typeface="宋体"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19141</TotalTime>
  <Words>4652</Words>
  <Application>Microsoft Office PowerPoint</Application>
  <PresentationFormat>全屏显示(4:3)</PresentationFormat>
  <Paragraphs>1096</Paragraphs>
  <Slides>39</Slides>
  <Notes>18</Notes>
  <HiddenSlides>1</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47" baseType="lpstr">
      <vt:lpstr>宋体</vt:lpstr>
      <vt:lpstr>微软雅黑</vt:lpstr>
      <vt:lpstr>Arial</vt:lpstr>
      <vt:lpstr>Calibri</vt:lpstr>
      <vt:lpstr>Verdana</vt:lpstr>
      <vt:lpstr>Wingdings</vt:lpstr>
      <vt:lpstr>主题2</vt:lpstr>
      <vt:lpstr>ﾋﾞｯﾄﾏｯﾌﾟ ｲﾒｰｼﾞ</vt:lpstr>
      <vt:lpstr>普元信息 大数据产品部 </vt:lpstr>
      <vt:lpstr>提纲</vt:lpstr>
      <vt:lpstr>智慧城市将是未来城市发展的趋势，构建服务型政府的有力支撑</vt:lpstr>
      <vt:lpstr>智慧城市的建设目标</vt:lpstr>
      <vt:lpstr>智慧城市整体架构</vt:lpstr>
      <vt:lpstr>智慧城市逻辑架构</vt:lpstr>
      <vt:lpstr>如何解决城市数据分散在不同部门的系统里？</vt:lpstr>
      <vt:lpstr>信息资源交换平台在智慧城市中的定位</vt:lpstr>
      <vt:lpstr>提纲</vt:lpstr>
      <vt:lpstr>信息资源交换平台体系结构</vt:lpstr>
      <vt:lpstr>信息资源交换平台概念模型</vt:lpstr>
      <vt:lpstr>PowerPoint 演示文稿</vt:lpstr>
      <vt:lpstr>信息资源交换逻辑结构</vt:lpstr>
      <vt:lpstr>前置交换节点逻辑结构</vt:lpstr>
      <vt:lpstr>中心交换节点逻辑结构</vt:lpstr>
      <vt:lpstr>信息资源目录</vt:lpstr>
      <vt:lpstr>元数据管理</vt:lpstr>
      <vt:lpstr>统一调度</vt:lpstr>
      <vt:lpstr>管理与监控</vt:lpstr>
      <vt:lpstr>信息共享与数据发布</vt:lpstr>
      <vt:lpstr>数据分析与信息展现</vt:lpstr>
      <vt:lpstr>Dashboard展示</vt:lpstr>
      <vt:lpstr>移动应用</vt:lpstr>
      <vt:lpstr>城市交通监控</vt:lpstr>
      <vt:lpstr>提纲</vt:lpstr>
      <vt:lpstr>共享数据交换（1/4）总体过程</vt:lpstr>
      <vt:lpstr>共享数据交换（2/4）-目录传输</vt:lpstr>
      <vt:lpstr>共享数据交换（3/4）-数据传输</vt:lpstr>
      <vt:lpstr>共享数据交换（4/4）-数据质量控制</vt:lpstr>
      <vt:lpstr>实时数据交换</vt:lpstr>
      <vt:lpstr>信息订阅</vt:lpstr>
      <vt:lpstr>横向数据交换（待定）</vt:lpstr>
      <vt:lpstr>提纲</vt:lpstr>
      <vt:lpstr>节点接入</vt:lpstr>
      <vt:lpstr>安全控制</vt:lpstr>
      <vt:lpstr>流量统计</vt:lpstr>
      <vt:lpstr>基于Docker的自动化运维</vt:lpstr>
      <vt:lpstr>前后分离，接口化扩展开发（待定）</vt:lpstr>
      <vt:lpstr>Thanks!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普元信息 大数据产品部 </dc:title>
  <dc:subject/>
  <dc:creator>淘宝：Bingo无忧智库，https://zx51.taobao.com，微信www_zku51_com，仅供学习24小时内删除; 如有侵权，联系处理; 认准淘宝店铺：Bingo无忧智库，https://zx51.taobao.com，微信www_zku51_com，仅供学习24小时内删除</dc:creator>
  <cp:keywords/>
  <dc:description>如有侵权，联系删除</dc:description>
  <cp:lastModifiedBy>Amy</cp:lastModifiedBy>
  <cp:revision>2232</cp:revision>
  <cp:lastPrinted>1601-01-01T00:00:00Z</cp:lastPrinted>
  <dcterms:created xsi:type="dcterms:W3CDTF">1601-01-01T00:00:00Z</dcterms:created>
  <dcterms:modified xsi:type="dcterms:W3CDTF">2020-06-11T23:08:13Z</dcterms:modified>
  <cp:category/>
</cp:coreProperties>
</file>